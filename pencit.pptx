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68" r:id="rId3"/>
    <p:sldId id="269" r:id="rId4"/>
    <p:sldId id="270" r:id="rId5"/>
    <p:sldId id="271" r:id="rId6"/>
    <p:sldId id="272" r:id="rId7"/>
    <p:sldId id="273" r:id="rId8"/>
    <p:sldId id="274" r:id="rId9"/>
    <p:sldId id="275" r:id="rId10"/>
    <p:sldId id="276" r:id="rId11"/>
    <p:sldId id="278" r:id="rId12"/>
    <p:sldId id="279" r:id="rId13"/>
    <p:sldId id="257" r:id="rId14"/>
    <p:sldId id="258" r:id="rId15"/>
    <p:sldId id="259" r:id="rId16"/>
    <p:sldId id="262" r:id="rId17"/>
    <p:sldId id="263" r:id="rId18"/>
    <p:sldId id="265" r:id="rId19"/>
    <p:sldId id="266" r:id="rId20"/>
    <p:sldId id="267" r:id="rId21"/>
    <p:sldId id="280" r:id="rId22"/>
    <p:sldId id="286" r:id="rId23"/>
    <p:sldId id="288" r:id="rId24"/>
    <p:sldId id="290" r:id="rId25"/>
    <p:sldId id="292" r:id="rId26"/>
    <p:sldId id="293" r:id="rId27"/>
    <p:sldId id="260" r:id="rId28"/>
    <p:sldId id="261" r:id="rId29"/>
    <p:sldId id="294" r:id="rId30"/>
    <p:sldId id="295" r:id="rId31"/>
    <p:sldId id="264" r:id="rId32"/>
    <p:sldId id="296" r:id="rId33"/>
    <p:sldId id="297" r:id="rId34"/>
    <p:sldId id="298" r:id="rId35"/>
    <p:sldId id="299" r:id="rId36"/>
    <p:sldId id="300" r:id="rId37"/>
    <p:sldId id="301" r:id="rId38"/>
    <p:sldId id="304" r:id="rId39"/>
    <p:sldId id="305" r:id="rId40"/>
    <p:sldId id="306" r:id="rId41"/>
    <p:sldId id="307" r:id="rId42"/>
    <p:sldId id="277" r:id="rId43"/>
    <p:sldId id="308" r:id="rId44"/>
    <p:sldId id="309" r:id="rId45"/>
    <p:sldId id="310" r:id="rId46"/>
    <p:sldId id="281" r:id="rId47"/>
    <p:sldId id="282" r:id="rId48"/>
    <p:sldId id="283" r:id="rId49"/>
    <p:sldId id="284" r:id="rId50"/>
    <p:sldId id="285" r:id="rId51"/>
    <p:sldId id="311" r:id="rId52"/>
    <p:sldId id="287" r:id="rId53"/>
    <p:sldId id="312" r:id="rId54"/>
  </p:sldIdLst>
  <p:sldSz cx="9144000" cy="6858000" type="screen4x3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875"/>
    <p:restoredTop sz="93475"/>
  </p:normalViewPr>
  <p:slideViewPr>
    <p:cSldViewPr>
      <p:cViewPr varScale="1">
        <p:scale>
          <a:sx n="120" d="100"/>
          <a:sy n="120" d="100"/>
        </p:scale>
        <p:origin x="1848" y="1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2125980"/>
            <a:ext cx="77724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888888"/>
                </a:solidFill>
                <a:latin typeface="Carlito"/>
                <a:cs typeface="Carlito"/>
              </a:defRPr>
            </a:lvl1pPr>
          </a:lstStyle>
          <a:p>
            <a:pPr marL="12700">
              <a:lnSpc>
                <a:spcPts val="1150"/>
              </a:lnSpc>
            </a:pPr>
            <a:r>
              <a:rPr lang="en-ID" spc="-5" dirty="0"/>
              <a:t>  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888888"/>
                </a:solidFill>
                <a:latin typeface="Carlito"/>
                <a:cs typeface="Carlito"/>
              </a:defRPr>
            </a:lvl1pPr>
          </a:lstStyle>
          <a:p>
            <a:pPr marL="12700">
              <a:lnSpc>
                <a:spcPts val="1150"/>
              </a:lnSpc>
            </a:pPr>
            <a:r>
              <a:rPr spc="-5" dirty="0"/>
              <a:t>Pengolahan </a:t>
            </a:r>
            <a:r>
              <a:rPr dirty="0"/>
              <a:t>Citra -</a:t>
            </a:r>
            <a:r>
              <a:rPr spc="-90" dirty="0"/>
              <a:t> </a:t>
            </a:r>
            <a:r>
              <a:rPr dirty="0"/>
              <a:t>Pengantar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200" b="0" i="0">
                <a:solidFill>
                  <a:schemeClr val="tx1"/>
                </a:solidFill>
                <a:latin typeface="Carlito"/>
                <a:cs typeface="Carlito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888888"/>
                </a:solidFill>
                <a:latin typeface="Carlito"/>
                <a:cs typeface="Carlito"/>
              </a:defRPr>
            </a:lvl1pPr>
          </a:lstStyle>
          <a:p>
            <a:pPr marL="12700">
              <a:lnSpc>
                <a:spcPts val="1150"/>
              </a:lnSpc>
            </a:pPr>
            <a:r>
              <a:rPr lang="en-ID" spc="-5" dirty="0"/>
              <a:t>  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888888"/>
                </a:solidFill>
                <a:latin typeface="Carlito"/>
                <a:cs typeface="Carlito"/>
              </a:defRPr>
            </a:lvl1pPr>
          </a:lstStyle>
          <a:p>
            <a:pPr marL="12700">
              <a:lnSpc>
                <a:spcPts val="1150"/>
              </a:lnSpc>
            </a:pPr>
            <a:r>
              <a:rPr spc="-5" dirty="0"/>
              <a:t>Pengolahan </a:t>
            </a:r>
            <a:r>
              <a:rPr dirty="0"/>
              <a:t>Citra -</a:t>
            </a:r>
            <a:r>
              <a:rPr spc="-90" dirty="0"/>
              <a:t> </a:t>
            </a:r>
            <a:r>
              <a:rPr dirty="0"/>
              <a:t>Pengantar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888888"/>
                </a:solidFill>
                <a:latin typeface="Carlito"/>
                <a:cs typeface="Carlito"/>
              </a:defRPr>
            </a:lvl1pPr>
          </a:lstStyle>
          <a:p>
            <a:pPr marL="12700">
              <a:lnSpc>
                <a:spcPts val="1150"/>
              </a:lnSpc>
            </a:pPr>
            <a:r>
              <a:rPr lang="en-ID" spc="-5" dirty="0"/>
              <a:t>  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888888"/>
                </a:solidFill>
                <a:latin typeface="Carlito"/>
                <a:cs typeface="Carlito"/>
              </a:defRPr>
            </a:lvl1pPr>
          </a:lstStyle>
          <a:p>
            <a:pPr marL="12700">
              <a:lnSpc>
                <a:spcPts val="1150"/>
              </a:lnSpc>
            </a:pPr>
            <a:r>
              <a:rPr spc="-5" dirty="0"/>
              <a:t>Pengolahan </a:t>
            </a:r>
            <a:r>
              <a:rPr dirty="0"/>
              <a:t>Citra -</a:t>
            </a:r>
            <a:r>
              <a:rPr spc="-90" dirty="0"/>
              <a:t> </a:t>
            </a:r>
            <a:r>
              <a:rPr dirty="0"/>
              <a:t>Pengantar</a:t>
            </a: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888888"/>
                </a:solidFill>
                <a:latin typeface="Carlito"/>
                <a:cs typeface="Carlito"/>
              </a:defRPr>
            </a:lvl1pPr>
          </a:lstStyle>
          <a:p>
            <a:pPr marL="12700">
              <a:lnSpc>
                <a:spcPts val="1150"/>
              </a:lnSpc>
            </a:pPr>
            <a:r>
              <a:rPr lang="en-ID" spc="-5" dirty="0"/>
              <a:t>  </a:t>
            </a:r>
            <a:endParaRPr spc="-5"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888888"/>
                </a:solidFill>
                <a:latin typeface="Carlito"/>
                <a:cs typeface="Carlito"/>
              </a:defRPr>
            </a:lvl1pPr>
          </a:lstStyle>
          <a:p>
            <a:pPr marL="12700">
              <a:lnSpc>
                <a:spcPts val="1150"/>
              </a:lnSpc>
            </a:pPr>
            <a:r>
              <a:rPr spc="-5" dirty="0"/>
              <a:t>Pengolahan </a:t>
            </a:r>
            <a:r>
              <a:rPr dirty="0"/>
              <a:t>Citra -</a:t>
            </a:r>
            <a:r>
              <a:rPr spc="-90" dirty="0"/>
              <a:t> </a:t>
            </a:r>
            <a:r>
              <a:rPr dirty="0"/>
              <a:t>Pengantar</a:t>
            </a: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888888"/>
                </a:solidFill>
                <a:latin typeface="Carlito"/>
                <a:cs typeface="Carlito"/>
              </a:defRPr>
            </a:lvl1pPr>
          </a:lstStyle>
          <a:p>
            <a:pPr marL="12700">
              <a:lnSpc>
                <a:spcPts val="1150"/>
              </a:lnSpc>
            </a:pPr>
            <a:r>
              <a:rPr lang="en-ID" spc="-5" dirty="0"/>
              <a:t>  </a:t>
            </a:r>
            <a:endParaRPr spc="-5"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rgbClr val="888888"/>
                </a:solidFill>
                <a:latin typeface="Carlito"/>
                <a:cs typeface="Carlito"/>
              </a:defRPr>
            </a:lvl1pPr>
          </a:lstStyle>
          <a:p>
            <a:pPr marL="12700">
              <a:lnSpc>
                <a:spcPts val="1150"/>
              </a:lnSpc>
            </a:pPr>
            <a:r>
              <a:rPr spc="-5" dirty="0"/>
              <a:t>Pengolahan </a:t>
            </a:r>
            <a:r>
              <a:rPr dirty="0"/>
              <a:t>Citra -</a:t>
            </a:r>
            <a:r>
              <a:rPr spc="-90" dirty="0"/>
              <a:t> </a:t>
            </a:r>
            <a:r>
              <a:rPr dirty="0"/>
              <a:t>Pengantar</a:t>
            </a: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20242" y="437769"/>
            <a:ext cx="7125334" cy="5740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707542" y="3245942"/>
            <a:ext cx="6545580" cy="21520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200" b="0" i="0">
                <a:solidFill>
                  <a:schemeClr val="tx1"/>
                </a:solidFill>
                <a:latin typeface="Carlito"/>
                <a:cs typeface="Carlito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707542" y="6469557"/>
            <a:ext cx="1163955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rgbClr val="888888"/>
                </a:solidFill>
                <a:latin typeface="Carlito"/>
                <a:cs typeface="Carlito"/>
              </a:defRPr>
            </a:lvl1pPr>
          </a:lstStyle>
          <a:p>
            <a:pPr marL="12700">
              <a:lnSpc>
                <a:spcPts val="1150"/>
              </a:lnSpc>
            </a:pPr>
            <a:r>
              <a:rPr lang="en-ID" spc="-5" dirty="0"/>
              <a:t>  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32403" y="6469557"/>
            <a:ext cx="1681479" cy="1663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rgbClr val="888888"/>
                </a:solidFill>
                <a:latin typeface="Carlito"/>
                <a:cs typeface="Carlito"/>
              </a:defRPr>
            </a:lvl1pPr>
          </a:lstStyle>
          <a:p>
            <a:pPr marL="12700">
              <a:lnSpc>
                <a:spcPts val="1150"/>
              </a:lnSpc>
            </a:pPr>
            <a:r>
              <a:rPr spc="-5" dirty="0"/>
              <a:t>Pengolahan </a:t>
            </a:r>
            <a:r>
              <a:rPr dirty="0"/>
              <a:t>Citra -</a:t>
            </a:r>
            <a:r>
              <a:rPr spc="-90" dirty="0"/>
              <a:t> </a:t>
            </a:r>
            <a:r>
              <a:rPr dirty="0"/>
              <a:t>Pengantar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g"/><Relationship Id="rId13" Type="http://schemas.openxmlformats.org/officeDocument/2006/relationships/image" Target="../media/image19.jpg"/><Relationship Id="rId3" Type="http://schemas.openxmlformats.org/officeDocument/2006/relationships/image" Target="../media/image9.jpg"/><Relationship Id="rId7" Type="http://schemas.openxmlformats.org/officeDocument/2006/relationships/image" Target="../media/image13.jpg"/><Relationship Id="rId12" Type="http://schemas.openxmlformats.org/officeDocument/2006/relationships/image" Target="../media/image18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jpg"/><Relationship Id="rId11" Type="http://schemas.openxmlformats.org/officeDocument/2006/relationships/image" Target="../media/image17.jpg"/><Relationship Id="rId5" Type="http://schemas.openxmlformats.org/officeDocument/2006/relationships/image" Target="../media/image11.jpg"/><Relationship Id="rId10" Type="http://schemas.openxmlformats.org/officeDocument/2006/relationships/image" Target="../media/image16.jpg"/><Relationship Id="rId4" Type="http://schemas.openxmlformats.org/officeDocument/2006/relationships/image" Target="../media/image10.jpg"/><Relationship Id="rId9" Type="http://schemas.openxmlformats.org/officeDocument/2006/relationships/image" Target="../media/image15.jp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g"/><Relationship Id="rId13" Type="http://schemas.openxmlformats.org/officeDocument/2006/relationships/image" Target="../media/image19.jpg"/><Relationship Id="rId3" Type="http://schemas.openxmlformats.org/officeDocument/2006/relationships/image" Target="../media/image9.jpg"/><Relationship Id="rId7" Type="http://schemas.openxmlformats.org/officeDocument/2006/relationships/image" Target="../media/image13.jpg"/><Relationship Id="rId12" Type="http://schemas.openxmlformats.org/officeDocument/2006/relationships/image" Target="../media/image18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jpg"/><Relationship Id="rId11" Type="http://schemas.openxmlformats.org/officeDocument/2006/relationships/image" Target="../media/image17.jpg"/><Relationship Id="rId5" Type="http://schemas.openxmlformats.org/officeDocument/2006/relationships/image" Target="../media/image11.jpg"/><Relationship Id="rId10" Type="http://schemas.openxmlformats.org/officeDocument/2006/relationships/image" Target="../media/image16.jpg"/><Relationship Id="rId4" Type="http://schemas.openxmlformats.org/officeDocument/2006/relationships/image" Target="../media/image10.jpg"/><Relationship Id="rId9" Type="http://schemas.openxmlformats.org/officeDocument/2006/relationships/image" Target="../media/image15.jp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g"/><Relationship Id="rId13" Type="http://schemas.openxmlformats.org/officeDocument/2006/relationships/image" Target="../media/image19.jpg"/><Relationship Id="rId3" Type="http://schemas.openxmlformats.org/officeDocument/2006/relationships/image" Target="../media/image9.jpg"/><Relationship Id="rId7" Type="http://schemas.openxmlformats.org/officeDocument/2006/relationships/image" Target="../media/image13.jpg"/><Relationship Id="rId12" Type="http://schemas.openxmlformats.org/officeDocument/2006/relationships/image" Target="../media/image18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jpg"/><Relationship Id="rId11" Type="http://schemas.openxmlformats.org/officeDocument/2006/relationships/image" Target="../media/image17.jpg"/><Relationship Id="rId5" Type="http://schemas.openxmlformats.org/officeDocument/2006/relationships/image" Target="../media/image11.jpg"/><Relationship Id="rId15" Type="http://schemas.openxmlformats.org/officeDocument/2006/relationships/image" Target="../media/image21.jpg"/><Relationship Id="rId10" Type="http://schemas.openxmlformats.org/officeDocument/2006/relationships/image" Target="../media/image16.jpg"/><Relationship Id="rId4" Type="http://schemas.openxmlformats.org/officeDocument/2006/relationships/image" Target="../media/image10.jpg"/><Relationship Id="rId9" Type="http://schemas.openxmlformats.org/officeDocument/2006/relationships/image" Target="../media/image15.jpg"/><Relationship Id="rId14" Type="http://schemas.openxmlformats.org/officeDocument/2006/relationships/image" Target="../media/image20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jpg"/><Relationship Id="rId13" Type="http://schemas.openxmlformats.org/officeDocument/2006/relationships/image" Target="../media/image34.jpg"/><Relationship Id="rId3" Type="http://schemas.openxmlformats.org/officeDocument/2006/relationships/image" Target="../media/image24.jpg"/><Relationship Id="rId7" Type="http://schemas.openxmlformats.org/officeDocument/2006/relationships/image" Target="../media/image28.jpg"/><Relationship Id="rId12" Type="http://schemas.openxmlformats.org/officeDocument/2006/relationships/image" Target="../media/image33.jp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jpg"/><Relationship Id="rId11" Type="http://schemas.openxmlformats.org/officeDocument/2006/relationships/image" Target="../media/image32.jpg"/><Relationship Id="rId5" Type="http://schemas.openxmlformats.org/officeDocument/2006/relationships/image" Target="../media/image26.jpg"/><Relationship Id="rId10" Type="http://schemas.openxmlformats.org/officeDocument/2006/relationships/image" Target="../media/image31.jpg"/><Relationship Id="rId4" Type="http://schemas.openxmlformats.org/officeDocument/2006/relationships/image" Target="../media/image25.jpg"/><Relationship Id="rId9" Type="http://schemas.openxmlformats.org/officeDocument/2006/relationships/image" Target="../media/image30.jp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g"/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g"/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4.jpg"/><Relationship Id="rId4" Type="http://schemas.openxmlformats.org/officeDocument/2006/relationships/image" Target="../media/image43.jp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jpg"/><Relationship Id="rId4" Type="http://schemas.openxmlformats.org/officeDocument/2006/relationships/image" Target="../media/image47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1.jp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g"/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7.png"/><Relationship Id="rId4" Type="http://schemas.openxmlformats.org/officeDocument/2006/relationships/image" Target="../media/image56.jp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g"/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jp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ight" TargetMode="External"/><Relationship Id="rId2" Type="http://schemas.openxmlformats.org/officeDocument/2006/relationships/image" Target="../media/image64.jp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Color_space" TargetMode="External"/><Relationship Id="rId5" Type="http://schemas.openxmlformats.org/officeDocument/2006/relationships/hyperlink" Target="https://en.wikipedia.org/wiki/Color" TargetMode="External"/><Relationship Id="rId4" Type="http://schemas.openxmlformats.org/officeDocument/2006/relationships/hyperlink" Target="https://en.wikipedia.org/wiki/Lighting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jpg"/><Relationship Id="rId2" Type="http://schemas.openxmlformats.org/officeDocument/2006/relationships/image" Target="../media/image64.jp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jpg"/><Relationship Id="rId2" Type="http://schemas.openxmlformats.org/officeDocument/2006/relationships/image" Target="../media/image66.jp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jp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jp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2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jp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-6095" y="359663"/>
            <a:ext cx="9156700" cy="1336675"/>
            <a:chOff x="-6095" y="359663"/>
            <a:chExt cx="9156700" cy="1336675"/>
          </a:xfrm>
        </p:grpSpPr>
        <p:sp>
          <p:nvSpPr>
            <p:cNvPr id="3" name="object 3"/>
            <p:cNvSpPr/>
            <p:nvPr/>
          </p:nvSpPr>
          <p:spPr>
            <a:xfrm>
              <a:off x="0" y="365759"/>
              <a:ext cx="9144000" cy="1324610"/>
            </a:xfrm>
            <a:custGeom>
              <a:avLst/>
              <a:gdLst/>
              <a:ahLst/>
              <a:cxnLst/>
              <a:rect l="l" t="t" r="r" b="b"/>
              <a:pathLst>
                <a:path w="9144000" h="1324610">
                  <a:moveTo>
                    <a:pt x="9144000" y="0"/>
                  </a:moveTo>
                  <a:lnTo>
                    <a:pt x="0" y="0"/>
                  </a:lnTo>
                  <a:lnTo>
                    <a:pt x="0" y="1324356"/>
                  </a:lnTo>
                  <a:lnTo>
                    <a:pt x="9144000" y="1324356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A4B59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365759"/>
              <a:ext cx="9144000" cy="1324610"/>
            </a:xfrm>
            <a:custGeom>
              <a:avLst/>
              <a:gdLst/>
              <a:ahLst/>
              <a:cxnLst/>
              <a:rect l="l" t="t" r="r" b="b"/>
              <a:pathLst>
                <a:path w="9144000" h="1324610">
                  <a:moveTo>
                    <a:pt x="0" y="1324356"/>
                  </a:moveTo>
                  <a:lnTo>
                    <a:pt x="9144000" y="1324356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324356"/>
                  </a:lnTo>
                  <a:close/>
                </a:path>
              </a:pathLst>
            </a:custGeom>
            <a:ln w="12192">
              <a:solidFill>
                <a:srgbClr val="78846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" name="object 5"/>
          <p:cNvGrpSpPr/>
          <p:nvPr/>
        </p:nvGrpSpPr>
        <p:grpSpPr>
          <a:xfrm>
            <a:off x="-6095" y="5018532"/>
            <a:ext cx="9156700" cy="1344295"/>
            <a:chOff x="-6095" y="5018532"/>
            <a:chExt cx="9156700" cy="1344295"/>
          </a:xfrm>
        </p:grpSpPr>
        <p:sp>
          <p:nvSpPr>
            <p:cNvPr id="6" name="object 6"/>
            <p:cNvSpPr/>
            <p:nvPr/>
          </p:nvSpPr>
          <p:spPr>
            <a:xfrm>
              <a:off x="0" y="5024628"/>
              <a:ext cx="9144000" cy="1332230"/>
            </a:xfrm>
            <a:custGeom>
              <a:avLst/>
              <a:gdLst/>
              <a:ahLst/>
              <a:cxnLst/>
              <a:rect l="l" t="t" r="r" b="b"/>
              <a:pathLst>
                <a:path w="9144000" h="1332229">
                  <a:moveTo>
                    <a:pt x="9144000" y="0"/>
                  </a:moveTo>
                  <a:lnTo>
                    <a:pt x="0" y="0"/>
                  </a:lnTo>
                  <a:lnTo>
                    <a:pt x="0" y="1331976"/>
                  </a:lnTo>
                  <a:lnTo>
                    <a:pt x="9144000" y="1331976"/>
                  </a:lnTo>
                  <a:lnTo>
                    <a:pt x="9144000" y="0"/>
                  </a:lnTo>
                  <a:close/>
                </a:path>
              </a:pathLst>
            </a:custGeom>
            <a:solidFill>
              <a:srgbClr val="A4B59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5024628"/>
              <a:ext cx="9144000" cy="1332230"/>
            </a:xfrm>
            <a:custGeom>
              <a:avLst/>
              <a:gdLst/>
              <a:ahLst/>
              <a:cxnLst/>
              <a:rect l="l" t="t" r="r" b="b"/>
              <a:pathLst>
                <a:path w="9144000" h="1332229">
                  <a:moveTo>
                    <a:pt x="0" y="1331976"/>
                  </a:moveTo>
                  <a:lnTo>
                    <a:pt x="9144000" y="1331976"/>
                  </a:lnTo>
                  <a:lnTo>
                    <a:pt x="9144000" y="0"/>
                  </a:lnTo>
                  <a:lnTo>
                    <a:pt x="0" y="0"/>
                  </a:lnTo>
                  <a:lnTo>
                    <a:pt x="0" y="1331976"/>
                  </a:lnTo>
                  <a:close/>
                </a:path>
              </a:pathLst>
            </a:custGeom>
            <a:ln w="12191">
              <a:solidFill>
                <a:srgbClr val="78846A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>
            <a:spLocks noGrp="1"/>
          </p:cNvSpPr>
          <p:nvPr>
            <p:ph type="title"/>
          </p:nvPr>
        </p:nvSpPr>
        <p:spPr>
          <a:xfrm>
            <a:off x="2618612" y="1962131"/>
            <a:ext cx="4467987" cy="2388218"/>
          </a:xfrm>
          <a:prstGeom prst="rect">
            <a:avLst/>
          </a:prstGeom>
        </p:spPr>
        <p:txBody>
          <a:bodyPr vert="horz" wrap="square" lIns="0" tIns="19367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525"/>
              </a:spcBef>
            </a:pPr>
            <a:r>
              <a:rPr lang="en-ID" sz="4500" spc="-200" dirty="0" err="1"/>
              <a:t>Pengolahan</a:t>
            </a:r>
            <a:r>
              <a:rPr lang="en-ID" sz="4500" spc="-430" dirty="0"/>
              <a:t> </a:t>
            </a:r>
            <a:r>
              <a:rPr lang="en-ID" sz="4500" spc="-290" dirty="0"/>
              <a:t>Citra</a:t>
            </a:r>
            <a:endParaRPr sz="4500" dirty="0"/>
          </a:p>
          <a:p>
            <a:pPr marL="562610" marR="554355" algn="ctr">
              <a:lnSpc>
                <a:spcPct val="123400"/>
              </a:lnSpc>
              <a:spcBef>
                <a:spcPts val="80"/>
              </a:spcBef>
            </a:pPr>
            <a:r>
              <a:rPr sz="2000" spc="-15">
                <a:latin typeface="Carlito"/>
                <a:cs typeface="Carlito"/>
              </a:rPr>
              <a:t>Pengantar Mata </a:t>
            </a:r>
            <a:r>
              <a:rPr sz="2000" spc="-10">
                <a:latin typeface="Carlito"/>
                <a:cs typeface="Carlito"/>
              </a:rPr>
              <a:t>Kuliah  Semester </a:t>
            </a:r>
            <a:r>
              <a:rPr lang="en-US" sz="2000" spc="-5">
                <a:latin typeface="Carlito"/>
                <a:cs typeface="Carlito"/>
              </a:rPr>
              <a:t>Genap</a:t>
            </a:r>
            <a:r>
              <a:rPr sz="2000" spc="-5">
                <a:latin typeface="Carlito"/>
                <a:cs typeface="Carlito"/>
              </a:rPr>
              <a:t> </a:t>
            </a:r>
            <a:r>
              <a:rPr sz="2000">
                <a:latin typeface="Carlito"/>
                <a:cs typeface="Carlito"/>
              </a:rPr>
              <a:t>20</a:t>
            </a:r>
            <a:r>
              <a:rPr lang="en-US" sz="2000">
                <a:latin typeface="Carlito"/>
                <a:cs typeface="Carlito"/>
              </a:rPr>
              <a:t>19</a:t>
            </a:r>
            <a:r>
              <a:rPr sz="2000">
                <a:latin typeface="Carlito"/>
                <a:cs typeface="Carlito"/>
              </a:rPr>
              <a:t>/20</a:t>
            </a:r>
            <a:r>
              <a:rPr lang="en-US" sz="2000">
                <a:latin typeface="Carlito"/>
                <a:cs typeface="Carlito"/>
              </a:rPr>
              <a:t>20</a:t>
            </a:r>
            <a:r>
              <a:rPr sz="2000">
                <a:latin typeface="Carlito"/>
                <a:cs typeface="Carlito"/>
              </a:rPr>
              <a:t> </a:t>
            </a:r>
            <a:br>
              <a:rPr lang="en-US" sz="2000">
                <a:latin typeface="Carlito"/>
                <a:cs typeface="Carlito"/>
              </a:rPr>
            </a:br>
            <a:r>
              <a:rPr sz="2000">
                <a:latin typeface="Carlito"/>
                <a:cs typeface="Carlito"/>
              </a:rPr>
              <a:t> </a:t>
            </a:r>
            <a:r>
              <a:rPr lang="en-US" sz="2000" spc="-10">
                <a:latin typeface="Carlito"/>
                <a:cs typeface="Carlito"/>
              </a:rPr>
              <a:t>M.Naufal</a:t>
            </a:r>
            <a:br>
              <a:rPr lang="en-US" sz="2000" spc="-10">
                <a:latin typeface="Carlito"/>
                <a:cs typeface="Carlito"/>
              </a:rPr>
            </a:br>
            <a:r>
              <a:rPr lang="en-US" sz="2000" spc="-10">
                <a:latin typeface="Carlito"/>
                <a:cs typeface="Carlito"/>
              </a:rPr>
              <a:t>Politeknik Harapan Bersama</a:t>
            </a:r>
            <a:endParaRPr sz="2000" dirty="0">
              <a:latin typeface="Carlito"/>
              <a:cs typeface="Carli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spc="-229" dirty="0"/>
              <a:t>Citra</a:t>
            </a:r>
            <a:r>
              <a:rPr spc="-265" dirty="0"/>
              <a:t> </a:t>
            </a:r>
            <a:r>
              <a:rPr spc="-250" dirty="0"/>
              <a:t>Dijital</a:t>
            </a:r>
          </a:p>
        </p:txBody>
      </p:sp>
      <p:sp>
        <p:nvSpPr>
          <p:cNvPr id="3" name="object 3"/>
          <p:cNvSpPr/>
          <p:nvPr/>
        </p:nvSpPr>
        <p:spPr>
          <a:xfrm>
            <a:off x="2770632" y="2199132"/>
            <a:ext cx="3602736" cy="360426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150"/>
              </a:lnSpc>
            </a:pPr>
            <a:r>
              <a:rPr spc="-5" dirty="0"/>
              <a:t>Pengolahan </a:t>
            </a:r>
            <a:r>
              <a:rPr dirty="0"/>
              <a:t>Citra -</a:t>
            </a:r>
            <a:r>
              <a:rPr spc="-90" dirty="0"/>
              <a:t> </a:t>
            </a:r>
            <a:r>
              <a:rPr dirty="0"/>
              <a:t>Pengantar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spc="-229" dirty="0"/>
              <a:t>Citra</a:t>
            </a:r>
            <a:r>
              <a:rPr spc="-265" dirty="0"/>
              <a:t> </a:t>
            </a:r>
            <a:r>
              <a:rPr spc="-250" dirty="0"/>
              <a:t>Dijital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07542" y="1802333"/>
            <a:ext cx="6073140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785" indent="-17272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10" dirty="0">
                <a:latin typeface="Carlito"/>
                <a:cs typeface="Carlito"/>
              </a:rPr>
              <a:t>Apakah </a:t>
            </a:r>
            <a:r>
              <a:rPr sz="2400" dirty="0">
                <a:latin typeface="Carlito"/>
                <a:cs typeface="Carlito"/>
              </a:rPr>
              <a:t>anda </a:t>
            </a:r>
            <a:r>
              <a:rPr sz="2400" spc="-5" dirty="0">
                <a:latin typeface="Carlito"/>
                <a:cs typeface="Carlito"/>
              </a:rPr>
              <a:t>bisa melihat </a:t>
            </a:r>
            <a:r>
              <a:rPr sz="2400" spc="-10" dirty="0">
                <a:latin typeface="Carlito"/>
                <a:cs typeface="Carlito"/>
              </a:rPr>
              <a:t>sesuatu </a:t>
            </a:r>
            <a:r>
              <a:rPr sz="2400" spc="-5" dirty="0">
                <a:latin typeface="Carlito"/>
                <a:cs typeface="Carlito"/>
              </a:rPr>
              <a:t>dari </a:t>
            </a:r>
            <a:r>
              <a:rPr sz="2400" spc="-10" dirty="0">
                <a:latin typeface="Carlito"/>
                <a:cs typeface="Carlito"/>
              </a:rPr>
              <a:t>citra</a:t>
            </a:r>
            <a:r>
              <a:rPr sz="2400" spc="-45" dirty="0">
                <a:latin typeface="Carlito"/>
                <a:cs typeface="Carlito"/>
              </a:rPr>
              <a:t> </a:t>
            </a:r>
            <a:r>
              <a:rPr sz="2400" spc="-5" dirty="0">
                <a:latin typeface="Carlito"/>
                <a:cs typeface="Carlito"/>
              </a:rPr>
              <a:t>ini?</a:t>
            </a:r>
            <a:endParaRPr sz="2400">
              <a:latin typeface="Carlito"/>
              <a:cs typeface="Carlito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914400" y="2323813"/>
            <a:ext cx="2578735" cy="4351020"/>
            <a:chOff x="1903476" y="2394204"/>
            <a:chExt cx="2578735" cy="4351020"/>
          </a:xfrm>
        </p:grpSpPr>
        <p:sp>
          <p:nvSpPr>
            <p:cNvPr id="5" name="object 5"/>
            <p:cNvSpPr/>
            <p:nvPr/>
          </p:nvSpPr>
          <p:spPr>
            <a:xfrm>
              <a:off x="2110740" y="2394204"/>
              <a:ext cx="2165604" cy="2222607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903476" y="4594858"/>
              <a:ext cx="2578607" cy="2150364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/>
          <p:nvPr/>
        </p:nvSpPr>
        <p:spPr>
          <a:xfrm>
            <a:off x="6096000" y="2267186"/>
            <a:ext cx="2193036" cy="2203704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5788542" y="4644509"/>
            <a:ext cx="2535936" cy="2060448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150"/>
              </a:lnSpc>
            </a:pPr>
            <a:r>
              <a:rPr spc="-5" dirty="0"/>
              <a:t>Pengolahan </a:t>
            </a:r>
            <a:r>
              <a:rPr dirty="0"/>
              <a:t>Citra -</a:t>
            </a:r>
            <a:r>
              <a:rPr spc="-90" dirty="0"/>
              <a:t> </a:t>
            </a:r>
            <a:r>
              <a:rPr dirty="0"/>
              <a:t>Pengantar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spc="-165" dirty="0"/>
              <a:t>Informasi </a:t>
            </a:r>
            <a:r>
              <a:rPr spc="-185" dirty="0"/>
              <a:t>dari </a:t>
            </a:r>
            <a:r>
              <a:rPr spc="-229" dirty="0"/>
              <a:t>Citra</a:t>
            </a:r>
            <a:r>
              <a:rPr spc="-425" dirty="0"/>
              <a:t> </a:t>
            </a:r>
            <a:r>
              <a:rPr spc="-250" dirty="0"/>
              <a:t>Dijital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07542" y="1802333"/>
            <a:ext cx="6675120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785" indent="-17272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10" dirty="0">
                <a:latin typeface="Carlito"/>
                <a:cs typeface="Carlito"/>
              </a:rPr>
              <a:t>Informasi </a:t>
            </a:r>
            <a:r>
              <a:rPr sz="2400" dirty="0">
                <a:latin typeface="Carlito"/>
                <a:cs typeface="Carlito"/>
              </a:rPr>
              <a:t>apa </a:t>
            </a:r>
            <a:r>
              <a:rPr sz="2400" spc="-10" dirty="0">
                <a:latin typeface="Carlito"/>
                <a:cs typeface="Carlito"/>
              </a:rPr>
              <a:t>yang </a:t>
            </a:r>
            <a:r>
              <a:rPr sz="2400" spc="-5" dirty="0">
                <a:latin typeface="Carlito"/>
                <a:cs typeface="Carlito"/>
              </a:rPr>
              <a:t>bisa </a:t>
            </a:r>
            <a:r>
              <a:rPr sz="2400" dirty="0">
                <a:latin typeface="Carlito"/>
                <a:cs typeface="Carlito"/>
              </a:rPr>
              <a:t>anda </a:t>
            </a:r>
            <a:r>
              <a:rPr sz="2400" spc="-10" dirty="0">
                <a:latin typeface="Carlito"/>
                <a:cs typeface="Carlito"/>
              </a:rPr>
              <a:t>dapatkan </a:t>
            </a:r>
            <a:r>
              <a:rPr sz="2400" spc="-5" dirty="0">
                <a:latin typeface="Carlito"/>
                <a:cs typeface="Carlito"/>
              </a:rPr>
              <a:t>dari </a:t>
            </a:r>
            <a:r>
              <a:rPr sz="2400" spc="-10" dirty="0">
                <a:latin typeface="Carlito"/>
                <a:cs typeface="Carlito"/>
              </a:rPr>
              <a:t>citra</a:t>
            </a:r>
            <a:r>
              <a:rPr sz="2400" spc="-85" dirty="0">
                <a:latin typeface="Carlito"/>
                <a:cs typeface="Carlito"/>
              </a:rPr>
              <a:t> </a:t>
            </a:r>
            <a:r>
              <a:rPr sz="2400" spc="-5" dirty="0">
                <a:latin typeface="Carlito"/>
                <a:cs typeface="Carlito"/>
              </a:rPr>
              <a:t>ini?</a:t>
            </a:r>
            <a:endParaRPr sz="2400">
              <a:latin typeface="Carlito"/>
              <a:cs typeface="Carlito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315211" y="2342388"/>
            <a:ext cx="6513576" cy="428244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150"/>
              </a:lnSpc>
            </a:pPr>
            <a:r>
              <a:rPr spc="-5" dirty="0"/>
              <a:t>Pengolahan </a:t>
            </a:r>
            <a:r>
              <a:rPr dirty="0"/>
              <a:t>Citra -</a:t>
            </a:r>
            <a:r>
              <a:rPr spc="-90" dirty="0"/>
              <a:t> </a:t>
            </a:r>
            <a:r>
              <a:rPr dirty="0"/>
              <a:t>Pengantar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spc="-165" dirty="0"/>
              <a:t>Informasi </a:t>
            </a:r>
            <a:r>
              <a:rPr spc="-185" dirty="0"/>
              <a:t>dari </a:t>
            </a:r>
            <a:r>
              <a:rPr spc="-229" dirty="0"/>
              <a:t>Citra </a:t>
            </a:r>
            <a:r>
              <a:rPr spc="-250" dirty="0"/>
              <a:t>Dijital</a:t>
            </a:r>
            <a:r>
              <a:rPr spc="-445" dirty="0"/>
              <a:t> </a:t>
            </a:r>
            <a:r>
              <a:rPr spc="-185" dirty="0"/>
              <a:t>(2)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374650" y="1821179"/>
            <a:ext cx="6210935" cy="4052570"/>
            <a:chOff x="374650" y="1821179"/>
            <a:chExt cx="6210935" cy="4052570"/>
          </a:xfrm>
        </p:grpSpPr>
        <p:sp>
          <p:nvSpPr>
            <p:cNvPr id="5" name="object 5"/>
            <p:cNvSpPr/>
            <p:nvPr/>
          </p:nvSpPr>
          <p:spPr>
            <a:xfrm>
              <a:off x="445007" y="1821179"/>
              <a:ext cx="6140195" cy="4037076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36626" y="2017013"/>
              <a:ext cx="5932805" cy="3841750"/>
            </a:xfrm>
            <a:custGeom>
              <a:avLst/>
              <a:gdLst/>
              <a:ahLst/>
              <a:cxnLst/>
              <a:rect l="l" t="t" r="r" b="b"/>
              <a:pathLst>
                <a:path w="5932805" h="3841750">
                  <a:moveTo>
                    <a:pt x="2642616" y="1002791"/>
                  </a:moveTo>
                  <a:lnTo>
                    <a:pt x="2593848" y="2308987"/>
                  </a:lnTo>
                </a:path>
                <a:path w="5932805" h="3841750">
                  <a:moveTo>
                    <a:pt x="3336036" y="1511808"/>
                  </a:moveTo>
                  <a:lnTo>
                    <a:pt x="3336036" y="2288159"/>
                  </a:lnTo>
                </a:path>
                <a:path w="5932805" h="3841750">
                  <a:moveTo>
                    <a:pt x="3360420" y="2313432"/>
                  </a:moveTo>
                  <a:lnTo>
                    <a:pt x="5932551" y="3841597"/>
                  </a:lnTo>
                </a:path>
                <a:path w="5932805" h="3841750">
                  <a:moveTo>
                    <a:pt x="2560193" y="2351532"/>
                  </a:moveTo>
                  <a:lnTo>
                    <a:pt x="0" y="3426333"/>
                  </a:lnTo>
                </a:path>
                <a:path w="5932805" h="3841750">
                  <a:moveTo>
                    <a:pt x="3335528" y="2331720"/>
                  </a:moveTo>
                  <a:lnTo>
                    <a:pt x="2552700" y="2352929"/>
                  </a:lnTo>
                </a:path>
                <a:path w="5932805" h="3841750">
                  <a:moveTo>
                    <a:pt x="3336036" y="1506347"/>
                  </a:moveTo>
                  <a:lnTo>
                    <a:pt x="3969385" y="336803"/>
                  </a:lnTo>
                </a:path>
                <a:path w="5932805" h="3841750">
                  <a:moveTo>
                    <a:pt x="2656586" y="1006856"/>
                  </a:moveTo>
                  <a:lnTo>
                    <a:pt x="2257044" y="0"/>
                  </a:lnTo>
                </a:path>
              </a:pathLst>
            </a:custGeom>
            <a:ln w="28956">
              <a:solidFill>
                <a:srgbClr val="FFFF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81000" y="2546603"/>
              <a:ext cx="2670175" cy="760730"/>
            </a:xfrm>
            <a:custGeom>
              <a:avLst/>
              <a:gdLst/>
              <a:ahLst/>
              <a:cxnLst/>
              <a:rect l="l" t="t" r="r" b="b"/>
              <a:pathLst>
                <a:path w="2670175" h="760729">
                  <a:moveTo>
                    <a:pt x="2225040" y="603504"/>
                  </a:moveTo>
                  <a:lnTo>
                    <a:pt x="1557527" y="603504"/>
                  </a:lnTo>
                  <a:lnTo>
                    <a:pt x="2426335" y="760476"/>
                  </a:lnTo>
                  <a:lnTo>
                    <a:pt x="2225040" y="603504"/>
                  </a:lnTo>
                  <a:close/>
                </a:path>
                <a:path w="2670175" h="760729">
                  <a:moveTo>
                    <a:pt x="2569464" y="0"/>
                  </a:moveTo>
                  <a:lnTo>
                    <a:pt x="100584" y="0"/>
                  </a:lnTo>
                  <a:lnTo>
                    <a:pt x="61432" y="7911"/>
                  </a:lnTo>
                  <a:lnTo>
                    <a:pt x="29460" y="29479"/>
                  </a:lnTo>
                  <a:lnTo>
                    <a:pt x="7904" y="61454"/>
                  </a:lnTo>
                  <a:lnTo>
                    <a:pt x="0" y="100584"/>
                  </a:lnTo>
                  <a:lnTo>
                    <a:pt x="0" y="502920"/>
                  </a:lnTo>
                  <a:lnTo>
                    <a:pt x="7904" y="542049"/>
                  </a:lnTo>
                  <a:lnTo>
                    <a:pt x="29460" y="574024"/>
                  </a:lnTo>
                  <a:lnTo>
                    <a:pt x="61432" y="595592"/>
                  </a:lnTo>
                  <a:lnTo>
                    <a:pt x="100584" y="603504"/>
                  </a:lnTo>
                  <a:lnTo>
                    <a:pt x="2569464" y="603504"/>
                  </a:lnTo>
                  <a:lnTo>
                    <a:pt x="2608593" y="595592"/>
                  </a:lnTo>
                  <a:lnTo>
                    <a:pt x="2640568" y="574024"/>
                  </a:lnTo>
                  <a:lnTo>
                    <a:pt x="2662136" y="542049"/>
                  </a:lnTo>
                  <a:lnTo>
                    <a:pt x="2670048" y="502920"/>
                  </a:lnTo>
                  <a:lnTo>
                    <a:pt x="2670048" y="100584"/>
                  </a:lnTo>
                  <a:lnTo>
                    <a:pt x="2662136" y="61454"/>
                  </a:lnTo>
                  <a:lnTo>
                    <a:pt x="2640568" y="29479"/>
                  </a:lnTo>
                  <a:lnTo>
                    <a:pt x="2608593" y="7911"/>
                  </a:lnTo>
                  <a:lnTo>
                    <a:pt x="2569464" y="0"/>
                  </a:lnTo>
                  <a:close/>
                </a:path>
              </a:pathLst>
            </a:custGeom>
            <a:solidFill>
              <a:srgbClr val="F9DBB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81000" y="2546603"/>
              <a:ext cx="2670175" cy="760730"/>
            </a:xfrm>
            <a:custGeom>
              <a:avLst/>
              <a:gdLst/>
              <a:ahLst/>
              <a:cxnLst/>
              <a:rect l="l" t="t" r="r" b="b"/>
              <a:pathLst>
                <a:path w="2670175" h="760729">
                  <a:moveTo>
                    <a:pt x="0" y="100584"/>
                  </a:moveTo>
                  <a:lnTo>
                    <a:pt x="7904" y="61454"/>
                  </a:lnTo>
                  <a:lnTo>
                    <a:pt x="29460" y="29479"/>
                  </a:lnTo>
                  <a:lnTo>
                    <a:pt x="61432" y="7911"/>
                  </a:lnTo>
                  <a:lnTo>
                    <a:pt x="100584" y="0"/>
                  </a:lnTo>
                  <a:lnTo>
                    <a:pt x="1557527" y="0"/>
                  </a:lnTo>
                  <a:lnTo>
                    <a:pt x="2225040" y="0"/>
                  </a:lnTo>
                  <a:lnTo>
                    <a:pt x="2569464" y="0"/>
                  </a:lnTo>
                  <a:lnTo>
                    <a:pt x="2608593" y="7911"/>
                  </a:lnTo>
                  <a:lnTo>
                    <a:pt x="2640568" y="29479"/>
                  </a:lnTo>
                  <a:lnTo>
                    <a:pt x="2662136" y="61454"/>
                  </a:lnTo>
                  <a:lnTo>
                    <a:pt x="2670048" y="100584"/>
                  </a:lnTo>
                  <a:lnTo>
                    <a:pt x="2670048" y="352044"/>
                  </a:lnTo>
                  <a:lnTo>
                    <a:pt x="2670048" y="502920"/>
                  </a:lnTo>
                  <a:lnTo>
                    <a:pt x="2662136" y="542049"/>
                  </a:lnTo>
                  <a:lnTo>
                    <a:pt x="2640568" y="574024"/>
                  </a:lnTo>
                  <a:lnTo>
                    <a:pt x="2608593" y="595592"/>
                  </a:lnTo>
                  <a:lnTo>
                    <a:pt x="2569464" y="603504"/>
                  </a:lnTo>
                  <a:lnTo>
                    <a:pt x="2225040" y="603504"/>
                  </a:lnTo>
                  <a:lnTo>
                    <a:pt x="2426335" y="760476"/>
                  </a:lnTo>
                  <a:lnTo>
                    <a:pt x="1557527" y="603504"/>
                  </a:lnTo>
                  <a:lnTo>
                    <a:pt x="100584" y="603504"/>
                  </a:lnTo>
                  <a:lnTo>
                    <a:pt x="61432" y="595592"/>
                  </a:lnTo>
                  <a:lnTo>
                    <a:pt x="29460" y="574024"/>
                  </a:lnTo>
                  <a:lnTo>
                    <a:pt x="7904" y="542049"/>
                  </a:lnTo>
                  <a:lnTo>
                    <a:pt x="0" y="502920"/>
                  </a:lnTo>
                  <a:lnTo>
                    <a:pt x="0" y="352044"/>
                  </a:lnTo>
                  <a:lnTo>
                    <a:pt x="0" y="100584"/>
                  </a:lnTo>
                  <a:close/>
                </a:path>
              </a:pathLst>
            </a:custGeom>
            <a:ln w="12192">
              <a:solidFill>
                <a:srgbClr val="F3A34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6709029" y="1764918"/>
            <a:ext cx="2038985" cy="29457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18770" marR="5080" indent="-306705">
              <a:lnSpc>
                <a:spcPct val="100000"/>
              </a:lnSpc>
              <a:spcBef>
                <a:spcPts val="95"/>
              </a:spcBef>
              <a:buSzPct val="90909"/>
              <a:buFont typeface="Arial"/>
              <a:buChar char=""/>
              <a:tabLst>
                <a:tab pos="318770" algn="l"/>
                <a:tab pos="319405" algn="l"/>
              </a:tabLst>
            </a:pPr>
            <a:r>
              <a:rPr sz="2200" spc="-5" dirty="0">
                <a:solidFill>
                  <a:srgbClr val="444D25"/>
                </a:solidFill>
                <a:latin typeface="Carlito"/>
                <a:cs typeface="Carlito"/>
              </a:rPr>
              <a:t>3D Scene  </a:t>
            </a:r>
            <a:r>
              <a:rPr sz="2200" spc="-45" dirty="0">
                <a:solidFill>
                  <a:srgbClr val="444D25"/>
                </a:solidFill>
                <a:latin typeface="Carlito"/>
                <a:cs typeface="Carlito"/>
              </a:rPr>
              <a:t>R</a:t>
            </a:r>
            <a:r>
              <a:rPr sz="2200" spc="-5" dirty="0">
                <a:solidFill>
                  <a:srgbClr val="444D25"/>
                </a:solidFill>
                <a:latin typeface="Carlito"/>
                <a:cs typeface="Carlito"/>
              </a:rPr>
              <a:t>e</a:t>
            </a:r>
            <a:r>
              <a:rPr sz="2200" spc="-35" dirty="0">
                <a:solidFill>
                  <a:srgbClr val="444D25"/>
                </a:solidFill>
                <a:latin typeface="Carlito"/>
                <a:cs typeface="Carlito"/>
              </a:rPr>
              <a:t>c</a:t>
            </a:r>
            <a:r>
              <a:rPr sz="2200" dirty="0">
                <a:solidFill>
                  <a:srgbClr val="444D25"/>
                </a:solidFill>
                <a:latin typeface="Carlito"/>
                <a:cs typeface="Carlito"/>
              </a:rPr>
              <a:t>o</a:t>
            </a:r>
            <a:r>
              <a:rPr sz="2200" spc="-10" dirty="0">
                <a:solidFill>
                  <a:srgbClr val="444D25"/>
                </a:solidFill>
                <a:latin typeface="Carlito"/>
                <a:cs typeface="Carlito"/>
              </a:rPr>
              <a:t>n</a:t>
            </a:r>
            <a:r>
              <a:rPr sz="2200" spc="-25" dirty="0">
                <a:solidFill>
                  <a:srgbClr val="444D25"/>
                </a:solidFill>
                <a:latin typeface="Carlito"/>
                <a:cs typeface="Carlito"/>
              </a:rPr>
              <a:t>s</a:t>
            </a:r>
            <a:r>
              <a:rPr sz="2200" spc="-5" dirty="0">
                <a:solidFill>
                  <a:srgbClr val="444D25"/>
                </a:solidFill>
                <a:latin typeface="Carlito"/>
                <a:cs typeface="Carlito"/>
              </a:rPr>
              <a:t>truc</a:t>
            </a:r>
            <a:r>
              <a:rPr sz="2200" spc="-15" dirty="0">
                <a:solidFill>
                  <a:srgbClr val="444D25"/>
                </a:solidFill>
                <a:latin typeface="Carlito"/>
                <a:cs typeface="Carlito"/>
              </a:rPr>
              <a:t>t</a:t>
            </a:r>
            <a:r>
              <a:rPr sz="2200" spc="-5" dirty="0">
                <a:solidFill>
                  <a:srgbClr val="444D25"/>
                </a:solidFill>
                <a:latin typeface="Carlito"/>
                <a:cs typeface="Carlito"/>
              </a:rPr>
              <a:t>i</a:t>
            </a:r>
            <a:r>
              <a:rPr sz="2200" dirty="0">
                <a:solidFill>
                  <a:srgbClr val="444D25"/>
                </a:solidFill>
                <a:latin typeface="Carlito"/>
                <a:cs typeface="Carlito"/>
              </a:rPr>
              <a:t>o</a:t>
            </a:r>
            <a:r>
              <a:rPr sz="2200" spc="-5" dirty="0">
                <a:solidFill>
                  <a:srgbClr val="444D25"/>
                </a:solidFill>
                <a:latin typeface="Carlito"/>
                <a:cs typeface="Carlito"/>
              </a:rPr>
              <a:t>n</a:t>
            </a:r>
            <a:endParaRPr sz="2200">
              <a:latin typeface="Carlito"/>
              <a:cs typeface="Carlito"/>
            </a:endParaRPr>
          </a:p>
          <a:p>
            <a:pPr marL="318770" indent="-306705">
              <a:lnSpc>
                <a:spcPct val="100000"/>
              </a:lnSpc>
              <a:spcBef>
                <a:spcPts val="1130"/>
              </a:spcBef>
              <a:buSzPct val="90909"/>
              <a:buFont typeface="Arial"/>
              <a:buChar char=""/>
              <a:tabLst>
                <a:tab pos="318770" algn="l"/>
                <a:tab pos="319405" algn="l"/>
              </a:tabLst>
            </a:pPr>
            <a:r>
              <a:rPr sz="2200" spc="-10" dirty="0">
                <a:solidFill>
                  <a:srgbClr val="444D25"/>
                </a:solidFill>
                <a:latin typeface="Carlito"/>
                <a:cs typeface="Carlito"/>
              </a:rPr>
              <a:t>Detection</a:t>
            </a:r>
            <a:endParaRPr sz="2200">
              <a:latin typeface="Carlito"/>
              <a:cs typeface="Carlito"/>
            </a:endParaRPr>
          </a:p>
          <a:p>
            <a:pPr marL="318770" indent="-306705">
              <a:lnSpc>
                <a:spcPct val="100000"/>
              </a:lnSpc>
              <a:spcBef>
                <a:spcPts val="1125"/>
              </a:spcBef>
              <a:buSzPct val="90909"/>
              <a:buFont typeface="Arial"/>
              <a:buChar char=""/>
              <a:tabLst>
                <a:tab pos="318770" algn="l"/>
                <a:tab pos="319405" algn="l"/>
              </a:tabLst>
            </a:pPr>
            <a:r>
              <a:rPr sz="2200" spc="-10" dirty="0">
                <a:solidFill>
                  <a:srgbClr val="444D25"/>
                </a:solidFill>
                <a:latin typeface="Carlito"/>
                <a:cs typeface="Carlito"/>
              </a:rPr>
              <a:t>Segmentation</a:t>
            </a:r>
            <a:endParaRPr sz="2200">
              <a:latin typeface="Carlito"/>
              <a:cs typeface="Carlito"/>
            </a:endParaRPr>
          </a:p>
          <a:p>
            <a:pPr marL="318770" indent="-306705">
              <a:lnSpc>
                <a:spcPct val="100000"/>
              </a:lnSpc>
              <a:spcBef>
                <a:spcPts val="1135"/>
              </a:spcBef>
              <a:buSzPct val="90909"/>
              <a:buFont typeface="Arial"/>
              <a:buChar char=""/>
              <a:tabLst>
                <a:tab pos="318770" algn="l"/>
                <a:tab pos="319405" algn="l"/>
              </a:tabLst>
            </a:pPr>
            <a:r>
              <a:rPr sz="2200" spc="-10" dirty="0">
                <a:solidFill>
                  <a:srgbClr val="444D25"/>
                </a:solidFill>
                <a:latin typeface="Carlito"/>
                <a:cs typeface="Carlito"/>
              </a:rPr>
              <a:t>Recognition</a:t>
            </a:r>
            <a:endParaRPr sz="2200">
              <a:latin typeface="Carlito"/>
              <a:cs typeface="Carlito"/>
            </a:endParaRPr>
          </a:p>
          <a:p>
            <a:pPr marL="318770" indent="-306705">
              <a:lnSpc>
                <a:spcPct val="100000"/>
              </a:lnSpc>
              <a:spcBef>
                <a:spcPts val="1125"/>
              </a:spcBef>
              <a:buSzPct val="90909"/>
              <a:buFont typeface="Arial"/>
              <a:buChar char=""/>
              <a:tabLst>
                <a:tab pos="318770" algn="l"/>
                <a:tab pos="319405" algn="l"/>
              </a:tabLst>
            </a:pPr>
            <a:r>
              <a:rPr sz="2200" spc="-5" dirty="0">
                <a:solidFill>
                  <a:srgbClr val="444D25"/>
                </a:solidFill>
                <a:latin typeface="Carlito"/>
                <a:cs typeface="Carlito"/>
              </a:rPr>
              <a:t>3D</a:t>
            </a:r>
            <a:r>
              <a:rPr sz="2200" spc="-75" dirty="0">
                <a:solidFill>
                  <a:srgbClr val="444D25"/>
                </a:solidFill>
                <a:latin typeface="Carlito"/>
                <a:cs typeface="Carlito"/>
              </a:rPr>
              <a:t> </a:t>
            </a:r>
            <a:r>
              <a:rPr sz="2200" spc="-10" dirty="0">
                <a:solidFill>
                  <a:srgbClr val="444D25"/>
                </a:solidFill>
                <a:latin typeface="Carlito"/>
                <a:cs typeface="Carlito"/>
              </a:rPr>
              <a:t>Distance</a:t>
            </a:r>
            <a:endParaRPr sz="2200">
              <a:latin typeface="Carlito"/>
              <a:cs typeface="Carlito"/>
            </a:endParaRPr>
          </a:p>
          <a:p>
            <a:pPr marL="318770">
              <a:lnSpc>
                <a:spcPct val="100000"/>
              </a:lnSpc>
            </a:pPr>
            <a:r>
              <a:rPr sz="2200" spc="-10" dirty="0">
                <a:solidFill>
                  <a:srgbClr val="444D25"/>
                </a:solidFill>
                <a:latin typeface="Carlito"/>
                <a:cs typeface="Carlito"/>
              </a:rPr>
              <a:t>Estimation</a:t>
            </a:r>
            <a:endParaRPr sz="2200">
              <a:latin typeface="Carlito"/>
              <a:cs typeface="Carli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97840" y="2546350"/>
            <a:ext cx="2435225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rlito"/>
                <a:cs typeface="Carlito"/>
              </a:rPr>
              <a:t>Apakah </a:t>
            </a:r>
            <a:r>
              <a:rPr sz="1800" dirty="0">
                <a:latin typeface="Carlito"/>
                <a:cs typeface="Carlito"/>
              </a:rPr>
              <a:t>ada </a:t>
            </a:r>
            <a:r>
              <a:rPr sz="1800" spc="-5" dirty="0">
                <a:latin typeface="Carlito"/>
                <a:cs typeface="Carlito"/>
              </a:rPr>
              <a:t>objek</a:t>
            </a:r>
            <a:r>
              <a:rPr sz="1800" spc="-45" dirty="0">
                <a:latin typeface="Carlito"/>
                <a:cs typeface="Carlito"/>
              </a:rPr>
              <a:t> </a:t>
            </a:r>
            <a:r>
              <a:rPr sz="1800" spc="-5" dirty="0">
                <a:latin typeface="Carlito"/>
                <a:cs typeface="Carlito"/>
              </a:rPr>
              <a:t>penting</a:t>
            </a:r>
            <a:endParaRPr sz="1800">
              <a:latin typeface="Carlito"/>
              <a:cs typeface="Carlito"/>
            </a:endParaRPr>
          </a:p>
          <a:p>
            <a:pPr marL="1905" algn="ctr">
              <a:lnSpc>
                <a:spcPct val="100000"/>
              </a:lnSpc>
            </a:pPr>
            <a:r>
              <a:rPr sz="1800" spc="-5" dirty="0">
                <a:latin typeface="Carlito"/>
                <a:cs typeface="Carlito"/>
              </a:rPr>
              <a:t>di dalam </a:t>
            </a:r>
            <a:r>
              <a:rPr sz="1800" spc="-10" dirty="0">
                <a:latin typeface="Carlito"/>
                <a:cs typeface="Carlito"/>
              </a:rPr>
              <a:t>citra?</a:t>
            </a:r>
            <a:endParaRPr sz="1800">
              <a:latin typeface="Carlito"/>
              <a:cs typeface="Carlito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374650" y="1706626"/>
            <a:ext cx="2682875" cy="788670"/>
            <a:chOff x="374650" y="1706626"/>
            <a:chExt cx="2682875" cy="788670"/>
          </a:xfrm>
        </p:grpSpPr>
        <p:sp>
          <p:nvSpPr>
            <p:cNvPr id="12" name="object 12"/>
            <p:cNvSpPr/>
            <p:nvPr/>
          </p:nvSpPr>
          <p:spPr>
            <a:xfrm>
              <a:off x="381000" y="1712976"/>
              <a:ext cx="2670175" cy="775970"/>
            </a:xfrm>
            <a:custGeom>
              <a:avLst/>
              <a:gdLst/>
              <a:ahLst/>
              <a:cxnLst/>
              <a:rect l="l" t="t" r="r" b="b"/>
              <a:pathLst>
                <a:path w="2670175" h="775969">
                  <a:moveTo>
                    <a:pt x="2225040" y="603503"/>
                  </a:moveTo>
                  <a:lnTo>
                    <a:pt x="1557527" y="603503"/>
                  </a:lnTo>
                  <a:lnTo>
                    <a:pt x="2269871" y="775588"/>
                  </a:lnTo>
                  <a:lnTo>
                    <a:pt x="2225040" y="603503"/>
                  </a:lnTo>
                  <a:close/>
                </a:path>
                <a:path w="2670175" h="775969">
                  <a:moveTo>
                    <a:pt x="2569464" y="0"/>
                  </a:moveTo>
                  <a:lnTo>
                    <a:pt x="100584" y="0"/>
                  </a:lnTo>
                  <a:lnTo>
                    <a:pt x="61432" y="7911"/>
                  </a:lnTo>
                  <a:lnTo>
                    <a:pt x="29460" y="29479"/>
                  </a:lnTo>
                  <a:lnTo>
                    <a:pt x="7904" y="61454"/>
                  </a:lnTo>
                  <a:lnTo>
                    <a:pt x="0" y="100584"/>
                  </a:lnTo>
                  <a:lnTo>
                    <a:pt x="0" y="502920"/>
                  </a:lnTo>
                  <a:lnTo>
                    <a:pt x="7904" y="542049"/>
                  </a:lnTo>
                  <a:lnTo>
                    <a:pt x="29460" y="574024"/>
                  </a:lnTo>
                  <a:lnTo>
                    <a:pt x="61432" y="595592"/>
                  </a:lnTo>
                  <a:lnTo>
                    <a:pt x="100584" y="603503"/>
                  </a:lnTo>
                  <a:lnTo>
                    <a:pt x="2569464" y="603503"/>
                  </a:lnTo>
                  <a:lnTo>
                    <a:pt x="2608593" y="595592"/>
                  </a:lnTo>
                  <a:lnTo>
                    <a:pt x="2640568" y="574024"/>
                  </a:lnTo>
                  <a:lnTo>
                    <a:pt x="2662136" y="542049"/>
                  </a:lnTo>
                  <a:lnTo>
                    <a:pt x="2670048" y="502920"/>
                  </a:lnTo>
                  <a:lnTo>
                    <a:pt x="2670048" y="100584"/>
                  </a:lnTo>
                  <a:lnTo>
                    <a:pt x="2662136" y="61454"/>
                  </a:lnTo>
                  <a:lnTo>
                    <a:pt x="2640568" y="29479"/>
                  </a:lnTo>
                  <a:lnTo>
                    <a:pt x="2608593" y="7911"/>
                  </a:lnTo>
                  <a:lnTo>
                    <a:pt x="2569464" y="0"/>
                  </a:lnTo>
                  <a:close/>
                </a:path>
              </a:pathLst>
            </a:custGeom>
            <a:solidFill>
              <a:srgbClr val="F9DBB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381000" y="1712976"/>
              <a:ext cx="2670175" cy="775970"/>
            </a:xfrm>
            <a:custGeom>
              <a:avLst/>
              <a:gdLst/>
              <a:ahLst/>
              <a:cxnLst/>
              <a:rect l="l" t="t" r="r" b="b"/>
              <a:pathLst>
                <a:path w="2670175" h="775969">
                  <a:moveTo>
                    <a:pt x="0" y="100584"/>
                  </a:moveTo>
                  <a:lnTo>
                    <a:pt x="7904" y="61454"/>
                  </a:lnTo>
                  <a:lnTo>
                    <a:pt x="29460" y="29479"/>
                  </a:lnTo>
                  <a:lnTo>
                    <a:pt x="61432" y="7911"/>
                  </a:lnTo>
                  <a:lnTo>
                    <a:pt x="100584" y="0"/>
                  </a:lnTo>
                  <a:lnTo>
                    <a:pt x="1557527" y="0"/>
                  </a:lnTo>
                  <a:lnTo>
                    <a:pt x="2225040" y="0"/>
                  </a:lnTo>
                  <a:lnTo>
                    <a:pt x="2569464" y="0"/>
                  </a:lnTo>
                  <a:lnTo>
                    <a:pt x="2608593" y="7911"/>
                  </a:lnTo>
                  <a:lnTo>
                    <a:pt x="2640568" y="29479"/>
                  </a:lnTo>
                  <a:lnTo>
                    <a:pt x="2662136" y="61454"/>
                  </a:lnTo>
                  <a:lnTo>
                    <a:pt x="2670048" y="100584"/>
                  </a:lnTo>
                  <a:lnTo>
                    <a:pt x="2670048" y="352044"/>
                  </a:lnTo>
                  <a:lnTo>
                    <a:pt x="2670048" y="502920"/>
                  </a:lnTo>
                  <a:lnTo>
                    <a:pt x="2662136" y="542049"/>
                  </a:lnTo>
                  <a:lnTo>
                    <a:pt x="2640568" y="574024"/>
                  </a:lnTo>
                  <a:lnTo>
                    <a:pt x="2608593" y="595592"/>
                  </a:lnTo>
                  <a:lnTo>
                    <a:pt x="2569464" y="603503"/>
                  </a:lnTo>
                  <a:lnTo>
                    <a:pt x="2225040" y="603503"/>
                  </a:lnTo>
                  <a:lnTo>
                    <a:pt x="2269871" y="775588"/>
                  </a:lnTo>
                  <a:lnTo>
                    <a:pt x="1557527" y="603503"/>
                  </a:lnTo>
                  <a:lnTo>
                    <a:pt x="100584" y="603503"/>
                  </a:lnTo>
                  <a:lnTo>
                    <a:pt x="61432" y="595592"/>
                  </a:lnTo>
                  <a:lnTo>
                    <a:pt x="29460" y="574024"/>
                  </a:lnTo>
                  <a:lnTo>
                    <a:pt x="7904" y="542049"/>
                  </a:lnTo>
                  <a:lnTo>
                    <a:pt x="0" y="502920"/>
                  </a:lnTo>
                  <a:lnTo>
                    <a:pt x="0" y="352044"/>
                  </a:lnTo>
                  <a:lnTo>
                    <a:pt x="0" y="100584"/>
                  </a:lnTo>
                  <a:close/>
                </a:path>
              </a:pathLst>
            </a:custGeom>
            <a:ln w="12192">
              <a:solidFill>
                <a:srgbClr val="F3A34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497230" y="1850516"/>
            <a:ext cx="2437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latin typeface="Carlito"/>
                <a:cs typeface="Carlito"/>
              </a:rPr>
              <a:t>Bagaimana stuktur</a:t>
            </a:r>
            <a:r>
              <a:rPr sz="1800" spc="-65" dirty="0">
                <a:latin typeface="Carlito"/>
                <a:cs typeface="Carlito"/>
              </a:rPr>
              <a:t> </a:t>
            </a:r>
            <a:r>
              <a:rPr sz="1800" i="1" spc="-5" dirty="0">
                <a:latin typeface="Carlito"/>
                <a:cs typeface="Carlito"/>
              </a:rPr>
              <a:t>scene</a:t>
            </a:r>
            <a:r>
              <a:rPr sz="1800" spc="-5" dirty="0">
                <a:latin typeface="Carlito"/>
                <a:cs typeface="Carlito"/>
              </a:rPr>
              <a:t>?</a:t>
            </a:r>
            <a:endParaRPr sz="1800">
              <a:latin typeface="Carlito"/>
              <a:cs typeface="Carlito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1307591" y="1711198"/>
            <a:ext cx="5253990" cy="4166235"/>
            <a:chOff x="1307591" y="1711198"/>
            <a:chExt cx="5253990" cy="4166235"/>
          </a:xfrm>
        </p:grpSpPr>
        <p:sp>
          <p:nvSpPr>
            <p:cNvPr id="16" name="object 16"/>
            <p:cNvSpPr/>
            <p:nvPr/>
          </p:nvSpPr>
          <p:spPr>
            <a:xfrm>
              <a:off x="2798825" y="4923282"/>
              <a:ext cx="1270" cy="935355"/>
            </a:xfrm>
            <a:custGeom>
              <a:avLst/>
              <a:gdLst/>
              <a:ahLst/>
              <a:cxnLst/>
              <a:rect l="l" t="t" r="r" b="b"/>
              <a:pathLst>
                <a:path w="1269" h="935354">
                  <a:moveTo>
                    <a:pt x="888" y="0"/>
                  </a:moveTo>
                  <a:lnTo>
                    <a:pt x="0" y="934935"/>
                  </a:lnTo>
                </a:path>
              </a:pathLst>
            </a:custGeom>
            <a:ln w="38100">
              <a:solidFill>
                <a:srgbClr val="0000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326641" y="4254246"/>
              <a:ext cx="4250690" cy="394970"/>
            </a:xfrm>
            <a:custGeom>
              <a:avLst/>
              <a:gdLst/>
              <a:ahLst/>
              <a:cxnLst/>
              <a:rect l="l" t="t" r="r" b="b"/>
              <a:pathLst>
                <a:path w="4250690" h="394970">
                  <a:moveTo>
                    <a:pt x="0" y="394715"/>
                  </a:moveTo>
                  <a:lnTo>
                    <a:pt x="1001268" y="394715"/>
                  </a:lnTo>
                  <a:lnTo>
                    <a:pt x="1001268" y="129539"/>
                  </a:lnTo>
                  <a:lnTo>
                    <a:pt x="0" y="129539"/>
                  </a:lnTo>
                  <a:lnTo>
                    <a:pt x="0" y="394715"/>
                  </a:lnTo>
                  <a:close/>
                </a:path>
                <a:path w="4250690" h="394970">
                  <a:moveTo>
                    <a:pt x="2118360" y="236219"/>
                  </a:moveTo>
                  <a:lnTo>
                    <a:pt x="2346960" y="236219"/>
                  </a:lnTo>
                  <a:lnTo>
                    <a:pt x="2346960" y="51815"/>
                  </a:lnTo>
                  <a:lnTo>
                    <a:pt x="2118360" y="51815"/>
                  </a:lnTo>
                  <a:lnTo>
                    <a:pt x="2118360" y="236219"/>
                  </a:lnTo>
                  <a:close/>
                </a:path>
                <a:path w="4250690" h="394970">
                  <a:moveTo>
                    <a:pt x="1815084" y="240791"/>
                  </a:moveTo>
                  <a:lnTo>
                    <a:pt x="2043684" y="240791"/>
                  </a:lnTo>
                  <a:lnTo>
                    <a:pt x="2043684" y="54863"/>
                  </a:lnTo>
                  <a:lnTo>
                    <a:pt x="1815084" y="54863"/>
                  </a:lnTo>
                  <a:lnTo>
                    <a:pt x="1815084" y="240791"/>
                  </a:lnTo>
                  <a:close/>
                </a:path>
                <a:path w="4250690" h="394970">
                  <a:moveTo>
                    <a:pt x="3246120" y="364235"/>
                  </a:moveTo>
                  <a:lnTo>
                    <a:pt x="4250436" y="364235"/>
                  </a:lnTo>
                  <a:lnTo>
                    <a:pt x="4250436" y="0"/>
                  </a:lnTo>
                  <a:lnTo>
                    <a:pt x="3246120" y="0"/>
                  </a:lnTo>
                  <a:lnTo>
                    <a:pt x="3246120" y="364235"/>
                  </a:lnTo>
                  <a:close/>
                </a:path>
              </a:pathLst>
            </a:custGeom>
            <a:ln w="381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3884675" y="1717548"/>
              <a:ext cx="2670175" cy="764540"/>
            </a:xfrm>
            <a:custGeom>
              <a:avLst/>
              <a:gdLst/>
              <a:ahLst/>
              <a:cxnLst/>
              <a:rect l="l" t="t" r="r" b="b"/>
              <a:pathLst>
                <a:path w="2670175" h="764539">
                  <a:moveTo>
                    <a:pt x="1112520" y="605027"/>
                  </a:moveTo>
                  <a:lnTo>
                    <a:pt x="445008" y="605027"/>
                  </a:lnTo>
                  <a:lnTo>
                    <a:pt x="319913" y="764031"/>
                  </a:lnTo>
                  <a:lnTo>
                    <a:pt x="1112520" y="605027"/>
                  </a:lnTo>
                  <a:close/>
                </a:path>
                <a:path w="2670175" h="764539">
                  <a:moveTo>
                    <a:pt x="2569210" y="0"/>
                  </a:moveTo>
                  <a:lnTo>
                    <a:pt x="100837" y="0"/>
                  </a:lnTo>
                  <a:lnTo>
                    <a:pt x="61561" y="7915"/>
                  </a:lnTo>
                  <a:lnTo>
                    <a:pt x="29511" y="29511"/>
                  </a:lnTo>
                  <a:lnTo>
                    <a:pt x="7915" y="61561"/>
                  </a:lnTo>
                  <a:lnTo>
                    <a:pt x="0" y="100837"/>
                  </a:lnTo>
                  <a:lnTo>
                    <a:pt x="0" y="504189"/>
                  </a:lnTo>
                  <a:lnTo>
                    <a:pt x="7915" y="543466"/>
                  </a:lnTo>
                  <a:lnTo>
                    <a:pt x="29511" y="575516"/>
                  </a:lnTo>
                  <a:lnTo>
                    <a:pt x="61561" y="597112"/>
                  </a:lnTo>
                  <a:lnTo>
                    <a:pt x="100837" y="605027"/>
                  </a:lnTo>
                  <a:lnTo>
                    <a:pt x="2569210" y="605027"/>
                  </a:lnTo>
                  <a:lnTo>
                    <a:pt x="2608486" y="597112"/>
                  </a:lnTo>
                  <a:lnTo>
                    <a:pt x="2640536" y="575516"/>
                  </a:lnTo>
                  <a:lnTo>
                    <a:pt x="2662132" y="543466"/>
                  </a:lnTo>
                  <a:lnTo>
                    <a:pt x="2670048" y="504189"/>
                  </a:lnTo>
                  <a:lnTo>
                    <a:pt x="2670048" y="100837"/>
                  </a:lnTo>
                  <a:lnTo>
                    <a:pt x="2662132" y="61561"/>
                  </a:lnTo>
                  <a:lnTo>
                    <a:pt x="2640536" y="29511"/>
                  </a:lnTo>
                  <a:lnTo>
                    <a:pt x="2608486" y="7915"/>
                  </a:lnTo>
                  <a:lnTo>
                    <a:pt x="2569210" y="0"/>
                  </a:lnTo>
                  <a:close/>
                </a:path>
              </a:pathLst>
            </a:custGeom>
            <a:solidFill>
              <a:srgbClr val="F9DBB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3884675" y="1717548"/>
              <a:ext cx="2670175" cy="764540"/>
            </a:xfrm>
            <a:custGeom>
              <a:avLst/>
              <a:gdLst/>
              <a:ahLst/>
              <a:cxnLst/>
              <a:rect l="l" t="t" r="r" b="b"/>
              <a:pathLst>
                <a:path w="2670175" h="764539">
                  <a:moveTo>
                    <a:pt x="0" y="100837"/>
                  </a:moveTo>
                  <a:lnTo>
                    <a:pt x="7915" y="61561"/>
                  </a:lnTo>
                  <a:lnTo>
                    <a:pt x="29511" y="29511"/>
                  </a:lnTo>
                  <a:lnTo>
                    <a:pt x="61561" y="7915"/>
                  </a:lnTo>
                  <a:lnTo>
                    <a:pt x="100837" y="0"/>
                  </a:lnTo>
                  <a:lnTo>
                    <a:pt x="445008" y="0"/>
                  </a:lnTo>
                  <a:lnTo>
                    <a:pt x="1112520" y="0"/>
                  </a:lnTo>
                  <a:lnTo>
                    <a:pt x="2569210" y="0"/>
                  </a:lnTo>
                  <a:lnTo>
                    <a:pt x="2608486" y="7915"/>
                  </a:lnTo>
                  <a:lnTo>
                    <a:pt x="2640536" y="29511"/>
                  </a:lnTo>
                  <a:lnTo>
                    <a:pt x="2662132" y="61561"/>
                  </a:lnTo>
                  <a:lnTo>
                    <a:pt x="2670048" y="100837"/>
                  </a:lnTo>
                  <a:lnTo>
                    <a:pt x="2670048" y="352932"/>
                  </a:lnTo>
                  <a:lnTo>
                    <a:pt x="2670048" y="504189"/>
                  </a:lnTo>
                  <a:lnTo>
                    <a:pt x="2662132" y="543466"/>
                  </a:lnTo>
                  <a:lnTo>
                    <a:pt x="2640536" y="575516"/>
                  </a:lnTo>
                  <a:lnTo>
                    <a:pt x="2608486" y="597112"/>
                  </a:lnTo>
                  <a:lnTo>
                    <a:pt x="2569210" y="605027"/>
                  </a:lnTo>
                  <a:lnTo>
                    <a:pt x="1112520" y="605027"/>
                  </a:lnTo>
                  <a:lnTo>
                    <a:pt x="319913" y="764031"/>
                  </a:lnTo>
                  <a:lnTo>
                    <a:pt x="445008" y="605027"/>
                  </a:lnTo>
                  <a:lnTo>
                    <a:pt x="100837" y="605027"/>
                  </a:lnTo>
                  <a:lnTo>
                    <a:pt x="61561" y="597112"/>
                  </a:lnTo>
                  <a:lnTo>
                    <a:pt x="29511" y="575516"/>
                  </a:lnTo>
                  <a:lnTo>
                    <a:pt x="7915" y="543466"/>
                  </a:lnTo>
                  <a:lnTo>
                    <a:pt x="0" y="504189"/>
                  </a:lnTo>
                  <a:lnTo>
                    <a:pt x="0" y="352932"/>
                  </a:lnTo>
                  <a:lnTo>
                    <a:pt x="0" y="100837"/>
                  </a:lnTo>
                  <a:close/>
                </a:path>
              </a:pathLst>
            </a:custGeom>
            <a:ln w="12191">
              <a:solidFill>
                <a:srgbClr val="F3A34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2880360" y="5180076"/>
            <a:ext cx="302260" cy="368935"/>
          </a:xfrm>
          <a:prstGeom prst="rect">
            <a:avLst/>
          </a:prstGeom>
          <a:solidFill>
            <a:srgbClr val="FFFFFF"/>
          </a:solidFill>
          <a:ln w="9144">
            <a:solidFill>
              <a:srgbClr val="0000FF"/>
            </a:solidFill>
          </a:ln>
        </p:spPr>
        <p:txBody>
          <a:bodyPr vert="horz" wrap="square" lIns="0" tIns="31750" rIns="0" bIns="0" rtlCol="0">
            <a:spAutoFit/>
          </a:bodyPr>
          <a:lstStyle/>
          <a:p>
            <a:pPr marL="92075">
              <a:lnSpc>
                <a:spcPct val="100000"/>
              </a:lnSpc>
              <a:spcBef>
                <a:spcPts val="250"/>
              </a:spcBef>
            </a:pPr>
            <a:r>
              <a:rPr sz="1800" dirty="0">
                <a:solidFill>
                  <a:srgbClr val="0000FF"/>
                </a:solidFill>
                <a:latin typeface="Carlito"/>
                <a:cs typeface="Carlito"/>
              </a:rPr>
              <a:t>d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185665" y="1717928"/>
            <a:ext cx="2068195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latin typeface="Carlito"/>
                <a:cs typeface="Carlito"/>
              </a:rPr>
              <a:t>Objek </a:t>
            </a:r>
            <a:r>
              <a:rPr sz="1800" dirty="0">
                <a:latin typeface="Carlito"/>
                <a:cs typeface="Carlito"/>
              </a:rPr>
              <a:t>apa </a:t>
            </a:r>
            <a:r>
              <a:rPr sz="1800" spc="-10" dirty="0">
                <a:latin typeface="Carlito"/>
                <a:cs typeface="Carlito"/>
              </a:rPr>
              <a:t>yang </a:t>
            </a:r>
            <a:r>
              <a:rPr sz="1800" dirty="0">
                <a:latin typeface="Carlito"/>
                <a:cs typeface="Carlito"/>
              </a:rPr>
              <a:t>ada</a:t>
            </a:r>
            <a:r>
              <a:rPr sz="1800" spc="-45" dirty="0">
                <a:latin typeface="Carlito"/>
                <a:cs typeface="Carlito"/>
              </a:rPr>
              <a:t> </a:t>
            </a:r>
            <a:r>
              <a:rPr sz="1800" spc="-5" dirty="0">
                <a:latin typeface="Carlito"/>
                <a:cs typeface="Carlito"/>
              </a:rPr>
              <a:t>di</a:t>
            </a:r>
            <a:endParaRPr sz="1800">
              <a:latin typeface="Carlito"/>
              <a:cs typeface="Carlito"/>
            </a:endParaRPr>
          </a:p>
          <a:p>
            <a:pPr marL="635" algn="ctr">
              <a:lnSpc>
                <a:spcPct val="100000"/>
              </a:lnSpc>
            </a:pPr>
            <a:r>
              <a:rPr sz="1800" spc="-5" dirty="0">
                <a:latin typeface="Carlito"/>
                <a:cs typeface="Carlito"/>
              </a:rPr>
              <a:t>dalam</a:t>
            </a:r>
            <a:r>
              <a:rPr sz="1800" spc="-10" dirty="0">
                <a:latin typeface="Carlito"/>
                <a:cs typeface="Carlito"/>
              </a:rPr>
              <a:t> citra?</a:t>
            </a:r>
            <a:endParaRPr sz="1800">
              <a:latin typeface="Carlito"/>
              <a:cs typeface="Carlito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3878326" y="2505201"/>
            <a:ext cx="2682875" cy="788670"/>
            <a:chOff x="3878326" y="2505201"/>
            <a:chExt cx="2682875" cy="788670"/>
          </a:xfrm>
        </p:grpSpPr>
        <p:sp>
          <p:nvSpPr>
            <p:cNvPr id="23" name="object 23"/>
            <p:cNvSpPr/>
            <p:nvPr/>
          </p:nvSpPr>
          <p:spPr>
            <a:xfrm>
              <a:off x="3884676" y="2511551"/>
              <a:ext cx="2670175" cy="775970"/>
            </a:xfrm>
            <a:custGeom>
              <a:avLst/>
              <a:gdLst/>
              <a:ahLst/>
              <a:cxnLst/>
              <a:rect l="l" t="t" r="r" b="b"/>
              <a:pathLst>
                <a:path w="2670175" h="775970">
                  <a:moveTo>
                    <a:pt x="1112520" y="603503"/>
                  </a:moveTo>
                  <a:lnTo>
                    <a:pt x="445008" y="603503"/>
                  </a:lnTo>
                  <a:lnTo>
                    <a:pt x="414020" y="775588"/>
                  </a:lnTo>
                  <a:lnTo>
                    <a:pt x="1112520" y="603503"/>
                  </a:lnTo>
                  <a:close/>
                </a:path>
                <a:path w="2670175" h="775970">
                  <a:moveTo>
                    <a:pt x="2569464" y="0"/>
                  </a:moveTo>
                  <a:lnTo>
                    <a:pt x="100584" y="0"/>
                  </a:lnTo>
                  <a:lnTo>
                    <a:pt x="61454" y="7911"/>
                  </a:lnTo>
                  <a:lnTo>
                    <a:pt x="29479" y="29479"/>
                  </a:lnTo>
                  <a:lnTo>
                    <a:pt x="7911" y="61454"/>
                  </a:lnTo>
                  <a:lnTo>
                    <a:pt x="0" y="100584"/>
                  </a:lnTo>
                  <a:lnTo>
                    <a:pt x="0" y="502920"/>
                  </a:lnTo>
                  <a:lnTo>
                    <a:pt x="7911" y="542049"/>
                  </a:lnTo>
                  <a:lnTo>
                    <a:pt x="29479" y="574024"/>
                  </a:lnTo>
                  <a:lnTo>
                    <a:pt x="61454" y="595592"/>
                  </a:lnTo>
                  <a:lnTo>
                    <a:pt x="100584" y="603503"/>
                  </a:lnTo>
                  <a:lnTo>
                    <a:pt x="2569464" y="603503"/>
                  </a:lnTo>
                  <a:lnTo>
                    <a:pt x="2608593" y="595592"/>
                  </a:lnTo>
                  <a:lnTo>
                    <a:pt x="2640568" y="574024"/>
                  </a:lnTo>
                  <a:lnTo>
                    <a:pt x="2662136" y="542049"/>
                  </a:lnTo>
                  <a:lnTo>
                    <a:pt x="2670048" y="502920"/>
                  </a:lnTo>
                  <a:lnTo>
                    <a:pt x="2670048" y="100584"/>
                  </a:lnTo>
                  <a:lnTo>
                    <a:pt x="2662136" y="61454"/>
                  </a:lnTo>
                  <a:lnTo>
                    <a:pt x="2640568" y="29479"/>
                  </a:lnTo>
                  <a:lnTo>
                    <a:pt x="2608593" y="7911"/>
                  </a:lnTo>
                  <a:lnTo>
                    <a:pt x="2569464" y="0"/>
                  </a:lnTo>
                  <a:close/>
                </a:path>
              </a:pathLst>
            </a:custGeom>
            <a:solidFill>
              <a:srgbClr val="F9DBB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3884676" y="2511551"/>
              <a:ext cx="2670175" cy="775970"/>
            </a:xfrm>
            <a:custGeom>
              <a:avLst/>
              <a:gdLst/>
              <a:ahLst/>
              <a:cxnLst/>
              <a:rect l="l" t="t" r="r" b="b"/>
              <a:pathLst>
                <a:path w="2670175" h="775970">
                  <a:moveTo>
                    <a:pt x="0" y="100584"/>
                  </a:moveTo>
                  <a:lnTo>
                    <a:pt x="7911" y="61454"/>
                  </a:lnTo>
                  <a:lnTo>
                    <a:pt x="29479" y="29479"/>
                  </a:lnTo>
                  <a:lnTo>
                    <a:pt x="61454" y="7911"/>
                  </a:lnTo>
                  <a:lnTo>
                    <a:pt x="100584" y="0"/>
                  </a:lnTo>
                  <a:lnTo>
                    <a:pt x="445008" y="0"/>
                  </a:lnTo>
                  <a:lnTo>
                    <a:pt x="1112520" y="0"/>
                  </a:lnTo>
                  <a:lnTo>
                    <a:pt x="2569464" y="0"/>
                  </a:lnTo>
                  <a:lnTo>
                    <a:pt x="2608593" y="7911"/>
                  </a:lnTo>
                  <a:lnTo>
                    <a:pt x="2640568" y="29479"/>
                  </a:lnTo>
                  <a:lnTo>
                    <a:pt x="2662136" y="61454"/>
                  </a:lnTo>
                  <a:lnTo>
                    <a:pt x="2670048" y="100584"/>
                  </a:lnTo>
                  <a:lnTo>
                    <a:pt x="2670048" y="352044"/>
                  </a:lnTo>
                  <a:lnTo>
                    <a:pt x="2670048" y="502920"/>
                  </a:lnTo>
                  <a:lnTo>
                    <a:pt x="2662136" y="542049"/>
                  </a:lnTo>
                  <a:lnTo>
                    <a:pt x="2640568" y="574024"/>
                  </a:lnTo>
                  <a:lnTo>
                    <a:pt x="2608593" y="595592"/>
                  </a:lnTo>
                  <a:lnTo>
                    <a:pt x="2569464" y="603503"/>
                  </a:lnTo>
                  <a:lnTo>
                    <a:pt x="1112520" y="603503"/>
                  </a:lnTo>
                  <a:lnTo>
                    <a:pt x="414020" y="775588"/>
                  </a:lnTo>
                  <a:lnTo>
                    <a:pt x="445008" y="603503"/>
                  </a:lnTo>
                  <a:lnTo>
                    <a:pt x="100584" y="603503"/>
                  </a:lnTo>
                  <a:lnTo>
                    <a:pt x="61454" y="595592"/>
                  </a:lnTo>
                  <a:lnTo>
                    <a:pt x="29479" y="574024"/>
                  </a:lnTo>
                  <a:lnTo>
                    <a:pt x="7911" y="542049"/>
                  </a:lnTo>
                  <a:lnTo>
                    <a:pt x="0" y="502920"/>
                  </a:lnTo>
                  <a:lnTo>
                    <a:pt x="0" y="352044"/>
                  </a:lnTo>
                  <a:lnTo>
                    <a:pt x="0" y="100584"/>
                  </a:lnTo>
                  <a:close/>
                </a:path>
              </a:pathLst>
            </a:custGeom>
            <a:ln w="12192">
              <a:solidFill>
                <a:srgbClr val="F3A34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4226814" y="2511933"/>
            <a:ext cx="1986280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latin typeface="Carlito"/>
                <a:cs typeface="Carlito"/>
              </a:rPr>
              <a:t>Di </a:t>
            </a:r>
            <a:r>
              <a:rPr sz="1800" dirty="0">
                <a:latin typeface="Carlito"/>
                <a:cs typeface="Carlito"/>
              </a:rPr>
              <a:t>mana </a:t>
            </a:r>
            <a:r>
              <a:rPr sz="1800" spc="-5" dirty="0">
                <a:latin typeface="Carlito"/>
                <a:cs typeface="Carlito"/>
              </a:rPr>
              <a:t>(sejauh </a:t>
            </a:r>
            <a:r>
              <a:rPr sz="1800" dirty="0">
                <a:latin typeface="Carlito"/>
                <a:cs typeface="Carlito"/>
              </a:rPr>
              <a:t>apa)  </a:t>
            </a:r>
            <a:r>
              <a:rPr sz="1800" spc="-10" dirty="0">
                <a:latin typeface="Carlito"/>
                <a:cs typeface="Carlito"/>
              </a:rPr>
              <a:t>letak </a:t>
            </a:r>
            <a:r>
              <a:rPr sz="1800" spc="-5" dirty="0">
                <a:latin typeface="Carlito"/>
                <a:cs typeface="Carlito"/>
              </a:rPr>
              <a:t>objek</a:t>
            </a:r>
            <a:r>
              <a:rPr sz="1800" spc="-45" dirty="0">
                <a:latin typeface="Carlito"/>
                <a:cs typeface="Carlito"/>
              </a:rPr>
              <a:t> </a:t>
            </a:r>
            <a:r>
              <a:rPr sz="1800" spc="-10" dirty="0">
                <a:latin typeface="Carlito"/>
                <a:cs typeface="Carlito"/>
              </a:rPr>
              <a:t>tersebut?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799337" y="4226814"/>
            <a:ext cx="4998720" cy="782320"/>
          </a:xfrm>
          <a:custGeom>
            <a:avLst/>
            <a:gdLst/>
            <a:ahLst/>
            <a:cxnLst/>
            <a:rect l="l" t="t" r="r" b="b"/>
            <a:pathLst>
              <a:path w="4998720" h="782320">
                <a:moveTo>
                  <a:pt x="1894332" y="658368"/>
                </a:moveTo>
                <a:lnTo>
                  <a:pt x="2104644" y="658368"/>
                </a:lnTo>
                <a:lnTo>
                  <a:pt x="2104644" y="27431"/>
                </a:lnTo>
                <a:lnTo>
                  <a:pt x="1894332" y="27431"/>
                </a:lnTo>
                <a:lnTo>
                  <a:pt x="1894332" y="658368"/>
                </a:lnTo>
                <a:close/>
              </a:path>
              <a:path w="4998720" h="782320">
                <a:moveTo>
                  <a:pt x="4532376" y="554736"/>
                </a:moveTo>
                <a:lnTo>
                  <a:pt x="4674108" y="554736"/>
                </a:lnTo>
                <a:lnTo>
                  <a:pt x="4674108" y="0"/>
                </a:lnTo>
                <a:lnTo>
                  <a:pt x="4532376" y="0"/>
                </a:lnTo>
                <a:lnTo>
                  <a:pt x="4532376" y="554736"/>
                </a:lnTo>
                <a:close/>
              </a:path>
              <a:path w="4998720" h="782320">
                <a:moveTo>
                  <a:pt x="4786884" y="524256"/>
                </a:moveTo>
                <a:lnTo>
                  <a:pt x="4998720" y="524256"/>
                </a:lnTo>
                <a:lnTo>
                  <a:pt x="4998720" y="56387"/>
                </a:lnTo>
                <a:lnTo>
                  <a:pt x="4786884" y="56387"/>
                </a:lnTo>
                <a:lnTo>
                  <a:pt x="4786884" y="524256"/>
                </a:lnTo>
                <a:close/>
              </a:path>
              <a:path w="4998720" h="782320">
                <a:moveTo>
                  <a:pt x="0" y="781812"/>
                </a:moveTo>
                <a:lnTo>
                  <a:pt x="257556" y="781812"/>
                </a:lnTo>
                <a:lnTo>
                  <a:pt x="257556" y="38100"/>
                </a:lnTo>
                <a:lnTo>
                  <a:pt x="0" y="38100"/>
                </a:lnTo>
                <a:lnTo>
                  <a:pt x="0" y="781812"/>
                </a:lnTo>
                <a:close/>
              </a:path>
              <a:path w="4998720" h="782320">
                <a:moveTo>
                  <a:pt x="4283964" y="554736"/>
                </a:moveTo>
                <a:lnTo>
                  <a:pt x="4495800" y="554736"/>
                </a:lnTo>
                <a:lnTo>
                  <a:pt x="4495800" y="42672"/>
                </a:lnTo>
                <a:lnTo>
                  <a:pt x="4283964" y="42672"/>
                </a:lnTo>
                <a:lnTo>
                  <a:pt x="4283964" y="554736"/>
                </a:lnTo>
                <a:close/>
              </a:path>
            </a:pathLst>
          </a:custGeom>
          <a:ln w="38100">
            <a:solidFill>
              <a:srgbClr val="00FF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7" name="object 27"/>
          <p:cNvGrpSpPr/>
          <p:nvPr/>
        </p:nvGrpSpPr>
        <p:grpSpPr>
          <a:xfrm>
            <a:off x="1202436" y="5939028"/>
            <a:ext cx="6741159" cy="706120"/>
            <a:chOff x="1202436" y="5939028"/>
            <a:chExt cx="6741159" cy="706120"/>
          </a:xfrm>
        </p:grpSpPr>
        <p:sp>
          <p:nvSpPr>
            <p:cNvPr id="28" name="object 28"/>
            <p:cNvSpPr/>
            <p:nvPr/>
          </p:nvSpPr>
          <p:spPr>
            <a:xfrm>
              <a:off x="1208532" y="5945124"/>
              <a:ext cx="6728459" cy="693420"/>
            </a:xfrm>
            <a:custGeom>
              <a:avLst/>
              <a:gdLst/>
              <a:ahLst/>
              <a:cxnLst/>
              <a:rect l="l" t="t" r="r" b="b"/>
              <a:pathLst>
                <a:path w="6728459" h="693420">
                  <a:moveTo>
                    <a:pt x="6612890" y="0"/>
                  </a:moveTo>
                  <a:lnTo>
                    <a:pt x="115570" y="0"/>
                  </a:lnTo>
                  <a:lnTo>
                    <a:pt x="70583" y="9081"/>
                  </a:lnTo>
                  <a:lnTo>
                    <a:pt x="33848" y="33848"/>
                  </a:lnTo>
                  <a:lnTo>
                    <a:pt x="9081" y="70583"/>
                  </a:lnTo>
                  <a:lnTo>
                    <a:pt x="0" y="115569"/>
                  </a:lnTo>
                  <a:lnTo>
                    <a:pt x="0" y="577850"/>
                  </a:lnTo>
                  <a:lnTo>
                    <a:pt x="9081" y="622836"/>
                  </a:lnTo>
                  <a:lnTo>
                    <a:pt x="33848" y="659571"/>
                  </a:lnTo>
                  <a:lnTo>
                    <a:pt x="70583" y="684338"/>
                  </a:lnTo>
                  <a:lnTo>
                    <a:pt x="115570" y="693419"/>
                  </a:lnTo>
                  <a:lnTo>
                    <a:pt x="6612890" y="693419"/>
                  </a:lnTo>
                  <a:lnTo>
                    <a:pt x="6657897" y="684338"/>
                  </a:lnTo>
                  <a:lnTo>
                    <a:pt x="6694630" y="659571"/>
                  </a:lnTo>
                  <a:lnTo>
                    <a:pt x="6719385" y="622836"/>
                  </a:lnTo>
                  <a:lnTo>
                    <a:pt x="6728460" y="577850"/>
                  </a:lnTo>
                  <a:lnTo>
                    <a:pt x="6728460" y="115569"/>
                  </a:lnTo>
                  <a:lnTo>
                    <a:pt x="6719385" y="70583"/>
                  </a:lnTo>
                  <a:lnTo>
                    <a:pt x="6694630" y="33848"/>
                  </a:lnTo>
                  <a:lnTo>
                    <a:pt x="6657897" y="9081"/>
                  </a:lnTo>
                  <a:lnTo>
                    <a:pt x="6612890" y="0"/>
                  </a:lnTo>
                  <a:close/>
                </a:path>
              </a:pathLst>
            </a:custGeom>
            <a:solidFill>
              <a:srgbClr val="9C85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1208532" y="5945124"/>
              <a:ext cx="6728459" cy="693420"/>
            </a:xfrm>
            <a:custGeom>
              <a:avLst/>
              <a:gdLst/>
              <a:ahLst/>
              <a:cxnLst/>
              <a:rect l="l" t="t" r="r" b="b"/>
              <a:pathLst>
                <a:path w="6728459" h="693420">
                  <a:moveTo>
                    <a:pt x="0" y="115569"/>
                  </a:moveTo>
                  <a:lnTo>
                    <a:pt x="9081" y="70583"/>
                  </a:lnTo>
                  <a:lnTo>
                    <a:pt x="33848" y="33848"/>
                  </a:lnTo>
                  <a:lnTo>
                    <a:pt x="70583" y="9081"/>
                  </a:lnTo>
                  <a:lnTo>
                    <a:pt x="115570" y="0"/>
                  </a:lnTo>
                  <a:lnTo>
                    <a:pt x="6612890" y="0"/>
                  </a:lnTo>
                  <a:lnTo>
                    <a:pt x="6657897" y="9081"/>
                  </a:lnTo>
                  <a:lnTo>
                    <a:pt x="6694630" y="33848"/>
                  </a:lnTo>
                  <a:lnTo>
                    <a:pt x="6719385" y="70583"/>
                  </a:lnTo>
                  <a:lnTo>
                    <a:pt x="6728460" y="115569"/>
                  </a:lnTo>
                  <a:lnTo>
                    <a:pt x="6728460" y="577850"/>
                  </a:lnTo>
                  <a:lnTo>
                    <a:pt x="6719385" y="622836"/>
                  </a:lnTo>
                  <a:lnTo>
                    <a:pt x="6694630" y="659571"/>
                  </a:lnTo>
                  <a:lnTo>
                    <a:pt x="6657897" y="684338"/>
                  </a:lnTo>
                  <a:lnTo>
                    <a:pt x="6612890" y="693419"/>
                  </a:lnTo>
                  <a:lnTo>
                    <a:pt x="115570" y="693419"/>
                  </a:lnTo>
                  <a:lnTo>
                    <a:pt x="70583" y="684338"/>
                  </a:lnTo>
                  <a:lnTo>
                    <a:pt x="33848" y="659571"/>
                  </a:lnTo>
                  <a:lnTo>
                    <a:pt x="9081" y="622836"/>
                  </a:lnTo>
                  <a:lnTo>
                    <a:pt x="0" y="577850"/>
                  </a:lnTo>
                  <a:lnTo>
                    <a:pt x="0" y="115569"/>
                  </a:lnTo>
                  <a:close/>
                </a:path>
              </a:pathLst>
            </a:custGeom>
            <a:ln w="12192">
              <a:solidFill>
                <a:srgbClr val="705F8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30"/>
          <p:cNvSpPr txBox="1"/>
          <p:nvPr/>
        </p:nvSpPr>
        <p:spPr>
          <a:xfrm>
            <a:off x="3411092" y="6112865"/>
            <a:ext cx="232537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35" dirty="0">
                <a:latin typeface="Carlito"/>
                <a:cs typeface="Carlito"/>
              </a:rPr>
              <a:t>DATA</a:t>
            </a:r>
            <a:r>
              <a:rPr sz="2000" spc="-35" dirty="0">
                <a:latin typeface="Wingdings"/>
                <a:cs typeface="Wingdings"/>
              </a:rPr>
              <a:t></a:t>
            </a:r>
            <a:r>
              <a:rPr sz="2000" spc="-35" dirty="0">
                <a:latin typeface="Carlito"/>
                <a:cs typeface="Carlito"/>
              </a:rPr>
              <a:t>INFORMATION</a:t>
            </a:r>
            <a:endParaRPr sz="2000">
              <a:latin typeface="Carlito"/>
              <a:cs typeface="Carlito"/>
            </a:endParaRPr>
          </a:p>
        </p:txBody>
      </p:sp>
      <p:sp>
        <p:nvSpPr>
          <p:cNvPr id="34" name="object 34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150"/>
              </a:lnSpc>
            </a:pPr>
            <a:r>
              <a:rPr spc="-5" dirty="0"/>
              <a:t>Pengolahan </a:t>
            </a:r>
            <a:r>
              <a:rPr dirty="0"/>
              <a:t>Citra -</a:t>
            </a:r>
            <a:r>
              <a:rPr spc="-90" dirty="0"/>
              <a:t> </a:t>
            </a:r>
            <a:r>
              <a:rPr dirty="0"/>
              <a:t>Pengantar</a:t>
            </a:r>
          </a:p>
        </p:txBody>
      </p:sp>
      <p:sp>
        <p:nvSpPr>
          <p:cNvPr id="31" name="object 31"/>
          <p:cNvSpPr txBox="1"/>
          <p:nvPr/>
        </p:nvSpPr>
        <p:spPr>
          <a:xfrm>
            <a:off x="5471159" y="4808220"/>
            <a:ext cx="902335" cy="368935"/>
          </a:xfrm>
          <a:prstGeom prst="rect">
            <a:avLst/>
          </a:prstGeom>
          <a:solidFill>
            <a:srgbClr val="FFFFFF"/>
          </a:solidFill>
          <a:ln w="9144">
            <a:solidFill>
              <a:srgbClr val="00FF00"/>
            </a:solidFill>
          </a:ln>
        </p:spPr>
        <p:txBody>
          <a:bodyPr vert="horz" wrap="square" lIns="0" tIns="31750" rIns="0" bIns="0" rtlCol="0">
            <a:spAutoFit/>
          </a:bodyPr>
          <a:lstStyle/>
          <a:p>
            <a:pPr marL="75565">
              <a:lnSpc>
                <a:spcPct val="100000"/>
              </a:lnSpc>
              <a:spcBef>
                <a:spcPts val="250"/>
              </a:spcBef>
            </a:pPr>
            <a:r>
              <a:rPr sz="1800" b="1" spc="-10" dirty="0">
                <a:solidFill>
                  <a:srgbClr val="00FF00"/>
                </a:solidFill>
                <a:latin typeface="Carlito"/>
                <a:cs typeface="Carlito"/>
              </a:rPr>
              <a:t>Person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1502663" y="4759452"/>
            <a:ext cx="588645" cy="368935"/>
          </a:xfrm>
          <a:prstGeom prst="rect">
            <a:avLst/>
          </a:prstGeom>
          <a:solidFill>
            <a:srgbClr val="FFFFFF"/>
          </a:solidFill>
          <a:ln w="9144">
            <a:solidFill>
              <a:srgbClr val="FF0000"/>
            </a:solidFill>
          </a:ln>
        </p:spPr>
        <p:txBody>
          <a:bodyPr vert="horz" wrap="square" lIns="0" tIns="31115" rIns="0" bIns="0" rtlCol="0">
            <a:spAutoFit/>
          </a:bodyPr>
          <a:lstStyle/>
          <a:p>
            <a:pPr marL="90805">
              <a:lnSpc>
                <a:spcPct val="100000"/>
              </a:lnSpc>
              <a:spcBef>
                <a:spcPts val="245"/>
              </a:spcBef>
            </a:pPr>
            <a:r>
              <a:rPr sz="1800" b="1" spc="-5" dirty="0">
                <a:solidFill>
                  <a:srgbClr val="FF0000"/>
                </a:solidFill>
                <a:latin typeface="Carlito"/>
                <a:cs typeface="Carlito"/>
              </a:rPr>
              <a:t>Car</a:t>
            </a:r>
            <a:endParaRPr sz="1800">
              <a:latin typeface="Carlito"/>
              <a:cs typeface="Carli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315211" y="2342388"/>
            <a:ext cx="6513576" cy="428244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spc="-229" dirty="0"/>
              <a:t>Citra</a:t>
            </a:r>
            <a:r>
              <a:rPr spc="-265" dirty="0"/>
              <a:t> </a:t>
            </a:r>
            <a:r>
              <a:rPr spc="-250" dirty="0"/>
              <a:t>Dijital</a:t>
            </a:r>
          </a:p>
        </p:txBody>
      </p:sp>
      <p:sp>
        <p:nvSpPr>
          <p:cNvPr id="7" name="object 7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150"/>
              </a:lnSpc>
            </a:pPr>
            <a:r>
              <a:rPr spc="-5" dirty="0"/>
              <a:t>Pengolahan </a:t>
            </a:r>
            <a:r>
              <a:rPr dirty="0"/>
              <a:t>Citra -</a:t>
            </a:r>
            <a:r>
              <a:rPr spc="-90" dirty="0"/>
              <a:t> </a:t>
            </a:r>
            <a:r>
              <a:rPr dirty="0"/>
              <a:t>Pengantar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707542" y="1802333"/>
            <a:ext cx="3346450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785" indent="-17272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45" dirty="0">
                <a:latin typeface="Carlito"/>
                <a:cs typeface="Carlito"/>
              </a:rPr>
              <a:t>Yang </a:t>
            </a:r>
            <a:r>
              <a:rPr sz="2400" spc="-10" dirty="0">
                <a:latin typeface="Carlito"/>
                <a:cs typeface="Carlito"/>
              </a:rPr>
              <a:t>dilihat </a:t>
            </a:r>
            <a:r>
              <a:rPr sz="2400" spc="-5" dirty="0">
                <a:latin typeface="Carlito"/>
                <a:cs typeface="Carlito"/>
              </a:rPr>
              <a:t>oleh</a:t>
            </a:r>
            <a:r>
              <a:rPr sz="2400" spc="5" dirty="0">
                <a:latin typeface="Carlito"/>
                <a:cs typeface="Carlito"/>
              </a:rPr>
              <a:t> </a:t>
            </a:r>
            <a:r>
              <a:rPr sz="2400" dirty="0">
                <a:latin typeface="Carlito"/>
                <a:cs typeface="Carlito"/>
              </a:rPr>
              <a:t>manusia</a:t>
            </a:r>
            <a:endParaRPr sz="2400">
              <a:latin typeface="Carlito"/>
              <a:cs typeface="Carli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spc="-229" dirty="0"/>
              <a:t>Citra</a:t>
            </a:r>
            <a:r>
              <a:rPr spc="-265" dirty="0"/>
              <a:t> </a:t>
            </a:r>
            <a:r>
              <a:rPr spc="-250" dirty="0"/>
              <a:t>Dijital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07542" y="1802333"/>
            <a:ext cx="350964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785" indent="-17272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45" dirty="0">
                <a:latin typeface="Carlito"/>
                <a:cs typeface="Carlito"/>
              </a:rPr>
              <a:t>Yang </a:t>
            </a:r>
            <a:r>
              <a:rPr sz="2400" spc="-10" dirty="0">
                <a:latin typeface="Carlito"/>
                <a:cs typeface="Carlito"/>
              </a:rPr>
              <a:t>dilihat </a:t>
            </a:r>
            <a:r>
              <a:rPr sz="2400" spc="-5" dirty="0">
                <a:latin typeface="Carlito"/>
                <a:cs typeface="Carlito"/>
              </a:rPr>
              <a:t>oleh</a:t>
            </a:r>
            <a:r>
              <a:rPr sz="2400" spc="30" dirty="0">
                <a:latin typeface="Carlito"/>
                <a:cs typeface="Carlito"/>
              </a:rPr>
              <a:t> </a:t>
            </a:r>
            <a:r>
              <a:rPr sz="2400" spc="-20" dirty="0">
                <a:latin typeface="Carlito"/>
                <a:cs typeface="Carlito"/>
              </a:rPr>
              <a:t>komputer</a:t>
            </a:r>
            <a:endParaRPr sz="2400">
              <a:latin typeface="Carlito"/>
              <a:cs typeface="Carlito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336547" y="2453639"/>
            <a:ext cx="6471023" cy="33866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/>
          <p:cNvGrpSpPr/>
          <p:nvPr/>
        </p:nvGrpSpPr>
        <p:grpSpPr>
          <a:xfrm>
            <a:off x="1200911" y="6077711"/>
            <a:ext cx="6742430" cy="704215"/>
            <a:chOff x="1200911" y="6077711"/>
            <a:chExt cx="6742430" cy="704215"/>
          </a:xfrm>
        </p:grpSpPr>
        <p:sp>
          <p:nvSpPr>
            <p:cNvPr id="6" name="object 6"/>
            <p:cNvSpPr/>
            <p:nvPr/>
          </p:nvSpPr>
          <p:spPr>
            <a:xfrm>
              <a:off x="1207007" y="6083807"/>
              <a:ext cx="6730365" cy="692150"/>
            </a:xfrm>
            <a:custGeom>
              <a:avLst/>
              <a:gdLst/>
              <a:ahLst/>
              <a:cxnLst/>
              <a:rect l="l" t="t" r="r" b="b"/>
              <a:pathLst>
                <a:path w="6730365" h="692150">
                  <a:moveTo>
                    <a:pt x="6614668" y="0"/>
                  </a:moveTo>
                  <a:lnTo>
                    <a:pt x="115315" y="0"/>
                  </a:lnTo>
                  <a:lnTo>
                    <a:pt x="70428" y="9061"/>
                  </a:lnTo>
                  <a:lnTo>
                    <a:pt x="33774" y="33774"/>
                  </a:lnTo>
                  <a:lnTo>
                    <a:pt x="9061" y="70428"/>
                  </a:lnTo>
                  <a:lnTo>
                    <a:pt x="0" y="115315"/>
                  </a:lnTo>
                  <a:lnTo>
                    <a:pt x="0" y="576579"/>
                  </a:lnTo>
                  <a:lnTo>
                    <a:pt x="9061" y="621467"/>
                  </a:lnTo>
                  <a:lnTo>
                    <a:pt x="33774" y="658121"/>
                  </a:lnTo>
                  <a:lnTo>
                    <a:pt x="70428" y="682834"/>
                  </a:lnTo>
                  <a:lnTo>
                    <a:pt x="115315" y="691895"/>
                  </a:lnTo>
                  <a:lnTo>
                    <a:pt x="6614668" y="691895"/>
                  </a:lnTo>
                  <a:lnTo>
                    <a:pt x="6659528" y="682834"/>
                  </a:lnTo>
                  <a:lnTo>
                    <a:pt x="6696186" y="658121"/>
                  </a:lnTo>
                  <a:lnTo>
                    <a:pt x="6720913" y="621467"/>
                  </a:lnTo>
                  <a:lnTo>
                    <a:pt x="6729984" y="576579"/>
                  </a:lnTo>
                  <a:lnTo>
                    <a:pt x="6729984" y="115315"/>
                  </a:lnTo>
                  <a:lnTo>
                    <a:pt x="6720913" y="70428"/>
                  </a:lnTo>
                  <a:lnTo>
                    <a:pt x="6696186" y="33774"/>
                  </a:lnTo>
                  <a:lnTo>
                    <a:pt x="6659528" y="9061"/>
                  </a:lnTo>
                  <a:lnTo>
                    <a:pt x="6614668" y="0"/>
                  </a:lnTo>
                  <a:close/>
                </a:path>
              </a:pathLst>
            </a:custGeom>
            <a:solidFill>
              <a:srgbClr val="9C85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207007" y="6083807"/>
              <a:ext cx="6730365" cy="692150"/>
            </a:xfrm>
            <a:custGeom>
              <a:avLst/>
              <a:gdLst/>
              <a:ahLst/>
              <a:cxnLst/>
              <a:rect l="l" t="t" r="r" b="b"/>
              <a:pathLst>
                <a:path w="6730365" h="692150">
                  <a:moveTo>
                    <a:pt x="0" y="115315"/>
                  </a:moveTo>
                  <a:lnTo>
                    <a:pt x="9061" y="70428"/>
                  </a:lnTo>
                  <a:lnTo>
                    <a:pt x="33774" y="33774"/>
                  </a:lnTo>
                  <a:lnTo>
                    <a:pt x="70428" y="9061"/>
                  </a:lnTo>
                  <a:lnTo>
                    <a:pt x="115315" y="0"/>
                  </a:lnTo>
                  <a:lnTo>
                    <a:pt x="6614668" y="0"/>
                  </a:lnTo>
                  <a:lnTo>
                    <a:pt x="6659528" y="9061"/>
                  </a:lnTo>
                  <a:lnTo>
                    <a:pt x="6696186" y="33774"/>
                  </a:lnTo>
                  <a:lnTo>
                    <a:pt x="6720913" y="70428"/>
                  </a:lnTo>
                  <a:lnTo>
                    <a:pt x="6729984" y="115315"/>
                  </a:lnTo>
                  <a:lnTo>
                    <a:pt x="6729984" y="576579"/>
                  </a:lnTo>
                  <a:lnTo>
                    <a:pt x="6720913" y="621467"/>
                  </a:lnTo>
                  <a:lnTo>
                    <a:pt x="6696186" y="658121"/>
                  </a:lnTo>
                  <a:lnTo>
                    <a:pt x="6659528" y="682834"/>
                  </a:lnTo>
                  <a:lnTo>
                    <a:pt x="6614668" y="691895"/>
                  </a:lnTo>
                  <a:lnTo>
                    <a:pt x="115315" y="691895"/>
                  </a:lnTo>
                  <a:lnTo>
                    <a:pt x="70428" y="682834"/>
                  </a:lnTo>
                  <a:lnTo>
                    <a:pt x="33774" y="658121"/>
                  </a:lnTo>
                  <a:lnTo>
                    <a:pt x="9061" y="621467"/>
                  </a:lnTo>
                  <a:lnTo>
                    <a:pt x="0" y="576579"/>
                  </a:lnTo>
                  <a:lnTo>
                    <a:pt x="0" y="115315"/>
                  </a:lnTo>
                  <a:close/>
                </a:path>
              </a:pathLst>
            </a:custGeom>
            <a:ln w="12192">
              <a:solidFill>
                <a:srgbClr val="705F8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2914523" y="6249111"/>
            <a:ext cx="3314065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r>
              <a:rPr sz="2000" spc="-5" dirty="0">
                <a:latin typeface="Carlito"/>
                <a:cs typeface="Carlito"/>
              </a:rPr>
              <a:t>How </a:t>
            </a:r>
            <a:r>
              <a:rPr sz="2000" spc="-10" dirty="0">
                <a:latin typeface="Carlito"/>
                <a:cs typeface="Carlito"/>
              </a:rPr>
              <a:t>to </a:t>
            </a:r>
            <a:r>
              <a:rPr sz="1650" spc="-509" baseline="-27777" dirty="0">
                <a:solidFill>
                  <a:srgbClr val="888888"/>
                </a:solidFill>
                <a:latin typeface="Carlito"/>
                <a:cs typeface="Carlito"/>
              </a:rPr>
              <a:t>P</a:t>
            </a:r>
            <a:r>
              <a:rPr sz="2000" spc="-340" dirty="0">
                <a:latin typeface="Carlito"/>
                <a:cs typeface="Carlito"/>
              </a:rPr>
              <a:t>p</a:t>
            </a:r>
            <a:r>
              <a:rPr sz="1650" spc="-509" baseline="-27777" dirty="0">
                <a:solidFill>
                  <a:srgbClr val="888888"/>
                </a:solidFill>
                <a:latin typeface="Carlito"/>
                <a:cs typeface="Carlito"/>
              </a:rPr>
              <a:t>en</a:t>
            </a:r>
            <a:r>
              <a:rPr sz="2000" spc="-340" dirty="0">
                <a:latin typeface="Carlito"/>
                <a:cs typeface="Carlito"/>
              </a:rPr>
              <a:t>r</a:t>
            </a:r>
            <a:r>
              <a:rPr sz="1650" spc="-509" baseline="-27777" dirty="0">
                <a:solidFill>
                  <a:srgbClr val="888888"/>
                </a:solidFill>
                <a:latin typeface="Carlito"/>
                <a:cs typeface="Carlito"/>
              </a:rPr>
              <a:t>g</a:t>
            </a:r>
            <a:r>
              <a:rPr sz="2000" spc="-340" dirty="0">
                <a:latin typeface="Carlito"/>
                <a:cs typeface="Carlito"/>
              </a:rPr>
              <a:t>o</a:t>
            </a:r>
            <a:r>
              <a:rPr sz="1650" spc="-509" baseline="-27777" dirty="0">
                <a:solidFill>
                  <a:srgbClr val="888888"/>
                </a:solidFill>
                <a:latin typeface="Carlito"/>
                <a:cs typeface="Carlito"/>
              </a:rPr>
              <a:t>ol</a:t>
            </a:r>
            <a:r>
              <a:rPr sz="2000" spc="-340" dirty="0">
                <a:latin typeface="Carlito"/>
                <a:cs typeface="Carlito"/>
              </a:rPr>
              <a:t>s</a:t>
            </a:r>
            <a:r>
              <a:rPr sz="1650" spc="-509" baseline="-27777" dirty="0">
                <a:solidFill>
                  <a:srgbClr val="888888"/>
                </a:solidFill>
                <a:latin typeface="Carlito"/>
                <a:cs typeface="Carlito"/>
              </a:rPr>
              <a:t>ah</a:t>
            </a:r>
            <a:r>
              <a:rPr sz="2000" spc="-340" dirty="0">
                <a:latin typeface="Carlito"/>
                <a:cs typeface="Carlito"/>
              </a:rPr>
              <a:t>e</a:t>
            </a:r>
            <a:r>
              <a:rPr sz="1650" spc="-509" baseline="-27777" dirty="0">
                <a:solidFill>
                  <a:srgbClr val="888888"/>
                </a:solidFill>
                <a:latin typeface="Carlito"/>
                <a:cs typeface="Carlito"/>
              </a:rPr>
              <a:t>a</a:t>
            </a:r>
            <a:r>
              <a:rPr sz="2000" spc="-340" dirty="0">
                <a:latin typeface="Carlito"/>
                <a:cs typeface="Carlito"/>
              </a:rPr>
              <a:t>s</a:t>
            </a:r>
            <a:r>
              <a:rPr sz="1650" spc="-509" baseline="-27777" dirty="0">
                <a:solidFill>
                  <a:srgbClr val="888888"/>
                </a:solidFill>
                <a:latin typeface="Carlito"/>
                <a:cs typeface="Carlito"/>
              </a:rPr>
              <a:t>n</a:t>
            </a:r>
            <a:r>
              <a:rPr sz="1650" spc="-52" baseline="-27777" dirty="0">
                <a:solidFill>
                  <a:srgbClr val="888888"/>
                </a:solidFill>
                <a:latin typeface="Carlito"/>
                <a:cs typeface="Carlito"/>
              </a:rPr>
              <a:t> </a:t>
            </a:r>
            <a:r>
              <a:rPr sz="1650" spc="-367" baseline="-27777" dirty="0">
                <a:solidFill>
                  <a:srgbClr val="888888"/>
                </a:solidFill>
                <a:latin typeface="Carlito"/>
                <a:cs typeface="Carlito"/>
              </a:rPr>
              <a:t>C</a:t>
            </a:r>
            <a:r>
              <a:rPr sz="2000" spc="-245" dirty="0">
                <a:latin typeface="Carlito"/>
                <a:cs typeface="Carlito"/>
              </a:rPr>
              <a:t>t</a:t>
            </a:r>
            <a:r>
              <a:rPr sz="1650" spc="-367" baseline="-27777" dirty="0">
                <a:solidFill>
                  <a:srgbClr val="888888"/>
                </a:solidFill>
                <a:latin typeface="Carlito"/>
                <a:cs typeface="Carlito"/>
              </a:rPr>
              <a:t>it</a:t>
            </a:r>
            <a:r>
              <a:rPr sz="2000" spc="-245" dirty="0">
                <a:latin typeface="Carlito"/>
                <a:cs typeface="Carlito"/>
              </a:rPr>
              <a:t>h</a:t>
            </a:r>
            <a:r>
              <a:rPr sz="1650" spc="-367" baseline="-27777" dirty="0">
                <a:solidFill>
                  <a:srgbClr val="888888"/>
                </a:solidFill>
                <a:latin typeface="Carlito"/>
                <a:cs typeface="Carlito"/>
              </a:rPr>
              <a:t>ra</a:t>
            </a:r>
            <a:r>
              <a:rPr sz="2000" spc="-245" dirty="0">
                <a:latin typeface="Carlito"/>
                <a:cs typeface="Carlito"/>
              </a:rPr>
              <a:t>i</a:t>
            </a:r>
            <a:r>
              <a:rPr sz="1650" spc="-367" baseline="-27777" dirty="0">
                <a:solidFill>
                  <a:srgbClr val="888888"/>
                </a:solidFill>
                <a:latin typeface="Carlito"/>
                <a:cs typeface="Carlito"/>
              </a:rPr>
              <a:t>-</a:t>
            </a:r>
            <a:r>
              <a:rPr sz="2000" spc="-245" dirty="0">
                <a:latin typeface="Carlito"/>
                <a:cs typeface="Carlito"/>
              </a:rPr>
              <a:t>s</a:t>
            </a:r>
            <a:r>
              <a:rPr sz="1650" spc="-367" baseline="-27777" dirty="0">
                <a:solidFill>
                  <a:srgbClr val="888888"/>
                </a:solidFill>
                <a:latin typeface="Carlito"/>
                <a:cs typeface="Carlito"/>
              </a:rPr>
              <a:t>Pe</a:t>
            </a:r>
            <a:r>
              <a:rPr sz="2000" spc="-245" dirty="0">
                <a:latin typeface="Carlito"/>
                <a:cs typeface="Carlito"/>
              </a:rPr>
              <a:t>d</a:t>
            </a:r>
            <a:r>
              <a:rPr sz="1650" spc="-367" baseline="-27777" dirty="0">
                <a:solidFill>
                  <a:srgbClr val="888888"/>
                </a:solidFill>
                <a:latin typeface="Carlito"/>
                <a:cs typeface="Carlito"/>
              </a:rPr>
              <a:t>ng</a:t>
            </a:r>
            <a:r>
              <a:rPr sz="2000" spc="-245" dirty="0">
                <a:latin typeface="Carlito"/>
                <a:cs typeface="Carlito"/>
              </a:rPr>
              <a:t>i</a:t>
            </a:r>
            <a:r>
              <a:rPr sz="1650" spc="-367" baseline="-27777" dirty="0">
                <a:solidFill>
                  <a:srgbClr val="888888"/>
                </a:solidFill>
                <a:latin typeface="Carlito"/>
                <a:cs typeface="Carlito"/>
              </a:rPr>
              <a:t>a</a:t>
            </a:r>
            <a:r>
              <a:rPr sz="2000" spc="-245" dirty="0">
                <a:latin typeface="Carlito"/>
                <a:cs typeface="Carlito"/>
              </a:rPr>
              <a:t>g</a:t>
            </a:r>
            <a:r>
              <a:rPr sz="1650" spc="-367" baseline="-27777" dirty="0">
                <a:solidFill>
                  <a:srgbClr val="888888"/>
                </a:solidFill>
                <a:latin typeface="Carlito"/>
                <a:cs typeface="Carlito"/>
              </a:rPr>
              <a:t>n</a:t>
            </a:r>
            <a:r>
              <a:rPr sz="2000" spc="-245" dirty="0">
                <a:latin typeface="Carlito"/>
                <a:cs typeface="Carlito"/>
              </a:rPr>
              <a:t>i</a:t>
            </a:r>
            <a:r>
              <a:rPr sz="1650" spc="-367" baseline="-27777" dirty="0">
                <a:solidFill>
                  <a:srgbClr val="888888"/>
                </a:solidFill>
                <a:latin typeface="Carlito"/>
                <a:cs typeface="Carlito"/>
              </a:rPr>
              <a:t>ta</a:t>
            </a:r>
            <a:r>
              <a:rPr sz="2000" spc="-245" dirty="0">
                <a:latin typeface="Carlito"/>
                <a:cs typeface="Carlito"/>
              </a:rPr>
              <a:t>t</a:t>
            </a:r>
            <a:r>
              <a:rPr sz="1650" spc="-367" baseline="-27777" dirty="0">
                <a:solidFill>
                  <a:srgbClr val="888888"/>
                </a:solidFill>
                <a:latin typeface="Carlito"/>
                <a:cs typeface="Carlito"/>
              </a:rPr>
              <a:t>r</a:t>
            </a:r>
            <a:r>
              <a:rPr sz="2000" spc="-245" dirty="0">
                <a:latin typeface="Carlito"/>
                <a:cs typeface="Carlito"/>
              </a:rPr>
              <a:t>al  </a:t>
            </a:r>
            <a:r>
              <a:rPr sz="2000" spc="-10" dirty="0">
                <a:latin typeface="Carlito"/>
                <a:cs typeface="Carlito"/>
              </a:rPr>
              <a:t>data?</a:t>
            </a:r>
            <a:endParaRPr sz="2000">
              <a:latin typeface="Carlito"/>
              <a:cs typeface="Carlit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i="1" spc="-250" dirty="0">
                <a:latin typeface="Trebuchet MS"/>
                <a:cs typeface="Trebuchet MS"/>
              </a:rPr>
              <a:t>Clustering </a:t>
            </a:r>
            <a:r>
              <a:rPr spc="-229" dirty="0"/>
              <a:t>Citra</a:t>
            </a:r>
            <a:r>
              <a:rPr spc="-90" dirty="0"/>
              <a:t> </a:t>
            </a:r>
            <a:r>
              <a:rPr spc="-250" dirty="0"/>
              <a:t>Dijital</a:t>
            </a:r>
          </a:p>
        </p:txBody>
      </p:sp>
      <p:sp>
        <p:nvSpPr>
          <p:cNvPr id="3" name="object 3"/>
          <p:cNvSpPr/>
          <p:nvPr/>
        </p:nvSpPr>
        <p:spPr>
          <a:xfrm>
            <a:off x="4770120" y="4378452"/>
            <a:ext cx="1427988" cy="9525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3043427" y="3153155"/>
            <a:ext cx="1429512" cy="95250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6496811" y="1943100"/>
            <a:ext cx="1427988" cy="952500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318260" y="1943100"/>
            <a:ext cx="1427988" cy="952500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6495288" y="3153155"/>
            <a:ext cx="1429512" cy="952500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3043427" y="4379976"/>
            <a:ext cx="1429512" cy="952500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4770120" y="3153155"/>
            <a:ext cx="1427988" cy="952500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3043427" y="1981200"/>
            <a:ext cx="1429512" cy="952500"/>
          </a:xfrm>
          <a:prstGeom prst="rect">
            <a:avLst/>
          </a:prstGeom>
          <a:blipFill>
            <a:blip r:embed="rId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6495288" y="4378452"/>
            <a:ext cx="1429512" cy="952500"/>
          </a:xfrm>
          <a:prstGeom prst="rect">
            <a:avLst/>
          </a:prstGeom>
          <a:blipFill>
            <a:blip r:embed="rId1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318260" y="3153155"/>
            <a:ext cx="1427988" cy="952500"/>
          </a:xfrm>
          <a:prstGeom prst="rect">
            <a:avLst/>
          </a:prstGeom>
          <a:blipFill>
            <a:blip r:embed="rId11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4770120" y="1943100"/>
            <a:ext cx="1427988" cy="952500"/>
          </a:xfrm>
          <a:prstGeom prst="rect">
            <a:avLst/>
          </a:prstGeom>
          <a:blipFill>
            <a:blip r:embed="rId1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1318260" y="4378452"/>
            <a:ext cx="1427988" cy="952500"/>
          </a:xfrm>
          <a:prstGeom prst="rect">
            <a:avLst/>
          </a:prstGeom>
          <a:blipFill>
            <a:blip r:embed="rId1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150"/>
              </a:lnSpc>
            </a:pPr>
            <a:r>
              <a:rPr spc="-5" dirty="0"/>
              <a:t>Pengolahan </a:t>
            </a:r>
            <a:r>
              <a:rPr dirty="0"/>
              <a:t>Citra -</a:t>
            </a:r>
            <a:r>
              <a:rPr spc="-90" dirty="0"/>
              <a:t> </a:t>
            </a:r>
            <a:r>
              <a:rPr dirty="0"/>
              <a:t>Pengantar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i="1" spc="-250" dirty="0">
                <a:latin typeface="Trebuchet MS"/>
                <a:cs typeface="Trebuchet MS"/>
              </a:rPr>
              <a:t>Clustering </a:t>
            </a:r>
            <a:r>
              <a:rPr spc="-229" dirty="0"/>
              <a:t>Citra </a:t>
            </a:r>
            <a:r>
              <a:rPr spc="-250" dirty="0"/>
              <a:t>Dijital</a:t>
            </a:r>
            <a:r>
              <a:rPr spc="-110" dirty="0"/>
              <a:t> </a:t>
            </a:r>
            <a:r>
              <a:rPr spc="-185" dirty="0"/>
              <a:t>(2)</a:t>
            </a:r>
          </a:p>
        </p:txBody>
      </p:sp>
      <p:sp>
        <p:nvSpPr>
          <p:cNvPr id="3" name="object 3"/>
          <p:cNvSpPr/>
          <p:nvPr/>
        </p:nvSpPr>
        <p:spPr>
          <a:xfrm>
            <a:off x="4770120" y="1943100"/>
            <a:ext cx="1427988" cy="9525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3043427" y="1943100"/>
            <a:ext cx="1429512" cy="95250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6496811" y="1943100"/>
            <a:ext cx="1427988" cy="952500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318260" y="1943100"/>
            <a:ext cx="1427988" cy="952500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6495288" y="3153155"/>
            <a:ext cx="1429512" cy="952500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328927" y="3147060"/>
            <a:ext cx="1429511" cy="952500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4770120" y="3153155"/>
            <a:ext cx="1427988" cy="952500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3043427" y="3147060"/>
            <a:ext cx="1429512" cy="952500"/>
          </a:xfrm>
          <a:prstGeom prst="rect">
            <a:avLst/>
          </a:prstGeom>
          <a:blipFill>
            <a:blip r:embed="rId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6495288" y="4378452"/>
            <a:ext cx="1429512" cy="952500"/>
          </a:xfrm>
          <a:prstGeom prst="rect">
            <a:avLst/>
          </a:prstGeom>
          <a:blipFill>
            <a:blip r:embed="rId1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3043427" y="4352544"/>
            <a:ext cx="1429512" cy="952500"/>
          </a:xfrm>
          <a:prstGeom prst="rect">
            <a:avLst/>
          </a:prstGeom>
          <a:blipFill>
            <a:blip r:embed="rId11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4770120" y="4352544"/>
            <a:ext cx="1427988" cy="952500"/>
          </a:xfrm>
          <a:prstGeom prst="rect">
            <a:avLst/>
          </a:prstGeom>
          <a:blipFill>
            <a:blip r:embed="rId1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1318260" y="4378452"/>
            <a:ext cx="1427988" cy="952500"/>
          </a:xfrm>
          <a:prstGeom prst="rect">
            <a:avLst/>
          </a:prstGeom>
          <a:blipFill>
            <a:blip r:embed="rId1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5" name="object 15"/>
          <p:cNvGrpSpPr/>
          <p:nvPr/>
        </p:nvGrpSpPr>
        <p:grpSpPr>
          <a:xfrm>
            <a:off x="1202436" y="5939028"/>
            <a:ext cx="6741159" cy="706120"/>
            <a:chOff x="1202436" y="5939028"/>
            <a:chExt cx="6741159" cy="706120"/>
          </a:xfrm>
        </p:grpSpPr>
        <p:sp>
          <p:nvSpPr>
            <p:cNvPr id="16" name="object 16"/>
            <p:cNvSpPr/>
            <p:nvPr/>
          </p:nvSpPr>
          <p:spPr>
            <a:xfrm>
              <a:off x="1208532" y="5945124"/>
              <a:ext cx="6728459" cy="693420"/>
            </a:xfrm>
            <a:custGeom>
              <a:avLst/>
              <a:gdLst/>
              <a:ahLst/>
              <a:cxnLst/>
              <a:rect l="l" t="t" r="r" b="b"/>
              <a:pathLst>
                <a:path w="6728459" h="693420">
                  <a:moveTo>
                    <a:pt x="6612890" y="0"/>
                  </a:moveTo>
                  <a:lnTo>
                    <a:pt x="115570" y="0"/>
                  </a:lnTo>
                  <a:lnTo>
                    <a:pt x="70583" y="9081"/>
                  </a:lnTo>
                  <a:lnTo>
                    <a:pt x="33848" y="33848"/>
                  </a:lnTo>
                  <a:lnTo>
                    <a:pt x="9081" y="70583"/>
                  </a:lnTo>
                  <a:lnTo>
                    <a:pt x="0" y="115569"/>
                  </a:lnTo>
                  <a:lnTo>
                    <a:pt x="0" y="577850"/>
                  </a:lnTo>
                  <a:lnTo>
                    <a:pt x="9081" y="622836"/>
                  </a:lnTo>
                  <a:lnTo>
                    <a:pt x="33848" y="659571"/>
                  </a:lnTo>
                  <a:lnTo>
                    <a:pt x="70583" y="684338"/>
                  </a:lnTo>
                  <a:lnTo>
                    <a:pt x="115570" y="693419"/>
                  </a:lnTo>
                  <a:lnTo>
                    <a:pt x="6612890" y="693419"/>
                  </a:lnTo>
                  <a:lnTo>
                    <a:pt x="6657897" y="684338"/>
                  </a:lnTo>
                  <a:lnTo>
                    <a:pt x="6694630" y="659571"/>
                  </a:lnTo>
                  <a:lnTo>
                    <a:pt x="6719385" y="622836"/>
                  </a:lnTo>
                  <a:lnTo>
                    <a:pt x="6728460" y="577850"/>
                  </a:lnTo>
                  <a:lnTo>
                    <a:pt x="6728460" y="115569"/>
                  </a:lnTo>
                  <a:lnTo>
                    <a:pt x="6719385" y="70583"/>
                  </a:lnTo>
                  <a:lnTo>
                    <a:pt x="6694630" y="33848"/>
                  </a:lnTo>
                  <a:lnTo>
                    <a:pt x="6657897" y="9081"/>
                  </a:lnTo>
                  <a:lnTo>
                    <a:pt x="6612890" y="0"/>
                  </a:lnTo>
                  <a:close/>
                </a:path>
              </a:pathLst>
            </a:custGeom>
            <a:solidFill>
              <a:srgbClr val="9C85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208532" y="5945124"/>
              <a:ext cx="6728459" cy="693420"/>
            </a:xfrm>
            <a:custGeom>
              <a:avLst/>
              <a:gdLst/>
              <a:ahLst/>
              <a:cxnLst/>
              <a:rect l="l" t="t" r="r" b="b"/>
              <a:pathLst>
                <a:path w="6728459" h="693420">
                  <a:moveTo>
                    <a:pt x="0" y="115569"/>
                  </a:moveTo>
                  <a:lnTo>
                    <a:pt x="9081" y="70583"/>
                  </a:lnTo>
                  <a:lnTo>
                    <a:pt x="33848" y="33848"/>
                  </a:lnTo>
                  <a:lnTo>
                    <a:pt x="70583" y="9081"/>
                  </a:lnTo>
                  <a:lnTo>
                    <a:pt x="115570" y="0"/>
                  </a:lnTo>
                  <a:lnTo>
                    <a:pt x="6612890" y="0"/>
                  </a:lnTo>
                  <a:lnTo>
                    <a:pt x="6657897" y="9081"/>
                  </a:lnTo>
                  <a:lnTo>
                    <a:pt x="6694630" y="33848"/>
                  </a:lnTo>
                  <a:lnTo>
                    <a:pt x="6719385" y="70583"/>
                  </a:lnTo>
                  <a:lnTo>
                    <a:pt x="6728460" y="115569"/>
                  </a:lnTo>
                  <a:lnTo>
                    <a:pt x="6728460" y="577850"/>
                  </a:lnTo>
                  <a:lnTo>
                    <a:pt x="6719385" y="622836"/>
                  </a:lnTo>
                  <a:lnTo>
                    <a:pt x="6694630" y="659571"/>
                  </a:lnTo>
                  <a:lnTo>
                    <a:pt x="6657897" y="684338"/>
                  </a:lnTo>
                  <a:lnTo>
                    <a:pt x="6612890" y="693419"/>
                  </a:lnTo>
                  <a:lnTo>
                    <a:pt x="115570" y="693419"/>
                  </a:lnTo>
                  <a:lnTo>
                    <a:pt x="70583" y="684338"/>
                  </a:lnTo>
                  <a:lnTo>
                    <a:pt x="33848" y="659571"/>
                  </a:lnTo>
                  <a:lnTo>
                    <a:pt x="9081" y="622836"/>
                  </a:lnTo>
                  <a:lnTo>
                    <a:pt x="0" y="577850"/>
                  </a:lnTo>
                  <a:lnTo>
                    <a:pt x="0" y="115569"/>
                  </a:lnTo>
                  <a:close/>
                </a:path>
              </a:pathLst>
            </a:custGeom>
            <a:ln w="12192">
              <a:solidFill>
                <a:srgbClr val="705F8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3453765" y="6111341"/>
            <a:ext cx="223647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5" dirty="0">
                <a:latin typeface="Carlito"/>
                <a:cs typeface="Carlito"/>
              </a:rPr>
              <a:t>How did </a:t>
            </a:r>
            <a:r>
              <a:rPr sz="2000" spc="-10" dirty="0">
                <a:latin typeface="Carlito"/>
                <a:cs typeface="Carlito"/>
              </a:rPr>
              <a:t>you </a:t>
            </a:r>
            <a:r>
              <a:rPr sz="2000" spc="-5" dirty="0">
                <a:latin typeface="Carlito"/>
                <a:cs typeface="Carlito"/>
              </a:rPr>
              <a:t>do</a:t>
            </a:r>
            <a:r>
              <a:rPr sz="2000" spc="-95" dirty="0">
                <a:latin typeface="Carlito"/>
                <a:cs typeface="Carlito"/>
              </a:rPr>
              <a:t> </a:t>
            </a:r>
            <a:r>
              <a:rPr sz="2000" spc="-5" dirty="0">
                <a:latin typeface="Carlito"/>
                <a:cs typeface="Carlito"/>
              </a:rPr>
              <a:t>that?</a:t>
            </a:r>
            <a:endParaRPr sz="2000">
              <a:latin typeface="Carlito"/>
              <a:cs typeface="Carlito"/>
            </a:endParaRPr>
          </a:p>
        </p:txBody>
      </p:sp>
      <p:sp>
        <p:nvSpPr>
          <p:cNvPr id="21" name="object 21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150"/>
              </a:lnSpc>
            </a:pPr>
            <a:r>
              <a:rPr spc="-5" dirty="0"/>
              <a:t>Pengolahan </a:t>
            </a:r>
            <a:r>
              <a:rPr dirty="0"/>
              <a:t>Citra -</a:t>
            </a:r>
            <a:r>
              <a:rPr spc="-90" dirty="0"/>
              <a:t> </a:t>
            </a:r>
            <a:r>
              <a:rPr dirty="0"/>
              <a:t>Pengantar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spc="-215" dirty="0"/>
              <a:t>Klasifikasi </a:t>
            </a:r>
            <a:r>
              <a:rPr spc="-229" dirty="0"/>
              <a:t>Citra</a:t>
            </a:r>
            <a:r>
              <a:rPr spc="-285" dirty="0"/>
              <a:t> </a:t>
            </a:r>
            <a:r>
              <a:rPr spc="-250" dirty="0"/>
              <a:t>Dijital</a:t>
            </a:r>
          </a:p>
        </p:txBody>
      </p:sp>
      <p:sp>
        <p:nvSpPr>
          <p:cNvPr id="3" name="object 3"/>
          <p:cNvSpPr/>
          <p:nvPr/>
        </p:nvSpPr>
        <p:spPr>
          <a:xfrm>
            <a:off x="4770120" y="1943100"/>
            <a:ext cx="1427988" cy="9525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3043427" y="1943100"/>
            <a:ext cx="1429512" cy="95250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6496811" y="1943100"/>
            <a:ext cx="1427988" cy="952500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318260" y="1943100"/>
            <a:ext cx="1427988" cy="952500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6495288" y="3153155"/>
            <a:ext cx="1429512" cy="952500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328927" y="3147060"/>
            <a:ext cx="1429511" cy="952500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4770120" y="3153155"/>
            <a:ext cx="1427988" cy="952500"/>
          </a:xfrm>
          <a:prstGeom prst="rect">
            <a:avLst/>
          </a:prstGeom>
          <a:blipFill>
            <a:blip r:embed="rId8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3043427" y="3147060"/>
            <a:ext cx="1429512" cy="952500"/>
          </a:xfrm>
          <a:prstGeom prst="rect">
            <a:avLst/>
          </a:prstGeom>
          <a:blipFill>
            <a:blip r:embed="rId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6495288" y="4378452"/>
            <a:ext cx="1429512" cy="952500"/>
          </a:xfrm>
          <a:prstGeom prst="rect">
            <a:avLst/>
          </a:prstGeom>
          <a:blipFill>
            <a:blip r:embed="rId1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3043427" y="4352544"/>
            <a:ext cx="1429512" cy="952500"/>
          </a:xfrm>
          <a:prstGeom prst="rect">
            <a:avLst/>
          </a:prstGeom>
          <a:blipFill>
            <a:blip r:embed="rId11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4770120" y="4352544"/>
            <a:ext cx="1427988" cy="952500"/>
          </a:xfrm>
          <a:prstGeom prst="rect">
            <a:avLst/>
          </a:prstGeom>
          <a:blipFill>
            <a:blip r:embed="rId1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1318260" y="4378452"/>
            <a:ext cx="1427988" cy="952500"/>
          </a:xfrm>
          <a:prstGeom prst="rect">
            <a:avLst/>
          </a:prstGeom>
          <a:blipFill>
            <a:blip r:embed="rId1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3054095" y="5766815"/>
            <a:ext cx="1429511" cy="952500"/>
          </a:xfrm>
          <a:prstGeom prst="rect">
            <a:avLst/>
          </a:prstGeom>
          <a:blipFill>
            <a:blip r:embed="rId1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4780788" y="5766815"/>
            <a:ext cx="1427988" cy="952500"/>
          </a:xfrm>
          <a:prstGeom prst="rect">
            <a:avLst/>
          </a:prstGeom>
          <a:blipFill>
            <a:blip r:embed="rId1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4241038" y="5380431"/>
            <a:ext cx="66167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dirty="0">
                <a:latin typeface="Carlito"/>
                <a:cs typeface="Carlito"/>
              </a:rPr>
              <a:t>Query</a:t>
            </a:r>
            <a:endParaRPr sz="2000">
              <a:latin typeface="Carlito"/>
              <a:cs typeface="Carlito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150"/>
              </a:lnSpc>
            </a:pPr>
            <a:r>
              <a:rPr spc="-5" dirty="0"/>
              <a:t>Pengolahan </a:t>
            </a:r>
            <a:r>
              <a:rPr dirty="0"/>
              <a:t>Citra -</a:t>
            </a:r>
            <a:r>
              <a:rPr spc="-90" dirty="0"/>
              <a:t> </a:t>
            </a:r>
            <a:r>
              <a:rPr dirty="0"/>
              <a:t>Pengantar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146685" rIns="0" bIns="0" rtlCol="0">
            <a:spAutoFit/>
          </a:bodyPr>
          <a:lstStyle/>
          <a:p>
            <a:pPr marL="720090" marR="1711960">
              <a:lnSpc>
                <a:spcPts val="3890"/>
              </a:lnSpc>
              <a:spcBef>
                <a:spcPts val="1155"/>
              </a:spcBef>
            </a:pPr>
            <a:r>
              <a:rPr spc="-229" dirty="0"/>
              <a:t>Real </a:t>
            </a:r>
            <a:r>
              <a:rPr spc="-210" dirty="0"/>
              <a:t>Research: </a:t>
            </a:r>
            <a:r>
              <a:rPr spc="-170" dirty="0"/>
              <a:t>Content-Based</a:t>
            </a:r>
            <a:r>
              <a:rPr spc="-409" dirty="0"/>
              <a:t> </a:t>
            </a:r>
            <a:r>
              <a:rPr spc="-165" dirty="0"/>
              <a:t>Image  </a:t>
            </a:r>
            <a:r>
              <a:rPr spc="-225" dirty="0"/>
              <a:t>Retrieval </a:t>
            </a:r>
            <a:r>
              <a:rPr spc="-190" dirty="0"/>
              <a:t>for </a:t>
            </a:r>
            <a:r>
              <a:rPr spc="-215" dirty="0"/>
              <a:t>Batik</a:t>
            </a:r>
            <a:r>
              <a:rPr spc="-420" dirty="0"/>
              <a:t> </a:t>
            </a:r>
            <a:r>
              <a:rPr spc="-200" dirty="0"/>
              <a:t>Patterns</a:t>
            </a:r>
          </a:p>
        </p:txBody>
      </p:sp>
      <p:sp>
        <p:nvSpPr>
          <p:cNvPr id="3" name="object 3"/>
          <p:cNvSpPr/>
          <p:nvPr/>
        </p:nvSpPr>
        <p:spPr>
          <a:xfrm>
            <a:off x="629412" y="1872995"/>
            <a:ext cx="8106673" cy="434328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150"/>
              </a:lnSpc>
            </a:pPr>
            <a:r>
              <a:rPr spc="-5" dirty="0"/>
              <a:t>Pengolahan </a:t>
            </a:r>
            <a:r>
              <a:rPr dirty="0"/>
              <a:t>Citra -</a:t>
            </a:r>
            <a:r>
              <a:rPr spc="-90" dirty="0"/>
              <a:t> </a:t>
            </a:r>
            <a:r>
              <a:rPr dirty="0"/>
              <a:t>Pengantar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146685" rIns="0" bIns="0" rtlCol="0">
            <a:spAutoFit/>
          </a:bodyPr>
          <a:lstStyle/>
          <a:p>
            <a:pPr marL="720090" marR="1711960">
              <a:lnSpc>
                <a:spcPts val="3890"/>
              </a:lnSpc>
              <a:spcBef>
                <a:spcPts val="1155"/>
              </a:spcBef>
            </a:pPr>
            <a:r>
              <a:rPr spc="-229" dirty="0"/>
              <a:t>Real </a:t>
            </a:r>
            <a:r>
              <a:rPr spc="-210" dirty="0"/>
              <a:t>Research: </a:t>
            </a:r>
            <a:r>
              <a:rPr spc="-170" dirty="0"/>
              <a:t>Content-Based</a:t>
            </a:r>
            <a:r>
              <a:rPr spc="-409" dirty="0"/>
              <a:t> </a:t>
            </a:r>
            <a:r>
              <a:rPr spc="-165" dirty="0"/>
              <a:t>Image  </a:t>
            </a:r>
            <a:r>
              <a:rPr spc="-225" dirty="0"/>
              <a:t>Retrieval </a:t>
            </a:r>
            <a:r>
              <a:rPr spc="-190" dirty="0"/>
              <a:t>for </a:t>
            </a:r>
            <a:r>
              <a:rPr spc="-215" dirty="0"/>
              <a:t>Batik</a:t>
            </a:r>
            <a:r>
              <a:rPr spc="-420" dirty="0"/>
              <a:t> </a:t>
            </a:r>
            <a:r>
              <a:rPr spc="-200" dirty="0"/>
              <a:t>Patterns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2756916" y="2570988"/>
            <a:ext cx="1795780" cy="896619"/>
            <a:chOff x="2756916" y="2570988"/>
            <a:chExt cx="1795780" cy="896619"/>
          </a:xfrm>
        </p:grpSpPr>
        <p:sp>
          <p:nvSpPr>
            <p:cNvPr id="5" name="object 5"/>
            <p:cNvSpPr/>
            <p:nvPr/>
          </p:nvSpPr>
          <p:spPr>
            <a:xfrm>
              <a:off x="2756916" y="2570988"/>
              <a:ext cx="896111" cy="896112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695700" y="2570988"/>
              <a:ext cx="856488" cy="856488"/>
            </a:xfrm>
            <a:prstGeom prst="rect">
              <a:avLst/>
            </a:prstGeom>
            <a:blipFill>
              <a:blip r:embed="rId3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867155" y="2570988"/>
            <a:ext cx="1824355" cy="896619"/>
            <a:chOff x="867155" y="2570988"/>
            <a:chExt cx="1824355" cy="896619"/>
          </a:xfrm>
        </p:grpSpPr>
        <p:sp>
          <p:nvSpPr>
            <p:cNvPr id="8" name="object 8"/>
            <p:cNvSpPr/>
            <p:nvPr/>
          </p:nvSpPr>
          <p:spPr>
            <a:xfrm>
              <a:off x="867155" y="2570988"/>
              <a:ext cx="896112" cy="896112"/>
            </a:xfrm>
            <a:prstGeom prst="rect">
              <a:avLst/>
            </a:prstGeom>
            <a:blipFill>
              <a:blip r:embed="rId4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795272" y="2570988"/>
              <a:ext cx="896112" cy="896112"/>
            </a:xfrm>
            <a:prstGeom prst="rect">
              <a:avLst/>
            </a:prstGeom>
            <a:blipFill>
              <a:blip r:embed="rId5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/>
          <p:nvPr/>
        </p:nvSpPr>
        <p:spPr>
          <a:xfrm>
            <a:off x="848867" y="3579876"/>
            <a:ext cx="856488" cy="856488"/>
          </a:xfrm>
          <a:prstGeom prst="rect">
            <a:avLst/>
          </a:prstGeom>
          <a:blipFill>
            <a:blip r:embed="rId6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1763267" y="3569208"/>
            <a:ext cx="851916" cy="85343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2" name="object 12"/>
          <p:cNvGrpSpPr/>
          <p:nvPr/>
        </p:nvGrpSpPr>
        <p:grpSpPr>
          <a:xfrm>
            <a:off x="3706367" y="3279647"/>
            <a:ext cx="3722370" cy="1143000"/>
            <a:chOff x="3706367" y="3279647"/>
            <a:chExt cx="3722370" cy="1143000"/>
          </a:xfrm>
        </p:grpSpPr>
        <p:sp>
          <p:nvSpPr>
            <p:cNvPr id="13" name="object 13"/>
            <p:cNvSpPr/>
            <p:nvPr/>
          </p:nvSpPr>
          <p:spPr>
            <a:xfrm>
              <a:off x="3706367" y="3569207"/>
              <a:ext cx="853439" cy="853439"/>
            </a:xfrm>
            <a:prstGeom prst="rect">
              <a:avLst/>
            </a:prstGeom>
            <a:blipFill>
              <a:blip r:embed="rId8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4559808" y="3285743"/>
              <a:ext cx="2868930" cy="1089660"/>
            </a:xfrm>
            <a:custGeom>
              <a:avLst/>
              <a:gdLst/>
              <a:ahLst/>
              <a:cxnLst/>
              <a:rect l="l" t="t" r="r" b="b"/>
              <a:pathLst>
                <a:path w="2868929" h="1089660">
                  <a:moveTo>
                    <a:pt x="2868422" y="530352"/>
                  </a:moveTo>
                  <a:lnTo>
                    <a:pt x="2855925" y="524129"/>
                  </a:lnTo>
                  <a:lnTo>
                    <a:pt x="2792222" y="492379"/>
                  </a:lnTo>
                  <a:lnTo>
                    <a:pt x="2792272" y="524154"/>
                  </a:lnTo>
                  <a:lnTo>
                    <a:pt x="2145792" y="525068"/>
                  </a:lnTo>
                  <a:lnTo>
                    <a:pt x="2145792" y="181610"/>
                  </a:lnTo>
                  <a:lnTo>
                    <a:pt x="2139302" y="133324"/>
                  </a:lnTo>
                  <a:lnTo>
                    <a:pt x="2121001" y="89941"/>
                  </a:lnTo>
                  <a:lnTo>
                    <a:pt x="2092604" y="53187"/>
                  </a:lnTo>
                  <a:lnTo>
                    <a:pt x="2055850" y="24790"/>
                  </a:lnTo>
                  <a:lnTo>
                    <a:pt x="2012467" y="6489"/>
                  </a:lnTo>
                  <a:lnTo>
                    <a:pt x="1964182" y="0"/>
                  </a:lnTo>
                  <a:lnTo>
                    <a:pt x="795782" y="0"/>
                  </a:lnTo>
                  <a:lnTo>
                    <a:pt x="747483" y="6489"/>
                  </a:lnTo>
                  <a:lnTo>
                    <a:pt x="704100" y="24790"/>
                  </a:lnTo>
                  <a:lnTo>
                    <a:pt x="667346" y="53187"/>
                  </a:lnTo>
                  <a:lnTo>
                    <a:pt x="638949" y="89941"/>
                  </a:lnTo>
                  <a:lnTo>
                    <a:pt x="620649" y="133324"/>
                  </a:lnTo>
                  <a:lnTo>
                    <a:pt x="614172" y="181610"/>
                  </a:lnTo>
                  <a:lnTo>
                    <a:pt x="614172" y="527215"/>
                  </a:lnTo>
                  <a:lnTo>
                    <a:pt x="0" y="528066"/>
                  </a:lnTo>
                  <a:lnTo>
                    <a:pt x="0" y="540766"/>
                  </a:lnTo>
                  <a:lnTo>
                    <a:pt x="614172" y="539915"/>
                  </a:lnTo>
                  <a:lnTo>
                    <a:pt x="614172" y="908050"/>
                  </a:lnTo>
                  <a:lnTo>
                    <a:pt x="620649" y="956348"/>
                  </a:lnTo>
                  <a:lnTo>
                    <a:pt x="638949" y="999731"/>
                  </a:lnTo>
                  <a:lnTo>
                    <a:pt x="667346" y="1036485"/>
                  </a:lnTo>
                  <a:lnTo>
                    <a:pt x="704100" y="1064882"/>
                  </a:lnTo>
                  <a:lnTo>
                    <a:pt x="747483" y="1083183"/>
                  </a:lnTo>
                  <a:lnTo>
                    <a:pt x="795782" y="1089660"/>
                  </a:lnTo>
                  <a:lnTo>
                    <a:pt x="1964182" y="1089660"/>
                  </a:lnTo>
                  <a:lnTo>
                    <a:pt x="2012467" y="1083183"/>
                  </a:lnTo>
                  <a:lnTo>
                    <a:pt x="2055850" y="1064882"/>
                  </a:lnTo>
                  <a:lnTo>
                    <a:pt x="2092604" y="1036485"/>
                  </a:lnTo>
                  <a:lnTo>
                    <a:pt x="2121001" y="999731"/>
                  </a:lnTo>
                  <a:lnTo>
                    <a:pt x="2139302" y="956348"/>
                  </a:lnTo>
                  <a:lnTo>
                    <a:pt x="2145792" y="908050"/>
                  </a:lnTo>
                  <a:lnTo>
                    <a:pt x="2145792" y="537768"/>
                  </a:lnTo>
                  <a:lnTo>
                    <a:pt x="2792285" y="536854"/>
                  </a:lnTo>
                  <a:lnTo>
                    <a:pt x="2792349" y="568579"/>
                  </a:lnTo>
                  <a:lnTo>
                    <a:pt x="2868422" y="530352"/>
                  </a:lnTo>
                  <a:close/>
                </a:path>
              </a:pathLst>
            </a:custGeom>
            <a:solidFill>
              <a:srgbClr val="D092A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173979" y="3285743"/>
              <a:ext cx="1531620" cy="1089660"/>
            </a:xfrm>
            <a:custGeom>
              <a:avLst/>
              <a:gdLst/>
              <a:ahLst/>
              <a:cxnLst/>
              <a:rect l="l" t="t" r="r" b="b"/>
              <a:pathLst>
                <a:path w="1531620" h="1089660">
                  <a:moveTo>
                    <a:pt x="0" y="181609"/>
                  </a:moveTo>
                  <a:lnTo>
                    <a:pt x="6485" y="133320"/>
                  </a:lnTo>
                  <a:lnTo>
                    <a:pt x="24788" y="89934"/>
                  </a:lnTo>
                  <a:lnTo>
                    <a:pt x="53181" y="53181"/>
                  </a:lnTo>
                  <a:lnTo>
                    <a:pt x="89934" y="24788"/>
                  </a:lnTo>
                  <a:lnTo>
                    <a:pt x="133320" y="6485"/>
                  </a:lnTo>
                  <a:lnTo>
                    <a:pt x="181610" y="0"/>
                  </a:lnTo>
                  <a:lnTo>
                    <a:pt x="1350010" y="0"/>
                  </a:lnTo>
                  <a:lnTo>
                    <a:pt x="1398299" y="6485"/>
                  </a:lnTo>
                  <a:lnTo>
                    <a:pt x="1441685" y="24788"/>
                  </a:lnTo>
                  <a:lnTo>
                    <a:pt x="1478438" y="53181"/>
                  </a:lnTo>
                  <a:lnTo>
                    <a:pt x="1506831" y="89934"/>
                  </a:lnTo>
                  <a:lnTo>
                    <a:pt x="1525134" y="133320"/>
                  </a:lnTo>
                  <a:lnTo>
                    <a:pt x="1531620" y="181609"/>
                  </a:lnTo>
                  <a:lnTo>
                    <a:pt x="1531620" y="908049"/>
                  </a:lnTo>
                  <a:lnTo>
                    <a:pt x="1525134" y="956339"/>
                  </a:lnTo>
                  <a:lnTo>
                    <a:pt x="1506831" y="999725"/>
                  </a:lnTo>
                  <a:lnTo>
                    <a:pt x="1478438" y="1036478"/>
                  </a:lnTo>
                  <a:lnTo>
                    <a:pt x="1441685" y="1064871"/>
                  </a:lnTo>
                  <a:lnTo>
                    <a:pt x="1398299" y="1083174"/>
                  </a:lnTo>
                  <a:lnTo>
                    <a:pt x="1350010" y="1089659"/>
                  </a:lnTo>
                  <a:lnTo>
                    <a:pt x="181610" y="1089659"/>
                  </a:lnTo>
                  <a:lnTo>
                    <a:pt x="133320" y="1083174"/>
                  </a:lnTo>
                  <a:lnTo>
                    <a:pt x="89934" y="1064871"/>
                  </a:lnTo>
                  <a:lnTo>
                    <a:pt x="53181" y="1036478"/>
                  </a:lnTo>
                  <a:lnTo>
                    <a:pt x="24788" y="999725"/>
                  </a:lnTo>
                  <a:lnTo>
                    <a:pt x="6485" y="956339"/>
                  </a:lnTo>
                  <a:lnTo>
                    <a:pt x="0" y="908049"/>
                  </a:lnTo>
                  <a:lnTo>
                    <a:pt x="0" y="181609"/>
                  </a:lnTo>
                  <a:close/>
                </a:path>
              </a:pathLst>
            </a:custGeom>
            <a:ln w="12192">
              <a:solidFill>
                <a:srgbClr val="976A7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/>
          <p:nvPr/>
        </p:nvSpPr>
        <p:spPr>
          <a:xfrm>
            <a:off x="2735579" y="3569208"/>
            <a:ext cx="851916" cy="853439"/>
          </a:xfrm>
          <a:prstGeom prst="rect">
            <a:avLst/>
          </a:prstGeom>
          <a:blipFill>
            <a:blip r:embed="rId9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848867" y="4533900"/>
            <a:ext cx="851916" cy="853440"/>
          </a:xfrm>
          <a:prstGeom prst="rect">
            <a:avLst/>
          </a:prstGeom>
          <a:blipFill>
            <a:blip r:embed="rId10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776983" y="4533900"/>
            <a:ext cx="853440" cy="853440"/>
          </a:xfrm>
          <a:prstGeom prst="rect">
            <a:avLst/>
          </a:prstGeom>
          <a:blipFill>
            <a:blip r:embed="rId11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2744723" y="4533900"/>
            <a:ext cx="851915" cy="853440"/>
          </a:xfrm>
          <a:prstGeom prst="rect">
            <a:avLst/>
          </a:prstGeom>
          <a:blipFill>
            <a:blip r:embed="rId1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3681984" y="4533900"/>
            <a:ext cx="877824" cy="877824"/>
          </a:xfrm>
          <a:prstGeom prst="rect">
            <a:avLst/>
          </a:prstGeom>
          <a:blipFill>
            <a:blip r:embed="rId1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7507605" y="3171825"/>
            <a:ext cx="962025" cy="12458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5"/>
              </a:spcBef>
            </a:pPr>
            <a:r>
              <a:rPr sz="2000" spc="-35" dirty="0">
                <a:latin typeface="Carlito"/>
                <a:cs typeface="Carlito"/>
              </a:rPr>
              <a:t>K</a:t>
            </a:r>
            <a:r>
              <a:rPr sz="2000" spc="-15" dirty="0">
                <a:latin typeface="Carlito"/>
                <a:cs typeface="Carlito"/>
              </a:rPr>
              <a:t>a</a:t>
            </a:r>
            <a:r>
              <a:rPr sz="2000" dirty="0">
                <a:latin typeface="Carlito"/>
                <a:cs typeface="Carlito"/>
              </a:rPr>
              <a:t>wun</a:t>
            </a:r>
            <a:r>
              <a:rPr sz="2000" spc="5" dirty="0">
                <a:latin typeface="Carlito"/>
                <a:cs typeface="Carlito"/>
              </a:rPr>
              <a:t>g</a:t>
            </a:r>
            <a:r>
              <a:rPr sz="2000" dirty="0">
                <a:latin typeface="Carlito"/>
                <a:cs typeface="Carlito"/>
              </a:rPr>
              <a:t>?  </a:t>
            </a:r>
            <a:r>
              <a:rPr sz="2000" spc="-15" dirty="0">
                <a:latin typeface="Carlito"/>
                <a:cs typeface="Carlito"/>
              </a:rPr>
              <a:t>Parang?</a:t>
            </a:r>
            <a:endParaRPr sz="2000">
              <a:latin typeface="Carlito"/>
              <a:cs typeface="Carlito"/>
            </a:endParaRPr>
          </a:p>
          <a:p>
            <a:pPr marL="12700">
              <a:lnSpc>
                <a:spcPct val="100000"/>
              </a:lnSpc>
            </a:pPr>
            <a:r>
              <a:rPr sz="2000" spc="-5" dirty="0">
                <a:latin typeface="Carlito"/>
                <a:cs typeface="Carlito"/>
              </a:rPr>
              <a:t>..</a:t>
            </a:r>
            <a:endParaRPr sz="2000">
              <a:latin typeface="Carlito"/>
              <a:cs typeface="Carlito"/>
            </a:endParaRPr>
          </a:p>
          <a:p>
            <a:pPr marL="12700">
              <a:lnSpc>
                <a:spcPct val="100000"/>
              </a:lnSpc>
            </a:pPr>
            <a:r>
              <a:rPr sz="2000" spc="-15" dirty="0">
                <a:latin typeface="Carlito"/>
                <a:cs typeface="Carlito"/>
              </a:rPr>
              <a:t>etc</a:t>
            </a:r>
            <a:endParaRPr sz="2000">
              <a:latin typeface="Carlito"/>
              <a:cs typeface="Carlito"/>
            </a:endParaRPr>
          </a:p>
        </p:txBody>
      </p:sp>
      <p:sp>
        <p:nvSpPr>
          <p:cNvPr id="24" name="object 24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150"/>
              </a:lnSpc>
            </a:pPr>
            <a:r>
              <a:rPr spc="-5" dirty="0"/>
              <a:t>Pengolahan </a:t>
            </a:r>
            <a:r>
              <a:rPr dirty="0"/>
              <a:t>Citra -</a:t>
            </a:r>
            <a:r>
              <a:rPr spc="-90" dirty="0"/>
              <a:t> </a:t>
            </a:r>
            <a:r>
              <a:rPr dirty="0"/>
              <a:t>Pengantar</a:t>
            </a:r>
          </a:p>
        </p:txBody>
      </p:sp>
      <p:sp>
        <p:nvSpPr>
          <p:cNvPr id="22" name="object 22"/>
          <p:cNvSpPr txBox="1"/>
          <p:nvPr/>
        </p:nvSpPr>
        <p:spPr>
          <a:xfrm>
            <a:off x="5315203" y="3497326"/>
            <a:ext cx="1250315" cy="6356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spc="-35" dirty="0">
                <a:latin typeface="Carlito"/>
                <a:cs typeface="Carlito"/>
              </a:rPr>
              <a:t>R</a:t>
            </a:r>
            <a:r>
              <a:rPr sz="2000" dirty="0">
                <a:latin typeface="Carlito"/>
                <a:cs typeface="Carlito"/>
              </a:rPr>
              <a:t>e</a:t>
            </a:r>
            <a:r>
              <a:rPr sz="2000" spc="-10" dirty="0">
                <a:latin typeface="Carlito"/>
                <a:cs typeface="Carlito"/>
              </a:rPr>
              <a:t>c</a:t>
            </a:r>
            <a:r>
              <a:rPr sz="2000" spc="-5" dirty="0">
                <a:latin typeface="Carlito"/>
                <a:cs typeface="Carlito"/>
              </a:rPr>
              <a:t>og</a:t>
            </a:r>
            <a:r>
              <a:rPr sz="2000" spc="5" dirty="0">
                <a:latin typeface="Carlito"/>
                <a:cs typeface="Carlito"/>
              </a:rPr>
              <a:t>n</a:t>
            </a:r>
            <a:r>
              <a:rPr sz="2000" dirty="0">
                <a:latin typeface="Carlito"/>
                <a:cs typeface="Carlito"/>
              </a:rPr>
              <a:t>it</a:t>
            </a:r>
            <a:r>
              <a:rPr sz="2000" spc="-10" dirty="0">
                <a:latin typeface="Carlito"/>
                <a:cs typeface="Carlito"/>
              </a:rPr>
              <a:t>i</a:t>
            </a:r>
            <a:r>
              <a:rPr sz="2000" spc="-5" dirty="0">
                <a:latin typeface="Carlito"/>
                <a:cs typeface="Carlito"/>
              </a:rPr>
              <a:t>on</a:t>
            </a:r>
            <a:endParaRPr sz="2000">
              <a:latin typeface="Carlito"/>
              <a:cs typeface="Carlito"/>
            </a:endParaRPr>
          </a:p>
          <a:p>
            <a:pPr marL="30480">
              <a:lnSpc>
                <a:spcPct val="100000"/>
              </a:lnSpc>
            </a:pPr>
            <a:r>
              <a:rPr sz="2000" dirty="0">
                <a:latin typeface="Carlito"/>
                <a:cs typeface="Carlito"/>
              </a:rPr>
              <a:t>/</a:t>
            </a:r>
            <a:r>
              <a:rPr sz="2000" spc="-80" dirty="0">
                <a:latin typeface="Carlito"/>
                <a:cs typeface="Carlito"/>
              </a:rPr>
              <a:t> </a:t>
            </a:r>
            <a:r>
              <a:rPr sz="2000" spc="-10" dirty="0">
                <a:latin typeface="Carlito"/>
                <a:cs typeface="Carlito"/>
              </a:rPr>
              <a:t>Clustering</a:t>
            </a:r>
            <a:endParaRPr sz="2000">
              <a:latin typeface="Carlito"/>
              <a:cs typeface="Carlit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496817" y="5612079"/>
            <a:ext cx="15494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5" dirty="0">
                <a:latin typeface="Arial"/>
                <a:cs typeface="Arial"/>
              </a:rPr>
              <a:t>Description</a:t>
            </a:r>
            <a:endParaRPr sz="24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69850" rIns="0" bIns="0" rtlCol="0">
            <a:spAutoFit/>
          </a:bodyPr>
          <a:lstStyle/>
          <a:p>
            <a:pPr marL="1609725" marR="1677670" algn="ctr">
              <a:lnSpc>
                <a:spcPts val="3070"/>
              </a:lnSpc>
              <a:spcBef>
                <a:spcPts val="550"/>
              </a:spcBef>
            </a:pPr>
            <a:r>
              <a:rPr sz="3200" spc="-5" dirty="0">
                <a:latin typeface="Tahoma"/>
                <a:cs typeface="Tahoma"/>
              </a:rPr>
              <a:t>Areas </a:t>
            </a:r>
            <a:r>
              <a:rPr sz="3200" dirty="0">
                <a:latin typeface="Tahoma"/>
                <a:cs typeface="Tahoma"/>
              </a:rPr>
              <a:t>of </a:t>
            </a:r>
            <a:r>
              <a:rPr sz="3200" spc="-5" dirty="0">
                <a:latin typeface="Tahoma"/>
                <a:cs typeface="Tahoma"/>
              </a:rPr>
              <a:t>Study </a:t>
            </a:r>
            <a:r>
              <a:rPr sz="3200" spc="-10" dirty="0">
                <a:latin typeface="Tahoma"/>
                <a:cs typeface="Tahoma"/>
              </a:rPr>
              <a:t>Related </a:t>
            </a:r>
            <a:r>
              <a:rPr sz="3200" dirty="0">
                <a:latin typeface="Tahoma"/>
                <a:cs typeface="Tahoma"/>
              </a:rPr>
              <a:t>to </a:t>
            </a:r>
            <a:r>
              <a:rPr sz="3200" spc="-5" dirty="0">
                <a:latin typeface="Tahoma"/>
                <a:cs typeface="Tahoma"/>
              </a:rPr>
              <a:t>Image  Processing</a:t>
            </a:r>
            <a:endParaRPr sz="3200">
              <a:latin typeface="Tahoma"/>
              <a:cs typeface="Tahoma"/>
            </a:endParaRPr>
          </a:p>
          <a:p>
            <a:pPr marR="69215" algn="ctr">
              <a:lnSpc>
                <a:spcPct val="100000"/>
              </a:lnSpc>
              <a:spcBef>
                <a:spcPts val="710"/>
              </a:spcBef>
            </a:pPr>
            <a:r>
              <a:rPr sz="2000" dirty="0">
                <a:latin typeface="Arial"/>
                <a:cs typeface="Arial"/>
              </a:rPr>
              <a:t>(Source:</a:t>
            </a:r>
            <a:r>
              <a:rPr sz="2000" spc="-50" dirty="0">
                <a:latin typeface="Arial"/>
                <a:cs typeface="Arial"/>
              </a:rPr>
              <a:t> </a:t>
            </a:r>
            <a:r>
              <a:rPr sz="2000" dirty="0">
                <a:latin typeface="Arial"/>
                <a:cs typeface="Arial"/>
              </a:rPr>
              <a:t>Pavlidis,1986)</a:t>
            </a:r>
            <a:endParaRPr sz="20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770503" y="3173095"/>
            <a:ext cx="87376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Arial"/>
                <a:cs typeface="Arial"/>
              </a:rPr>
              <a:t>I</a:t>
            </a:r>
            <a:r>
              <a:rPr sz="2400" spc="5" dirty="0">
                <a:latin typeface="Arial"/>
                <a:cs typeface="Arial"/>
              </a:rPr>
              <a:t>m</a:t>
            </a:r>
            <a:r>
              <a:rPr sz="2400" spc="-5" dirty="0">
                <a:latin typeface="Arial"/>
                <a:cs typeface="Arial"/>
              </a:rPr>
              <a:t>age</a:t>
            </a:r>
            <a:endParaRPr sz="24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22172" y="4240477"/>
            <a:ext cx="1677035" cy="610870"/>
          </a:xfrm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40"/>
              </a:spcBef>
            </a:pPr>
            <a:r>
              <a:rPr sz="1800" b="1" spc="-5" dirty="0">
                <a:latin typeface="Arial"/>
                <a:cs typeface="Arial"/>
              </a:rPr>
              <a:t>1970</a:t>
            </a:r>
            <a:r>
              <a:rPr sz="1800" b="1" spc="-40" dirty="0">
                <a:latin typeface="Arial"/>
                <a:cs typeface="Arial"/>
              </a:rPr>
              <a:t> </a:t>
            </a:r>
            <a:r>
              <a:rPr sz="1800" b="1" spc="-5" dirty="0">
                <a:latin typeface="Arial"/>
                <a:cs typeface="Arial"/>
              </a:rPr>
              <a:t>Computer</a:t>
            </a:r>
            <a:endParaRPr sz="1800">
              <a:latin typeface="Arial"/>
              <a:cs typeface="Arial"/>
            </a:endParaRPr>
          </a:p>
          <a:p>
            <a:pPr marL="584200">
              <a:lnSpc>
                <a:spcPct val="100000"/>
              </a:lnSpc>
              <a:spcBef>
                <a:spcPts val="145"/>
              </a:spcBef>
            </a:pPr>
            <a:r>
              <a:rPr sz="1800" b="1" dirty="0">
                <a:latin typeface="Arial"/>
                <a:cs typeface="Arial"/>
              </a:rPr>
              <a:t>Graphics</a:t>
            </a:r>
            <a:endParaRPr sz="1800">
              <a:latin typeface="Arial"/>
              <a:cs typeface="Arial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2582036" y="2500248"/>
            <a:ext cx="3525901" cy="3633851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6099428" y="3485723"/>
            <a:ext cx="2543810" cy="849630"/>
          </a:xfrm>
          <a:prstGeom prst="rect">
            <a:avLst/>
          </a:prstGeom>
        </p:spPr>
        <p:txBody>
          <a:bodyPr vert="horz" wrap="square" lIns="0" tIns="150495" rIns="0" bIns="0" rtlCol="0">
            <a:spAutoFit/>
          </a:bodyPr>
          <a:lstStyle/>
          <a:p>
            <a:pPr marL="584200">
              <a:lnSpc>
                <a:spcPct val="100000"/>
              </a:lnSpc>
              <a:spcBef>
                <a:spcPts val="1185"/>
              </a:spcBef>
            </a:pPr>
            <a:r>
              <a:rPr sz="1800" b="1" dirty="0">
                <a:latin typeface="Arial"/>
                <a:cs typeface="Arial"/>
              </a:rPr>
              <a:t>Machine</a:t>
            </a:r>
            <a:r>
              <a:rPr sz="1800" b="1" spc="-7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Learning</a:t>
            </a:r>
            <a:endParaRPr sz="1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080"/>
              </a:spcBef>
            </a:pPr>
            <a:r>
              <a:rPr sz="1800" b="1" spc="-5" dirty="0">
                <a:latin typeface="Arial"/>
                <a:cs typeface="Arial"/>
              </a:rPr>
              <a:t>1970 </a:t>
            </a:r>
            <a:r>
              <a:rPr sz="1800" b="1" dirty="0">
                <a:latin typeface="Arial"/>
                <a:cs typeface="Arial"/>
              </a:rPr>
              <a:t>Computer</a:t>
            </a:r>
            <a:r>
              <a:rPr sz="1800" b="1" spc="-40" dirty="0">
                <a:latin typeface="Arial"/>
                <a:cs typeface="Arial"/>
              </a:rPr>
              <a:t> </a:t>
            </a:r>
            <a:r>
              <a:rPr sz="1800" b="1" spc="-5" dirty="0">
                <a:latin typeface="Arial"/>
                <a:cs typeface="Arial"/>
              </a:rPr>
              <a:t>Vision</a:t>
            </a:r>
            <a:endParaRPr sz="18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099428" y="4720289"/>
            <a:ext cx="2825115" cy="849630"/>
          </a:xfrm>
          <a:prstGeom prst="rect">
            <a:avLst/>
          </a:prstGeom>
        </p:spPr>
        <p:txBody>
          <a:bodyPr vert="horz" wrap="square" lIns="0" tIns="150495" rIns="0" bIns="0" rtlCol="0">
            <a:spAutoFit/>
          </a:bodyPr>
          <a:lstStyle/>
          <a:p>
            <a:pPr marR="60960" algn="r">
              <a:lnSpc>
                <a:spcPct val="100000"/>
              </a:lnSpc>
              <a:spcBef>
                <a:spcPts val="1185"/>
              </a:spcBef>
            </a:pPr>
            <a:r>
              <a:rPr sz="1800" b="1" spc="-10" dirty="0">
                <a:latin typeface="Arial"/>
                <a:cs typeface="Arial"/>
              </a:rPr>
              <a:t>1960 </a:t>
            </a:r>
            <a:r>
              <a:rPr sz="1800" b="1" spc="-5" dirty="0">
                <a:latin typeface="Arial"/>
                <a:cs typeface="Arial"/>
              </a:rPr>
              <a:t>Pattern Recognition</a:t>
            </a:r>
            <a:endParaRPr sz="1800">
              <a:latin typeface="Arial"/>
              <a:cs typeface="Arial"/>
            </a:endParaRPr>
          </a:p>
          <a:p>
            <a:pPr marR="5080" algn="r">
              <a:lnSpc>
                <a:spcPct val="100000"/>
              </a:lnSpc>
              <a:spcBef>
                <a:spcPts val="1085"/>
              </a:spcBef>
            </a:pPr>
            <a:r>
              <a:rPr sz="1800" b="1" spc="-10" dirty="0">
                <a:latin typeface="Arial"/>
                <a:cs typeface="Arial"/>
              </a:rPr>
              <a:t>Artificial</a:t>
            </a:r>
            <a:r>
              <a:rPr sz="1800" b="1" spc="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Intelligence</a:t>
            </a:r>
            <a:endParaRPr sz="18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883789" y="2166873"/>
            <a:ext cx="25520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" dirty="0">
                <a:latin typeface="Arial"/>
                <a:cs typeface="Arial"/>
              </a:rPr>
              <a:t>1950 </a:t>
            </a:r>
            <a:r>
              <a:rPr sz="1800" b="1" spc="-5" dirty="0">
                <a:solidFill>
                  <a:srgbClr val="FF0033"/>
                </a:solidFill>
                <a:latin typeface="Arial"/>
                <a:cs typeface="Arial"/>
              </a:rPr>
              <a:t>Image</a:t>
            </a:r>
            <a:r>
              <a:rPr sz="1800" b="1" spc="-30" dirty="0">
                <a:solidFill>
                  <a:srgbClr val="FF0033"/>
                </a:solidFill>
                <a:latin typeface="Arial"/>
                <a:cs typeface="Arial"/>
              </a:rPr>
              <a:t> </a:t>
            </a:r>
            <a:r>
              <a:rPr sz="1800" b="1" spc="-5" dirty="0">
                <a:solidFill>
                  <a:srgbClr val="FF0033"/>
                </a:solidFill>
                <a:latin typeface="Arial"/>
                <a:cs typeface="Arial"/>
              </a:rPr>
              <a:t>Processing</a:t>
            </a:r>
            <a:endParaRPr sz="18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8321167" y="6408521"/>
            <a:ext cx="11620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rlito"/>
                <a:cs typeface="Carlito"/>
              </a:rPr>
              <a:t>2</a:t>
            </a:r>
            <a:endParaRPr sz="1400">
              <a:latin typeface="Carlito"/>
              <a:cs typeface="Carlito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793363" y="6451193"/>
            <a:ext cx="1558290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5" dirty="0">
                <a:solidFill>
                  <a:srgbClr val="888888"/>
                </a:solidFill>
                <a:latin typeface="Carlito"/>
                <a:cs typeface="Carlito"/>
              </a:rPr>
              <a:t>Pengolahan Citra </a:t>
            </a:r>
            <a:r>
              <a:rPr sz="900" dirty="0">
                <a:solidFill>
                  <a:srgbClr val="888888"/>
                </a:solidFill>
                <a:latin typeface="Carlito"/>
                <a:cs typeface="Carlito"/>
              </a:rPr>
              <a:t>-</a:t>
            </a:r>
            <a:r>
              <a:rPr sz="900" spc="-50" dirty="0">
                <a:solidFill>
                  <a:srgbClr val="888888"/>
                </a:solidFill>
                <a:latin typeface="Carlito"/>
                <a:cs typeface="Carlito"/>
              </a:rPr>
              <a:t> </a:t>
            </a:r>
            <a:r>
              <a:rPr sz="900" spc="-5" dirty="0">
                <a:solidFill>
                  <a:srgbClr val="888888"/>
                </a:solidFill>
                <a:latin typeface="Carlito"/>
                <a:cs typeface="Carlito"/>
              </a:rPr>
              <a:t>Fundamentals</a:t>
            </a:r>
            <a:endParaRPr sz="900">
              <a:latin typeface="Carlito"/>
              <a:cs typeface="Carlito"/>
            </a:endParaRPr>
          </a:p>
        </p:txBody>
      </p:sp>
    </p:spTree>
    <p:extLst>
      <p:ext uri="{BB962C8B-B14F-4D97-AF65-F5344CB8AC3E}">
        <p14:creationId xmlns:p14="http://schemas.microsoft.com/office/powerpoint/2010/main" val="18843668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979932" y="2415501"/>
            <a:ext cx="3122915" cy="306456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4661915" y="2400371"/>
            <a:ext cx="3846681" cy="311346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418082" y="5470652"/>
            <a:ext cx="225044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170180">
              <a:lnSpc>
                <a:spcPct val="125000"/>
              </a:lnSpc>
              <a:spcBef>
                <a:spcPts val="100"/>
              </a:spcBef>
            </a:pPr>
            <a:r>
              <a:rPr sz="1600" spc="-5" dirty="0">
                <a:latin typeface="Arial"/>
                <a:cs typeface="Arial"/>
              </a:rPr>
              <a:t>Wire Frame </a:t>
            </a:r>
            <a:r>
              <a:rPr sz="1600" spc="-10" dirty="0">
                <a:latin typeface="Arial"/>
                <a:cs typeface="Arial"/>
              </a:rPr>
              <a:t>Drawing  </a:t>
            </a:r>
            <a:r>
              <a:rPr sz="1600" spc="-5" dirty="0">
                <a:latin typeface="Arial"/>
                <a:cs typeface="Arial"/>
              </a:rPr>
              <a:t>(Hearn and </a:t>
            </a:r>
            <a:r>
              <a:rPr sz="1600" spc="-20" dirty="0">
                <a:latin typeface="Arial"/>
                <a:cs typeface="Arial"/>
              </a:rPr>
              <a:t>Baker, </a:t>
            </a:r>
            <a:r>
              <a:rPr sz="1600" spc="-5" dirty="0">
                <a:latin typeface="Arial"/>
                <a:cs typeface="Arial"/>
              </a:rPr>
              <a:t>1986)</a:t>
            </a:r>
            <a:endParaRPr sz="1600">
              <a:latin typeface="Arial"/>
              <a:cs typeface="Arial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spc="-5" dirty="0"/>
              <a:t>Pengolahan Citra </a:t>
            </a:r>
            <a:r>
              <a:rPr dirty="0"/>
              <a:t>-</a:t>
            </a:r>
            <a:r>
              <a:rPr spc="-50" dirty="0"/>
              <a:t> </a:t>
            </a:r>
            <a:r>
              <a:rPr spc="-5" dirty="0"/>
              <a:t>Fundamentals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5851905" y="5532221"/>
            <a:ext cx="155702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5" dirty="0">
                <a:latin typeface="Arial"/>
                <a:cs typeface="Arial"/>
              </a:rPr>
              <a:t>Realism</a:t>
            </a:r>
            <a:r>
              <a:rPr sz="1600" spc="-50" dirty="0">
                <a:latin typeface="Arial"/>
                <a:cs typeface="Arial"/>
              </a:rPr>
              <a:t> </a:t>
            </a:r>
            <a:r>
              <a:rPr sz="1600" spc="-10" dirty="0">
                <a:latin typeface="Arial"/>
                <a:cs typeface="Arial"/>
              </a:rPr>
              <a:t>Drawing</a:t>
            </a:r>
            <a:endParaRPr sz="1600">
              <a:latin typeface="Arial"/>
              <a:cs typeface="Arial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sz="3600" spc="-160" dirty="0"/>
              <a:t>Computer</a:t>
            </a:r>
            <a:r>
              <a:rPr sz="3600" spc="-195" dirty="0"/>
              <a:t> </a:t>
            </a:r>
            <a:r>
              <a:rPr sz="3600" spc="-235" dirty="0"/>
              <a:t>Graphics</a:t>
            </a:r>
            <a:endParaRPr sz="3600"/>
          </a:p>
        </p:txBody>
      </p:sp>
      <p:sp>
        <p:nvSpPr>
          <p:cNvPr id="7" name="object 7"/>
          <p:cNvSpPr txBox="1"/>
          <p:nvPr/>
        </p:nvSpPr>
        <p:spPr>
          <a:xfrm>
            <a:off x="707542" y="1802333"/>
            <a:ext cx="276542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785" indent="-17272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5" dirty="0">
                <a:latin typeface="Carlito"/>
                <a:cs typeface="Carlito"/>
              </a:rPr>
              <a:t>Description </a:t>
            </a:r>
            <a:r>
              <a:rPr sz="2400" spc="-15" dirty="0">
                <a:latin typeface="Carlito"/>
                <a:cs typeface="Carlito"/>
              </a:rPr>
              <a:t>to</a:t>
            </a:r>
            <a:r>
              <a:rPr sz="2400" spc="-85" dirty="0">
                <a:latin typeface="Carlito"/>
                <a:cs typeface="Carlito"/>
              </a:rPr>
              <a:t> </a:t>
            </a:r>
            <a:r>
              <a:rPr sz="2400" spc="-10" dirty="0">
                <a:latin typeface="Carlito"/>
                <a:cs typeface="Carlito"/>
              </a:rPr>
              <a:t>Image</a:t>
            </a:r>
            <a:endParaRPr sz="2400">
              <a:latin typeface="Carlito"/>
              <a:cs typeface="Carlito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816085" y="51053"/>
            <a:ext cx="11620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latin typeface="Carlito"/>
                <a:cs typeface="Carlito"/>
              </a:rPr>
              <a:t>3</a:t>
            </a:r>
            <a:endParaRPr sz="1400">
              <a:latin typeface="Carlito"/>
              <a:cs typeface="Carlito"/>
            </a:endParaRPr>
          </a:p>
        </p:txBody>
      </p:sp>
    </p:spTree>
    <p:extLst>
      <p:ext uri="{BB962C8B-B14F-4D97-AF65-F5344CB8AC3E}">
        <p14:creationId xmlns:p14="http://schemas.microsoft.com/office/powerpoint/2010/main" val="12094190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6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spc="-5" dirty="0"/>
              <a:t>Pengolahan Citra </a:t>
            </a:r>
            <a:r>
              <a:rPr dirty="0"/>
              <a:t>-</a:t>
            </a:r>
            <a:r>
              <a:rPr spc="-50" dirty="0"/>
              <a:t> </a:t>
            </a:r>
            <a:r>
              <a:rPr spc="-5" dirty="0"/>
              <a:t>Fundamentals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823594">
              <a:lnSpc>
                <a:spcPct val="100000"/>
              </a:lnSpc>
              <a:spcBef>
                <a:spcPts val="2610"/>
              </a:spcBef>
            </a:pPr>
            <a:r>
              <a:rPr sz="3600" spc="-160" dirty="0"/>
              <a:t>Computer </a:t>
            </a:r>
            <a:r>
              <a:rPr sz="3600" spc="-235" dirty="0"/>
              <a:t>Graphics</a:t>
            </a:r>
            <a:r>
              <a:rPr sz="3600" spc="-210" dirty="0"/>
              <a:t> </a:t>
            </a:r>
            <a:r>
              <a:rPr sz="3600" spc="-140" dirty="0"/>
              <a:t>(2)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707542" y="1802333"/>
            <a:ext cx="7660640" cy="290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785" indent="-172720">
              <a:lnSpc>
                <a:spcPts val="2740"/>
              </a:lnSpc>
              <a:spcBef>
                <a:spcPts val="100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5" dirty="0">
                <a:latin typeface="Carlito"/>
                <a:cs typeface="Carlito"/>
              </a:rPr>
              <a:t>Membuat </a:t>
            </a:r>
            <a:r>
              <a:rPr sz="2400" spc="-10" dirty="0">
                <a:latin typeface="Carlito"/>
                <a:cs typeface="Carlito"/>
              </a:rPr>
              <a:t>citra </a:t>
            </a:r>
            <a:r>
              <a:rPr sz="2400" spc="-5" dirty="0">
                <a:latin typeface="Carlito"/>
                <a:cs typeface="Carlito"/>
              </a:rPr>
              <a:t>dan </a:t>
            </a:r>
            <a:r>
              <a:rPr sz="2400" spc="-10" dirty="0">
                <a:latin typeface="Carlito"/>
                <a:cs typeface="Carlito"/>
              </a:rPr>
              <a:t>menganimasikan obyek </a:t>
            </a:r>
            <a:r>
              <a:rPr sz="2400" spc="-15" dirty="0">
                <a:latin typeface="Carlito"/>
                <a:cs typeface="Carlito"/>
              </a:rPr>
              <a:t>secara</a:t>
            </a:r>
            <a:r>
              <a:rPr sz="2400" spc="-40" dirty="0">
                <a:latin typeface="Carlito"/>
                <a:cs typeface="Carlito"/>
              </a:rPr>
              <a:t> </a:t>
            </a:r>
            <a:r>
              <a:rPr sz="2400" spc="-10" dirty="0">
                <a:latin typeface="Carlito"/>
                <a:cs typeface="Carlito"/>
              </a:rPr>
              <a:t>dijital</a:t>
            </a:r>
            <a:endParaRPr sz="2400">
              <a:latin typeface="Carlito"/>
              <a:cs typeface="Carlito"/>
            </a:endParaRPr>
          </a:p>
          <a:p>
            <a:pPr marL="184785">
              <a:lnSpc>
                <a:spcPts val="2740"/>
              </a:lnSpc>
            </a:pPr>
            <a:r>
              <a:rPr sz="2400" spc="-5" dirty="0">
                <a:latin typeface="Carlito"/>
                <a:cs typeface="Carlito"/>
              </a:rPr>
              <a:t>pada </a:t>
            </a:r>
            <a:r>
              <a:rPr sz="2400" spc="-45" dirty="0">
                <a:latin typeface="Carlito"/>
                <a:cs typeface="Carlito"/>
              </a:rPr>
              <a:t>komputer.</a:t>
            </a:r>
            <a:endParaRPr sz="2400">
              <a:latin typeface="Carlito"/>
              <a:cs typeface="Carlito"/>
            </a:endParaRPr>
          </a:p>
          <a:p>
            <a:pPr marL="184785" marR="546100" indent="-172720">
              <a:lnSpc>
                <a:spcPts val="2590"/>
              </a:lnSpc>
              <a:spcBef>
                <a:spcPts val="844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10" dirty="0">
                <a:latin typeface="Carlito"/>
                <a:cs typeface="Carlito"/>
              </a:rPr>
              <a:t>Proses, </a:t>
            </a:r>
            <a:r>
              <a:rPr sz="2400" spc="-5" dirty="0">
                <a:latin typeface="Carlito"/>
                <a:cs typeface="Carlito"/>
              </a:rPr>
              <a:t>teknik, dan </a:t>
            </a:r>
            <a:r>
              <a:rPr sz="2400" spc="-10" dirty="0">
                <a:latin typeface="Carlito"/>
                <a:cs typeface="Carlito"/>
              </a:rPr>
              <a:t>metode untuk </a:t>
            </a:r>
            <a:r>
              <a:rPr sz="2400" spc="-5" dirty="0">
                <a:latin typeface="Carlito"/>
                <a:cs typeface="Carlito"/>
              </a:rPr>
              <a:t>menghasilkan </a:t>
            </a:r>
            <a:r>
              <a:rPr sz="2400" spc="-10" dirty="0">
                <a:latin typeface="Carlito"/>
                <a:cs typeface="Carlito"/>
              </a:rPr>
              <a:t>gambar  berdasarkan </a:t>
            </a:r>
            <a:r>
              <a:rPr sz="2400" spc="-5" dirty="0">
                <a:latin typeface="Carlito"/>
                <a:cs typeface="Carlito"/>
              </a:rPr>
              <a:t>deskripsi </a:t>
            </a:r>
            <a:r>
              <a:rPr sz="2400" spc="-15" dirty="0">
                <a:latin typeface="Carlito"/>
                <a:cs typeface="Carlito"/>
              </a:rPr>
              <a:t>abstrak </a:t>
            </a:r>
            <a:r>
              <a:rPr sz="2400" spc="-10" dirty="0">
                <a:latin typeface="Carlito"/>
                <a:cs typeface="Carlito"/>
              </a:rPr>
              <a:t>obyek </a:t>
            </a:r>
            <a:r>
              <a:rPr sz="2400" spc="-5" dirty="0">
                <a:latin typeface="Carlito"/>
                <a:cs typeface="Carlito"/>
              </a:rPr>
              <a:t>dan </a:t>
            </a:r>
            <a:r>
              <a:rPr sz="2400" spc="-15" dirty="0">
                <a:latin typeface="Carlito"/>
                <a:cs typeface="Carlito"/>
              </a:rPr>
              <a:t>lingkungan </a:t>
            </a:r>
            <a:r>
              <a:rPr sz="2400" spc="-5" dirty="0">
                <a:latin typeface="Carlito"/>
                <a:cs typeface="Carlito"/>
              </a:rPr>
              <a:t>di  </a:t>
            </a:r>
            <a:r>
              <a:rPr sz="2400" spc="-10" dirty="0">
                <a:latin typeface="Carlito"/>
                <a:cs typeface="Carlito"/>
              </a:rPr>
              <a:t>sekitar</a:t>
            </a:r>
            <a:r>
              <a:rPr sz="2400" spc="-25" dirty="0">
                <a:latin typeface="Carlito"/>
                <a:cs typeface="Carlito"/>
              </a:rPr>
              <a:t> </a:t>
            </a:r>
            <a:r>
              <a:rPr sz="2400" spc="-10" dirty="0">
                <a:latin typeface="Carlito"/>
                <a:cs typeface="Carlito"/>
              </a:rPr>
              <a:t>obyek.</a:t>
            </a:r>
            <a:endParaRPr sz="2400">
              <a:latin typeface="Carlito"/>
              <a:cs typeface="Carlito"/>
            </a:endParaRPr>
          </a:p>
          <a:p>
            <a:pPr marL="184785" marR="5080" indent="-172720">
              <a:lnSpc>
                <a:spcPts val="2590"/>
              </a:lnSpc>
              <a:spcBef>
                <a:spcPts val="810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10" dirty="0">
                <a:latin typeface="Carlito"/>
                <a:cs typeface="Carlito"/>
              </a:rPr>
              <a:t>Proses, </a:t>
            </a:r>
            <a:r>
              <a:rPr sz="2400" spc="-5" dirty="0">
                <a:latin typeface="Carlito"/>
                <a:cs typeface="Carlito"/>
              </a:rPr>
              <a:t>teknik, dan </a:t>
            </a:r>
            <a:r>
              <a:rPr sz="2400" spc="-10" dirty="0">
                <a:latin typeface="Carlito"/>
                <a:cs typeface="Carlito"/>
              </a:rPr>
              <a:t>metode untuk </a:t>
            </a:r>
            <a:r>
              <a:rPr sz="2400" spc="-5" dirty="0">
                <a:latin typeface="Carlito"/>
                <a:cs typeface="Carlito"/>
              </a:rPr>
              <a:t>membuat </a:t>
            </a:r>
            <a:r>
              <a:rPr sz="2400" spc="-25" dirty="0">
                <a:latin typeface="Carlito"/>
                <a:cs typeface="Carlito"/>
              </a:rPr>
              <a:t>efek </a:t>
            </a:r>
            <a:r>
              <a:rPr sz="2400" dirty="0">
                <a:latin typeface="Carlito"/>
                <a:cs typeface="Carlito"/>
              </a:rPr>
              <a:t>riil </a:t>
            </a:r>
            <a:r>
              <a:rPr sz="2400" i="1" dirty="0">
                <a:latin typeface="Carlito"/>
                <a:cs typeface="Carlito"/>
              </a:rPr>
              <a:t>(realism  </a:t>
            </a:r>
            <a:r>
              <a:rPr sz="2400" i="1" spc="-10" dirty="0">
                <a:latin typeface="Carlito"/>
                <a:cs typeface="Carlito"/>
              </a:rPr>
              <a:t>effect</a:t>
            </a:r>
            <a:r>
              <a:rPr sz="2400" spc="-10" dirty="0">
                <a:latin typeface="Carlito"/>
                <a:cs typeface="Carlito"/>
              </a:rPr>
              <a:t>) </a:t>
            </a:r>
            <a:r>
              <a:rPr sz="2400" spc="-5" dirty="0">
                <a:latin typeface="Carlito"/>
                <a:cs typeface="Carlito"/>
              </a:rPr>
              <a:t>pada </a:t>
            </a:r>
            <a:r>
              <a:rPr sz="2400" spc="-10" dirty="0">
                <a:latin typeface="Carlito"/>
                <a:cs typeface="Carlito"/>
              </a:rPr>
              <a:t>obyek </a:t>
            </a:r>
            <a:r>
              <a:rPr sz="2400" spc="-5" dirty="0">
                <a:latin typeface="Carlito"/>
                <a:cs typeface="Carlito"/>
              </a:rPr>
              <a:t>dan </a:t>
            </a:r>
            <a:r>
              <a:rPr sz="2400" spc="-10" dirty="0">
                <a:latin typeface="Carlito"/>
                <a:cs typeface="Carlito"/>
              </a:rPr>
              <a:t>lingkungan sekitar obyek </a:t>
            </a:r>
            <a:r>
              <a:rPr sz="2400" spc="-5" dirty="0">
                <a:latin typeface="Carlito"/>
                <a:cs typeface="Carlito"/>
              </a:rPr>
              <a:t>di dalam  </a:t>
            </a:r>
            <a:r>
              <a:rPr sz="2400" spc="-10" dirty="0">
                <a:latin typeface="Carlito"/>
                <a:cs typeface="Carlito"/>
              </a:rPr>
              <a:t>citra.</a:t>
            </a:r>
            <a:endParaRPr sz="2400">
              <a:latin typeface="Carlito"/>
              <a:cs typeface="Carlito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816085" y="51053"/>
            <a:ext cx="11620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latin typeface="Carlito"/>
                <a:cs typeface="Carlito"/>
              </a:rPr>
              <a:t>4</a:t>
            </a:r>
            <a:endParaRPr sz="1400">
              <a:latin typeface="Carlito"/>
              <a:cs typeface="Carlito"/>
            </a:endParaRPr>
          </a:p>
        </p:txBody>
      </p:sp>
    </p:spTree>
    <p:extLst>
      <p:ext uri="{BB962C8B-B14F-4D97-AF65-F5344CB8AC3E}">
        <p14:creationId xmlns:p14="http://schemas.microsoft.com/office/powerpoint/2010/main" val="1717851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sz="3600" spc="-160" dirty="0"/>
              <a:t>Computer</a:t>
            </a:r>
            <a:r>
              <a:rPr sz="3600" spc="-195" dirty="0"/>
              <a:t> </a:t>
            </a:r>
            <a:r>
              <a:rPr sz="3600" spc="-185" dirty="0"/>
              <a:t>Vision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707542" y="1802333"/>
            <a:ext cx="276669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785" indent="-17272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10" dirty="0">
                <a:latin typeface="Carlito"/>
                <a:cs typeface="Carlito"/>
              </a:rPr>
              <a:t>Image </a:t>
            </a:r>
            <a:r>
              <a:rPr sz="2400" spc="-15" dirty="0">
                <a:latin typeface="Carlito"/>
                <a:cs typeface="Carlito"/>
              </a:rPr>
              <a:t>to</a:t>
            </a:r>
            <a:r>
              <a:rPr sz="2400" spc="-70" dirty="0">
                <a:latin typeface="Carlito"/>
                <a:cs typeface="Carlito"/>
              </a:rPr>
              <a:t> </a:t>
            </a:r>
            <a:r>
              <a:rPr sz="2400" spc="-5" dirty="0">
                <a:latin typeface="Carlito"/>
                <a:cs typeface="Carlito"/>
              </a:rPr>
              <a:t>Description</a:t>
            </a:r>
            <a:endParaRPr sz="2400">
              <a:latin typeface="Carlito"/>
              <a:cs typeface="Carlito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1598422" y="2426207"/>
            <a:ext cx="6210935" cy="4037329"/>
            <a:chOff x="1598422" y="2426207"/>
            <a:chExt cx="6210935" cy="4037329"/>
          </a:xfrm>
        </p:grpSpPr>
        <p:sp>
          <p:nvSpPr>
            <p:cNvPr id="5" name="object 5"/>
            <p:cNvSpPr/>
            <p:nvPr/>
          </p:nvSpPr>
          <p:spPr>
            <a:xfrm>
              <a:off x="1668780" y="2426207"/>
              <a:ext cx="6140196" cy="4037076"/>
            </a:xfrm>
            <a:prstGeom prst="rect">
              <a:avLst/>
            </a:prstGeom>
            <a:blipFill>
              <a:blip r:embed="rId2" cstate="print"/>
              <a:stretch>
                <a:fillRect/>
              </a:stretch>
            </a:blip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604772" y="3151631"/>
              <a:ext cx="2670175" cy="760730"/>
            </a:xfrm>
            <a:custGeom>
              <a:avLst/>
              <a:gdLst/>
              <a:ahLst/>
              <a:cxnLst/>
              <a:rect l="l" t="t" r="r" b="b"/>
              <a:pathLst>
                <a:path w="2670175" h="760729">
                  <a:moveTo>
                    <a:pt x="2225040" y="603503"/>
                  </a:moveTo>
                  <a:lnTo>
                    <a:pt x="1557528" y="603503"/>
                  </a:lnTo>
                  <a:lnTo>
                    <a:pt x="2426335" y="760475"/>
                  </a:lnTo>
                  <a:lnTo>
                    <a:pt x="2225040" y="603503"/>
                  </a:lnTo>
                  <a:close/>
                </a:path>
                <a:path w="2670175" h="760729">
                  <a:moveTo>
                    <a:pt x="2569464" y="0"/>
                  </a:moveTo>
                  <a:lnTo>
                    <a:pt x="100584" y="0"/>
                  </a:lnTo>
                  <a:lnTo>
                    <a:pt x="61454" y="7911"/>
                  </a:lnTo>
                  <a:lnTo>
                    <a:pt x="29479" y="29479"/>
                  </a:lnTo>
                  <a:lnTo>
                    <a:pt x="7911" y="61454"/>
                  </a:lnTo>
                  <a:lnTo>
                    <a:pt x="0" y="100583"/>
                  </a:lnTo>
                  <a:lnTo>
                    <a:pt x="0" y="502919"/>
                  </a:lnTo>
                  <a:lnTo>
                    <a:pt x="7911" y="542049"/>
                  </a:lnTo>
                  <a:lnTo>
                    <a:pt x="29479" y="574024"/>
                  </a:lnTo>
                  <a:lnTo>
                    <a:pt x="61454" y="595592"/>
                  </a:lnTo>
                  <a:lnTo>
                    <a:pt x="100584" y="603503"/>
                  </a:lnTo>
                  <a:lnTo>
                    <a:pt x="2569464" y="603503"/>
                  </a:lnTo>
                  <a:lnTo>
                    <a:pt x="2608593" y="595592"/>
                  </a:lnTo>
                  <a:lnTo>
                    <a:pt x="2640568" y="574024"/>
                  </a:lnTo>
                  <a:lnTo>
                    <a:pt x="2662136" y="542049"/>
                  </a:lnTo>
                  <a:lnTo>
                    <a:pt x="2670048" y="502919"/>
                  </a:lnTo>
                  <a:lnTo>
                    <a:pt x="2670048" y="100583"/>
                  </a:lnTo>
                  <a:lnTo>
                    <a:pt x="2662136" y="61454"/>
                  </a:lnTo>
                  <a:lnTo>
                    <a:pt x="2640568" y="29479"/>
                  </a:lnTo>
                  <a:lnTo>
                    <a:pt x="2608593" y="7911"/>
                  </a:lnTo>
                  <a:lnTo>
                    <a:pt x="2569464" y="0"/>
                  </a:lnTo>
                  <a:close/>
                </a:path>
              </a:pathLst>
            </a:custGeom>
            <a:solidFill>
              <a:srgbClr val="F9DBB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604772" y="3151631"/>
              <a:ext cx="2670175" cy="760730"/>
            </a:xfrm>
            <a:custGeom>
              <a:avLst/>
              <a:gdLst/>
              <a:ahLst/>
              <a:cxnLst/>
              <a:rect l="l" t="t" r="r" b="b"/>
              <a:pathLst>
                <a:path w="2670175" h="760729">
                  <a:moveTo>
                    <a:pt x="0" y="100583"/>
                  </a:moveTo>
                  <a:lnTo>
                    <a:pt x="7911" y="61454"/>
                  </a:lnTo>
                  <a:lnTo>
                    <a:pt x="29479" y="29479"/>
                  </a:lnTo>
                  <a:lnTo>
                    <a:pt x="61454" y="7911"/>
                  </a:lnTo>
                  <a:lnTo>
                    <a:pt x="100584" y="0"/>
                  </a:lnTo>
                  <a:lnTo>
                    <a:pt x="1557528" y="0"/>
                  </a:lnTo>
                  <a:lnTo>
                    <a:pt x="2225040" y="0"/>
                  </a:lnTo>
                  <a:lnTo>
                    <a:pt x="2569464" y="0"/>
                  </a:lnTo>
                  <a:lnTo>
                    <a:pt x="2608593" y="7911"/>
                  </a:lnTo>
                  <a:lnTo>
                    <a:pt x="2640568" y="29479"/>
                  </a:lnTo>
                  <a:lnTo>
                    <a:pt x="2662136" y="61454"/>
                  </a:lnTo>
                  <a:lnTo>
                    <a:pt x="2670048" y="100583"/>
                  </a:lnTo>
                  <a:lnTo>
                    <a:pt x="2670048" y="352043"/>
                  </a:lnTo>
                  <a:lnTo>
                    <a:pt x="2670048" y="502919"/>
                  </a:lnTo>
                  <a:lnTo>
                    <a:pt x="2662136" y="542049"/>
                  </a:lnTo>
                  <a:lnTo>
                    <a:pt x="2640568" y="574024"/>
                  </a:lnTo>
                  <a:lnTo>
                    <a:pt x="2608593" y="595592"/>
                  </a:lnTo>
                  <a:lnTo>
                    <a:pt x="2569464" y="603503"/>
                  </a:lnTo>
                  <a:lnTo>
                    <a:pt x="2225040" y="603503"/>
                  </a:lnTo>
                  <a:lnTo>
                    <a:pt x="2426335" y="760475"/>
                  </a:lnTo>
                  <a:lnTo>
                    <a:pt x="1557528" y="603503"/>
                  </a:lnTo>
                  <a:lnTo>
                    <a:pt x="100584" y="603503"/>
                  </a:lnTo>
                  <a:lnTo>
                    <a:pt x="61454" y="595592"/>
                  </a:lnTo>
                  <a:lnTo>
                    <a:pt x="29479" y="574024"/>
                  </a:lnTo>
                  <a:lnTo>
                    <a:pt x="7911" y="542049"/>
                  </a:lnTo>
                  <a:lnTo>
                    <a:pt x="0" y="502919"/>
                  </a:lnTo>
                  <a:lnTo>
                    <a:pt x="0" y="352043"/>
                  </a:lnTo>
                  <a:lnTo>
                    <a:pt x="0" y="100583"/>
                  </a:lnTo>
                  <a:close/>
                </a:path>
              </a:pathLst>
            </a:custGeom>
            <a:ln w="12192">
              <a:solidFill>
                <a:srgbClr val="F3A34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790192" y="3152013"/>
            <a:ext cx="230060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91540" marR="5080" indent="-879475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rlito"/>
                <a:cs typeface="Carlito"/>
              </a:rPr>
              <a:t>Apakah </a:t>
            </a:r>
            <a:r>
              <a:rPr sz="1800" dirty="0">
                <a:latin typeface="Carlito"/>
                <a:cs typeface="Carlito"/>
              </a:rPr>
              <a:t>ada </a:t>
            </a:r>
            <a:r>
              <a:rPr sz="1800" spc="-5" dirty="0">
                <a:latin typeface="Carlito"/>
                <a:cs typeface="Carlito"/>
              </a:rPr>
              <a:t>objek dalam  </a:t>
            </a:r>
            <a:r>
              <a:rPr sz="1800" spc="-10" dirty="0">
                <a:latin typeface="Carlito"/>
                <a:cs typeface="Carlito"/>
              </a:rPr>
              <a:t>citra?</a:t>
            </a:r>
            <a:endParaRPr sz="1800">
              <a:latin typeface="Carlito"/>
              <a:cs typeface="Carlito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1598422" y="2311654"/>
            <a:ext cx="2682875" cy="790575"/>
            <a:chOff x="1598422" y="2311654"/>
            <a:chExt cx="2682875" cy="790575"/>
          </a:xfrm>
        </p:grpSpPr>
        <p:sp>
          <p:nvSpPr>
            <p:cNvPr id="10" name="object 10"/>
            <p:cNvSpPr/>
            <p:nvPr/>
          </p:nvSpPr>
          <p:spPr>
            <a:xfrm>
              <a:off x="1604772" y="2318004"/>
              <a:ext cx="2670175" cy="777875"/>
            </a:xfrm>
            <a:custGeom>
              <a:avLst/>
              <a:gdLst/>
              <a:ahLst/>
              <a:cxnLst/>
              <a:rect l="l" t="t" r="r" b="b"/>
              <a:pathLst>
                <a:path w="2670175" h="777875">
                  <a:moveTo>
                    <a:pt x="2225040" y="605028"/>
                  </a:moveTo>
                  <a:lnTo>
                    <a:pt x="1557528" y="605028"/>
                  </a:lnTo>
                  <a:lnTo>
                    <a:pt x="2269870" y="777494"/>
                  </a:lnTo>
                  <a:lnTo>
                    <a:pt x="2225040" y="605028"/>
                  </a:lnTo>
                  <a:close/>
                </a:path>
                <a:path w="2670175" h="777875">
                  <a:moveTo>
                    <a:pt x="2569210" y="0"/>
                  </a:moveTo>
                  <a:lnTo>
                    <a:pt x="100838" y="0"/>
                  </a:lnTo>
                  <a:lnTo>
                    <a:pt x="61561" y="7915"/>
                  </a:lnTo>
                  <a:lnTo>
                    <a:pt x="29511" y="29511"/>
                  </a:lnTo>
                  <a:lnTo>
                    <a:pt x="7915" y="61561"/>
                  </a:lnTo>
                  <a:lnTo>
                    <a:pt x="0" y="100837"/>
                  </a:lnTo>
                  <a:lnTo>
                    <a:pt x="0" y="504190"/>
                  </a:lnTo>
                  <a:lnTo>
                    <a:pt x="7915" y="543466"/>
                  </a:lnTo>
                  <a:lnTo>
                    <a:pt x="29511" y="575516"/>
                  </a:lnTo>
                  <a:lnTo>
                    <a:pt x="61561" y="597112"/>
                  </a:lnTo>
                  <a:lnTo>
                    <a:pt x="100838" y="605028"/>
                  </a:lnTo>
                  <a:lnTo>
                    <a:pt x="2569210" y="605028"/>
                  </a:lnTo>
                  <a:lnTo>
                    <a:pt x="2608486" y="597112"/>
                  </a:lnTo>
                  <a:lnTo>
                    <a:pt x="2640536" y="575516"/>
                  </a:lnTo>
                  <a:lnTo>
                    <a:pt x="2662132" y="543466"/>
                  </a:lnTo>
                  <a:lnTo>
                    <a:pt x="2670048" y="504190"/>
                  </a:lnTo>
                  <a:lnTo>
                    <a:pt x="2670048" y="100837"/>
                  </a:lnTo>
                  <a:lnTo>
                    <a:pt x="2662132" y="61561"/>
                  </a:lnTo>
                  <a:lnTo>
                    <a:pt x="2640536" y="29511"/>
                  </a:lnTo>
                  <a:lnTo>
                    <a:pt x="2608486" y="7915"/>
                  </a:lnTo>
                  <a:lnTo>
                    <a:pt x="2569210" y="0"/>
                  </a:lnTo>
                  <a:close/>
                </a:path>
              </a:pathLst>
            </a:custGeom>
            <a:solidFill>
              <a:srgbClr val="F9DBB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604772" y="2318004"/>
              <a:ext cx="2670175" cy="777875"/>
            </a:xfrm>
            <a:custGeom>
              <a:avLst/>
              <a:gdLst/>
              <a:ahLst/>
              <a:cxnLst/>
              <a:rect l="l" t="t" r="r" b="b"/>
              <a:pathLst>
                <a:path w="2670175" h="777875">
                  <a:moveTo>
                    <a:pt x="0" y="100837"/>
                  </a:moveTo>
                  <a:lnTo>
                    <a:pt x="7915" y="61561"/>
                  </a:lnTo>
                  <a:lnTo>
                    <a:pt x="29511" y="29511"/>
                  </a:lnTo>
                  <a:lnTo>
                    <a:pt x="61561" y="7915"/>
                  </a:lnTo>
                  <a:lnTo>
                    <a:pt x="100838" y="0"/>
                  </a:lnTo>
                  <a:lnTo>
                    <a:pt x="1557528" y="0"/>
                  </a:lnTo>
                  <a:lnTo>
                    <a:pt x="2225040" y="0"/>
                  </a:lnTo>
                  <a:lnTo>
                    <a:pt x="2569210" y="0"/>
                  </a:lnTo>
                  <a:lnTo>
                    <a:pt x="2608486" y="7915"/>
                  </a:lnTo>
                  <a:lnTo>
                    <a:pt x="2640536" y="29511"/>
                  </a:lnTo>
                  <a:lnTo>
                    <a:pt x="2662132" y="61561"/>
                  </a:lnTo>
                  <a:lnTo>
                    <a:pt x="2670048" y="100837"/>
                  </a:lnTo>
                  <a:lnTo>
                    <a:pt x="2670048" y="352933"/>
                  </a:lnTo>
                  <a:lnTo>
                    <a:pt x="2670048" y="504190"/>
                  </a:lnTo>
                  <a:lnTo>
                    <a:pt x="2662132" y="543466"/>
                  </a:lnTo>
                  <a:lnTo>
                    <a:pt x="2640536" y="575516"/>
                  </a:lnTo>
                  <a:lnTo>
                    <a:pt x="2608486" y="597112"/>
                  </a:lnTo>
                  <a:lnTo>
                    <a:pt x="2569210" y="605028"/>
                  </a:lnTo>
                  <a:lnTo>
                    <a:pt x="2225040" y="605028"/>
                  </a:lnTo>
                  <a:lnTo>
                    <a:pt x="2269870" y="777494"/>
                  </a:lnTo>
                  <a:lnTo>
                    <a:pt x="1557528" y="605028"/>
                  </a:lnTo>
                  <a:lnTo>
                    <a:pt x="100838" y="605028"/>
                  </a:lnTo>
                  <a:lnTo>
                    <a:pt x="61561" y="597112"/>
                  </a:lnTo>
                  <a:lnTo>
                    <a:pt x="29511" y="575516"/>
                  </a:lnTo>
                  <a:lnTo>
                    <a:pt x="7915" y="543466"/>
                  </a:lnTo>
                  <a:lnTo>
                    <a:pt x="0" y="504190"/>
                  </a:lnTo>
                  <a:lnTo>
                    <a:pt x="0" y="352933"/>
                  </a:lnTo>
                  <a:lnTo>
                    <a:pt x="0" y="100837"/>
                  </a:lnTo>
                  <a:close/>
                </a:path>
              </a:pathLst>
            </a:custGeom>
            <a:ln w="12192">
              <a:solidFill>
                <a:srgbClr val="F3A34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1720976" y="2455926"/>
            <a:ext cx="24377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latin typeface="Carlito"/>
                <a:cs typeface="Carlito"/>
              </a:rPr>
              <a:t>Bagaimana stuktur</a:t>
            </a:r>
            <a:r>
              <a:rPr sz="1800" spc="-65" dirty="0">
                <a:latin typeface="Carlito"/>
                <a:cs typeface="Carlito"/>
              </a:rPr>
              <a:t> </a:t>
            </a:r>
            <a:r>
              <a:rPr sz="1800" i="1" spc="-5" dirty="0">
                <a:latin typeface="Carlito"/>
                <a:cs typeface="Carlito"/>
              </a:rPr>
              <a:t>scene</a:t>
            </a:r>
            <a:r>
              <a:rPr sz="1800" spc="-5" dirty="0">
                <a:latin typeface="Carlito"/>
                <a:cs typeface="Carlito"/>
              </a:rPr>
              <a:t>?</a:t>
            </a:r>
            <a:endParaRPr sz="1800">
              <a:latin typeface="Carlito"/>
              <a:cs typeface="Carlito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5102097" y="2316226"/>
            <a:ext cx="2681605" cy="777240"/>
            <a:chOff x="5102097" y="2316226"/>
            <a:chExt cx="2681605" cy="777240"/>
          </a:xfrm>
        </p:grpSpPr>
        <p:sp>
          <p:nvSpPr>
            <p:cNvPr id="14" name="object 14"/>
            <p:cNvSpPr/>
            <p:nvPr/>
          </p:nvSpPr>
          <p:spPr>
            <a:xfrm>
              <a:off x="5108447" y="2322576"/>
              <a:ext cx="2668905" cy="764540"/>
            </a:xfrm>
            <a:custGeom>
              <a:avLst/>
              <a:gdLst/>
              <a:ahLst/>
              <a:cxnLst/>
              <a:rect l="l" t="t" r="r" b="b"/>
              <a:pathLst>
                <a:path w="2668904" h="764539">
                  <a:moveTo>
                    <a:pt x="1111885" y="605027"/>
                  </a:moveTo>
                  <a:lnTo>
                    <a:pt x="444753" y="605027"/>
                  </a:lnTo>
                  <a:lnTo>
                    <a:pt x="319659" y="764032"/>
                  </a:lnTo>
                  <a:lnTo>
                    <a:pt x="1111885" y="605027"/>
                  </a:lnTo>
                  <a:close/>
                </a:path>
                <a:path w="2668904" h="764539">
                  <a:moveTo>
                    <a:pt x="2567685" y="0"/>
                  </a:moveTo>
                  <a:lnTo>
                    <a:pt x="100837" y="0"/>
                  </a:lnTo>
                  <a:lnTo>
                    <a:pt x="61561" y="7915"/>
                  </a:lnTo>
                  <a:lnTo>
                    <a:pt x="29511" y="29511"/>
                  </a:lnTo>
                  <a:lnTo>
                    <a:pt x="7915" y="61561"/>
                  </a:lnTo>
                  <a:lnTo>
                    <a:pt x="0" y="100837"/>
                  </a:lnTo>
                  <a:lnTo>
                    <a:pt x="0" y="504189"/>
                  </a:lnTo>
                  <a:lnTo>
                    <a:pt x="7915" y="543466"/>
                  </a:lnTo>
                  <a:lnTo>
                    <a:pt x="29511" y="575516"/>
                  </a:lnTo>
                  <a:lnTo>
                    <a:pt x="61561" y="597112"/>
                  </a:lnTo>
                  <a:lnTo>
                    <a:pt x="100837" y="605027"/>
                  </a:lnTo>
                  <a:lnTo>
                    <a:pt x="2567685" y="605027"/>
                  </a:lnTo>
                  <a:lnTo>
                    <a:pt x="2606962" y="597112"/>
                  </a:lnTo>
                  <a:lnTo>
                    <a:pt x="2639012" y="575516"/>
                  </a:lnTo>
                  <a:lnTo>
                    <a:pt x="2660608" y="543466"/>
                  </a:lnTo>
                  <a:lnTo>
                    <a:pt x="2668524" y="504189"/>
                  </a:lnTo>
                  <a:lnTo>
                    <a:pt x="2668524" y="100837"/>
                  </a:lnTo>
                  <a:lnTo>
                    <a:pt x="2660608" y="61561"/>
                  </a:lnTo>
                  <a:lnTo>
                    <a:pt x="2639012" y="29511"/>
                  </a:lnTo>
                  <a:lnTo>
                    <a:pt x="2606962" y="7915"/>
                  </a:lnTo>
                  <a:lnTo>
                    <a:pt x="2567685" y="0"/>
                  </a:lnTo>
                  <a:close/>
                </a:path>
              </a:pathLst>
            </a:custGeom>
            <a:solidFill>
              <a:srgbClr val="F9DBB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108447" y="2322576"/>
              <a:ext cx="2668905" cy="764540"/>
            </a:xfrm>
            <a:custGeom>
              <a:avLst/>
              <a:gdLst/>
              <a:ahLst/>
              <a:cxnLst/>
              <a:rect l="l" t="t" r="r" b="b"/>
              <a:pathLst>
                <a:path w="2668904" h="764539">
                  <a:moveTo>
                    <a:pt x="0" y="100837"/>
                  </a:moveTo>
                  <a:lnTo>
                    <a:pt x="7915" y="61561"/>
                  </a:lnTo>
                  <a:lnTo>
                    <a:pt x="29511" y="29511"/>
                  </a:lnTo>
                  <a:lnTo>
                    <a:pt x="61561" y="7915"/>
                  </a:lnTo>
                  <a:lnTo>
                    <a:pt x="100837" y="0"/>
                  </a:lnTo>
                  <a:lnTo>
                    <a:pt x="444753" y="0"/>
                  </a:lnTo>
                  <a:lnTo>
                    <a:pt x="1111885" y="0"/>
                  </a:lnTo>
                  <a:lnTo>
                    <a:pt x="2567685" y="0"/>
                  </a:lnTo>
                  <a:lnTo>
                    <a:pt x="2606962" y="7915"/>
                  </a:lnTo>
                  <a:lnTo>
                    <a:pt x="2639012" y="29511"/>
                  </a:lnTo>
                  <a:lnTo>
                    <a:pt x="2660608" y="61561"/>
                  </a:lnTo>
                  <a:lnTo>
                    <a:pt x="2668524" y="100837"/>
                  </a:lnTo>
                  <a:lnTo>
                    <a:pt x="2668524" y="352933"/>
                  </a:lnTo>
                  <a:lnTo>
                    <a:pt x="2668524" y="504189"/>
                  </a:lnTo>
                  <a:lnTo>
                    <a:pt x="2660608" y="543466"/>
                  </a:lnTo>
                  <a:lnTo>
                    <a:pt x="2639012" y="575516"/>
                  </a:lnTo>
                  <a:lnTo>
                    <a:pt x="2606962" y="597112"/>
                  </a:lnTo>
                  <a:lnTo>
                    <a:pt x="2567685" y="605027"/>
                  </a:lnTo>
                  <a:lnTo>
                    <a:pt x="1111885" y="605027"/>
                  </a:lnTo>
                  <a:lnTo>
                    <a:pt x="319659" y="764032"/>
                  </a:lnTo>
                  <a:lnTo>
                    <a:pt x="444753" y="605027"/>
                  </a:lnTo>
                  <a:lnTo>
                    <a:pt x="100837" y="605027"/>
                  </a:lnTo>
                  <a:lnTo>
                    <a:pt x="61561" y="597112"/>
                  </a:lnTo>
                  <a:lnTo>
                    <a:pt x="29511" y="575516"/>
                  </a:lnTo>
                  <a:lnTo>
                    <a:pt x="7915" y="543466"/>
                  </a:lnTo>
                  <a:lnTo>
                    <a:pt x="0" y="504189"/>
                  </a:lnTo>
                  <a:lnTo>
                    <a:pt x="0" y="352933"/>
                  </a:lnTo>
                  <a:lnTo>
                    <a:pt x="0" y="100837"/>
                  </a:lnTo>
                  <a:close/>
                </a:path>
              </a:pathLst>
            </a:custGeom>
            <a:ln w="12191">
              <a:solidFill>
                <a:srgbClr val="F3A34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5409057" y="2323591"/>
            <a:ext cx="206819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3550" marR="5080" indent="-451484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latin typeface="Carlito"/>
                <a:cs typeface="Carlito"/>
              </a:rPr>
              <a:t>Objek </a:t>
            </a:r>
            <a:r>
              <a:rPr sz="1800" dirty="0">
                <a:latin typeface="Carlito"/>
                <a:cs typeface="Carlito"/>
              </a:rPr>
              <a:t>apa </a:t>
            </a:r>
            <a:r>
              <a:rPr sz="1800" spc="-10" dirty="0">
                <a:latin typeface="Carlito"/>
                <a:cs typeface="Carlito"/>
              </a:rPr>
              <a:t>yang </a:t>
            </a:r>
            <a:r>
              <a:rPr sz="1800" dirty="0">
                <a:latin typeface="Carlito"/>
                <a:cs typeface="Carlito"/>
              </a:rPr>
              <a:t>ada </a:t>
            </a:r>
            <a:r>
              <a:rPr sz="1800" spc="-5" dirty="0">
                <a:latin typeface="Carlito"/>
                <a:cs typeface="Carlito"/>
              </a:rPr>
              <a:t>di  dalam </a:t>
            </a:r>
            <a:r>
              <a:rPr sz="1800" spc="-10" dirty="0">
                <a:latin typeface="Carlito"/>
                <a:cs typeface="Carlito"/>
              </a:rPr>
              <a:t>citra?</a:t>
            </a:r>
            <a:endParaRPr sz="1800">
              <a:latin typeface="Carlito"/>
              <a:cs typeface="Carlito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5102352" y="3110483"/>
            <a:ext cx="2680970" cy="789940"/>
            <a:chOff x="5102352" y="3110483"/>
            <a:chExt cx="2680970" cy="789940"/>
          </a:xfrm>
        </p:grpSpPr>
        <p:sp>
          <p:nvSpPr>
            <p:cNvPr id="18" name="object 18"/>
            <p:cNvSpPr/>
            <p:nvPr/>
          </p:nvSpPr>
          <p:spPr>
            <a:xfrm>
              <a:off x="5108448" y="3116579"/>
              <a:ext cx="2668905" cy="777875"/>
            </a:xfrm>
            <a:custGeom>
              <a:avLst/>
              <a:gdLst/>
              <a:ahLst/>
              <a:cxnLst/>
              <a:rect l="l" t="t" r="r" b="b"/>
              <a:pathLst>
                <a:path w="2668904" h="777875">
                  <a:moveTo>
                    <a:pt x="1111885" y="605028"/>
                  </a:moveTo>
                  <a:lnTo>
                    <a:pt x="444753" y="605028"/>
                  </a:lnTo>
                  <a:lnTo>
                    <a:pt x="413765" y="777494"/>
                  </a:lnTo>
                  <a:lnTo>
                    <a:pt x="1111885" y="605028"/>
                  </a:lnTo>
                  <a:close/>
                </a:path>
                <a:path w="2668904" h="777875">
                  <a:moveTo>
                    <a:pt x="2567685" y="0"/>
                  </a:moveTo>
                  <a:lnTo>
                    <a:pt x="100837" y="0"/>
                  </a:lnTo>
                  <a:lnTo>
                    <a:pt x="61561" y="7915"/>
                  </a:lnTo>
                  <a:lnTo>
                    <a:pt x="29511" y="29511"/>
                  </a:lnTo>
                  <a:lnTo>
                    <a:pt x="7915" y="61561"/>
                  </a:lnTo>
                  <a:lnTo>
                    <a:pt x="0" y="100837"/>
                  </a:lnTo>
                  <a:lnTo>
                    <a:pt x="0" y="504190"/>
                  </a:lnTo>
                  <a:lnTo>
                    <a:pt x="7915" y="543466"/>
                  </a:lnTo>
                  <a:lnTo>
                    <a:pt x="29511" y="575516"/>
                  </a:lnTo>
                  <a:lnTo>
                    <a:pt x="61561" y="597112"/>
                  </a:lnTo>
                  <a:lnTo>
                    <a:pt x="100837" y="605028"/>
                  </a:lnTo>
                  <a:lnTo>
                    <a:pt x="2567685" y="605028"/>
                  </a:lnTo>
                  <a:lnTo>
                    <a:pt x="2606962" y="597112"/>
                  </a:lnTo>
                  <a:lnTo>
                    <a:pt x="2639012" y="575516"/>
                  </a:lnTo>
                  <a:lnTo>
                    <a:pt x="2660608" y="543466"/>
                  </a:lnTo>
                  <a:lnTo>
                    <a:pt x="2668524" y="504190"/>
                  </a:lnTo>
                  <a:lnTo>
                    <a:pt x="2668524" y="100837"/>
                  </a:lnTo>
                  <a:lnTo>
                    <a:pt x="2660608" y="61561"/>
                  </a:lnTo>
                  <a:lnTo>
                    <a:pt x="2639012" y="29511"/>
                  </a:lnTo>
                  <a:lnTo>
                    <a:pt x="2606962" y="7915"/>
                  </a:lnTo>
                  <a:lnTo>
                    <a:pt x="2567685" y="0"/>
                  </a:lnTo>
                  <a:close/>
                </a:path>
              </a:pathLst>
            </a:custGeom>
            <a:solidFill>
              <a:srgbClr val="F9DBB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5108448" y="3116579"/>
              <a:ext cx="2668905" cy="777875"/>
            </a:xfrm>
            <a:custGeom>
              <a:avLst/>
              <a:gdLst/>
              <a:ahLst/>
              <a:cxnLst/>
              <a:rect l="l" t="t" r="r" b="b"/>
              <a:pathLst>
                <a:path w="2668904" h="777875">
                  <a:moveTo>
                    <a:pt x="0" y="100837"/>
                  </a:moveTo>
                  <a:lnTo>
                    <a:pt x="7915" y="61561"/>
                  </a:lnTo>
                  <a:lnTo>
                    <a:pt x="29511" y="29511"/>
                  </a:lnTo>
                  <a:lnTo>
                    <a:pt x="61561" y="7915"/>
                  </a:lnTo>
                  <a:lnTo>
                    <a:pt x="100837" y="0"/>
                  </a:lnTo>
                  <a:lnTo>
                    <a:pt x="444753" y="0"/>
                  </a:lnTo>
                  <a:lnTo>
                    <a:pt x="1111885" y="0"/>
                  </a:lnTo>
                  <a:lnTo>
                    <a:pt x="2567685" y="0"/>
                  </a:lnTo>
                  <a:lnTo>
                    <a:pt x="2606962" y="7915"/>
                  </a:lnTo>
                  <a:lnTo>
                    <a:pt x="2639012" y="29511"/>
                  </a:lnTo>
                  <a:lnTo>
                    <a:pt x="2660608" y="61561"/>
                  </a:lnTo>
                  <a:lnTo>
                    <a:pt x="2668524" y="100837"/>
                  </a:lnTo>
                  <a:lnTo>
                    <a:pt x="2668524" y="352933"/>
                  </a:lnTo>
                  <a:lnTo>
                    <a:pt x="2668524" y="504190"/>
                  </a:lnTo>
                  <a:lnTo>
                    <a:pt x="2660608" y="543466"/>
                  </a:lnTo>
                  <a:lnTo>
                    <a:pt x="2639012" y="575516"/>
                  </a:lnTo>
                  <a:lnTo>
                    <a:pt x="2606962" y="597112"/>
                  </a:lnTo>
                  <a:lnTo>
                    <a:pt x="2567685" y="605028"/>
                  </a:lnTo>
                  <a:lnTo>
                    <a:pt x="1111885" y="605028"/>
                  </a:lnTo>
                  <a:lnTo>
                    <a:pt x="413765" y="777494"/>
                  </a:lnTo>
                  <a:lnTo>
                    <a:pt x="444753" y="605028"/>
                  </a:lnTo>
                  <a:lnTo>
                    <a:pt x="100837" y="605028"/>
                  </a:lnTo>
                  <a:lnTo>
                    <a:pt x="61561" y="597112"/>
                  </a:lnTo>
                  <a:lnTo>
                    <a:pt x="29511" y="575516"/>
                  </a:lnTo>
                  <a:lnTo>
                    <a:pt x="7915" y="543466"/>
                  </a:lnTo>
                  <a:lnTo>
                    <a:pt x="0" y="504190"/>
                  </a:lnTo>
                  <a:lnTo>
                    <a:pt x="0" y="352933"/>
                  </a:lnTo>
                  <a:lnTo>
                    <a:pt x="0" y="100837"/>
                  </a:lnTo>
                  <a:close/>
                </a:path>
              </a:pathLst>
            </a:custGeom>
            <a:ln w="12192">
              <a:solidFill>
                <a:srgbClr val="F3A346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5450204" y="3117596"/>
            <a:ext cx="1986914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latin typeface="Carlito"/>
                <a:cs typeface="Carlito"/>
              </a:rPr>
              <a:t>Di </a:t>
            </a:r>
            <a:r>
              <a:rPr sz="1800" dirty="0">
                <a:latin typeface="Carlito"/>
                <a:cs typeface="Carlito"/>
              </a:rPr>
              <a:t>mana </a:t>
            </a:r>
            <a:r>
              <a:rPr sz="1800" spc="-5" dirty="0">
                <a:latin typeface="Carlito"/>
                <a:cs typeface="Carlito"/>
              </a:rPr>
              <a:t>(sejauh </a:t>
            </a:r>
            <a:r>
              <a:rPr sz="1800" dirty="0">
                <a:latin typeface="Carlito"/>
                <a:cs typeface="Carlito"/>
              </a:rPr>
              <a:t>apa)  </a:t>
            </a:r>
            <a:r>
              <a:rPr sz="1800" spc="-10" dirty="0">
                <a:latin typeface="Carlito"/>
                <a:cs typeface="Carlito"/>
              </a:rPr>
              <a:t>letak </a:t>
            </a:r>
            <a:r>
              <a:rPr sz="1800" spc="-5" dirty="0">
                <a:latin typeface="Carlito"/>
                <a:cs typeface="Carlito"/>
              </a:rPr>
              <a:t>objek</a:t>
            </a:r>
            <a:r>
              <a:rPr sz="1800" spc="-40" dirty="0">
                <a:latin typeface="Carlito"/>
                <a:cs typeface="Carlito"/>
              </a:rPr>
              <a:t> </a:t>
            </a:r>
            <a:r>
              <a:rPr sz="1800" spc="-10" dirty="0">
                <a:latin typeface="Carlito"/>
                <a:cs typeface="Carlito"/>
              </a:rPr>
              <a:t>tersebut?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816085" y="51053"/>
            <a:ext cx="11620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latin typeface="Carlito"/>
                <a:cs typeface="Carlito"/>
              </a:rPr>
              <a:t>7</a:t>
            </a:r>
            <a:endParaRPr sz="1400">
              <a:latin typeface="Carlito"/>
              <a:cs typeface="Carlito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3793363" y="6451193"/>
            <a:ext cx="1558290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5" dirty="0">
                <a:solidFill>
                  <a:srgbClr val="888888"/>
                </a:solidFill>
                <a:latin typeface="Carlito"/>
                <a:cs typeface="Carlito"/>
              </a:rPr>
              <a:t>Pengolahan Citra </a:t>
            </a:r>
            <a:r>
              <a:rPr sz="900" dirty="0">
                <a:solidFill>
                  <a:srgbClr val="888888"/>
                </a:solidFill>
                <a:latin typeface="Carlito"/>
                <a:cs typeface="Carlito"/>
              </a:rPr>
              <a:t>-</a:t>
            </a:r>
            <a:r>
              <a:rPr sz="900" spc="-50" dirty="0">
                <a:solidFill>
                  <a:srgbClr val="888888"/>
                </a:solidFill>
                <a:latin typeface="Carlito"/>
                <a:cs typeface="Carlito"/>
              </a:rPr>
              <a:t> </a:t>
            </a:r>
            <a:r>
              <a:rPr sz="900" spc="-5" dirty="0">
                <a:solidFill>
                  <a:srgbClr val="888888"/>
                </a:solidFill>
                <a:latin typeface="Carlito"/>
                <a:cs typeface="Carlito"/>
              </a:rPr>
              <a:t>Fundamentals</a:t>
            </a:r>
            <a:endParaRPr sz="900">
              <a:latin typeface="Carlito"/>
              <a:cs typeface="Carlito"/>
            </a:endParaRPr>
          </a:p>
        </p:txBody>
      </p:sp>
    </p:spTree>
    <p:extLst>
      <p:ext uri="{BB962C8B-B14F-4D97-AF65-F5344CB8AC3E}">
        <p14:creationId xmlns:p14="http://schemas.microsoft.com/office/powerpoint/2010/main" val="5568746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sz="3600" spc="-160" dirty="0"/>
              <a:t>Computer </a:t>
            </a:r>
            <a:r>
              <a:rPr sz="3600" spc="-185" dirty="0"/>
              <a:t>Vision</a:t>
            </a:r>
            <a:r>
              <a:rPr sz="3600" spc="-200" dirty="0"/>
              <a:t> </a:t>
            </a:r>
            <a:r>
              <a:rPr sz="3600" spc="-145" dirty="0"/>
              <a:t>(2)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764540" y="1786508"/>
            <a:ext cx="7879080" cy="1217295"/>
          </a:xfrm>
          <a:prstGeom prst="rect">
            <a:avLst/>
          </a:prstGeom>
        </p:spPr>
        <p:txBody>
          <a:bodyPr vert="horz" wrap="square" lIns="0" tIns="78105" rIns="0" bIns="0" rtlCol="0">
            <a:spAutoFit/>
          </a:bodyPr>
          <a:lstStyle/>
          <a:p>
            <a:pPr marL="184785" indent="-172720">
              <a:lnSpc>
                <a:spcPct val="100000"/>
              </a:lnSpc>
              <a:spcBef>
                <a:spcPts val="615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5" dirty="0">
                <a:latin typeface="Carlito"/>
                <a:cs typeface="Carlito"/>
              </a:rPr>
              <a:t>Segmentasi</a:t>
            </a:r>
            <a:r>
              <a:rPr sz="2400" spc="-35" dirty="0">
                <a:latin typeface="Carlito"/>
                <a:cs typeface="Carlito"/>
              </a:rPr>
              <a:t> </a:t>
            </a:r>
            <a:r>
              <a:rPr sz="2400" spc="-10" dirty="0">
                <a:latin typeface="Carlito"/>
                <a:cs typeface="Carlito"/>
              </a:rPr>
              <a:t>citra</a:t>
            </a:r>
            <a:endParaRPr sz="2400">
              <a:latin typeface="Carlito"/>
              <a:cs typeface="Carlito"/>
            </a:endParaRPr>
          </a:p>
          <a:p>
            <a:pPr marL="184785" marR="5080" indent="-172720">
              <a:lnSpc>
                <a:spcPts val="2590"/>
              </a:lnSpc>
              <a:spcBef>
                <a:spcPts val="844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5" dirty="0">
                <a:latin typeface="Carlito"/>
                <a:cs typeface="Carlito"/>
              </a:rPr>
              <a:t>Pemberian </a:t>
            </a:r>
            <a:r>
              <a:rPr sz="2400" dirty="0">
                <a:latin typeface="Carlito"/>
                <a:cs typeface="Carlito"/>
              </a:rPr>
              <a:t>label </a:t>
            </a:r>
            <a:r>
              <a:rPr sz="2400" spc="-5" dirty="0">
                <a:latin typeface="Carlito"/>
                <a:cs typeface="Carlito"/>
              </a:rPr>
              <a:t>setiap </a:t>
            </a:r>
            <a:r>
              <a:rPr sz="2400" spc="-10" dirty="0">
                <a:latin typeface="Carlito"/>
                <a:cs typeface="Carlito"/>
              </a:rPr>
              <a:t>segment </a:t>
            </a:r>
            <a:r>
              <a:rPr sz="2400" spc="-15" dirty="0">
                <a:latin typeface="Carlito"/>
                <a:cs typeface="Carlito"/>
              </a:rPr>
              <a:t>dengan </a:t>
            </a:r>
            <a:r>
              <a:rPr sz="2400" spc="-10" dirty="0">
                <a:latin typeface="Carlito"/>
                <a:cs typeface="Carlito"/>
              </a:rPr>
              <a:t>mengamati </a:t>
            </a:r>
            <a:r>
              <a:rPr sz="2400" spc="-25" dirty="0">
                <a:latin typeface="Carlito"/>
                <a:cs typeface="Carlito"/>
              </a:rPr>
              <a:t>gray </a:t>
            </a:r>
            <a:r>
              <a:rPr sz="2400" spc="-10" dirty="0">
                <a:latin typeface="Carlito"/>
                <a:cs typeface="Carlito"/>
              </a:rPr>
              <a:t>scale  ataupun </a:t>
            </a:r>
            <a:r>
              <a:rPr sz="2400" spc="-15" dirty="0">
                <a:latin typeface="Carlito"/>
                <a:cs typeface="Carlito"/>
              </a:rPr>
              <a:t>texture </a:t>
            </a:r>
            <a:r>
              <a:rPr sz="2400" spc="-5" dirty="0">
                <a:latin typeface="Carlito"/>
                <a:cs typeface="Carlito"/>
              </a:rPr>
              <a:t>setiap </a:t>
            </a:r>
            <a:r>
              <a:rPr sz="2400" spc="-10" dirty="0">
                <a:latin typeface="Carlito"/>
                <a:cs typeface="Carlito"/>
              </a:rPr>
              <a:t>segment ataupun </a:t>
            </a:r>
            <a:r>
              <a:rPr sz="2400" spc="-5" dirty="0">
                <a:latin typeface="Carlito"/>
                <a:cs typeface="Carlito"/>
              </a:rPr>
              <a:t>bentuk</a:t>
            </a:r>
            <a:r>
              <a:rPr sz="2400" spc="-10" dirty="0">
                <a:latin typeface="Carlito"/>
                <a:cs typeface="Carlito"/>
              </a:rPr>
              <a:t> segment</a:t>
            </a:r>
            <a:endParaRPr sz="2400">
              <a:latin typeface="Carlito"/>
              <a:cs typeface="Carlito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101595" y="3051048"/>
            <a:ext cx="5398008" cy="302666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548507" y="6106159"/>
            <a:ext cx="2600960" cy="530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ts val="1989"/>
              </a:lnSpc>
              <a:spcBef>
                <a:spcPts val="100"/>
              </a:spcBef>
            </a:pPr>
            <a:r>
              <a:rPr sz="1800" spc="-5" dirty="0">
                <a:latin typeface="Arial"/>
                <a:cs typeface="Arial"/>
              </a:rPr>
              <a:t>Laki-laki dan</a:t>
            </a:r>
            <a:r>
              <a:rPr sz="1800" spc="-30" dirty="0">
                <a:latin typeface="Arial"/>
                <a:cs typeface="Arial"/>
              </a:rPr>
              <a:t> </a:t>
            </a:r>
            <a:r>
              <a:rPr sz="1800" spc="-5" dirty="0">
                <a:latin typeface="Arial"/>
                <a:cs typeface="Arial"/>
              </a:rPr>
              <a:t>Perempuan</a:t>
            </a:r>
            <a:endParaRPr sz="1800">
              <a:latin typeface="Arial"/>
              <a:cs typeface="Arial"/>
            </a:endParaRPr>
          </a:p>
          <a:p>
            <a:pPr marL="38100">
              <a:lnSpc>
                <a:spcPts val="1989"/>
              </a:lnSpc>
            </a:pPr>
            <a:r>
              <a:rPr sz="2700" spc="-412" baseline="-10802" dirty="0">
                <a:latin typeface="Arial"/>
                <a:cs typeface="Arial"/>
              </a:rPr>
              <a:t>(S</a:t>
            </a:r>
            <a:r>
              <a:rPr sz="900" spc="-275" dirty="0">
                <a:solidFill>
                  <a:srgbClr val="888888"/>
                </a:solidFill>
                <a:latin typeface="Carlito"/>
                <a:cs typeface="Carlito"/>
              </a:rPr>
              <a:t>P</a:t>
            </a:r>
            <a:r>
              <a:rPr sz="2700" spc="-412" baseline="-10802" dirty="0">
                <a:latin typeface="Arial"/>
                <a:cs typeface="Arial"/>
              </a:rPr>
              <a:t>o</a:t>
            </a:r>
            <a:r>
              <a:rPr sz="900" spc="-275" dirty="0">
                <a:solidFill>
                  <a:srgbClr val="888888"/>
                </a:solidFill>
                <a:latin typeface="Carlito"/>
                <a:cs typeface="Carlito"/>
              </a:rPr>
              <a:t>en</a:t>
            </a:r>
            <a:r>
              <a:rPr sz="2700" spc="-412" baseline="-10802" dirty="0">
                <a:latin typeface="Arial"/>
                <a:cs typeface="Arial"/>
              </a:rPr>
              <a:t>u</a:t>
            </a:r>
            <a:r>
              <a:rPr sz="900" spc="-275" dirty="0">
                <a:solidFill>
                  <a:srgbClr val="888888"/>
                </a:solidFill>
                <a:latin typeface="Carlito"/>
                <a:cs typeface="Carlito"/>
              </a:rPr>
              <a:t>go</a:t>
            </a:r>
            <a:r>
              <a:rPr sz="2700" spc="-412" baseline="-10802" dirty="0">
                <a:latin typeface="Arial"/>
                <a:cs typeface="Arial"/>
              </a:rPr>
              <a:t>r</a:t>
            </a:r>
            <a:r>
              <a:rPr sz="900" spc="-275" dirty="0">
                <a:solidFill>
                  <a:srgbClr val="888888"/>
                </a:solidFill>
                <a:latin typeface="Carlito"/>
                <a:cs typeface="Carlito"/>
              </a:rPr>
              <a:t>la</a:t>
            </a:r>
            <a:r>
              <a:rPr sz="2700" spc="-412" baseline="-10802" dirty="0">
                <a:latin typeface="Arial"/>
                <a:cs typeface="Arial"/>
              </a:rPr>
              <a:t>c</a:t>
            </a:r>
            <a:r>
              <a:rPr sz="900" spc="-275" dirty="0">
                <a:solidFill>
                  <a:srgbClr val="888888"/>
                </a:solidFill>
                <a:latin typeface="Carlito"/>
                <a:cs typeface="Carlito"/>
              </a:rPr>
              <a:t>ha</a:t>
            </a:r>
            <a:r>
              <a:rPr sz="2700" spc="-412" baseline="-10802" dirty="0">
                <a:latin typeface="Arial"/>
                <a:cs typeface="Arial"/>
              </a:rPr>
              <a:t>e</a:t>
            </a:r>
            <a:r>
              <a:rPr sz="900" spc="-275" dirty="0">
                <a:solidFill>
                  <a:srgbClr val="888888"/>
                </a:solidFill>
                <a:latin typeface="Carlito"/>
                <a:cs typeface="Carlito"/>
              </a:rPr>
              <a:t>n</a:t>
            </a:r>
            <a:r>
              <a:rPr sz="900" dirty="0">
                <a:solidFill>
                  <a:srgbClr val="888888"/>
                </a:solidFill>
                <a:latin typeface="Carlito"/>
                <a:cs typeface="Carlito"/>
              </a:rPr>
              <a:t> </a:t>
            </a:r>
            <a:r>
              <a:rPr sz="900" spc="-260" dirty="0">
                <a:solidFill>
                  <a:srgbClr val="888888"/>
                </a:solidFill>
                <a:latin typeface="Carlito"/>
                <a:cs typeface="Carlito"/>
              </a:rPr>
              <a:t>C</a:t>
            </a:r>
            <a:r>
              <a:rPr sz="2700" spc="-390" baseline="-10802" dirty="0">
                <a:latin typeface="Arial"/>
                <a:cs typeface="Arial"/>
              </a:rPr>
              <a:t>:</a:t>
            </a:r>
            <a:r>
              <a:rPr sz="900" spc="-260" dirty="0">
                <a:solidFill>
                  <a:srgbClr val="888888"/>
                </a:solidFill>
                <a:latin typeface="Carlito"/>
                <a:cs typeface="Carlito"/>
              </a:rPr>
              <a:t>itr</a:t>
            </a:r>
            <a:r>
              <a:rPr sz="2700" spc="-390" baseline="-10802" dirty="0">
                <a:latin typeface="Arial"/>
                <a:cs typeface="Arial"/>
              </a:rPr>
              <a:t>D</a:t>
            </a:r>
            <a:r>
              <a:rPr sz="900" spc="-260" dirty="0">
                <a:solidFill>
                  <a:srgbClr val="888888"/>
                </a:solidFill>
                <a:latin typeface="Carlito"/>
                <a:cs typeface="Carlito"/>
              </a:rPr>
              <a:t>a</a:t>
            </a:r>
            <a:r>
              <a:rPr sz="900" spc="-15" dirty="0">
                <a:solidFill>
                  <a:srgbClr val="888888"/>
                </a:solidFill>
                <a:latin typeface="Carlito"/>
                <a:cs typeface="Carlito"/>
              </a:rPr>
              <a:t> </a:t>
            </a:r>
            <a:r>
              <a:rPr sz="900" dirty="0">
                <a:solidFill>
                  <a:srgbClr val="888888"/>
                </a:solidFill>
                <a:latin typeface="Carlito"/>
                <a:cs typeface="Carlito"/>
              </a:rPr>
              <a:t>-</a:t>
            </a:r>
            <a:r>
              <a:rPr sz="900" spc="-35" dirty="0">
                <a:solidFill>
                  <a:srgbClr val="888888"/>
                </a:solidFill>
                <a:latin typeface="Carlito"/>
                <a:cs typeface="Carlito"/>
              </a:rPr>
              <a:t> </a:t>
            </a:r>
            <a:r>
              <a:rPr sz="2700" spc="-300" baseline="-10802" dirty="0">
                <a:latin typeface="Arial"/>
                <a:cs typeface="Arial"/>
              </a:rPr>
              <a:t>i</a:t>
            </a:r>
            <a:r>
              <a:rPr sz="900" spc="-200" dirty="0">
                <a:solidFill>
                  <a:srgbClr val="888888"/>
                </a:solidFill>
                <a:latin typeface="Carlito"/>
                <a:cs typeface="Carlito"/>
              </a:rPr>
              <a:t>F</a:t>
            </a:r>
            <a:r>
              <a:rPr sz="2700" spc="-300" baseline="-10802" dirty="0">
                <a:latin typeface="Arial"/>
                <a:cs typeface="Arial"/>
              </a:rPr>
              <a:t>n</a:t>
            </a:r>
            <a:r>
              <a:rPr sz="900" spc="-200" dirty="0">
                <a:solidFill>
                  <a:srgbClr val="888888"/>
                </a:solidFill>
                <a:latin typeface="Carlito"/>
                <a:cs typeface="Carlito"/>
              </a:rPr>
              <a:t>und</a:t>
            </a:r>
            <a:r>
              <a:rPr sz="2700" spc="-300" baseline="-10802" dirty="0">
                <a:latin typeface="Arial"/>
                <a:cs typeface="Arial"/>
              </a:rPr>
              <a:t>a</a:t>
            </a:r>
            <a:r>
              <a:rPr sz="900" spc="-200" dirty="0">
                <a:solidFill>
                  <a:srgbClr val="888888"/>
                </a:solidFill>
                <a:latin typeface="Carlito"/>
                <a:cs typeface="Carlito"/>
              </a:rPr>
              <a:t>am</a:t>
            </a:r>
            <a:r>
              <a:rPr sz="2700" spc="-300" baseline="-10802" dirty="0">
                <a:latin typeface="Arial"/>
                <a:cs typeface="Arial"/>
              </a:rPr>
              <a:t>C</a:t>
            </a:r>
            <a:r>
              <a:rPr sz="900" spc="-200" dirty="0">
                <a:solidFill>
                  <a:srgbClr val="888888"/>
                </a:solidFill>
                <a:latin typeface="Carlito"/>
                <a:cs typeface="Carlito"/>
              </a:rPr>
              <a:t>ent</a:t>
            </a:r>
            <a:r>
              <a:rPr sz="2700" spc="-300" baseline="-10802" dirty="0">
                <a:latin typeface="Arial"/>
                <a:cs typeface="Arial"/>
              </a:rPr>
              <a:t>h</a:t>
            </a:r>
            <a:r>
              <a:rPr sz="900" spc="-200" dirty="0">
                <a:solidFill>
                  <a:srgbClr val="888888"/>
                </a:solidFill>
                <a:latin typeface="Carlito"/>
                <a:cs typeface="Carlito"/>
              </a:rPr>
              <a:t>als</a:t>
            </a:r>
            <a:r>
              <a:rPr sz="2700" spc="-300" baseline="-10802" dirty="0">
                <a:latin typeface="Arial"/>
                <a:cs typeface="Arial"/>
              </a:rPr>
              <a:t>ahyati)</a:t>
            </a:r>
            <a:endParaRPr sz="2700" baseline="-10802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816085" y="51053"/>
            <a:ext cx="11620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latin typeface="Carlito"/>
                <a:cs typeface="Carlito"/>
              </a:rPr>
              <a:t>8</a:t>
            </a:r>
            <a:endParaRPr sz="1400">
              <a:latin typeface="Carlito"/>
              <a:cs typeface="Carlito"/>
            </a:endParaRPr>
          </a:p>
        </p:txBody>
      </p:sp>
    </p:spTree>
    <p:extLst>
      <p:ext uri="{BB962C8B-B14F-4D97-AF65-F5344CB8AC3E}">
        <p14:creationId xmlns:p14="http://schemas.microsoft.com/office/powerpoint/2010/main" val="2923240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146685" rIns="0" bIns="0" rtlCol="0">
            <a:spAutoFit/>
          </a:bodyPr>
          <a:lstStyle/>
          <a:p>
            <a:pPr marL="720090" marR="1417320">
              <a:lnSpc>
                <a:spcPts val="3890"/>
              </a:lnSpc>
              <a:spcBef>
                <a:spcPts val="1155"/>
              </a:spcBef>
            </a:pPr>
            <a:r>
              <a:rPr sz="3600" spc="-150" dirty="0"/>
              <a:t>Pattern </a:t>
            </a:r>
            <a:r>
              <a:rPr sz="3600" spc="-175" dirty="0"/>
              <a:t>Recognition, </a:t>
            </a:r>
            <a:r>
              <a:rPr sz="3600" spc="-160" dirty="0"/>
              <a:t>Computer</a:t>
            </a:r>
            <a:r>
              <a:rPr sz="3600" spc="-345" dirty="0"/>
              <a:t> </a:t>
            </a:r>
            <a:r>
              <a:rPr sz="3600" spc="-175" dirty="0"/>
              <a:t>Vision,  </a:t>
            </a:r>
            <a:r>
              <a:rPr sz="3600" spc="-195" dirty="0"/>
              <a:t>and </a:t>
            </a:r>
            <a:r>
              <a:rPr sz="3600" spc="-75" dirty="0"/>
              <a:t>Artificial</a:t>
            </a:r>
            <a:r>
              <a:rPr sz="3600" spc="-175" dirty="0"/>
              <a:t> </a:t>
            </a:r>
            <a:r>
              <a:rPr sz="3600" spc="-140" dirty="0"/>
              <a:t>Intelligence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707542" y="1759661"/>
            <a:ext cx="7452995" cy="4148454"/>
          </a:xfrm>
          <a:prstGeom prst="rect">
            <a:avLst/>
          </a:prstGeom>
        </p:spPr>
        <p:txBody>
          <a:bodyPr vert="horz" wrap="square" lIns="0" tIns="94615" rIns="0" bIns="0" rtlCol="0">
            <a:spAutoFit/>
          </a:bodyPr>
          <a:lstStyle/>
          <a:p>
            <a:pPr marL="184785" marR="1523365" indent="-172720">
              <a:lnSpc>
                <a:spcPts val="2690"/>
              </a:lnSpc>
              <a:spcBef>
                <a:spcPts val="745"/>
              </a:spcBef>
              <a:buFont typeface="Arial"/>
              <a:buChar char="•"/>
              <a:tabLst>
                <a:tab pos="185420" algn="l"/>
              </a:tabLst>
            </a:pPr>
            <a:r>
              <a:rPr sz="2800" b="1" i="1" spc="-15" dirty="0">
                <a:latin typeface="Carlito"/>
                <a:cs typeface="Carlito"/>
              </a:rPr>
              <a:t>Pattern </a:t>
            </a:r>
            <a:r>
              <a:rPr sz="2800" b="1" i="1" spc="-10" dirty="0">
                <a:latin typeface="Carlito"/>
                <a:cs typeface="Carlito"/>
              </a:rPr>
              <a:t>Recognition</a:t>
            </a:r>
            <a:r>
              <a:rPr sz="2800" i="1" spc="-10" dirty="0">
                <a:latin typeface="Carlito"/>
                <a:cs typeface="Carlito"/>
              </a:rPr>
              <a:t>: </a:t>
            </a:r>
            <a:r>
              <a:rPr sz="2800" spc="-15" dirty="0">
                <a:latin typeface="Carlito"/>
                <a:cs typeface="Carlito"/>
              </a:rPr>
              <a:t>Segmentation </a:t>
            </a:r>
            <a:r>
              <a:rPr sz="2800" spc="-5" dirty="0">
                <a:latin typeface="Carlito"/>
                <a:cs typeface="Carlito"/>
              </a:rPr>
              <a:t>and  </a:t>
            </a:r>
            <a:r>
              <a:rPr sz="2800" spc="-10" dirty="0">
                <a:latin typeface="Carlito"/>
                <a:cs typeface="Carlito"/>
              </a:rPr>
              <a:t>Classification</a:t>
            </a:r>
            <a:endParaRPr sz="2800">
              <a:latin typeface="Carlito"/>
              <a:cs typeface="Carlito"/>
            </a:endParaRPr>
          </a:p>
          <a:p>
            <a:pPr marL="527685" marR="313055" lvl="1" indent="-172720">
              <a:lnSpc>
                <a:spcPct val="80000"/>
              </a:lnSpc>
              <a:spcBef>
                <a:spcPts val="425"/>
              </a:spcBef>
              <a:buFont typeface="Arial"/>
              <a:buChar char="•"/>
              <a:tabLst>
                <a:tab pos="528320" algn="l"/>
              </a:tabLst>
            </a:pPr>
            <a:r>
              <a:rPr sz="2600" b="1" spc="-5" dirty="0">
                <a:solidFill>
                  <a:srgbClr val="006FC0"/>
                </a:solidFill>
                <a:latin typeface="Carlito"/>
                <a:cs typeface="Carlito"/>
              </a:rPr>
              <a:t>Image Classification </a:t>
            </a:r>
            <a:r>
              <a:rPr sz="2600" spc="-25" dirty="0">
                <a:solidFill>
                  <a:srgbClr val="444D25"/>
                </a:solidFill>
                <a:latin typeface="Carlito"/>
                <a:cs typeface="Carlito"/>
              </a:rPr>
              <a:t>(Termasuk </a:t>
            </a:r>
            <a:r>
              <a:rPr sz="2600" spc="-15" dirty="0">
                <a:solidFill>
                  <a:srgbClr val="444D25"/>
                </a:solidFill>
                <a:latin typeface="Carlito"/>
                <a:cs typeface="Carlito"/>
              </a:rPr>
              <a:t>kelompok </a:t>
            </a:r>
            <a:r>
              <a:rPr sz="2600" spc="-10" dirty="0">
                <a:solidFill>
                  <a:srgbClr val="444D25"/>
                </a:solidFill>
                <a:latin typeface="Carlito"/>
                <a:cs typeface="Carlito"/>
              </a:rPr>
              <a:t>apakah  citra</a:t>
            </a:r>
            <a:r>
              <a:rPr sz="2600" spc="-15" dirty="0">
                <a:solidFill>
                  <a:srgbClr val="444D25"/>
                </a:solidFill>
                <a:latin typeface="Carlito"/>
                <a:cs typeface="Carlito"/>
              </a:rPr>
              <a:t> </a:t>
            </a:r>
            <a:r>
              <a:rPr sz="2600" dirty="0">
                <a:solidFill>
                  <a:srgbClr val="444D25"/>
                </a:solidFill>
                <a:latin typeface="Carlito"/>
                <a:cs typeface="Carlito"/>
              </a:rPr>
              <a:t>ini?)</a:t>
            </a:r>
            <a:endParaRPr sz="2600">
              <a:latin typeface="Carlito"/>
              <a:cs typeface="Carlito"/>
            </a:endParaRPr>
          </a:p>
          <a:p>
            <a:pPr marL="184785" marR="1285875" indent="-172720">
              <a:lnSpc>
                <a:spcPts val="2690"/>
              </a:lnSpc>
              <a:spcBef>
                <a:spcPts val="775"/>
              </a:spcBef>
              <a:buFont typeface="Arial"/>
              <a:buChar char="•"/>
              <a:tabLst>
                <a:tab pos="185420" algn="l"/>
              </a:tabLst>
            </a:pPr>
            <a:r>
              <a:rPr sz="2800" b="1" i="1" spc="-10" dirty="0">
                <a:latin typeface="Carlito"/>
                <a:cs typeface="Carlito"/>
              </a:rPr>
              <a:t>Computer </a:t>
            </a:r>
            <a:r>
              <a:rPr sz="2800" b="1" i="1" spc="-5" dirty="0">
                <a:latin typeface="Carlito"/>
                <a:cs typeface="Carlito"/>
              </a:rPr>
              <a:t>Vision</a:t>
            </a:r>
            <a:r>
              <a:rPr sz="2800" i="1" spc="-5" dirty="0">
                <a:latin typeface="Carlito"/>
                <a:cs typeface="Carlito"/>
              </a:rPr>
              <a:t>: </a:t>
            </a:r>
            <a:r>
              <a:rPr sz="2800" spc="-10" dirty="0">
                <a:latin typeface="Carlito"/>
                <a:cs typeface="Carlito"/>
              </a:rPr>
              <a:t>Object </a:t>
            </a:r>
            <a:r>
              <a:rPr sz="2800" spc="-15" dirty="0">
                <a:latin typeface="Carlito"/>
                <a:cs typeface="Carlito"/>
              </a:rPr>
              <a:t>Recognition </a:t>
            </a:r>
            <a:r>
              <a:rPr sz="2800" spc="-5" dirty="0">
                <a:latin typeface="Carlito"/>
                <a:cs typeface="Carlito"/>
              </a:rPr>
              <a:t>and  </a:t>
            </a:r>
            <a:r>
              <a:rPr sz="2800" spc="-10" dirty="0">
                <a:latin typeface="Carlito"/>
                <a:cs typeface="Carlito"/>
              </a:rPr>
              <a:t>Description (Object</a:t>
            </a:r>
            <a:r>
              <a:rPr sz="2800" spc="50" dirty="0">
                <a:latin typeface="Carlito"/>
                <a:cs typeface="Carlito"/>
              </a:rPr>
              <a:t> </a:t>
            </a:r>
            <a:r>
              <a:rPr sz="2800" spc="-15" dirty="0">
                <a:latin typeface="Carlito"/>
                <a:cs typeface="Carlito"/>
              </a:rPr>
              <a:t>Structure)</a:t>
            </a:r>
            <a:endParaRPr sz="2800">
              <a:latin typeface="Carlito"/>
              <a:cs typeface="Carlito"/>
            </a:endParaRPr>
          </a:p>
          <a:p>
            <a:pPr marL="527685" marR="5080" lvl="1" indent="-172720">
              <a:lnSpc>
                <a:spcPct val="80000"/>
              </a:lnSpc>
              <a:spcBef>
                <a:spcPts val="425"/>
              </a:spcBef>
              <a:buFont typeface="Arial"/>
              <a:buChar char="•"/>
              <a:tabLst>
                <a:tab pos="528320" algn="l"/>
              </a:tabLst>
            </a:pPr>
            <a:r>
              <a:rPr sz="2600" b="1" spc="-5" dirty="0">
                <a:solidFill>
                  <a:srgbClr val="006FC0"/>
                </a:solidFill>
                <a:latin typeface="Carlito"/>
                <a:cs typeface="Carlito"/>
              </a:rPr>
              <a:t>Object </a:t>
            </a:r>
            <a:r>
              <a:rPr sz="2600" b="1" spc="-10" dirty="0">
                <a:solidFill>
                  <a:srgbClr val="006FC0"/>
                </a:solidFill>
                <a:latin typeface="Carlito"/>
                <a:cs typeface="Carlito"/>
              </a:rPr>
              <a:t>Detection </a:t>
            </a:r>
            <a:r>
              <a:rPr sz="2600" b="1" spc="-5" dirty="0">
                <a:solidFill>
                  <a:srgbClr val="006FC0"/>
                </a:solidFill>
                <a:latin typeface="Carlito"/>
                <a:cs typeface="Carlito"/>
              </a:rPr>
              <a:t>and Recognition </a:t>
            </a:r>
            <a:r>
              <a:rPr sz="2600" spc="-10" dirty="0">
                <a:solidFill>
                  <a:srgbClr val="444D25"/>
                </a:solidFill>
                <a:latin typeface="Carlito"/>
                <a:cs typeface="Carlito"/>
              </a:rPr>
              <a:t>(Obyek </a:t>
            </a:r>
            <a:r>
              <a:rPr sz="2600" dirty="0">
                <a:solidFill>
                  <a:srgbClr val="444D25"/>
                </a:solidFill>
                <a:latin typeface="Carlito"/>
                <a:cs typeface="Carlito"/>
              </a:rPr>
              <a:t>apa </a:t>
            </a:r>
            <a:r>
              <a:rPr sz="2600" spc="-10" dirty="0">
                <a:solidFill>
                  <a:srgbClr val="444D25"/>
                </a:solidFill>
                <a:latin typeface="Carlito"/>
                <a:cs typeface="Carlito"/>
              </a:rPr>
              <a:t>yang  </a:t>
            </a:r>
            <a:r>
              <a:rPr sz="2600" spc="-5" dirty="0">
                <a:solidFill>
                  <a:srgbClr val="444D25"/>
                </a:solidFill>
                <a:latin typeface="Carlito"/>
                <a:cs typeface="Carlito"/>
              </a:rPr>
              <a:t>ada di dalam</a:t>
            </a:r>
            <a:r>
              <a:rPr sz="2600" spc="-15" dirty="0">
                <a:solidFill>
                  <a:srgbClr val="444D25"/>
                </a:solidFill>
                <a:latin typeface="Carlito"/>
                <a:cs typeface="Carlito"/>
              </a:rPr>
              <a:t> </a:t>
            </a:r>
            <a:r>
              <a:rPr sz="2600" spc="-5" dirty="0">
                <a:solidFill>
                  <a:srgbClr val="444D25"/>
                </a:solidFill>
                <a:latin typeface="Carlito"/>
                <a:cs typeface="Carlito"/>
              </a:rPr>
              <a:t>citra?)</a:t>
            </a:r>
            <a:endParaRPr sz="2600">
              <a:latin typeface="Carlito"/>
              <a:cs typeface="Carlito"/>
            </a:endParaRPr>
          </a:p>
          <a:p>
            <a:pPr marL="184785" indent="-172720">
              <a:lnSpc>
                <a:spcPct val="100000"/>
              </a:lnSpc>
              <a:spcBef>
                <a:spcPts val="125"/>
              </a:spcBef>
              <a:buFont typeface="Arial"/>
              <a:buChar char="•"/>
              <a:tabLst>
                <a:tab pos="185420" algn="l"/>
              </a:tabLst>
            </a:pPr>
            <a:r>
              <a:rPr sz="2800" b="1" i="1" spc="-5" dirty="0">
                <a:latin typeface="Carlito"/>
                <a:cs typeface="Carlito"/>
              </a:rPr>
              <a:t>Artificial </a:t>
            </a:r>
            <a:r>
              <a:rPr sz="2800" b="1" i="1" spc="-10" dirty="0">
                <a:latin typeface="Carlito"/>
                <a:cs typeface="Carlito"/>
              </a:rPr>
              <a:t>Intelligence</a:t>
            </a:r>
            <a:r>
              <a:rPr sz="2800" i="1" spc="-10" dirty="0">
                <a:latin typeface="Carlito"/>
                <a:cs typeface="Carlito"/>
              </a:rPr>
              <a:t>: </a:t>
            </a:r>
            <a:r>
              <a:rPr sz="2800" spc="-10" dirty="0">
                <a:latin typeface="Carlito"/>
                <a:cs typeface="Carlito"/>
              </a:rPr>
              <a:t>Higher-level</a:t>
            </a:r>
            <a:r>
              <a:rPr sz="2800" spc="55" dirty="0">
                <a:latin typeface="Carlito"/>
                <a:cs typeface="Carlito"/>
              </a:rPr>
              <a:t> </a:t>
            </a:r>
            <a:r>
              <a:rPr sz="2800" spc="-15" dirty="0">
                <a:latin typeface="Carlito"/>
                <a:cs typeface="Carlito"/>
              </a:rPr>
              <a:t>understanding</a:t>
            </a:r>
            <a:endParaRPr sz="2800">
              <a:latin typeface="Carlito"/>
              <a:cs typeface="Carlito"/>
            </a:endParaRPr>
          </a:p>
          <a:p>
            <a:pPr marL="527685" marR="594995" lvl="1" indent="-172720">
              <a:lnSpc>
                <a:spcPts val="2810"/>
              </a:lnSpc>
              <a:spcBef>
                <a:spcPts val="385"/>
              </a:spcBef>
              <a:buFont typeface="Arial"/>
              <a:buChar char="•"/>
              <a:tabLst>
                <a:tab pos="528320" algn="l"/>
              </a:tabLst>
            </a:pPr>
            <a:r>
              <a:rPr sz="2600" b="1" spc="-5" dirty="0">
                <a:solidFill>
                  <a:srgbClr val="006FC0"/>
                </a:solidFill>
                <a:latin typeface="Carlito"/>
                <a:cs typeface="Carlito"/>
              </a:rPr>
              <a:t>Image </a:t>
            </a:r>
            <a:r>
              <a:rPr sz="2600" b="1" spc="-10" dirty="0">
                <a:solidFill>
                  <a:srgbClr val="006FC0"/>
                </a:solidFill>
                <a:latin typeface="Carlito"/>
                <a:cs typeface="Carlito"/>
              </a:rPr>
              <a:t>Understanding </a:t>
            </a:r>
            <a:r>
              <a:rPr sz="2600" dirty="0">
                <a:solidFill>
                  <a:srgbClr val="444D25"/>
                </a:solidFill>
                <a:latin typeface="Carlito"/>
                <a:cs typeface="Carlito"/>
              </a:rPr>
              <a:t>(Apa </a:t>
            </a:r>
            <a:r>
              <a:rPr sz="2600" spc="-10" dirty="0">
                <a:solidFill>
                  <a:srgbClr val="444D25"/>
                </a:solidFill>
                <a:latin typeface="Carlito"/>
                <a:cs typeface="Carlito"/>
              </a:rPr>
              <a:t>yang </a:t>
            </a:r>
            <a:r>
              <a:rPr sz="2600" spc="-5" dirty="0">
                <a:solidFill>
                  <a:srgbClr val="444D25"/>
                </a:solidFill>
                <a:latin typeface="Carlito"/>
                <a:cs typeface="Carlito"/>
              </a:rPr>
              <a:t>sedang terjadi  dalam citra?)</a:t>
            </a:r>
            <a:endParaRPr sz="2600">
              <a:latin typeface="Carlito"/>
              <a:cs typeface="Carlito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710930" y="61722"/>
            <a:ext cx="220979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latin typeface="Tahoma"/>
                <a:cs typeface="Tahoma"/>
              </a:rPr>
              <a:t>10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793363" y="6451193"/>
            <a:ext cx="1558290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5" dirty="0">
                <a:solidFill>
                  <a:srgbClr val="888888"/>
                </a:solidFill>
                <a:latin typeface="Carlito"/>
                <a:cs typeface="Carlito"/>
              </a:rPr>
              <a:t>Pengolahan Citra </a:t>
            </a:r>
            <a:r>
              <a:rPr sz="900" dirty="0">
                <a:solidFill>
                  <a:srgbClr val="888888"/>
                </a:solidFill>
                <a:latin typeface="Carlito"/>
                <a:cs typeface="Carlito"/>
              </a:rPr>
              <a:t>-</a:t>
            </a:r>
            <a:r>
              <a:rPr sz="900" spc="-50" dirty="0">
                <a:solidFill>
                  <a:srgbClr val="888888"/>
                </a:solidFill>
                <a:latin typeface="Carlito"/>
                <a:cs typeface="Carlito"/>
              </a:rPr>
              <a:t> </a:t>
            </a:r>
            <a:r>
              <a:rPr sz="900" spc="-5" dirty="0">
                <a:solidFill>
                  <a:srgbClr val="888888"/>
                </a:solidFill>
                <a:latin typeface="Carlito"/>
                <a:cs typeface="Carlito"/>
              </a:rPr>
              <a:t>Fundamentals</a:t>
            </a:r>
            <a:endParaRPr sz="900">
              <a:latin typeface="Carlito"/>
              <a:cs typeface="Carlito"/>
            </a:endParaRPr>
          </a:p>
        </p:txBody>
      </p:sp>
    </p:spTree>
    <p:extLst>
      <p:ext uri="{BB962C8B-B14F-4D97-AF65-F5344CB8AC3E}">
        <p14:creationId xmlns:p14="http://schemas.microsoft.com/office/powerpoint/2010/main" val="21464418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sz="3600" spc="-235" dirty="0"/>
              <a:t>Image</a:t>
            </a:r>
            <a:r>
              <a:rPr sz="3600" spc="-195" dirty="0"/>
              <a:t> </a:t>
            </a:r>
            <a:r>
              <a:rPr sz="3600" spc="-260" dirty="0"/>
              <a:t>Processing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707542" y="1802333"/>
            <a:ext cx="2109470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785" indent="-17272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10" dirty="0">
                <a:latin typeface="Carlito"/>
                <a:cs typeface="Carlito"/>
              </a:rPr>
              <a:t>Image </a:t>
            </a:r>
            <a:r>
              <a:rPr sz="2400" spc="-15" dirty="0">
                <a:latin typeface="Carlito"/>
                <a:cs typeface="Carlito"/>
              </a:rPr>
              <a:t>to</a:t>
            </a:r>
            <a:r>
              <a:rPr sz="2400" spc="-65" dirty="0">
                <a:latin typeface="Carlito"/>
                <a:cs typeface="Carlito"/>
              </a:rPr>
              <a:t> </a:t>
            </a:r>
            <a:r>
              <a:rPr sz="2400" spc="-10" dirty="0">
                <a:latin typeface="Carlito"/>
                <a:cs typeface="Carlito"/>
              </a:rPr>
              <a:t>Image</a:t>
            </a:r>
            <a:endParaRPr sz="2400">
              <a:latin typeface="Carlito"/>
              <a:cs typeface="Carlito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807207" y="2304288"/>
            <a:ext cx="3657600" cy="17907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611371" y="4064889"/>
            <a:ext cx="19316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latin typeface="Carlito"/>
                <a:cs typeface="Carlito"/>
              </a:rPr>
              <a:t>Image</a:t>
            </a:r>
            <a:r>
              <a:rPr sz="1800" spc="-65" dirty="0">
                <a:latin typeface="Carlito"/>
                <a:cs typeface="Carlito"/>
              </a:rPr>
              <a:t> </a:t>
            </a:r>
            <a:r>
              <a:rPr sz="1800" spc="-5" dirty="0">
                <a:latin typeface="Carlito"/>
                <a:cs typeface="Carlito"/>
              </a:rPr>
              <a:t>Enhancement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2980944" y="4415028"/>
            <a:ext cx="3311652" cy="195833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3696334" y="6337198"/>
            <a:ext cx="1764664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700" spc="-390" baseline="-13888" dirty="0">
                <a:latin typeface="Carlito"/>
                <a:cs typeface="Carlito"/>
              </a:rPr>
              <a:t>Im</a:t>
            </a:r>
            <a:r>
              <a:rPr sz="900" spc="-260" dirty="0">
                <a:solidFill>
                  <a:srgbClr val="888888"/>
                </a:solidFill>
                <a:latin typeface="Carlito"/>
                <a:cs typeface="Carlito"/>
              </a:rPr>
              <a:t>Pen</a:t>
            </a:r>
            <a:r>
              <a:rPr sz="2700" spc="-390" baseline="-13888" dirty="0">
                <a:latin typeface="Carlito"/>
                <a:cs typeface="Carlito"/>
              </a:rPr>
              <a:t>a</a:t>
            </a:r>
            <a:r>
              <a:rPr sz="900" spc="-260" dirty="0">
                <a:solidFill>
                  <a:srgbClr val="888888"/>
                </a:solidFill>
                <a:latin typeface="Carlito"/>
                <a:cs typeface="Carlito"/>
              </a:rPr>
              <a:t>go</a:t>
            </a:r>
            <a:r>
              <a:rPr sz="2700" spc="-390" baseline="-13888" dirty="0">
                <a:latin typeface="Carlito"/>
                <a:cs typeface="Carlito"/>
              </a:rPr>
              <a:t>g</a:t>
            </a:r>
            <a:r>
              <a:rPr sz="900" spc="-260" dirty="0">
                <a:solidFill>
                  <a:srgbClr val="888888"/>
                </a:solidFill>
                <a:latin typeface="Carlito"/>
                <a:cs typeface="Carlito"/>
              </a:rPr>
              <a:t>lah</a:t>
            </a:r>
            <a:r>
              <a:rPr sz="2700" spc="-390" baseline="-13888" dirty="0">
                <a:latin typeface="Carlito"/>
                <a:cs typeface="Carlito"/>
              </a:rPr>
              <a:t>e</a:t>
            </a:r>
            <a:r>
              <a:rPr sz="900" spc="-260" dirty="0">
                <a:solidFill>
                  <a:srgbClr val="888888"/>
                </a:solidFill>
                <a:latin typeface="Carlito"/>
                <a:cs typeface="Carlito"/>
              </a:rPr>
              <a:t>an</a:t>
            </a:r>
            <a:r>
              <a:rPr sz="2700" spc="-390" baseline="-13888" dirty="0">
                <a:latin typeface="Carlito"/>
                <a:cs typeface="Carlito"/>
              </a:rPr>
              <a:t>R</a:t>
            </a:r>
            <a:r>
              <a:rPr sz="900" spc="-260" dirty="0">
                <a:solidFill>
                  <a:srgbClr val="888888"/>
                </a:solidFill>
                <a:latin typeface="Carlito"/>
                <a:cs typeface="Carlito"/>
              </a:rPr>
              <a:t>Cit</a:t>
            </a:r>
            <a:r>
              <a:rPr sz="2700" spc="-390" baseline="-13888" dirty="0">
                <a:latin typeface="Carlito"/>
                <a:cs typeface="Carlito"/>
              </a:rPr>
              <a:t>e</a:t>
            </a:r>
            <a:r>
              <a:rPr sz="900" spc="-260" dirty="0">
                <a:solidFill>
                  <a:srgbClr val="888888"/>
                </a:solidFill>
                <a:latin typeface="Carlito"/>
                <a:cs typeface="Carlito"/>
              </a:rPr>
              <a:t>ra</a:t>
            </a:r>
            <a:r>
              <a:rPr sz="2700" spc="-390" baseline="-13888" dirty="0">
                <a:latin typeface="Carlito"/>
                <a:cs typeface="Carlito"/>
              </a:rPr>
              <a:t>s</a:t>
            </a:r>
            <a:r>
              <a:rPr sz="900" spc="-260" dirty="0">
                <a:solidFill>
                  <a:srgbClr val="888888"/>
                </a:solidFill>
                <a:latin typeface="Carlito"/>
                <a:cs typeface="Carlito"/>
              </a:rPr>
              <a:t>-</a:t>
            </a:r>
            <a:r>
              <a:rPr sz="900" spc="-40" dirty="0">
                <a:solidFill>
                  <a:srgbClr val="888888"/>
                </a:solidFill>
                <a:latin typeface="Carlito"/>
                <a:cs typeface="Carlito"/>
              </a:rPr>
              <a:t> </a:t>
            </a:r>
            <a:r>
              <a:rPr sz="2700" spc="-405" baseline="-13888" dirty="0">
                <a:latin typeface="Carlito"/>
                <a:cs typeface="Carlito"/>
              </a:rPr>
              <a:t>t</a:t>
            </a:r>
            <a:r>
              <a:rPr sz="900" spc="-270" dirty="0">
                <a:solidFill>
                  <a:srgbClr val="888888"/>
                </a:solidFill>
                <a:latin typeface="Carlito"/>
                <a:cs typeface="Carlito"/>
              </a:rPr>
              <a:t>Fu</a:t>
            </a:r>
            <a:r>
              <a:rPr sz="2700" spc="-405" baseline="-13888" dirty="0">
                <a:latin typeface="Carlito"/>
                <a:cs typeface="Carlito"/>
              </a:rPr>
              <a:t>o</a:t>
            </a:r>
            <a:r>
              <a:rPr sz="900" spc="-270" dirty="0">
                <a:solidFill>
                  <a:srgbClr val="888888"/>
                </a:solidFill>
                <a:latin typeface="Carlito"/>
                <a:cs typeface="Carlito"/>
              </a:rPr>
              <a:t>nd</a:t>
            </a:r>
            <a:r>
              <a:rPr sz="2700" spc="-405" baseline="-13888" dirty="0">
                <a:latin typeface="Carlito"/>
                <a:cs typeface="Carlito"/>
              </a:rPr>
              <a:t>r</a:t>
            </a:r>
            <a:r>
              <a:rPr sz="900" spc="-270" dirty="0">
                <a:solidFill>
                  <a:srgbClr val="888888"/>
                </a:solidFill>
                <a:latin typeface="Carlito"/>
                <a:cs typeface="Carlito"/>
              </a:rPr>
              <a:t>a</a:t>
            </a:r>
            <a:r>
              <a:rPr sz="2700" spc="-405" baseline="-13888" dirty="0">
                <a:latin typeface="Carlito"/>
                <a:cs typeface="Carlito"/>
              </a:rPr>
              <a:t>a</a:t>
            </a:r>
            <a:r>
              <a:rPr sz="900" spc="-270" dirty="0">
                <a:solidFill>
                  <a:srgbClr val="888888"/>
                </a:solidFill>
                <a:latin typeface="Carlito"/>
                <a:cs typeface="Carlito"/>
              </a:rPr>
              <a:t>m</a:t>
            </a:r>
            <a:r>
              <a:rPr sz="2700" spc="-405" baseline="-13888" dirty="0">
                <a:latin typeface="Carlito"/>
                <a:cs typeface="Carlito"/>
              </a:rPr>
              <a:t>t</a:t>
            </a:r>
            <a:r>
              <a:rPr sz="900" spc="-270" dirty="0">
                <a:solidFill>
                  <a:srgbClr val="888888"/>
                </a:solidFill>
                <a:latin typeface="Carlito"/>
                <a:cs typeface="Carlito"/>
              </a:rPr>
              <a:t>en</a:t>
            </a:r>
            <a:r>
              <a:rPr sz="2700" spc="-405" baseline="-13888" dirty="0">
                <a:latin typeface="Carlito"/>
                <a:cs typeface="Carlito"/>
              </a:rPr>
              <a:t>i</a:t>
            </a:r>
            <a:r>
              <a:rPr sz="900" spc="-270" dirty="0">
                <a:solidFill>
                  <a:srgbClr val="888888"/>
                </a:solidFill>
                <a:latin typeface="Carlito"/>
                <a:cs typeface="Carlito"/>
              </a:rPr>
              <a:t>t</a:t>
            </a:r>
            <a:r>
              <a:rPr sz="2700" spc="-405" baseline="-13888" dirty="0">
                <a:latin typeface="Carlito"/>
                <a:cs typeface="Carlito"/>
              </a:rPr>
              <a:t>o</a:t>
            </a:r>
            <a:r>
              <a:rPr sz="900" spc="-270" dirty="0">
                <a:solidFill>
                  <a:srgbClr val="888888"/>
                </a:solidFill>
                <a:latin typeface="Carlito"/>
                <a:cs typeface="Carlito"/>
              </a:rPr>
              <a:t>als</a:t>
            </a:r>
            <a:r>
              <a:rPr sz="2700" spc="-405" baseline="-13888" dirty="0">
                <a:latin typeface="Carlito"/>
                <a:cs typeface="Carlito"/>
              </a:rPr>
              <a:t>n</a:t>
            </a:r>
            <a:endParaRPr sz="2700" baseline="-13888">
              <a:latin typeface="Carlito"/>
              <a:cs typeface="Carlito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726169" y="51053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5" dirty="0">
                <a:latin typeface="Carlito"/>
                <a:cs typeface="Carlito"/>
              </a:rPr>
              <a:t>11</a:t>
            </a:r>
            <a:endParaRPr sz="1400">
              <a:latin typeface="Carlito"/>
              <a:cs typeface="Carlito"/>
            </a:endParaRPr>
          </a:p>
        </p:txBody>
      </p:sp>
    </p:spTree>
    <p:extLst>
      <p:ext uri="{BB962C8B-B14F-4D97-AF65-F5344CB8AC3E}">
        <p14:creationId xmlns:p14="http://schemas.microsoft.com/office/powerpoint/2010/main" val="2818060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294005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315"/>
              </a:spcBef>
            </a:pPr>
            <a:r>
              <a:rPr sz="4000" spc="-265" dirty="0">
                <a:latin typeface="Arial"/>
                <a:cs typeface="Arial"/>
              </a:rPr>
              <a:t>Image </a:t>
            </a:r>
            <a:r>
              <a:rPr sz="4000" spc="-285" dirty="0">
                <a:latin typeface="Arial"/>
                <a:cs typeface="Arial"/>
              </a:rPr>
              <a:t>Processing</a:t>
            </a:r>
            <a:r>
              <a:rPr sz="4000" spc="-160" dirty="0">
                <a:latin typeface="Arial"/>
                <a:cs typeface="Arial"/>
              </a:rPr>
              <a:t> (2)</a:t>
            </a:r>
            <a:endParaRPr sz="4000">
              <a:latin typeface="Arial"/>
              <a:cs typeface="Arial"/>
            </a:endParaRPr>
          </a:p>
          <a:p>
            <a:pPr marR="109855" algn="r">
              <a:lnSpc>
                <a:spcPct val="100000"/>
              </a:lnSpc>
              <a:spcBef>
                <a:spcPts val="650"/>
              </a:spcBef>
            </a:pPr>
            <a:r>
              <a:rPr sz="1800" spc="-5" dirty="0">
                <a:latin typeface="Carlito"/>
                <a:cs typeface="Carlito"/>
              </a:rPr>
              <a:t>*) </a:t>
            </a:r>
            <a:r>
              <a:rPr sz="1800" spc="-10" dirty="0">
                <a:latin typeface="Carlito"/>
                <a:cs typeface="Carlito"/>
              </a:rPr>
              <a:t>Source: </a:t>
            </a:r>
            <a:r>
              <a:rPr sz="1800" spc="-35" dirty="0">
                <a:latin typeface="Carlito"/>
                <a:cs typeface="Carlito"/>
              </a:rPr>
              <a:t>Prof. </a:t>
            </a:r>
            <a:r>
              <a:rPr sz="1800" spc="-5" dirty="0">
                <a:latin typeface="Carlito"/>
                <a:cs typeface="Carlito"/>
              </a:rPr>
              <a:t>Aniati</a:t>
            </a:r>
            <a:r>
              <a:rPr sz="1800" spc="40" dirty="0">
                <a:latin typeface="Carlito"/>
                <a:cs typeface="Carlito"/>
              </a:rPr>
              <a:t> </a:t>
            </a:r>
            <a:r>
              <a:rPr sz="1800" spc="-5" dirty="0">
                <a:latin typeface="Carlito"/>
                <a:cs typeface="Carlito"/>
              </a:rPr>
              <a:t>Murni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07542" y="1802333"/>
            <a:ext cx="250507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785" indent="-17272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10" dirty="0">
                <a:latin typeface="Carlito"/>
                <a:cs typeface="Carlito"/>
              </a:rPr>
              <a:t>Image</a:t>
            </a:r>
            <a:r>
              <a:rPr sz="2400" spc="-45" dirty="0">
                <a:latin typeface="Carlito"/>
                <a:cs typeface="Carlito"/>
              </a:rPr>
              <a:t> </a:t>
            </a:r>
            <a:r>
              <a:rPr sz="2400" spc="-15" dirty="0">
                <a:latin typeface="Carlito"/>
                <a:cs typeface="Carlito"/>
              </a:rPr>
              <a:t>Registration</a:t>
            </a:r>
            <a:endParaRPr sz="2400">
              <a:latin typeface="Carlito"/>
              <a:cs typeface="Carlito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6309359" y="1844039"/>
            <a:ext cx="1915667" cy="178460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6309359" y="4056888"/>
            <a:ext cx="1982724" cy="172973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619500" y="1842516"/>
            <a:ext cx="1912620" cy="1784604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3619500" y="4099559"/>
            <a:ext cx="1912620" cy="1784604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3707638" y="3695446"/>
            <a:ext cx="1977389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5" dirty="0">
                <a:latin typeface="Arial"/>
                <a:cs typeface="Arial"/>
              </a:rPr>
              <a:t>Optical Sensor</a:t>
            </a:r>
            <a:r>
              <a:rPr sz="1600" spc="-45" dirty="0">
                <a:latin typeface="Arial"/>
                <a:cs typeface="Arial"/>
              </a:rPr>
              <a:t> </a:t>
            </a:r>
            <a:r>
              <a:rPr sz="1600" spc="-5" dirty="0">
                <a:latin typeface="Arial"/>
                <a:cs typeface="Arial"/>
              </a:rPr>
              <a:t>Image</a:t>
            </a:r>
            <a:endParaRPr sz="16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006210" y="3695446"/>
            <a:ext cx="301561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5" dirty="0">
                <a:latin typeface="Arial"/>
                <a:cs typeface="Arial"/>
              </a:rPr>
              <a:t>Registered Optical Sensor Image</a:t>
            </a:r>
            <a:endParaRPr sz="16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1554" y="5814805"/>
            <a:ext cx="8801735" cy="716280"/>
          </a:xfrm>
          <a:prstGeom prst="rect">
            <a:avLst/>
          </a:prstGeom>
        </p:spPr>
        <p:txBody>
          <a:bodyPr vert="horz" wrap="square" lIns="0" tIns="93345" rIns="0" bIns="0" rtlCol="0">
            <a:spAutoFit/>
          </a:bodyPr>
          <a:lstStyle/>
          <a:p>
            <a:pPr marL="3589020">
              <a:lnSpc>
                <a:spcPct val="100000"/>
              </a:lnSpc>
              <a:spcBef>
                <a:spcPts val="735"/>
              </a:spcBef>
              <a:tabLst>
                <a:tab pos="6012180" algn="l"/>
              </a:tabLst>
            </a:pPr>
            <a:r>
              <a:rPr sz="1600" spc="-5" dirty="0">
                <a:latin typeface="Arial"/>
                <a:cs typeface="Arial"/>
              </a:rPr>
              <a:t>SAR Sensor</a:t>
            </a:r>
            <a:r>
              <a:rPr sz="1600" spc="5" dirty="0">
                <a:latin typeface="Arial"/>
                <a:cs typeface="Arial"/>
              </a:rPr>
              <a:t> </a:t>
            </a:r>
            <a:r>
              <a:rPr sz="1600" spc="-5" dirty="0">
                <a:latin typeface="Arial"/>
                <a:cs typeface="Arial"/>
              </a:rPr>
              <a:t>Image	Registered SAR Sensor</a:t>
            </a:r>
            <a:r>
              <a:rPr sz="1600" spc="-45" dirty="0">
                <a:latin typeface="Arial"/>
                <a:cs typeface="Arial"/>
              </a:rPr>
              <a:t> </a:t>
            </a:r>
            <a:r>
              <a:rPr sz="1600" dirty="0">
                <a:latin typeface="Arial"/>
                <a:cs typeface="Arial"/>
              </a:rPr>
              <a:t>Image</a:t>
            </a:r>
            <a:endParaRPr sz="1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720"/>
              </a:spcBef>
            </a:pPr>
            <a:r>
              <a:rPr sz="1800" spc="-10" dirty="0">
                <a:latin typeface="Carlito"/>
                <a:cs typeface="Carlito"/>
              </a:rPr>
              <a:t>(Source: </a:t>
            </a:r>
            <a:r>
              <a:rPr sz="1800" spc="-5" dirty="0">
                <a:latin typeface="Carlito"/>
                <a:cs typeface="Carlito"/>
              </a:rPr>
              <a:t>Original Image of </a:t>
            </a:r>
            <a:r>
              <a:rPr sz="1800" spc="-10" dirty="0">
                <a:latin typeface="Carlito"/>
                <a:cs typeface="Carlito"/>
              </a:rPr>
              <a:t>Muara </a:t>
            </a:r>
            <a:r>
              <a:rPr sz="1800" spc="-5" dirty="0">
                <a:latin typeface="Carlito"/>
                <a:cs typeface="Carlito"/>
              </a:rPr>
              <a:t>Sekampung, </a:t>
            </a:r>
            <a:r>
              <a:rPr sz="1800" spc="-25" dirty="0">
                <a:latin typeface="Carlito"/>
                <a:cs typeface="Carlito"/>
              </a:rPr>
              <a:t>BAKOSURTANAL </a:t>
            </a:r>
            <a:r>
              <a:rPr sz="1800" dirty="0">
                <a:latin typeface="Carlito"/>
                <a:cs typeface="Carlito"/>
              </a:rPr>
              <a:t>RI; </a:t>
            </a:r>
            <a:r>
              <a:rPr sz="1800" spc="-10" dirty="0">
                <a:latin typeface="Carlito"/>
                <a:cs typeface="Carlito"/>
              </a:rPr>
              <a:t>Processed </a:t>
            </a:r>
            <a:r>
              <a:rPr sz="1800" spc="-5" dirty="0">
                <a:latin typeface="Carlito"/>
                <a:cs typeface="Carlito"/>
              </a:rPr>
              <a:t>Images, </a:t>
            </a:r>
            <a:r>
              <a:rPr sz="1800" spc="5" dirty="0">
                <a:latin typeface="Carlito"/>
                <a:cs typeface="Carlito"/>
              </a:rPr>
              <a:t>A.</a:t>
            </a:r>
            <a:r>
              <a:rPr sz="1800" spc="185" dirty="0">
                <a:latin typeface="Carlito"/>
                <a:cs typeface="Carlito"/>
              </a:rPr>
              <a:t> </a:t>
            </a:r>
            <a:r>
              <a:rPr sz="1800" spc="-5" dirty="0">
                <a:latin typeface="Carlito"/>
                <a:cs typeface="Carlito"/>
              </a:rPr>
              <a:t>Murni,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1554" y="6505447"/>
            <a:ext cx="5581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" dirty="0">
                <a:latin typeface="Carlito"/>
                <a:cs typeface="Carlito"/>
              </a:rPr>
              <a:t>1996)</a:t>
            </a:r>
            <a:endParaRPr sz="1800">
              <a:latin typeface="Carlito"/>
              <a:cs typeface="Carlito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726169" y="51053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5" dirty="0">
                <a:latin typeface="Carlito"/>
                <a:cs typeface="Carlito"/>
              </a:rPr>
              <a:t>12</a:t>
            </a:r>
            <a:endParaRPr sz="1400">
              <a:latin typeface="Carlito"/>
              <a:cs typeface="Carlito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707542" y="6451193"/>
            <a:ext cx="4643755" cy="1513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098165" algn="l"/>
              </a:tabLst>
            </a:pPr>
            <a:r>
              <a:rPr sz="900" spc="-5" dirty="0">
                <a:solidFill>
                  <a:srgbClr val="888888"/>
                </a:solidFill>
                <a:latin typeface="Carlito"/>
                <a:cs typeface="Carlito"/>
              </a:rPr>
              <a:t>	Pengolahan Citra </a:t>
            </a:r>
            <a:r>
              <a:rPr sz="900" dirty="0">
                <a:solidFill>
                  <a:srgbClr val="888888"/>
                </a:solidFill>
                <a:latin typeface="Carlito"/>
                <a:cs typeface="Carlito"/>
              </a:rPr>
              <a:t>-</a:t>
            </a:r>
            <a:r>
              <a:rPr sz="900" spc="-45" dirty="0">
                <a:solidFill>
                  <a:srgbClr val="888888"/>
                </a:solidFill>
                <a:latin typeface="Carlito"/>
                <a:cs typeface="Carlito"/>
              </a:rPr>
              <a:t> </a:t>
            </a:r>
            <a:r>
              <a:rPr sz="900" spc="-5" dirty="0">
                <a:solidFill>
                  <a:srgbClr val="888888"/>
                </a:solidFill>
                <a:latin typeface="Carlito"/>
                <a:cs typeface="Carlito"/>
              </a:rPr>
              <a:t>Fundamentals</a:t>
            </a:r>
            <a:endParaRPr sz="900" dirty="0">
              <a:latin typeface="Carlito"/>
              <a:cs typeface="Carlito"/>
            </a:endParaRPr>
          </a:p>
        </p:txBody>
      </p:sp>
    </p:spTree>
    <p:extLst>
      <p:ext uri="{BB962C8B-B14F-4D97-AF65-F5344CB8AC3E}">
        <p14:creationId xmlns:p14="http://schemas.microsoft.com/office/powerpoint/2010/main" val="11339343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sz="3600" spc="-235" dirty="0"/>
              <a:t>Image</a:t>
            </a:r>
            <a:r>
              <a:rPr sz="3600" spc="-195" dirty="0"/>
              <a:t> </a:t>
            </a:r>
            <a:r>
              <a:rPr sz="3600" spc="-135" dirty="0"/>
              <a:t>Acquisition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707542" y="1780308"/>
            <a:ext cx="6164580" cy="14744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84785" indent="-1727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10" dirty="0">
                <a:latin typeface="Carlito"/>
                <a:cs typeface="Carlito"/>
              </a:rPr>
              <a:t>Proses akuisisi citra </a:t>
            </a:r>
            <a:r>
              <a:rPr sz="2400" spc="-5" dirty="0">
                <a:latin typeface="Carlito"/>
                <a:cs typeface="Carlito"/>
              </a:rPr>
              <a:t>membutuhkan </a:t>
            </a:r>
            <a:r>
              <a:rPr sz="2400" dirty="0">
                <a:latin typeface="Carlito"/>
                <a:cs typeface="Carlito"/>
              </a:rPr>
              <a:t>3</a:t>
            </a:r>
            <a:r>
              <a:rPr sz="2400" spc="-50" dirty="0">
                <a:latin typeface="Carlito"/>
                <a:cs typeface="Carlito"/>
              </a:rPr>
              <a:t> </a:t>
            </a:r>
            <a:r>
              <a:rPr sz="2400" spc="-15" dirty="0">
                <a:latin typeface="Carlito"/>
                <a:cs typeface="Carlito"/>
              </a:rPr>
              <a:t>komponen:</a:t>
            </a:r>
            <a:endParaRPr sz="2400">
              <a:latin typeface="Carlito"/>
              <a:cs typeface="Carlito"/>
            </a:endParaRPr>
          </a:p>
          <a:p>
            <a:pPr marL="527685" lvl="1" indent="-172720">
              <a:lnSpc>
                <a:spcPct val="100000"/>
              </a:lnSpc>
              <a:spcBef>
                <a:spcPts val="155"/>
              </a:spcBef>
              <a:buFont typeface="Arial"/>
              <a:buChar char="•"/>
              <a:tabLst>
                <a:tab pos="528320" algn="l"/>
              </a:tabLst>
            </a:pPr>
            <a:r>
              <a:rPr sz="2200" i="1" spc="-10" dirty="0">
                <a:latin typeface="Carlito"/>
                <a:cs typeface="Carlito"/>
              </a:rPr>
              <a:t>Scene</a:t>
            </a:r>
            <a:endParaRPr sz="2200">
              <a:latin typeface="Carlito"/>
              <a:cs typeface="Carlito"/>
            </a:endParaRPr>
          </a:p>
          <a:p>
            <a:pPr marL="527685" lvl="1" indent="-172720">
              <a:lnSpc>
                <a:spcPct val="100000"/>
              </a:lnSpc>
              <a:spcBef>
                <a:spcPts val="130"/>
              </a:spcBef>
              <a:buFont typeface="Arial"/>
              <a:buChar char="•"/>
              <a:tabLst>
                <a:tab pos="528320" algn="l"/>
              </a:tabLst>
            </a:pPr>
            <a:r>
              <a:rPr sz="2200" spc="-15" dirty="0">
                <a:latin typeface="Carlito"/>
                <a:cs typeface="Carlito"/>
              </a:rPr>
              <a:t>Light</a:t>
            </a:r>
            <a:r>
              <a:rPr sz="2200" spc="-10" dirty="0">
                <a:latin typeface="Carlito"/>
                <a:cs typeface="Carlito"/>
              </a:rPr>
              <a:t> source</a:t>
            </a:r>
            <a:endParaRPr sz="2200">
              <a:latin typeface="Carlito"/>
              <a:cs typeface="Carlito"/>
            </a:endParaRPr>
          </a:p>
          <a:p>
            <a:pPr marL="527685" lvl="1" indent="-172720">
              <a:lnSpc>
                <a:spcPct val="100000"/>
              </a:lnSpc>
              <a:spcBef>
                <a:spcPts val="145"/>
              </a:spcBef>
              <a:buFont typeface="Arial"/>
              <a:buChar char="•"/>
              <a:tabLst>
                <a:tab pos="528320" algn="l"/>
              </a:tabLst>
            </a:pPr>
            <a:r>
              <a:rPr sz="2200" spc="-5" dirty="0">
                <a:latin typeface="Carlito"/>
                <a:cs typeface="Carlito"/>
              </a:rPr>
              <a:t>Sensor</a:t>
            </a:r>
            <a:endParaRPr sz="2200">
              <a:latin typeface="Carlito"/>
              <a:cs typeface="Carlito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536388" y="3681442"/>
            <a:ext cx="2171306" cy="244126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3994284" y="2758439"/>
            <a:ext cx="1434209" cy="1283208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6513576" y="3898391"/>
            <a:ext cx="1703831" cy="1133856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6467855" y="5076969"/>
            <a:ext cx="1744937" cy="1162765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8726169" y="51053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5" dirty="0">
                <a:latin typeface="Carlito"/>
                <a:cs typeface="Carlito"/>
              </a:rPr>
              <a:t>15</a:t>
            </a:r>
            <a:endParaRPr sz="1400">
              <a:latin typeface="Carlito"/>
              <a:cs typeface="Carlito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spc="-5" dirty="0"/>
              <a:t>Pengolahan Citra </a:t>
            </a:r>
            <a:r>
              <a:rPr dirty="0"/>
              <a:t>-</a:t>
            </a:r>
            <a:r>
              <a:rPr spc="-50" dirty="0"/>
              <a:t> </a:t>
            </a:r>
            <a:r>
              <a:rPr spc="-5" dirty="0"/>
              <a:t>Fundamentals</a:t>
            </a:r>
          </a:p>
        </p:txBody>
      </p:sp>
    </p:spTree>
    <p:extLst>
      <p:ext uri="{BB962C8B-B14F-4D97-AF65-F5344CB8AC3E}">
        <p14:creationId xmlns:p14="http://schemas.microsoft.com/office/powerpoint/2010/main" val="33590387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910839" y="1690116"/>
            <a:ext cx="6233159" cy="4233672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sz="3600" spc="-10" dirty="0"/>
              <a:t>Digital</a:t>
            </a:r>
            <a:r>
              <a:rPr sz="3600" spc="10" dirty="0"/>
              <a:t> </a:t>
            </a:r>
            <a:r>
              <a:rPr sz="3600" spc="-10" dirty="0"/>
              <a:t>Images</a:t>
            </a:r>
            <a:endParaRPr sz="3600"/>
          </a:p>
        </p:txBody>
      </p:sp>
      <p:sp>
        <p:nvSpPr>
          <p:cNvPr id="4" name="object 4"/>
          <p:cNvSpPr txBox="1"/>
          <p:nvPr/>
        </p:nvSpPr>
        <p:spPr>
          <a:xfrm>
            <a:off x="8693911" y="54356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5" dirty="0">
                <a:latin typeface="Calibri"/>
                <a:cs typeface="Calibri"/>
              </a:rPr>
              <a:t>31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771333" y="2686671"/>
            <a:ext cx="1622681" cy="1828531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985516" y="1866900"/>
            <a:ext cx="1575816" cy="1106424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spc="-5" dirty="0"/>
              <a:t>Pengolahan Citra </a:t>
            </a:r>
            <a:r>
              <a:rPr dirty="0"/>
              <a:t>- </a:t>
            </a:r>
            <a:r>
              <a:rPr spc="-5" dirty="0"/>
              <a:t>Image</a:t>
            </a:r>
            <a:r>
              <a:rPr spc="-30" dirty="0"/>
              <a:t> </a:t>
            </a:r>
            <a:r>
              <a:rPr spc="-5" dirty="0"/>
              <a:t>Acquisition</a:t>
            </a:r>
          </a:p>
        </p:txBody>
      </p:sp>
    </p:spTree>
    <p:extLst>
      <p:ext uri="{BB962C8B-B14F-4D97-AF65-F5344CB8AC3E}">
        <p14:creationId xmlns:p14="http://schemas.microsoft.com/office/powerpoint/2010/main" val="30403298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365759"/>
            <a:ext cx="9144000" cy="1324610"/>
          </a:xfrm>
          <a:custGeom>
            <a:avLst/>
            <a:gdLst/>
            <a:ahLst/>
            <a:cxnLst/>
            <a:rect l="l" t="t" r="r" b="b"/>
            <a:pathLst>
              <a:path w="9144000" h="1324610">
                <a:moveTo>
                  <a:pt x="0" y="1324356"/>
                </a:moveTo>
                <a:lnTo>
                  <a:pt x="9144000" y="1324356"/>
                </a:lnTo>
                <a:lnTo>
                  <a:pt x="9144000" y="0"/>
                </a:lnTo>
                <a:lnTo>
                  <a:pt x="0" y="0"/>
                </a:lnTo>
                <a:lnTo>
                  <a:pt x="0" y="1324356"/>
                </a:lnTo>
                <a:close/>
              </a:path>
            </a:pathLst>
          </a:custGeom>
          <a:solidFill>
            <a:srgbClr val="A4B59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0" y="375704"/>
            <a:ext cx="9144000" cy="1324610"/>
          </a:xfrm>
          <a:prstGeom prst="rect">
            <a:avLst/>
          </a:prstGeom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sz="3600" spc="-20" dirty="0"/>
              <a:t>Citra</a:t>
            </a:r>
            <a:r>
              <a:rPr sz="3600" spc="10" dirty="0"/>
              <a:t> </a:t>
            </a:r>
            <a:r>
              <a:rPr sz="3600" spc="-10" dirty="0"/>
              <a:t>Dijital</a:t>
            </a:r>
            <a:endParaRPr sz="3600" dirty="0"/>
          </a:p>
        </p:txBody>
      </p:sp>
      <p:sp>
        <p:nvSpPr>
          <p:cNvPr id="5" name="object 5"/>
          <p:cNvSpPr/>
          <p:nvPr/>
        </p:nvSpPr>
        <p:spPr>
          <a:xfrm>
            <a:off x="301313" y="2147290"/>
            <a:ext cx="3574676" cy="158808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5176063" y="2286000"/>
            <a:ext cx="3023742" cy="1387352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537180" y="4308159"/>
            <a:ext cx="3308010" cy="1611056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4615048" y="4324567"/>
            <a:ext cx="4132612" cy="1477218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1752600" y="2895600"/>
            <a:ext cx="762000" cy="304800"/>
          </a:xfrm>
          <a:prstGeom prst="rect">
            <a:avLst/>
          </a:prstGeom>
          <a:solidFill>
            <a:srgbClr val="FFFFFF"/>
          </a:solidFill>
          <a:ln w="12191">
            <a:solidFill>
              <a:srgbClr val="000000"/>
            </a:solidFill>
          </a:ln>
        </p:spPr>
        <p:txBody>
          <a:bodyPr vert="horz" wrap="square" lIns="0" tIns="41910" rIns="0" bIns="0" rtlCol="0">
            <a:spAutoFit/>
          </a:bodyPr>
          <a:lstStyle/>
          <a:p>
            <a:pPr marL="91440">
              <a:lnSpc>
                <a:spcPct val="100000"/>
              </a:lnSpc>
              <a:spcBef>
                <a:spcPts val="330"/>
              </a:spcBef>
            </a:pPr>
            <a:r>
              <a:rPr sz="1200" spc="-5" dirty="0">
                <a:latin typeface="Arial"/>
                <a:cs typeface="Arial"/>
              </a:rPr>
              <a:t>Sampler</a:t>
            </a:r>
            <a:endParaRPr sz="12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35128" y="3755263"/>
            <a:ext cx="127889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5" dirty="0">
                <a:latin typeface="Arial"/>
                <a:cs typeface="Arial"/>
              </a:rPr>
              <a:t>Citra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spc="-5" dirty="0">
                <a:latin typeface="Arial"/>
                <a:cs typeface="Arial"/>
              </a:rPr>
              <a:t>kontinue</a:t>
            </a:r>
            <a:endParaRPr sz="16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878963" y="3755263"/>
            <a:ext cx="97472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5" dirty="0">
                <a:latin typeface="Arial"/>
                <a:cs typeface="Arial"/>
              </a:rPr>
              <a:t>Citra</a:t>
            </a:r>
            <a:r>
              <a:rPr sz="1600" spc="-45" dirty="0">
                <a:latin typeface="Arial"/>
                <a:cs typeface="Arial"/>
              </a:rPr>
              <a:t> </a:t>
            </a:r>
            <a:r>
              <a:rPr sz="1600" spc="-5" dirty="0">
                <a:latin typeface="Arial"/>
                <a:cs typeface="Arial"/>
              </a:rPr>
              <a:t>dijital</a:t>
            </a:r>
            <a:endParaRPr sz="16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108828" y="3755263"/>
            <a:ext cx="323215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5" dirty="0">
                <a:latin typeface="Arial"/>
                <a:cs typeface="Arial"/>
              </a:rPr>
              <a:t>Matriks citra dengan </a:t>
            </a:r>
            <a:r>
              <a:rPr sz="1600" spc="-10" dirty="0">
                <a:latin typeface="Arial"/>
                <a:cs typeface="Arial"/>
              </a:rPr>
              <a:t>obyek </a:t>
            </a:r>
            <a:r>
              <a:rPr sz="1600" spc="-5" dirty="0">
                <a:latin typeface="Arial"/>
                <a:cs typeface="Arial"/>
              </a:rPr>
              <a:t>angka</a:t>
            </a:r>
            <a:r>
              <a:rPr sz="1600" spc="45" dirty="0">
                <a:latin typeface="Arial"/>
                <a:cs typeface="Arial"/>
              </a:rPr>
              <a:t> </a:t>
            </a:r>
            <a:r>
              <a:rPr sz="1600" spc="-5" dirty="0">
                <a:latin typeface="Arial"/>
                <a:cs typeface="Arial"/>
              </a:rPr>
              <a:t>5</a:t>
            </a:r>
            <a:endParaRPr sz="16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46379" y="5844946"/>
            <a:ext cx="1736089" cy="6172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540">
              <a:lnSpc>
                <a:spcPct val="121200"/>
              </a:lnSpc>
              <a:spcBef>
                <a:spcPts val="100"/>
              </a:spcBef>
            </a:pPr>
            <a:r>
              <a:rPr sz="1600" b="1" spc="-5" dirty="0">
                <a:solidFill>
                  <a:srgbClr val="006FC0"/>
                </a:solidFill>
                <a:latin typeface="Arial"/>
                <a:cs typeface="Arial"/>
              </a:rPr>
              <a:t>Resolusi spasial </a:t>
            </a:r>
            <a:r>
              <a:rPr sz="1600" spc="-5" dirty="0">
                <a:latin typeface="Arial"/>
                <a:cs typeface="Arial"/>
              </a:rPr>
              <a:t>:  </a:t>
            </a:r>
            <a:r>
              <a:rPr sz="1600" spc="-15" dirty="0">
                <a:latin typeface="Arial"/>
                <a:cs typeface="Arial"/>
              </a:rPr>
              <a:t>Tinggi </a:t>
            </a:r>
            <a:r>
              <a:rPr sz="1600" spc="-5" dirty="0">
                <a:latin typeface="Arial"/>
                <a:cs typeface="Arial"/>
              </a:rPr>
              <a:t>(16 x</a:t>
            </a:r>
            <a:r>
              <a:rPr sz="1600" spc="-10" dirty="0">
                <a:latin typeface="Arial"/>
                <a:cs typeface="Arial"/>
              </a:rPr>
              <a:t> </a:t>
            </a:r>
            <a:r>
              <a:rPr sz="1600" spc="-5" dirty="0">
                <a:latin typeface="Arial"/>
                <a:cs typeface="Arial"/>
              </a:rPr>
              <a:t>16)</a:t>
            </a:r>
            <a:endParaRPr sz="16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2448020" y="6193027"/>
            <a:ext cx="136969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5" dirty="0">
                <a:latin typeface="Arial"/>
                <a:cs typeface="Arial"/>
              </a:rPr>
              <a:t>Rendah (8 x</a:t>
            </a:r>
            <a:r>
              <a:rPr sz="1600" spc="-40" dirty="0">
                <a:latin typeface="Arial"/>
                <a:cs typeface="Arial"/>
              </a:rPr>
              <a:t> </a:t>
            </a:r>
            <a:r>
              <a:rPr sz="1600" spc="-5" dirty="0">
                <a:latin typeface="Arial"/>
                <a:cs typeface="Arial"/>
              </a:rPr>
              <a:t>8)</a:t>
            </a:r>
            <a:endParaRPr sz="16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651375" y="5844946"/>
            <a:ext cx="1991995" cy="6172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6725" marR="5080" indent="-454659">
              <a:lnSpc>
                <a:spcPct val="121200"/>
              </a:lnSpc>
              <a:spcBef>
                <a:spcPts val="100"/>
              </a:spcBef>
            </a:pPr>
            <a:r>
              <a:rPr sz="1600" b="1" spc="-5" dirty="0">
                <a:solidFill>
                  <a:srgbClr val="006FC0"/>
                </a:solidFill>
                <a:latin typeface="Arial"/>
                <a:cs typeface="Arial"/>
              </a:rPr>
              <a:t>Resolusi intensitas </a:t>
            </a:r>
            <a:r>
              <a:rPr sz="1600" spc="-5" dirty="0">
                <a:latin typeface="Arial"/>
                <a:cs typeface="Arial"/>
              </a:rPr>
              <a:t>:  </a:t>
            </a:r>
            <a:r>
              <a:rPr sz="1600" spc="-15" dirty="0">
                <a:latin typeface="Arial"/>
                <a:cs typeface="Arial"/>
              </a:rPr>
              <a:t>Tinggi</a:t>
            </a:r>
            <a:r>
              <a:rPr sz="1600" spc="-20" dirty="0">
                <a:latin typeface="Arial"/>
                <a:cs typeface="Arial"/>
              </a:rPr>
              <a:t> </a:t>
            </a:r>
            <a:r>
              <a:rPr sz="1600" spc="-5" dirty="0">
                <a:latin typeface="Arial"/>
                <a:cs typeface="Arial"/>
              </a:rPr>
              <a:t>(4)</a:t>
            </a:r>
            <a:endParaRPr sz="16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7451597" y="6193027"/>
            <a:ext cx="104140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5" dirty="0">
                <a:latin typeface="Arial"/>
                <a:cs typeface="Arial"/>
              </a:rPr>
              <a:t>Rendah</a:t>
            </a:r>
            <a:r>
              <a:rPr sz="1600" spc="-55" dirty="0">
                <a:latin typeface="Arial"/>
                <a:cs typeface="Arial"/>
              </a:rPr>
              <a:t> </a:t>
            </a:r>
            <a:r>
              <a:rPr sz="1600" spc="-5" dirty="0">
                <a:latin typeface="Arial"/>
                <a:cs typeface="Arial"/>
              </a:rPr>
              <a:t>(2)</a:t>
            </a:r>
            <a:endParaRPr sz="1600">
              <a:latin typeface="Arial"/>
              <a:cs typeface="Arial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1371600" y="5715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228600"/>
                </a:moveTo>
                <a:lnTo>
                  <a:pt x="228600" y="228600"/>
                </a:lnTo>
                <a:lnTo>
                  <a:pt x="228600" y="0"/>
                </a:lnTo>
                <a:lnTo>
                  <a:pt x="0" y="0"/>
                </a:lnTo>
                <a:lnTo>
                  <a:pt x="0" y="22860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371600" y="5715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228600" h="228600">
                <a:moveTo>
                  <a:pt x="0" y="228600"/>
                </a:moveTo>
                <a:lnTo>
                  <a:pt x="228600" y="228600"/>
                </a:lnTo>
                <a:lnTo>
                  <a:pt x="228600" y="0"/>
                </a:lnTo>
                <a:lnTo>
                  <a:pt x="0" y="0"/>
                </a:lnTo>
                <a:lnTo>
                  <a:pt x="0" y="228600"/>
                </a:lnTo>
                <a:close/>
              </a:path>
            </a:pathLst>
          </a:custGeom>
          <a:ln w="12192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3505200" y="5715000"/>
            <a:ext cx="381000" cy="228600"/>
          </a:xfrm>
          <a:custGeom>
            <a:avLst/>
            <a:gdLst/>
            <a:ahLst/>
            <a:cxnLst/>
            <a:rect l="l" t="t" r="r" b="b"/>
            <a:pathLst>
              <a:path w="381000" h="228600">
                <a:moveTo>
                  <a:pt x="0" y="228600"/>
                </a:moveTo>
                <a:lnTo>
                  <a:pt x="381000" y="228600"/>
                </a:lnTo>
                <a:lnTo>
                  <a:pt x="381000" y="0"/>
                </a:lnTo>
                <a:lnTo>
                  <a:pt x="0" y="0"/>
                </a:lnTo>
                <a:lnTo>
                  <a:pt x="0" y="22860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3505200" y="5715000"/>
            <a:ext cx="381000" cy="228600"/>
          </a:xfrm>
          <a:custGeom>
            <a:avLst/>
            <a:gdLst/>
            <a:ahLst/>
            <a:cxnLst/>
            <a:rect l="l" t="t" r="r" b="b"/>
            <a:pathLst>
              <a:path w="381000" h="228600">
                <a:moveTo>
                  <a:pt x="0" y="228600"/>
                </a:moveTo>
                <a:lnTo>
                  <a:pt x="381000" y="228600"/>
                </a:lnTo>
                <a:lnTo>
                  <a:pt x="381000" y="0"/>
                </a:lnTo>
                <a:lnTo>
                  <a:pt x="0" y="0"/>
                </a:lnTo>
                <a:lnTo>
                  <a:pt x="0" y="228600"/>
                </a:lnTo>
                <a:close/>
              </a:path>
            </a:pathLst>
          </a:custGeom>
          <a:ln w="12192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6096000" y="5562600"/>
            <a:ext cx="381000" cy="304800"/>
          </a:xfrm>
          <a:custGeom>
            <a:avLst/>
            <a:gdLst/>
            <a:ahLst/>
            <a:cxnLst/>
            <a:rect l="l" t="t" r="r" b="b"/>
            <a:pathLst>
              <a:path w="381000" h="304800">
                <a:moveTo>
                  <a:pt x="0" y="304800"/>
                </a:moveTo>
                <a:lnTo>
                  <a:pt x="381000" y="304800"/>
                </a:lnTo>
                <a:lnTo>
                  <a:pt x="381000" y="0"/>
                </a:lnTo>
                <a:lnTo>
                  <a:pt x="0" y="0"/>
                </a:lnTo>
                <a:lnTo>
                  <a:pt x="0" y="304800"/>
                </a:lnTo>
                <a:close/>
              </a:path>
            </a:pathLst>
          </a:custGeom>
          <a:ln w="12192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8382000" y="5562600"/>
            <a:ext cx="457200" cy="304800"/>
          </a:xfrm>
          <a:custGeom>
            <a:avLst/>
            <a:gdLst/>
            <a:ahLst/>
            <a:cxnLst/>
            <a:rect l="l" t="t" r="r" b="b"/>
            <a:pathLst>
              <a:path w="457200" h="304800">
                <a:moveTo>
                  <a:pt x="0" y="304800"/>
                </a:moveTo>
                <a:lnTo>
                  <a:pt x="457200" y="304800"/>
                </a:lnTo>
                <a:lnTo>
                  <a:pt x="457200" y="0"/>
                </a:lnTo>
                <a:lnTo>
                  <a:pt x="0" y="0"/>
                </a:lnTo>
                <a:lnTo>
                  <a:pt x="0" y="30480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8382000" y="5562600"/>
            <a:ext cx="457200" cy="304800"/>
          </a:xfrm>
          <a:custGeom>
            <a:avLst/>
            <a:gdLst/>
            <a:ahLst/>
            <a:cxnLst/>
            <a:rect l="l" t="t" r="r" b="b"/>
            <a:pathLst>
              <a:path w="457200" h="304800">
                <a:moveTo>
                  <a:pt x="0" y="304800"/>
                </a:moveTo>
                <a:lnTo>
                  <a:pt x="457200" y="304800"/>
                </a:lnTo>
                <a:lnTo>
                  <a:pt x="457200" y="0"/>
                </a:lnTo>
                <a:lnTo>
                  <a:pt x="0" y="0"/>
                </a:lnTo>
                <a:lnTo>
                  <a:pt x="0" y="304800"/>
                </a:lnTo>
                <a:close/>
              </a:path>
            </a:pathLst>
          </a:custGeom>
          <a:ln w="12192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8693911" y="54356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5" dirty="0">
                <a:latin typeface="Calibri"/>
                <a:cs typeface="Calibri"/>
              </a:rPr>
              <a:t>33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26" name="object 26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spc="-5" dirty="0"/>
              <a:t>Pengolahan Citra </a:t>
            </a:r>
            <a:r>
              <a:rPr dirty="0"/>
              <a:t>- </a:t>
            </a:r>
            <a:r>
              <a:rPr spc="-5" dirty="0"/>
              <a:t>Image</a:t>
            </a:r>
            <a:r>
              <a:rPr spc="-30" dirty="0"/>
              <a:t> </a:t>
            </a:r>
            <a:r>
              <a:rPr spc="-5" dirty="0"/>
              <a:t>Acquisition</a:t>
            </a:r>
          </a:p>
        </p:txBody>
      </p:sp>
    </p:spTree>
    <p:extLst>
      <p:ext uri="{BB962C8B-B14F-4D97-AF65-F5344CB8AC3E}">
        <p14:creationId xmlns:p14="http://schemas.microsoft.com/office/powerpoint/2010/main" val="316899634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365759"/>
            <a:ext cx="9144000" cy="1324610"/>
          </a:xfrm>
          <a:custGeom>
            <a:avLst/>
            <a:gdLst/>
            <a:ahLst/>
            <a:cxnLst/>
            <a:rect l="l" t="t" r="r" b="b"/>
            <a:pathLst>
              <a:path w="9144000" h="1324610">
                <a:moveTo>
                  <a:pt x="9144000" y="0"/>
                </a:moveTo>
                <a:lnTo>
                  <a:pt x="0" y="0"/>
                </a:lnTo>
                <a:lnTo>
                  <a:pt x="0" y="1324356"/>
                </a:lnTo>
                <a:lnTo>
                  <a:pt x="9144000" y="1324356"/>
                </a:lnTo>
                <a:lnTo>
                  <a:pt x="9144000" y="0"/>
                </a:lnTo>
                <a:close/>
              </a:path>
            </a:pathLst>
          </a:custGeom>
          <a:solidFill>
            <a:srgbClr val="A4B59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0" y="365759"/>
            <a:ext cx="9144000" cy="1324610"/>
          </a:xfrm>
          <a:custGeom>
            <a:avLst/>
            <a:gdLst/>
            <a:ahLst/>
            <a:cxnLst/>
            <a:rect l="l" t="t" r="r" b="b"/>
            <a:pathLst>
              <a:path w="9144000" h="1324610">
                <a:moveTo>
                  <a:pt x="0" y="1324356"/>
                </a:moveTo>
                <a:lnTo>
                  <a:pt x="9144000" y="1324356"/>
                </a:lnTo>
                <a:lnTo>
                  <a:pt x="9144000" y="0"/>
                </a:lnTo>
                <a:lnTo>
                  <a:pt x="0" y="0"/>
                </a:lnTo>
                <a:lnTo>
                  <a:pt x="0" y="1324356"/>
                </a:lnTo>
                <a:close/>
              </a:path>
            </a:pathLst>
          </a:custGeom>
          <a:ln w="12192">
            <a:solidFill>
              <a:srgbClr val="78846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0" y="5024628"/>
            <a:ext cx="9144000" cy="1332230"/>
          </a:xfrm>
          <a:custGeom>
            <a:avLst/>
            <a:gdLst/>
            <a:ahLst/>
            <a:cxnLst/>
            <a:rect l="l" t="t" r="r" b="b"/>
            <a:pathLst>
              <a:path w="9144000" h="1332229">
                <a:moveTo>
                  <a:pt x="9144000" y="0"/>
                </a:moveTo>
                <a:lnTo>
                  <a:pt x="0" y="0"/>
                </a:lnTo>
                <a:lnTo>
                  <a:pt x="0" y="1331976"/>
                </a:lnTo>
                <a:lnTo>
                  <a:pt x="9144000" y="1331976"/>
                </a:lnTo>
                <a:lnTo>
                  <a:pt x="9144000" y="0"/>
                </a:lnTo>
                <a:close/>
              </a:path>
            </a:pathLst>
          </a:custGeom>
          <a:solidFill>
            <a:srgbClr val="A4B59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0" y="5024628"/>
            <a:ext cx="9144000" cy="1332230"/>
          </a:xfrm>
          <a:custGeom>
            <a:avLst/>
            <a:gdLst/>
            <a:ahLst/>
            <a:cxnLst/>
            <a:rect l="l" t="t" r="r" b="b"/>
            <a:pathLst>
              <a:path w="9144000" h="1332229">
                <a:moveTo>
                  <a:pt x="0" y="1331976"/>
                </a:moveTo>
                <a:lnTo>
                  <a:pt x="9144000" y="1331976"/>
                </a:lnTo>
                <a:lnTo>
                  <a:pt x="9144000" y="0"/>
                </a:lnTo>
                <a:lnTo>
                  <a:pt x="0" y="0"/>
                </a:lnTo>
                <a:lnTo>
                  <a:pt x="0" y="1331976"/>
                </a:lnTo>
                <a:close/>
              </a:path>
            </a:pathLst>
          </a:custGeom>
          <a:ln w="12191">
            <a:solidFill>
              <a:srgbClr val="78846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xfrm>
            <a:off x="720242" y="437769"/>
            <a:ext cx="7125334" cy="1296702"/>
          </a:xfrm>
          <a:prstGeom prst="rect">
            <a:avLst/>
          </a:prstGeom>
        </p:spPr>
        <p:txBody>
          <a:bodyPr vert="horz" wrap="square" lIns="0" tIns="90170" rIns="0" bIns="0" rtlCol="0">
            <a:spAutoFit/>
          </a:bodyPr>
          <a:lstStyle/>
          <a:p>
            <a:pPr marL="5080" marR="5080" algn="ctr">
              <a:lnSpc>
                <a:spcPts val="4860"/>
              </a:lnSpc>
              <a:spcBef>
                <a:spcPts val="710"/>
              </a:spcBef>
            </a:pPr>
            <a:r>
              <a:rPr spc="-5" dirty="0"/>
              <a:t>Color Vision, Color</a:t>
            </a:r>
            <a:r>
              <a:rPr spc="-90" dirty="0"/>
              <a:t> </a:t>
            </a:r>
            <a:r>
              <a:rPr spc="-5" dirty="0"/>
              <a:t>Theory  </a:t>
            </a:r>
            <a:r>
              <a:rPr dirty="0"/>
              <a:t>and </a:t>
            </a:r>
            <a:r>
              <a:rPr spc="-5" dirty="0"/>
              <a:t>Color</a:t>
            </a:r>
            <a:r>
              <a:rPr spc="-45" dirty="0"/>
              <a:t> </a:t>
            </a:r>
            <a:r>
              <a:rPr dirty="0"/>
              <a:t>Models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262502E-BDC9-5445-95B1-C55EB244C6F2}"/>
              </a:ext>
            </a:extLst>
          </p:cNvPr>
          <p:cNvSpPr/>
          <p:nvPr/>
        </p:nvSpPr>
        <p:spPr>
          <a:xfrm>
            <a:off x="2895600" y="2971800"/>
            <a:ext cx="4572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pPr algn="r"/>
            <a:r>
              <a:rPr lang="en-ID" spc="-15">
                <a:latin typeface="Carlito"/>
                <a:cs typeface="Carlito"/>
              </a:rPr>
              <a:t>Pengantar Mata </a:t>
            </a:r>
            <a:r>
              <a:rPr lang="en-ID" spc="-10">
                <a:latin typeface="Carlito"/>
                <a:cs typeface="Carlito"/>
              </a:rPr>
              <a:t>Kuliah  Semester </a:t>
            </a:r>
            <a:r>
              <a:rPr lang="en-ID" spc="-5">
                <a:latin typeface="Carlito"/>
                <a:cs typeface="Carlito"/>
              </a:rPr>
              <a:t>Genap </a:t>
            </a:r>
            <a:r>
              <a:rPr lang="en-ID">
                <a:latin typeface="Carlito"/>
                <a:cs typeface="Carlito"/>
              </a:rPr>
              <a:t>2019/2020 </a:t>
            </a:r>
            <a:br>
              <a:rPr lang="en-ID">
                <a:latin typeface="Carlito"/>
                <a:cs typeface="Carlito"/>
              </a:rPr>
            </a:br>
            <a:r>
              <a:rPr lang="en-ID">
                <a:latin typeface="Carlito"/>
                <a:cs typeface="Carlito"/>
              </a:rPr>
              <a:t> </a:t>
            </a:r>
            <a:r>
              <a:rPr lang="en-ID" spc="-10">
                <a:latin typeface="Carlito"/>
                <a:cs typeface="Carlito"/>
              </a:rPr>
              <a:t>M.Naufal</a:t>
            </a:r>
            <a:br>
              <a:rPr lang="en-ID" spc="-10">
                <a:latin typeface="Carlito"/>
                <a:cs typeface="Carlito"/>
              </a:rPr>
            </a:br>
            <a:r>
              <a:rPr lang="en-ID" spc="-10">
                <a:latin typeface="Carlito"/>
                <a:cs typeface="Carlito"/>
              </a:rPr>
              <a:t>Politeknik Harapan Bersama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52129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sz="3600" spc="-5" dirty="0"/>
              <a:t>Color</a:t>
            </a:r>
            <a:r>
              <a:rPr sz="3600" spc="-20" dirty="0"/>
              <a:t> </a:t>
            </a:r>
            <a:r>
              <a:rPr sz="3600" spc="-10" dirty="0"/>
              <a:t>Vision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707542" y="1802333"/>
            <a:ext cx="315785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785" indent="-17272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10" dirty="0">
                <a:latin typeface="Calibri"/>
                <a:cs typeface="Calibri"/>
              </a:rPr>
              <a:t>Recall </a:t>
            </a:r>
            <a:r>
              <a:rPr sz="2400" spc="-5" dirty="0">
                <a:latin typeface="Calibri"/>
                <a:cs typeface="Calibri"/>
              </a:rPr>
              <a:t>image</a:t>
            </a:r>
            <a:r>
              <a:rPr sz="2400" spc="-1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acquisition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07542" y="5250941"/>
            <a:ext cx="62407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785" indent="-17272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10" dirty="0">
                <a:latin typeface="Calibri"/>
                <a:cs typeface="Calibri"/>
              </a:rPr>
              <a:t>Bagaimana </a:t>
            </a:r>
            <a:r>
              <a:rPr sz="2400" spc="-20" dirty="0">
                <a:latin typeface="Calibri"/>
                <a:cs typeface="Calibri"/>
              </a:rPr>
              <a:t>sifat cahaya </a:t>
            </a:r>
            <a:r>
              <a:rPr sz="2400" dirty="0">
                <a:latin typeface="Calibri"/>
                <a:cs typeface="Calibri"/>
              </a:rPr>
              <a:t>asal </a:t>
            </a:r>
            <a:r>
              <a:rPr sz="2400" spc="-5" dirty="0">
                <a:latin typeface="Calibri"/>
                <a:cs typeface="Calibri"/>
              </a:rPr>
              <a:t>dari sumber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spc="-15" dirty="0">
                <a:latin typeface="Calibri"/>
                <a:cs typeface="Calibri"/>
              </a:rPr>
              <a:t>cahaya?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783828" y="54356"/>
            <a:ext cx="11620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latin typeface="Calibri"/>
                <a:cs typeface="Calibri"/>
              </a:rPr>
              <a:t>3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867968" y="2301239"/>
            <a:ext cx="1435403" cy="1284731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6216396" y="3442715"/>
            <a:ext cx="1703831" cy="1132331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417319" y="3043427"/>
            <a:ext cx="1737360" cy="1879092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3155442" y="2870707"/>
            <a:ext cx="868680" cy="1113790"/>
          </a:xfrm>
          <a:custGeom>
            <a:avLst/>
            <a:gdLst/>
            <a:ahLst/>
            <a:cxnLst/>
            <a:rect l="l" t="t" r="r" b="b"/>
            <a:pathLst>
              <a:path w="868679" h="1113789">
                <a:moveTo>
                  <a:pt x="18922" y="1018158"/>
                </a:moveTo>
                <a:lnTo>
                  <a:pt x="0" y="1113408"/>
                </a:lnTo>
                <a:lnTo>
                  <a:pt x="87630" y="1071371"/>
                </a:lnTo>
                <a:lnTo>
                  <a:pt x="79595" y="1065148"/>
                </a:lnTo>
                <a:lnTo>
                  <a:pt x="55880" y="1065148"/>
                </a:lnTo>
                <a:lnTo>
                  <a:pt x="32893" y="1047368"/>
                </a:lnTo>
                <a:lnTo>
                  <a:pt x="41807" y="1035883"/>
                </a:lnTo>
                <a:lnTo>
                  <a:pt x="18922" y="1018158"/>
                </a:lnTo>
                <a:close/>
              </a:path>
              <a:path w="868679" h="1113789">
                <a:moveTo>
                  <a:pt x="41807" y="1035883"/>
                </a:moveTo>
                <a:lnTo>
                  <a:pt x="32893" y="1047368"/>
                </a:lnTo>
                <a:lnTo>
                  <a:pt x="55880" y="1065148"/>
                </a:lnTo>
                <a:lnTo>
                  <a:pt x="64782" y="1053676"/>
                </a:lnTo>
                <a:lnTo>
                  <a:pt x="41807" y="1035883"/>
                </a:lnTo>
                <a:close/>
              </a:path>
              <a:path w="868679" h="1113789">
                <a:moveTo>
                  <a:pt x="64782" y="1053676"/>
                </a:moveTo>
                <a:lnTo>
                  <a:pt x="55880" y="1065148"/>
                </a:lnTo>
                <a:lnTo>
                  <a:pt x="79595" y="1065148"/>
                </a:lnTo>
                <a:lnTo>
                  <a:pt x="64782" y="1053676"/>
                </a:lnTo>
                <a:close/>
              </a:path>
              <a:path w="868679" h="1113789">
                <a:moveTo>
                  <a:pt x="845819" y="0"/>
                </a:moveTo>
                <a:lnTo>
                  <a:pt x="41807" y="1035883"/>
                </a:lnTo>
                <a:lnTo>
                  <a:pt x="64782" y="1053676"/>
                </a:lnTo>
                <a:lnTo>
                  <a:pt x="868680" y="17779"/>
                </a:lnTo>
                <a:lnTo>
                  <a:pt x="845819" y="0"/>
                </a:lnTo>
                <a:close/>
              </a:path>
            </a:pathLst>
          </a:custGeom>
          <a:solidFill>
            <a:srgbClr val="21251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3155314" y="3965702"/>
            <a:ext cx="3061970" cy="86995"/>
          </a:xfrm>
          <a:custGeom>
            <a:avLst/>
            <a:gdLst/>
            <a:ahLst/>
            <a:cxnLst/>
            <a:rect l="l" t="t" r="r" b="b"/>
            <a:pathLst>
              <a:path w="3061970" h="86995">
                <a:moveTo>
                  <a:pt x="2975356" y="0"/>
                </a:moveTo>
                <a:lnTo>
                  <a:pt x="2975144" y="28963"/>
                </a:lnTo>
                <a:lnTo>
                  <a:pt x="2989580" y="29083"/>
                </a:lnTo>
                <a:lnTo>
                  <a:pt x="2989453" y="58039"/>
                </a:lnTo>
                <a:lnTo>
                  <a:pt x="2974931" y="58039"/>
                </a:lnTo>
                <a:lnTo>
                  <a:pt x="2974721" y="86868"/>
                </a:lnTo>
                <a:lnTo>
                  <a:pt x="3033580" y="58039"/>
                </a:lnTo>
                <a:lnTo>
                  <a:pt x="2989453" y="58039"/>
                </a:lnTo>
                <a:lnTo>
                  <a:pt x="3033825" y="57918"/>
                </a:lnTo>
                <a:lnTo>
                  <a:pt x="3061843" y="44196"/>
                </a:lnTo>
                <a:lnTo>
                  <a:pt x="2975356" y="0"/>
                </a:lnTo>
                <a:close/>
              </a:path>
              <a:path w="3061970" h="86995">
                <a:moveTo>
                  <a:pt x="2975144" y="28963"/>
                </a:moveTo>
                <a:lnTo>
                  <a:pt x="2974932" y="57918"/>
                </a:lnTo>
                <a:lnTo>
                  <a:pt x="2989453" y="58039"/>
                </a:lnTo>
                <a:lnTo>
                  <a:pt x="2989580" y="29083"/>
                </a:lnTo>
                <a:lnTo>
                  <a:pt x="2975144" y="28963"/>
                </a:lnTo>
                <a:close/>
              </a:path>
              <a:path w="3061970" h="86995">
                <a:moveTo>
                  <a:pt x="254" y="4318"/>
                </a:moveTo>
                <a:lnTo>
                  <a:pt x="0" y="33274"/>
                </a:lnTo>
                <a:lnTo>
                  <a:pt x="2974932" y="57918"/>
                </a:lnTo>
                <a:lnTo>
                  <a:pt x="2975144" y="28963"/>
                </a:lnTo>
                <a:lnTo>
                  <a:pt x="254" y="4318"/>
                </a:lnTo>
                <a:close/>
              </a:path>
            </a:pathLst>
          </a:custGeom>
          <a:solidFill>
            <a:srgbClr val="21251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7298402" y="2741818"/>
            <a:ext cx="1148715" cy="916305"/>
          </a:xfrm>
          <a:custGeom>
            <a:avLst/>
            <a:gdLst/>
            <a:ahLst/>
            <a:cxnLst/>
            <a:rect l="l" t="t" r="r" b="b"/>
            <a:pathLst>
              <a:path w="1148715" h="916304">
                <a:moveTo>
                  <a:pt x="707620" y="0"/>
                </a:moveTo>
                <a:lnTo>
                  <a:pt x="663529" y="6270"/>
                </a:lnTo>
                <a:lnTo>
                  <a:pt x="624843" y="30067"/>
                </a:lnTo>
                <a:lnTo>
                  <a:pt x="596552" y="69580"/>
                </a:lnTo>
                <a:lnTo>
                  <a:pt x="588984" y="62061"/>
                </a:lnTo>
                <a:lnTo>
                  <a:pt x="520722" y="27402"/>
                </a:lnTo>
                <a:lnTo>
                  <a:pt x="476925" y="26888"/>
                </a:lnTo>
                <a:lnTo>
                  <a:pt x="435433" y="40694"/>
                </a:lnTo>
                <a:lnTo>
                  <a:pt x="399409" y="67764"/>
                </a:lnTo>
                <a:lnTo>
                  <a:pt x="372016" y="107045"/>
                </a:lnTo>
                <a:lnTo>
                  <a:pt x="345094" y="93065"/>
                </a:lnTo>
                <a:lnTo>
                  <a:pt x="316565" y="84169"/>
                </a:lnTo>
                <a:lnTo>
                  <a:pt x="287059" y="80488"/>
                </a:lnTo>
                <a:lnTo>
                  <a:pt x="257208" y="82153"/>
                </a:lnTo>
                <a:lnTo>
                  <a:pt x="210821" y="96018"/>
                </a:lnTo>
                <a:lnTo>
                  <a:pt x="170806" y="121744"/>
                </a:lnTo>
                <a:lnTo>
                  <a:pt x="138622" y="157241"/>
                </a:lnTo>
                <a:lnTo>
                  <a:pt x="115730" y="200423"/>
                </a:lnTo>
                <a:lnTo>
                  <a:pt x="103591" y="249199"/>
                </a:lnTo>
                <a:lnTo>
                  <a:pt x="103665" y="301482"/>
                </a:lnTo>
                <a:lnTo>
                  <a:pt x="102649" y="304276"/>
                </a:lnTo>
                <a:lnTo>
                  <a:pt x="52008" y="323707"/>
                </a:lnTo>
                <a:lnTo>
                  <a:pt x="14892" y="365998"/>
                </a:lnTo>
                <a:lnTo>
                  <a:pt x="0" y="413341"/>
                </a:lnTo>
                <a:lnTo>
                  <a:pt x="2811" y="461565"/>
                </a:lnTo>
                <a:lnTo>
                  <a:pt x="21982" y="505122"/>
                </a:lnTo>
                <a:lnTo>
                  <a:pt x="56167" y="538464"/>
                </a:lnTo>
                <a:lnTo>
                  <a:pt x="41046" y="560355"/>
                </a:lnTo>
                <a:lnTo>
                  <a:pt x="30735" y="585009"/>
                </a:lnTo>
                <a:lnTo>
                  <a:pt x="25521" y="611473"/>
                </a:lnTo>
                <a:lnTo>
                  <a:pt x="25687" y="638794"/>
                </a:lnTo>
                <a:lnTo>
                  <a:pt x="40001" y="686163"/>
                </a:lnTo>
                <a:lnTo>
                  <a:pt x="68947" y="722661"/>
                </a:lnTo>
                <a:lnTo>
                  <a:pt x="108394" y="744753"/>
                </a:lnTo>
                <a:lnTo>
                  <a:pt x="154211" y="748903"/>
                </a:lnTo>
                <a:lnTo>
                  <a:pt x="155608" y="751570"/>
                </a:lnTo>
                <a:lnTo>
                  <a:pt x="185263" y="793724"/>
                </a:lnTo>
                <a:lnTo>
                  <a:pt x="220740" y="825391"/>
                </a:lnTo>
                <a:lnTo>
                  <a:pt x="261113" y="847379"/>
                </a:lnTo>
                <a:lnTo>
                  <a:pt x="304694" y="859225"/>
                </a:lnTo>
                <a:lnTo>
                  <a:pt x="349795" y="860467"/>
                </a:lnTo>
                <a:lnTo>
                  <a:pt x="394727" y="850644"/>
                </a:lnTo>
                <a:lnTo>
                  <a:pt x="437802" y="829294"/>
                </a:lnTo>
                <a:lnTo>
                  <a:pt x="457144" y="855557"/>
                </a:lnTo>
                <a:lnTo>
                  <a:pt x="480141" y="877665"/>
                </a:lnTo>
                <a:lnTo>
                  <a:pt x="506257" y="895177"/>
                </a:lnTo>
                <a:lnTo>
                  <a:pt x="534957" y="907653"/>
                </a:lnTo>
                <a:lnTo>
                  <a:pt x="582471" y="916063"/>
                </a:lnTo>
                <a:lnTo>
                  <a:pt x="628726" y="910757"/>
                </a:lnTo>
                <a:lnTo>
                  <a:pt x="671593" y="892984"/>
                </a:lnTo>
                <a:lnTo>
                  <a:pt x="708947" y="863993"/>
                </a:lnTo>
                <a:lnTo>
                  <a:pt x="738660" y="825032"/>
                </a:lnTo>
                <a:lnTo>
                  <a:pt x="758604" y="777351"/>
                </a:lnTo>
                <a:lnTo>
                  <a:pt x="777269" y="788122"/>
                </a:lnTo>
                <a:lnTo>
                  <a:pt x="797053" y="795988"/>
                </a:lnTo>
                <a:lnTo>
                  <a:pt x="817647" y="800854"/>
                </a:lnTo>
                <a:lnTo>
                  <a:pt x="838741" y="802624"/>
                </a:lnTo>
                <a:lnTo>
                  <a:pt x="887359" y="794558"/>
                </a:lnTo>
                <a:lnTo>
                  <a:pt x="929710" y="771258"/>
                </a:lnTo>
                <a:lnTo>
                  <a:pt x="963246" y="735443"/>
                </a:lnTo>
                <a:lnTo>
                  <a:pt x="985419" y="689831"/>
                </a:lnTo>
                <a:lnTo>
                  <a:pt x="993681" y="637143"/>
                </a:lnTo>
                <a:lnTo>
                  <a:pt x="1016283" y="632023"/>
                </a:lnTo>
                <a:lnTo>
                  <a:pt x="1058582" y="612640"/>
                </a:lnTo>
                <a:lnTo>
                  <a:pt x="1107603" y="567258"/>
                </a:lnTo>
                <a:lnTo>
                  <a:pt x="1129414" y="530532"/>
                </a:lnTo>
                <a:lnTo>
                  <a:pt x="1142986" y="490127"/>
                </a:lnTo>
                <a:lnTo>
                  <a:pt x="1148121" y="447686"/>
                </a:lnTo>
                <a:lnTo>
                  <a:pt x="1144619" y="404855"/>
                </a:lnTo>
                <a:lnTo>
                  <a:pt x="1132279" y="363277"/>
                </a:lnTo>
                <a:lnTo>
                  <a:pt x="1110902" y="324596"/>
                </a:lnTo>
                <a:lnTo>
                  <a:pt x="1113442" y="317992"/>
                </a:lnTo>
                <a:lnTo>
                  <a:pt x="1115601" y="311261"/>
                </a:lnTo>
                <a:lnTo>
                  <a:pt x="1117379" y="304276"/>
                </a:lnTo>
                <a:lnTo>
                  <a:pt x="1122180" y="255189"/>
                </a:lnTo>
                <a:lnTo>
                  <a:pt x="1112990" y="208607"/>
                </a:lnTo>
                <a:lnTo>
                  <a:pt x="1091456" y="167646"/>
                </a:lnTo>
                <a:lnTo>
                  <a:pt x="1059223" y="135420"/>
                </a:lnTo>
                <a:lnTo>
                  <a:pt x="1017938" y="115046"/>
                </a:lnTo>
                <a:lnTo>
                  <a:pt x="1012096" y="91692"/>
                </a:lnTo>
                <a:lnTo>
                  <a:pt x="990078" y="50270"/>
                </a:lnTo>
                <a:lnTo>
                  <a:pt x="939016" y="9998"/>
                </a:lnTo>
                <a:lnTo>
                  <a:pt x="900156" y="320"/>
                </a:lnTo>
                <a:lnTo>
                  <a:pt x="860790" y="3833"/>
                </a:lnTo>
                <a:lnTo>
                  <a:pt x="823912" y="20276"/>
                </a:lnTo>
                <a:lnTo>
                  <a:pt x="792513" y="49387"/>
                </a:lnTo>
                <a:lnTo>
                  <a:pt x="783863" y="38496"/>
                </a:lnTo>
                <a:lnTo>
                  <a:pt x="774178" y="28749"/>
                </a:lnTo>
                <a:lnTo>
                  <a:pt x="763563" y="20240"/>
                </a:lnTo>
                <a:lnTo>
                  <a:pt x="752127" y="13065"/>
                </a:lnTo>
                <a:lnTo>
                  <a:pt x="707620" y="0"/>
                </a:lnTo>
                <a:close/>
              </a:path>
            </a:pathLst>
          </a:custGeom>
          <a:solidFill>
            <a:srgbClr val="9C85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7594981" y="3585083"/>
            <a:ext cx="159512" cy="209422"/>
          </a:xfrm>
          <a:prstGeom prst="rect">
            <a:avLst/>
          </a:prstGeom>
          <a:blipFill>
            <a:blip r:embed="rId5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7298402" y="2741818"/>
            <a:ext cx="1148715" cy="916305"/>
          </a:xfrm>
          <a:custGeom>
            <a:avLst/>
            <a:gdLst/>
            <a:ahLst/>
            <a:cxnLst/>
            <a:rect l="l" t="t" r="r" b="b"/>
            <a:pathLst>
              <a:path w="1148715" h="916304">
                <a:moveTo>
                  <a:pt x="103665" y="301482"/>
                </a:moveTo>
                <a:lnTo>
                  <a:pt x="103591" y="249199"/>
                </a:lnTo>
                <a:lnTo>
                  <a:pt x="115730" y="200423"/>
                </a:lnTo>
                <a:lnTo>
                  <a:pt x="138622" y="157241"/>
                </a:lnTo>
                <a:lnTo>
                  <a:pt x="170806" y="121744"/>
                </a:lnTo>
                <a:lnTo>
                  <a:pt x="210821" y="96018"/>
                </a:lnTo>
                <a:lnTo>
                  <a:pt x="257208" y="82153"/>
                </a:lnTo>
                <a:lnTo>
                  <a:pt x="287059" y="80488"/>
                </a:lnTo>
                <a:lnTo>
                  <a:pt x="316565" y="84169"/>
                </a:lnTo>
                <a:lnTo>
                  <a:pt x="345094" y="93065"/>
                </a:lnTo>
                <a:lnTo>
                  <a:pt x="372016" y="107045"/>
                </a:lnTo>
                <a:lnTo>
                  <a:pt x="399409" y="67764"/>
                </a:lnTo>
                <a:lnTo>
                  <a:pt x="435433" y="40694"/>
                </a:lnTo>
                <a:lnTo>
                  <a:pt x="476925" y="26888"/>
                </a:lnTo>
                <a:lnTo>
                  <a:pt x="520722" y="27402"/>
                </a:lnTo>
                <a:lnTo>
                  <a:pt x="563659" y="43291"/>
                </a:lnTo>
                <a:lnTo>
                  <a:pt x="596552" y="69580"/>
                </a:lnTo>
                <a:lnTo>
                  <a:pt x="624843" y="30067"/>
                </a:lnTo>
                <a:lnTo>
                  <a:pt x="663529" y="6270"/>
                </a:lnTo>
                <a:lnTo>
                  <a:pt x="707620" y="0"/>
                </a:lnTo>
                <a:lnTo>
                  <a:pt x="752127" y="13065"/>
                </a:lnTo>
                <a:lnTo>
                  <a:pt x="763563" y="20240"/>
                </a:lnTo>
                <a:lnTo>
                  <a:pt x="774178" y="28749"/>
                </a:lnTo>
                <a:lnTo>
                  <a:pt x="783863" y="38496"/>
                </a:lnTo>
                <a:lnTo>
                  <a:pt x="792513" y="49387"/>
                </a:lnTo>
                <a:lnTo>
                  <a:pt x="823912" y="20276"/>
                </a:lnTo>
                <a:lnTo>
                  <a:pt x="860790" y="3833"/>
                </a:lnTo>
                <a:lnTo>
                  <a:pt x="900156" y="320"/>
                </a:lnTo>
                <a:lnTo>
                  <a:pt x="939016" y="9998"/>
                </a:lnTo>
                <a:lnTo>
                  <a:pt x="974377" y="33131"/>
                </a:lnTo>
                <a:lnTo>
                  <a:pt x="1002730" y="69945"/>
                </a:lnTo>
                <a:lnTo>
                  <a:pt x="1017938" y="115046"/>
                </a:lnTo>
                <a:lnTo>
                  <a:pt x="1059223" y="135420"/>
                </a:lnTo>
                <a:lnTo>
                  <a:pt x="1091456" y="167646"/>
                </a:lnTo>
                <a:lnTo>
                  <a:pt x="1112990" y="208607"/>
                </a:lnTo>
                <a:lnTo>
                  <a:pt x="1122180" y="255189"/>
                </a:lnTo>
                <a:lnTo>
                  <a:pt x="1117379" y="304276"/>
                </a:lnTo>
                <a:lnTo>
                  <a:pt x="1115601" y="311261"/>
                </a:lnTo>
                <a:lnTo>
                  <a:pt x="1113442" y="317992"/>
                </a:lnTo>
                <a:lnTo>
                  <a:pt x="1110902" y="324596"/>
                </a:lnTo>
                <a:lnTo>
                  <a:pt x="1132279" y="363277"/>
                </a:lnTo>
                <a:lnTo>
                  <a:pt x="1144619" y="404855"/>
                </a:lnTo>
                <a:lnTo>
                  <a:pt x="1148121" y="447686"/>
                </a:lnTo>
                <a:lnTo>
                  <a:pt x="1142986" y="490127"/>
                </a:lnTo>
                <a:lnTo>
                  <a:pt x="1129414" y="530532"/>
                </a:lnTo>
                <a:lnTo>
                  <a:pt x="1107603" y="567258"/>
                </a:lnTo>
                <a:lnTo>
                  <a:pt x="1077755" y="598662"/>
                </a:lnTo>
                <a:lnTo>
                  <a:pt x="1038004" y="623808"/>
                </a:lnTo>
                <a:lnTo>
                  <a:pt x="993681" y="637143"/>
                </a:lnTo>
                <a:lnTo>
                  <a:pt x="985419" y="689831"/>
                </a:lnTo>
                <a:lnTo>
                  <a:pt x="963246" y="735443"/>
                </a:lnTo>
                <a:lnTo>
                  <a:pt x="929710" y="771258"/>
                </a:lnTo>
                <a:lnTo>
                  <a:pt x="887359" y="794558"/>
                </a:lnTo>
                <a:lnTo>
                  <a:pt x="838741" y="802624"/>
                </a:lnTo>
                <a:lnTo>
                  <a:pt x="817647" y="800854"/>
                </a:lnTo>
                <a:lnTo>
                  <a:pt x="797053" y="795988"/>
                </a:lnTo>
                <a:lnTo>
                  <a:pt x="777269" y="788122"/>
                </a:lnTo>
                <a:lnTo>
                  <a:pt x="758604" y="777351"/>
                </a:lnTo>
                <a:lnTo>
                  <a:pt x="738660" y="825032"/>
                </a:lnTo>
                <a:lnTo>
                  <a:pt x="708947" y="863993"/>
                </a:lnTo>
                <a:lnTo>
                  <a:pt x="671593" y="892984"/>
                </a:lnTo>
                <a:lnTo>
                  <a:pt x="628726" y="910757"/>
                </a:lnTo>
                <a:lnTo>
                  <a:pt x="582471" y="916063"/>
                </a:lnTo>
                <a:lnTo>
                  <a:pt x="534957" y="907653"/>
                </a:lnTo>
                <a:lnTo>
                  <a:pt x="506257" y="895177"/>
                </a:lnTo>
                <a:lnTo>
                  <a:pt x="480141" y="877665"/>
                </a:lnTo>
                <a:lnTo>
                  <a:pt x="457144" y="855557"/>
                </a:lnTo>
                <a:lnTo>
                  <a:pt x="437802" y="829294"/>
                </a:lnTo>
                <a:lnTo>
                  <a:pt x="394727" y="850644"/>
                </a:lnTo>
                <a:lnTo>
                  <a:pt x="349795" y="860467"/>
                </a:lnTo>
                <a:lnTo>
                  <a:pt x="304694" y="859225"/>
                </a:lnTo>
                <a:lnTo>
                  <a:pt x="261113" y="847379"/>
                </a:lnTo>
                <a:lnTo>
                  <a:pt x="220740" y="825391"/>
                </a:lnTo>
                <a:lnTo>
                  <a:pt x="185263" y="793724"/>
                </a:lnTo>
                <a:lnTo>
                  <a:pt x="156370" y="752840"/>
                </a:lnTo>
                <a:lnTo>
                  <a:pt x="154973" y="750173"/>
                </a:lnTo>
                <a:lnTo>
                  <a:pt x="154211" y="748903"/>
                </a:lnTo>
                <a:lnTo>
                  <a:pt x="108394" y="744753"/>
                </a:lnTo>
                <a:lnTo>
                  <a:pt x="68947" y="722661"/>
                </a:lnTo>
                <a:lnTo>
                  <a:pt x="40001" y="686163"/>
                </a:lnTo>
                <a:lnTo>
                  <a:pt x="25687" y="638794"/>
                </a:lnTo>
                <a:lnTo>
                  <a:pt x="25521" y="611473"/>
                </a:lnTo>
                <a:lnTo>
                  <a:pt x="30735" y="585009"/>
                </a:lnTo>
                <a:lnTo>
                  <a:pt x="41046" y="560355"/>
                </a:lnTo>
                <a:lnTo>
                  <a:pt x="56167" y="538464"/>
                </a:lnTo>
                <a:lnTo>
                  <a:pt x="21982" y="505122"/>
                </a:lnTo>
                <a:lnTo>
                  <a:pt x="2811" y="461565"/>
                </a:lnTo>
                <a:lnTo>
                  <a:pt x="0" y="413341"/>
                </a:lnTo>
                <a:lnTo>
                  <a:pt x="14892" y="365998"/>
                </a:lnTo>
                <a:lnTo>
                  <a:pt x="31283" y="342316"/>
                </a:lnTo>
                <a:lnTo>
                  <a:pt x="52008" y="323707"/>
                </a:lnTo>
                <a:lnTo>
                  <a:pt x="76114" y="310812"/>
                </a:lnTo>
                <a:lnTo>
                  <a:pt x="102649" y="304276"/>
                </a:lnTo>
                <a:lnTo>
                  <a:pt x="103665" y="301482"/>
                </a:lnTo>
                <a:close/>
              </a:path>
            </a:pathLst>
          </a:custGeom>
          <a:ln w="12192">
            <a:solidFill>
              <a:srgbClr val="705F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7607681" y="3743578"/>
            <a:ext cx="51435" cy="51435"/>
          </a:xfrm>
          <a:custGeom>
            <a:avLst/>
            <a:gdLst/>
            <a:ahLst/>
            <a:cxnLst/>
            <a:rect l="l" t="t" r="r" b="b"/>
            <a:pathLst>
              <a:path w="51434" h="51435">
                <a:moveTo>
                  <a:pt x="50926" y="25400"/>
                </a:moveTo>
                <a:lnTo>
                  <a:pt x="48922" y="35335"/>
                </a:lnTo>
                <a:lnTo>
                  <a:pt x="43465" y="43449"/>
                </a:lnTo>
                <a:lnTo>
                  <a:pt x="35389" y="48920"/>
                </a:lnTo>
                <a:lnTo>
                  <a:pt x="25526" y="50927"/>
                </a:lnTo>
                <a:lnTo>
                  <a:pt x="15591" y="48920"/>
                </a:lnTo>
                <a:lnTo>
                  <a:pt x="7477" y="43449"/>
                </a:lnTo>
                <a:lnTo>
                  <a:pt x="2006" y="35335"/>
                </a:lnTo>
                <a:lnTo>
                  <a:pt x="0" y="25400"/>
                </a:lnTo>
                <a:lnTo>
                  <a:pt x="2006" y="15537"/>
                </a:lnTo>
                <a:lnTo>
                  <a:pt x="7477" y="7461"/>
                </a:lnTo>
                <a:lnTo>
                  <a:pt x="15591" y="2004"/>
                </a:lnTo>
                <a:lnTo>
                  <a:pt x="25526" y="0"/>
                </a:lnTo>
                <a:lnTo>
                  <a:pt x="35389" y="2004"/>
                </a:lnTo>
                <a:lnTo>
                  <a:pt x="43465" y="7461"/>
                </a:lnTo>
                <a:lnTo>
                  <a:pt x="48922" y="15537"/>
                </a:lnTo>
                <a:lnTo>
                  <a:pt x="50926" y="25400"/>
                </a:lnTo>
                <a:close/>
              </a:path>
            </a:pathLst>
          </a:custGeom>
          <a:ln w="12192">
            <a:solidFill>
              <a:srgbClr val="705F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7594981" y="3687826"/>
            <a:ext cx="102235" cy="102235"/>
          </a:xfrm>
          <a:custGeom>
            <a:avLst/>
            <a:gdLst/>
            <a:ahLst/>
            <a:cxnLst/>
            <a:rect l="l" t="t" r="r" b="b"/>
            <a:pathLst>
              <a:path w="102234" h="102235">
                <a:moveTo>
                  <a:pt x="101726" y="50926"/>
                </a:moveTo>
                <a:lnTo>
                  <a:pt x="97734" y="70705"/>
                </a:lnTo>
                <a:lnTo>
                  <a:pt x="86836" y="86852"/>
                </a:lnTo>
                <a:lnTo>
                  <a:pt x="70651" y="97736"/>
                </a:lnTo>
                <a:lnTo>
                  <a:pt x="50800" y="101726"/>
                </a:lnTo>
                <a:lnTo>
                  <a:pt x="31021" y="97736"/>
                </a:lnTo>
                <a:lnTo>
                  <a:pt x="14874" y="86852"/>
                </a:lnTo>
                <a:lnTo>
                  <a:pt x="3990" y="70705"/>
                </a:lnTo>
                <a:lnTo>
                  <a:pt x="0" y="50926"/>
                </a:lnTo>
                <a:lnTo>
                  <a:pt x="3990" y="31075"/>
                </a:lnTo>
                <a:lnTo>
                  <a:pt x="14874" y="14890"/>
                </a:lnTo>
                <a:lnTo>
                  <a:pt x="31021" y="3992"/>
                </a:lnTo>
                <a:lnTo>
                  <a:pt x="50800" y="0"/>
                </a:lnTo>
                <a:lnTo>
                  <a:pt x="70651" y="3992"/>
                </a:lnTo>
                <a:lnTo>
                  <a:pt x="86836" y="14890"/>
                </a:lnTo>
                <a:lnTo>
                  <a:pt x="97734" y="31075"/>
                </a:lnTo>
                <a:lnTo>
                  <a:pt x="101726" y="50926"/>
                </a:lnTo>
                <a:close/>
              </a:path>
            </a:pathLst>
          </a:custGeom>
          <a:ln w="12192">
            <a:solidFill>
              <a:srgbClr val="705F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7601839" y="3585083"/>
            <a:ext cx="153035" cy="153035"/>
          </a:xfrm>
          <a:custGeom>
            <a:avLst/>
            <a:gdLst/>
            <a:ahLst/>
            <a:cxnLst/>
            <a:rect l="l" t="t" r="r" b="b"/>
            <a:pathLst>
              <a:path w="153034" h="153035">
                <a:moveTo>
                  <a:pt x="152653" y="76326"/>
                </a:moveTo>
                <a:lnTo>
                  <a:pt x="146639" y="106041"/>
                </a:lnTo>
                <a:lnTo>
                  <a:pt x="130254" y="130301"/>
                </a:lnTo>
                <a:lnTo>
                  <a:pt x="105987" y="146657"/>
                </a:lnTo>
                <a:lnTo>
                  <a:pt x="76326" y="152653"/>
                </a:lnTo>
                <a:lnTo>
                  <a:pt x="46612" y="146657"/>
                </a:lnTo>
                <a:lnTo>
                  <a:pt x="22351" y="130301"/>
                </a:lnTo>
                <a:lnTo>
                  <a:pt x="5996" y="106041"/>
                </a:lnTo>
                <a:lnTo>
                  <a:pt x="0" y="76326"/>
                </a:lnTo>
                <a:lnTo>
                  <a:pt x="5996" y="46612"/>
                </a:lnTo>
                <a:lnTo>
                  <a:pt x="22351" y="22351"/>
                </a:lnTo>
                <a:lnTo>
                  <a:pt x="46612" y="5996"/>
                </a:lnTo>
                <a:lnTo>
                  <a:pt x="76326" y="0"/>
                </a:lnTo>
                <a:lnTo>
                  <a:pt x="105987" y="5996"/>
                </a:lnTo>
                <a:lnTo>
                  <a:pt x="130254" y="22352"/>
                </a:lnTo>
                <a:lnTo>
                  <a:pt x="146639" y="46612"/>
                </a:lnTo>
                <a:lnTo>
                  <a:pt x="152653" y="76326"/>
                </a:lnTo>
                <a:close/>
              </a:path>
            </a:pathLst>
          </a:custGeom>
          <a:ln w="12192">
            <a:solidFill>
              <a:srgbClr val="705F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7355840" y="3276727"/>
            <a:ext cx="67310" cy="17145"/>
          </a:xfrm>
          <a:custGeom>
            <a:avLst/>
            <a:gdLst/>
            <a:ahLst/>
            <a:cxnLst/>
            <a:rect l="l" t="t" r="r" b="b"/>
            <a:pathLst>
              <a:path w="67309" h="17145">
                <a:moveTo>
                  <a:pt x="67309" y="16890"/>
                </a:moveTo>
                <a:lnTo>
                  <a:pt x="49738" y="16930"/>
                </a:lnTo>
                <a:lnTo>
                  <a:pt x="32464" y="14065"/>
                </a:lnTo>
                <a:lnTo>
                  <a:pt x="15785" y="8389"/>
                </a:lnTo>
                <a:lnTo>
                  <a:pt x="0" y="0"/>
                </a:lnTo>
              </a:path>
            </a:pathLst>
          </a:custGeom>
          <a:ln w="12191">
            <a:solidFill>
              <a:srgbClr val="705F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7452994" y="3478529"/>
            <a:ext cx="29845" cy="8255"/>
          </a:xfrm>
          <a:custGeom>
            <a:avLst/>
            <a:gdLst/>
            <a:ahLst/>
            <a:cxnLst/>
            <a:rect l="l" t="t" r="r" b="b"/>
            <a:pathLst>
              <a:path w="29845" h="8254">
                <a:moveTo>
                  <a:pt x="29463" y="0"/>
                </a:moveTo>
                <a:lnTo>
                  <a:pt x="22324" y="2805"/>
                </a:lnTo>
                <a:lnTo>
                  <a:pt x="15017" y="5111"/>
                </a:lnTo>
                <a:lnTo>
                  <a:pt x="7568" y="6893"/>
                </a:lnTo>
                <a:lnTo>
                  <a:pt x="0" y="8128"/>
                </a:lnTo>
              </a:path>
            </a:pathLst>
          </a:custGeom>
          <a:ln w="12192">
            <a:solidFill>
              <a:srgbClr val="705F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7718425" y="3530472"/>
            <a:ext cx="17780" cy="37465"/>
          </a:xfrm>
          <a:custGeom>
            <a:avLst/>
            <a:gdLst/>
            <a:ahLst/>
            <a:cxnLst/>
            <a:rect l="l" t="t" r="r" b="b"/>
            <a:pathLst>
              <a:path w="17779" h="37464">
                <a:moveTo>
                  <a:pt x="17779" y="36956"/>
                </a:moveTo>
                <a:lnTo>
                  <a:pt x="12662" y="28128"/>
                </a:lnTo>
                <a:lnTo>
                  <a:pt x="7985" y="19002"/>
                </a:lnTo>
                <a:lnTo>
                  <a:pt x="3760" y="9614"/>
                </a:lnTo>
                <a:lnTo>
                  <a:pt x="0" y="0"/>
                </a:lnTo>
              </a:path>
            </a:pathLst>
          </a:custGeom>
          <a:ln w="12191">
            <a:solidFill>
              <a:srgbClr val="705F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8057133" y="3475354"/>
            <a:ext cx="7620" cy="40640"/>
          </a:xfrm>
          <a:custGeom>
            <a:avLst/>
            <a:gdLst/>
            <a:ahLst/>
            <a:cxnLst/>
            <a:rect l="l" t="t" r="r" b="b"/>
            <a:pathLst>
              <a:path w="7620" h="40639">
                <a:moveTo>
                  <a:pt x="7112" y="0"/>
                </a:moveTo>
                <a:lnTo>
                  <a:pt x="6036" y="10312"/>
                </a:lnTo>
                <a:lnTo>
                  <a:pt x="4508" y="20494"/>
                </a:lnTo>
                <a:lnTo>
                  <a:pt x="2504" y="30557"/>
                </a:lnTo>
                <a:lnTo>
                  <a:pt x="0" y="40512"/>
                </a:lnTo>
              </a:path>
            </a:pathLst>
          </a:custGeom>
          <a:ln w="12191">
            <a:solidFill>
              <a:srgbClr val="705F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8205089" y="3225292"/>
            <a:ext cx="86360" cy="151765"/>
          </a:xfrm>
          <a:custGeom>
            <a:avLst/>
            <a:gdLst/>
            <a:ahLst/>
            <a:cxnLst/>
            <a:rect l="l" t="t" r="r" b="b"/>
            <a:pathLst>
              <a:path w="86359" h="151764">
                <a:moveTo>
                  <a:pt x="0" y="0"/>
                </a:moveTo>
                <a:lnTo>
                  <a:pt x="35996" y="26491"/>
                </a:lnTo>
                <a:lnTo>
                  <a:pt x="63277" y="62102"/>
                </a:lnTo>
                <a:lnTo>
                  <a:pt x="80510" y="104477"/>
                </a:lnTo>
                <a:lnTo>
                  <a:pt x="86359" y="151257"/>
                </a:lnTo>
              </a:path>
            </a:pathLst>
          </a:custGeom>
          <a:ln w="12192">
            <a:solidFill>
              <a:srgbClr val="705F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8370316" y="3064129"/>
            <a:ext cx="38735" cy="57150"/>
          </a:xfrm>
          <a:custGeom>
            <a:avLst/>
            <a:gdLst/>
            <a:ahLst/>
            <a:cxnLst/>
            <a:rect l="l" t="t" r="r" b="b"/>
            <a:pathLst>
              <a:path w="38734" h="57150">
                <a:moveTo>
                  <a:pt x="38480" y="0"/>
                </a:moveTo>
                <a:lnTo>
                  <a:pt x="31164" y="15978"/>
                </a:lnTo>
                <a:lnTo>
                  <a:pt x="22240" y="30861"/>
                </a:lnTo>
                <a:lnTo>
                  <a:pt x="11816" y="44505"/>
                </a:lnTo>
                <a:lnTo>
                  <a:pt x="0" y="56769"/>
                </a:lnTo>
              </a:path>
            </a:pathLst>
          </a:custGeom>
          <a:ln w="12192">
            <a:solidFill>
              <a:srgbClr val="705F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8316468" y="2853689"/>
            <a:ext cx="2540" cy="27305"/>
          </a:xfrm>
          <a:custGeom>
            <a:avLst/>
            <a:gdLst/>
            <a:ahLst/>
            <a:cxnLst/>
            <a:rect l="l" t="t" r="r" b="b"/>
            <a:pathLst>
              <a:path w="2540" h="27305">
                <a:moveTo>
                  <a:pt x="0" y="0"/>
                </a:moveTo>
                <a:lnTo>
                  <a:pt x="978" y="6615"/>
                </a:lnTo>
                <a:lnTo>
                  <a:pt x="1635" y="13303"/>
                </a:lnTo>
                <a:lnTo>
                  <a:pt x="1982" y="20038"/>
                </a:lnTo>
                <a:lnTo>
                  <a:pt x="2031" y="26797"/>
                </a:lnTo>
              </a:path>
            </a:pathLst>
          </a:custGeom>
          <a:ln w="12192">
            <a:solidFill>
              <a:srgbClr val="705F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8070850" y="2788285"/>
            <a:ext cx="19685" cy="34290"/>
          </a:xfrm>
          <a:custGeom>
            <a:avLst/>
            <a:gdLst/>
            <a:ahLst/>
            <a:cxnLst/>
            <a:rect l="l" t="t" r="r" b="b"/>
            <a:pathLst>
              <a:path w="19684" h="34289">
                <a:moveTo>
                  <a:pt x="0" y="34162"/>
                </a:moveTo>
                <a:lnTo>
                  <a:pt x="4093" y="25020"/>
                </a:lnTo>
                <a:lnTo>
                  <a:pt x="8747" y="16271"/>
                </a:lnTo>
                <a:lnTo>
                  <a:pt x="13948" y="7927"/>
                </a:lnTo>
                <a:lnTo>
                  <a:pt x="19684" y="0"/>
                </a:lnTo>
              </a:path>
            </a:pathLst>
          </a:custGeom>
          <a:ln w="12191">
            <a:solidFill>
              <a:srgbClr val="705F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7886572" y="2809239"/>
            <a:ext cx="9525" cy="29845"/>
          </a:xfrm>
          <a:custGeom>
            <a:avLst/>
            <a:gdLst/>
            <a:ahLst/>
            <a:cxnLst/>
            <a:rect l="l" t="t" r="r" b="b"/>
            <a:pathLst>
              <a:path w="9525" h="29844">
                <a:moveTo>
                  <a:pt x="0" y="29463"/>
                </a:moveTo>
                <a:lnTo>
                  <a:pt x="1738" y="21895"/>
                </a:lnTo>
                <a:lnTo>
                  <a:pt x="3905" y="14446"/>
                </a:lnTo>
                <a:lnTo>
                  <a:pt x="6500" y="7139"/>
                </a:lnTo>
                <a:lnTo>
                  <a:pt x="9525" y="0"/>
                </a:lnTo>
              </a:path>
            </a:pathLst>
          </a:custGeom>
          <a:ln w="12192">
            <a:solidFill>
              <a:srgbClr val="705F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7670292" y="2848736"/>
            <a:ext cx="34925" cy="28575"/>
          </a:xfrm>
          <a:custGeom>
            <a:avLst/>
            <a:gdLst/>
            <a:ahLst/>
            <a:cxnLst/>
            <a:rect l="l" t="t" r="r" b="b"/>
            <a:pathLst>
              <a:path w="34925" h="28575">
                <a:moveTo>
                  <a:pt x="0" y="0"/>
                </a:moveTo>
                <a:lnTo>
                  <a:pt x="9237" y="6286"/>
                </a:lnTo>
                <a:lnTo>
                  <a:pt x="18081" y="13144"/>
                </a:lnTo>
                <a:lnTo>
                  <a:pt x="26521" y="20574"/>
                </a:lnTo>
                <a:lnTo>
                  <a:pt x="34543" y="28575"/>
                </a:lnTo>
              </a:path>
            </a:pathLst>
          </a:custGeom>
          <a:ln w="12192">
            <a:solidFill>
              <a:srgbClr val="705F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7402068" y="3043301"/>
            <a:ext cx="6350" cy="30480"/>
          </a:xfrm>
          <a:custGeom>
            <a:avLst/>
            <a:gdLst/>
            <a:ahLst/>
            <a:cxnLst/>
            <a:rect l="l" t="t" r="r" b="b"/>
            <a:pathLst>
              <a:path w="6350" h="30480">
                <a:moveTo>
                  <a:pt x="5968" y="30099"/>
                </a:moveTo>
                <a:lnTo>
                  <a:pt x="4089" y="22645"/>
                </a:lnTo>
                <a:lnTo>
                  <a:pt x="2460" y="15144"/>
                </a:lnTo>
                <a:lnTo>
                  <a:pt x="1093" y="7596"/>
                </a:lnTo>
                <a:lnTo>
                  <a:pt x="0" y="0"/>
                </a:lnTo>
              </a:path>
            </a:pathLst>
          </a:custGeom>
          <a:ln w="12192">
            <a:solidFill>
              <a:srgbClr val="705F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 txBox="1"/>
          <p:nvPr/>
        </p:nvSpPr>
        <p:spPr>
          <a:xfrm>
            <a:off x="7614031" y="3010915"/>
            <a:ext cx="4362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solidFill>
                  <a:srgbClr val="FFFFFF"/>
                </a:solidFill>
                <a:latin typeface="Calibri"/>
                <a:cs typeface="Calibri"/>
              </a:rPr>
              <a:t>Blue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3102864" y="5876544"/>
            <a:ext cx="2938780" cy="584200"/>
          </a:xfrm>
          <a:custGeom>
            <a:avLst/>
            <a:gdLst/>
            <a:ahLst/>
            <a:cxnLst/>
            <a:rect l="l" t="t" r="r" b="b"/>
            <a:pathLst>
              <a:path w="2938779" h="584200">
                <a:moveTo>
                  <a:pt x="2840990" y="0"/>
                </a:moveTo>
                <a:lnTo>
                  <a:pt x="97281" y="0"/>
                </a:lnTo>
                <a:lnTo>
                  <a:pt x="59418" y="7645"/>
                </a:lnTo>
                <a:lnTo>
                  <a:pt x="28495" y="28495"/>
                </a:lnTo>
                <a:lnTo>
                  <a:pt x="7645" y="59418"/>
                </a:lnTo>
                <a:lnTo>
                  <a:pt x="0" y="97281"/>
                </a:lnTo>
                <a:lnTo>
                  <a:pt x="0" y="486409"/>
                </a:lnTo>
                <a:lnTo>
                  <a:pt x="7645" y="524273"/>
                </a:lnTo>
                <a:lnTo>
                  <a:pt x="28495" y="555196"/>
                </a:lnTo>
                <a:lnTo>
                  <a:pt x="59418" y="576046"/>
                </a:lnTo>
                <a:lnTo>
                  <a:pt x="97281" y="583691"/>
                </a:lnTo>
                <a:lnTo>
                  <a:pt x="2840990" y="583691"/>
                </a:lnTo>
                <a:lnTo>
                  <a:pt x="2878853" y="576046"/>
                </a:lnTo>
                <a:lnTo>
                  <a:pt x="2909776" y="555196"/>
                </a:lnTo>
                <a:lnTo>
                  <a:pt x="2930626" y="524273"/>
                </a:lnTo>
                <a:lnTo>
                  <a:pt x="2938272" y="486409"/>
                </a:lnTo>
                <a:lnTo>
                  <a:pt x="2938272" y="97281"/>
                </a:lnTo>
                <a:lnTo>
                  <a:pt x="2930626" y="59418"/>
                </a:lnTo>
                <a:lnTo>
                  <a:pt x="2909776" y="28495"/>
                </a:lnTo>
                <a:lnTo>
                  <a:pt x="2878853" y="7645"/>
                </a:lnTo>
                <a:lnTo>
                  <a:pt x="2840990" y="0"/>
                </a:lnTo>
                <a:close/>
              </a:path>
            </a:pathLst>
          </a:custGeom>
          <a:solidFill>
            <a:srgbClr val="9C85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3102864" y="5876544"/>
            <a:ext cx="2938780" cy="584200"/>
          </a:xfrm>
          <a:custGeom>
            <a:avLst/>
            <a:gdLst/>
            <a:ahLst/>
            <a:cxnLst/>
            <a:rect l="l" t="t" r="r" b="b"/>
            <a:pathLst>
              <a:path w="2938779" h="584200">
                <a:moveTo>
                  <a:pt x="0" y="97281"/>
                </a:moveTo>
                <a:lnTo>
                  <a:pt x="7645" y="59418"/>
                </a:lnTo>
                <a:lnTo>
                  <a:pt x="28495" y="28495"/>
                </a:lnTo>
                <a:lnTo>
                  <a:pt x="59418" y="7645"/>
                </a:lnTo>
                <a:lnTo>
                  <a:pt x="97281" y="0"/>
                </a:lnTo>
                <a:lnTo>
                  <a:pt x="2840990" y="0"/>
                </a:lnTo>
                <a:lnTo>
                  <a:pt x="2878853" y="7645"/>
                </a:lnTo>
                <a:lnTo>
                  <a:pt x="2909776" y="28495"/>
                </a:lnTo>
                <a:lnTo>
                  <a:pt x="2930626" y="59418"/>
                </a:lnTo>
                <a:lnTo>
                  <a:pt x="2938272" y="97281"/>
                </a:lnTo>
                <a:lnTo>
                  <a:pt x="2938272" y="486409"/>
                </a:lnTo>
                <a:lnTo>
                  <a:pt x="2930626" y="524273"/>
                </a:lnTo>
                <a:lnTo>
                  <a:pt x="2909776" y="555196"/>
                </a:lnTo>
                <a:lnTo>
                  <a:pt x="2878853" y="576046"/>
                </a:lnTo>
                <a:lnTo>
                  <a:pt x="2840990" y="583691"/>
                </a:lnTo>
                <a:lnTo>
                  <a:pt x="97281" y="583691"/>
                </a:lnTo>
                <a:lnTo>
                  <a:pt x="59418" y="576046"/>
                </a:lnTo>
                <a:lnTo>
                  <a:pt x="28495" y="555196"/>
                </a:lnTo>
                <a:lnTo>
                  <a:pt x="7645" y="524273"/>
                </a:lnTo>
                <a:lnTo>
                  <a:pt x="0" y="486409"/>
                </a:lnTo>
                <a:lnTo>
                  <a:pt x="0" y="97281"/>
                </a:lnTo>
                <a:close/>
              </a:path>
            </a:pathLst>
          </a:custGeom>
          <a:ln w="12191">
            <a:solidFill>
              <a:srgbClr val="705F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 txBox="1"/>
          <p:nvPr/>
        </p:nvSpPr>
        <p:spPr>
          <a:xfrm>
            <a:off x="4025900" y="6004661"/>
            <a:ext cx="109474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solidFill>
                  <a:srgbClr val="FFFFFF"/>
                </a:solidFill>
                <a:latin typeface="Calibri"/>
                <a:cs typeface="Calibri"/>
              </a:rPr>
              <a:t>White</a:t>
            </a:r>
            <a:r>
              <a:rPr sz="18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800" spc="-5" dirty="0">
                <a:solidFill>
                  <a:srgbClr val="FFFFFF"/>
                </a:solidFill>
                <a:latin typeface="Calibri"/>
                <a:cs typeface="Calibri"/>
              </a:rPr>
              <a:t>Light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33" name="object 33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spc="-5" dirty="0"/>
              <a:t>Pengolahan Citra </a:t>
            </a:r>
            <a:r>
              <a:rPr dirty="0"/>
              <a:t>- </a:t>
            </a:r>
            <a:r>
              <a:rPr spc="-5" dirty="0"/>
              <a:t>Color</a:t>
            </a:r>
            <a:r>
              <a:rPr spc="-40" dirty="0"/>
              <a:t> </a:t>
            </a:r>
            <a:r>
              <a:rPr spc="-5" dirty="0"/>
              <a:t>Theory</a:t>
            </a:r>
          </a:p>
        </p:txBody>
      </p:sp>
    </p:spTree>
    <p:extLst>
      <p:ext uri="{BB962C8B-B14F-4D97-AF65-F5344CB8AC3E}">
        <p14:creationId xmlns:p14="http://schemas.microsoft.com/office/powerpoint/2010/main" val="21819695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sz="3600" spc="-5" dirty="0"/>
              <a:t>Color Vision </a:t>
            </a:r>
            <a:r>
              <a:rPr sz="3600" dirty="0"/>
              <a:t>(2)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707542" y="1797557"/>
            <a:ext cx="5721985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84785" indent="-172720">
              <a:lnSpc>
                <a:spcPct val="100000"/>
              </a:lnSpc>
              <a:spcBef>
                <a:spcPts val="95"/>
              </a:spcBef>
              <a:buFont typeface="Arial"/>
              <a:buChar char="•"/>
              <a:tabLst>
                <a:tab pos="185420" algn="l"/>
              </a:tabLst>
            </a:pPr>
            <a:r>
              <a:rPr sz="2200" spc="-15" dirty="0">
                <a:latin typeface="Calibri"/>
                <a:cs typeface="Calibri"/>
              </a:rPr>
              <a:t>Obyek </a:t>
            </a:r>
            <a:r>
              <a:rPr sz="2200" spc="-10" dirty="0">
                <a:latin typeface="Calibri"/>
                <a:cs typeface="Calibri"/>
              </a:rPr>
              <a:t>berwarna </a:t>
            </a:r>
            <a:r>
              <a:rPr sz="2200" spc="-5" dirty="0">
                <a:latin typeface="Calibri"/>
                <a:cs typeface="Calibri"/>
              </a:rPr>
              <a:t>memiliki </a:t>
            </a:r>
            <a:r>
              <a:rPr sz="2200" i="1" spc="-10" dirty="0">
                <a:latin typeface="Calibri"/>
                <a:cs typeface="Calibri"/>
              </a:rPr>
              <a:t>reflectance</a:t>
            </a:r>
            <a:r>
              <a:rPr sz="2200" i="1" spc="55" dirty="0">
                <a:latin typeface="Calibri"/>
                <a:cs typeface="Calibri"/>
              </a:rPr>
              <a:t> </a:t>
            </a:r>
            <a:r>
              <a:rPr sz="2200" i="1" spc="-10" dirty="0">
                <a:latin typeface="Calibri"/>
                <a:cs typeface="Calibri"/>
              </a:rPr>
              <a:t>coefficient</a:t>
            </a:r>
            <a:r>
              <a:rPr sz="2200" spc="-10" dirty="0">
                <a:latin typeface="Calibri"/>
                <a:cs typeface="Calibri"/>
              </a:rPr>
              <a:t>.</a:t>
            </a:r>
            <a:endParaRPr sz="22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783828" y="54356"/>
            <a:ext cx="11620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latin typeface="Calibri"/>
                <a:cs typeface="Calibri"/>
              </a:rPr>
              <a:t>4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07542" y="4095369"/>
            <a:ext cx="7171690" cy="18980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1661160" algn="ctr">
              <a:lnSpc>
                <a:spcPct val="100000"/>
              </a:lnSpc>
              <a:spcBef>
                <a:spcPts val="100"/>
              </a:spcBef>
            </a:pPr>
            <a:r>
              <a:rPr sz="2400" spc="15" dirty="0">
                <a:latin typeface="Cambria Math"/>
                <a:cs typeface="Cambria Math"/>
              </a:rPr>
              <a:t>𝜌(𝜆)</a:t>
            </a:r>
            <a:endParaRPr sz="2400">
              <a:latin typeface="Cambria Math"/>
              <a:cs typeface="Cambria Math"/>
            </a:endParaRPr>
          </a:p>
          <a:p>
            <a:pPr>
              <a:lnSpc>
                <a:spcPct val="100000"/>
              </a:lnSpc>
            </a:pPr>
            <a:endParaRPr sz="2400">
              <a:latin typeface="Cambria Math"/>
              <a:cs typeface="Cambria Math"/>
            </a:endParaRPr>
          </a:p>
          <a:p>
            <a:pPr marL="184785" marR="5080" indent="-172720">
              <a:lnSpc>
                <a:spcPct val="88500"/>
              </a:lnSpc>
              <a:spcBef>
                <a:spcPts val="1920"/>
              </a:spcBef>
              <a:buFont typeface="Arial"/>
              <a:buChar char="•"/>
              <a:tabLst>
                <a:tab pos="185420" algn="l"/>
              </a:tabLst>
            </a:pPr>
            <a:r>
              <a:rPr sz="2200" spc="-15" dirty="0">
                <a:latin typeface="Calibri"/>
                <a:cs typeface="Calibri"/>
              </a:rPr>
              <a:t>Obyek yang </a:t>
            </a:r>
            <a:r>
              <a:rPr sz="2200" spc="-10" dirty="0">
                <a:latin typeface="Calibri"/>
                <a:cs typeface="Calibri"/>
              </a:rPr>
              <a:t>disinari </a:t>
            </a:r>
            <a:r>
              <a:rPr sz="2200" i="1" spc="-10" dirty="0">
                <a:latin typeface="Calibri"/>
                <a:cs typeface="Calibri"/>
              </a:rPr>
              <a:t>white light </a:t>
            </a:r>
            <a:r>
              <a:rPr sz="2200" spc="-15" dirty="0">
                <a:latin typeface="Calibri"/>
                <a:cs typeface="Calibri"/>
              </a:rPr>
              <a:t>akan </a:t>
            </a:r>
            <a:r>
              <a:rPr sz="2200" spc="-10" dirty="0">
                <a:latin typeface="Calibri"/>
                <a:cs typeface="Calibri"/>
              </a:rPr>
              <a:t>memantulkan </a:t>
            </a:r>
            <a:r>
              <a:rPr sz="2200" spc="-15" dirty="0">
                <a:latin typeface="Calibri"/>
                <a:cs typeface="Calibri"/>
              </a:rPr>
              <a:t>komponen  </a:t>
            </a:r>
            <a:r>
              <a:rPr sz="2200" spc="-20" dirty="0">
                <a:latin typeface="Calibri"/>
                <a:cs typeface="Calibri"/>
              </a:rPr>
              <a:t>cahaya </a:t>
            </a:r>
            <a:r>
              <a:rPr sz="2200" spc="-10" dirty="0">
                <a:latin typeface="Calibri"/>
                <a:cs typeface="Calibri"/>
              </a:rPr>
              <a:t>pada </a:t>
            </a:r>
            <a:r>
              <a:rPr sz="2200" spc="-5" dirty="0">
                <a:latin typeface="Calibri"/>
                <a:cs typeface="Calibri"/>
              </a:rPr>
              <a:t>panjang </a:t>
            </a:r>
            <a:r>
              <a:rPr sz="2200" spc="-10" dirty="0">
                <a:latin typeface="Calibri"/>
                <a:cs typeface="Calibri"/>
              </a:rPr>
              <a:t>gelombang </a:t>
            </a:r>
            <a:r>
              <a:rPr sz="2200" spc="-15" dirty="0">
                <a:latin typeface="Calibri"/>
                <a:cs typeface="Calibri"/>
              </a:rPr>
              <a:t>tertentu </a:t>
            </a:r>
            <a:r>
              <a:rPr sz="2200" spc="-5" dirty="0">
                <a:latin typeface="Calibri"/>
                <a:cs typeface="Calibri"/>
              </a:rPr>
              <a:t>sesuai </a:t>
            </a:r>
            <a:r>
              <a:rPr sz="2200" spc="-15" dirty="0">
                <a:latin typeface="Calibri"/>
                <a:cs typeface="Calibri"/>
              </a:rPr>
              <a:t>dengan  </a:t>
            </a:r>
            <a:r>
              <a:rPr sz="2200" i="1" spc="-10" dirty="0">
                <a:latin typeface="Calibri"/>
                <a:cs typeface="Calibri"/>
              </a:rPr>
              <a:t>reflectance </a:t>
            </a:r>
            <a:r>
              <a:rPr sz="2200" i="1" spc="-20" dirty="0">
                <a:latin typeface="Calibri"/>
                <a:cs typeface="Calibri"/>
              </a:rPr>
              <a:t>coefficient</a:t>
            </a:r>
            <a:r>
              <a:rPr sz="2300" i="1" spc="-20" dirty="0">
                <a:latin typeface="Wingdings"/>
                <a:cs typeface="Wingdings"/>
              </a:rPr>
              <a:t></a:t>
            </a:r>
            <a:r>
              <a:rPr sz="2300" i="1" spc="-20" dirty="0">
                <a:latin typeface="Times New Roman"/>
                <a:cs typeface="Times New Roman"/>
              </a:rPr>
              <a:t> </a:t>
            </a:r>
            <a:r>
              <a:rPr sz="2200" spc="-20" dirty="0">
                <a:latin typeface="Calibri"/>
                <a:cs typeface="Calibri"/>
              </a:rPr>
              <a:t>Mata </a:t>
            </a:r>
            <a:r>
              <a:rPr sz="2200" spc="-5" dirty="0">
                <a:latin typeface="Calibri"/>
                <a:cs typeface="Calibri"/>
              </a:rPr>
              <a:t>manusia </a:t>
            </a:r>
            <a:r>
              <a:rPr sz="2200" spc="-10" dirty="0">
                <a:latin typeface="Calibri"/>
                <a:cs typeface="Calibri"/>
              </a:rPr>
              <a:t>melihat</a:t>
            </a:r>
            <a:r>
              <a:rPr sz="2200" spc="15" dirty="0">
                <a:latin typeface="Calibri"/>
                <a:cs typeface="Calibri"/>
              </a:rPr>
              <a:t> </a:t>
            </a:r>
            <a:r>
              <a:rPr sz="2200" b="1" spc="-15" dirty="0">
                <a:latin typeface="Calibri"/>
                <a:cs typeface="Calibri"/>
              </a:rPr>
              <a:t>warna.</a:t>
            </a:r>
            <a:endParaRPr sz="22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867968" y="2301239"/>
            <a:ext cx="1435403" cy="1284731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6216396" y="3442715"/>
            <a:ext cx="1703831" cy="1132331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417319" y="3043427"/>
            <a:ext cx="1737360" cy="1879092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3155442" y="2870707"/>
            <a:ext cx="868680" cy="1113790"/>
          </a:xfrm>
          <a:custGeom>
            <a:avLst/>
            <a:gdLst/>
            <a:ahLst/>
            <a:cxnLst/>
            <a:rect l="l" t="t" r="r" b="b"/>
            <a:pathLst>
              <a:path w="868679" h="1113789">
                <a:moveTo>
                  <a:pt x="18922" y="1018158"/>
                </a:moveTo>
                <a:lnTo>
                  <a:pt x="0" y="1113408"/>
                </a:lnTo>
                <a:lnTo>
                  <a:pt x="87630" y="1071371"/>
                </a:lnTo>
                <a:lnTo>
                  <a:pt x="79595" y="1065148"/>
                </a:lnTo>
                <a:lnTo>
                  <a:pt x="55880" y="1065148"/>
                </a:lnTo>
                <a:lnTo>
                  <a:pt x="32893" y="1047368"/>
                </a:lnTo>
                <a:lnTo>
                  <a:pt x="41807" y="1035883"/>
                </a:lnTo>
                <a:lnTo>
                  <a:pt x="18922" y="1018158"/>
                </a:lnTo>
                <a:close/>
              </a:path>
              <a:path w="868679" h="1113789">
                <a:moveTo>
                  <a:pt x="41807" y="1035883"/>
                </a:moveTo>
                <a:lnTo>
                  <a:pt x="32893" y="1047368"/>
                </a:lnTo>
                <a:lnTo>
                  <a:pt x="55880" y="1065148"/>
                </a:lnTo>
                <a:lnTo>
                  <a:pt x="64782" y="1053676"/>
                </a:lnTo>
                <a:lnTo>
                  <a:pt x="41807" y="1035883"/>
                </a:lnTo>
                <a:close/>
              </a:path>
              <a:path w="868679" h="1113789">
                <a:moveTo>
                  <a:pt x="64782" y="1053676"/>
                </a:moveTo>
                <a:lnTo>
                  <a:pt x="55880" y="1065148"/>
                </a:lnTo>
                <a:lnTo>
                  <a:pt x="79595" y="1065148"/>
                </a:lnTo>
                <a:lnTo>
                  <a:pt x="64782" y="1053676"/>
                </a:lnTo>
                <a:close/>
              </a:path>
              <a:path w="868679" h="1113789">
                <a:moveTo>
                  <a:pt x="845819" y="0"/>
                </a:moveTo>
                <a:lnTo>
                  <a:pt x="41807" y="1035883"/>
                </a:lnTo>
                <a:lnTo>
                  <a:pt x="64782" y="1053676"/>
                </a:lnTo>
                <a:lnTo>
                  <a:pt x="868680" y="17779"/>
                </a:lnTo>
                <a:lnTo>
                  <a:pt x="845819" y="0"/>
                </a:lnTo>
                <a:close/>
              </a:path>
            </a:pathLst>
          </a:custGeom>
          <a:solidFill>
            <a:srgbClr val="21251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3155314" y="3965702"/>
            <a:ext cx="3061970" cy="86995"/>
          </a:xfrm>
          <a:custGeom>
            <a:avLst/>
            <a:gdLst/>
            <a:ahLst/>
            <a:cxnLst/>
            <a:rect l="l" t="t" r="r" b="b"/>
            <a:pathLst>
              <a:path w="3061970" h="86995">
                <a:moveTo>
                  <a:pt x="2975356" y="0"/>
                </a:moveTo>
                <a:lnTo>
                  <a:pt x="2975144" y="28963"/>
                </a:lnTo>
                <a:lnTo>
                  <a:pt x="2989580" y="29083"/>
                </a:lnTo>
                <a:lnTo>
                  <a:pt x="2989453" y="58039"/>
                </a:lnTo>
                <a:lnTo>
                  <a:pt x="2974931" y="58039"/>
                </a:lnTo>
                <a:lnTo>
                  <a:pt x="2974721" y="86868"/>
                </a:lnTo>
                <a:lnTo>
                  <a:pt x="3033580" y="58039"/>
                </a:lnTo>
                <a:lnTo>
                  <a:pt x="2989453" y="58039"/>
                </a:lnTo>
                <a:lnTo>
                  <a:pt x="3033825" y="57918"/>
                </a:lnTo>
                <a:lnTo>
                  <a:pt x="3061843" y="44196"/>
                </a:lnTo>
                <a:lnTo>
                  <a:pt x="2975356" y="0"/>
                </a:lnTo>
                <a:close/>
              </a:path>
              <a:path w="3061970" h="86995">
                <a:moveTo>
                  <a:pt x="2975144" y="28963"/>
                </a:moveTo>
                <a:lnTo>
                  <a:pt x="2974932" y="57918"/>
                </a:lnTo>
                <a:lnTo>
                  <a:pt x="2989453" y="58039"/>
                </a:lnTo>
                <a:lnTo>
                  <a:pt x="2989580" y="29083"/>
                </a:lnTo>
                <a:lnTo>
                  <a:pt x="2975144" y="28963"/>
                </a:lnTo>
                <a:close/>
              </a:path>
              <a:path w="3061970" h="86995">
                <a:moveTo>
                  <a:pt x="254" y="4318"/>
                </a:moveTo>
                <a:lnTo>
                  <a:pt x="0" y="33274"/>
                </a:lnTo>
                <a:lnTo>
                  <a:pt x="2974932" y="57918"/>
                </a:lnTo>
                <a:lnTo>
                  <a:pt x="2975144" y="28963"/>
                </a:lnTo>
                <a:lnTo>
                  <a:pt x="254" y="4318"/>
                </a:lnTo>
                <a:close/>
              </a:path>
            </a:pathLst>
          </a:custGeom>
          <a:solidFill>
            <a:srgbClr val="21251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3148583" y="2877820"/>
            <a:ext cx="880110" cy="1122680"/>
          </a:xfrm>
          <a:custGeom>
            <a:avLst/>
            <a:gdLst/>
            <a:ahLst/>
            <a:cxnLst/>
            <a:rect l="l" t="t" r="r" b="b"/>
            <a:pathLst>
              <a:path w="880110" h="1122679">
                <a:moveTo>
                  <a:pt x="37846" y="931798"/>
                </a:moveTo>
                <a:lnTo>
                  <a:pt x="0" y="1122298"/>
                </a:lnTo>
                <a:lnTo>
                  <a:pt x="175132" y="1038351"/>
                </a:lnTo>
                <a:lnTo>
                  <a:pt x="158769" y="1025651"/>
                </a:lnTo>
                <a:lnTo>
                  <a:pt x="111632" y="1025651"/>
                </a:lnTo>
                <a:lnTo>
                  <a:pt x="65913" y="990218"/>
                </a:lnTo>
                <a:lnTo>
                  <a:pt x="83657" y="967354"/>
                </a:lnTo>
                <a:lnTo>
                  <a:pt x="37846" y="931798"/>
                </a:lnTo>
                <a:close/>
              </a:path>
              <a:path w="880110" h="1122679">
                <a:moveTo>
                  <a:pt x="83657" y="967354"/>
                </a:moveTo>
                <a:lnTo>
                  <a:pt x="65913" y="990218"/>
                </a:lnTo>
                <a:lnTo>
                  <a:pt x="111632" y="1025651"/>
                </a:lnTo>
                <a:lnTo>
                  <a:pt x="129353" y="1002821"/>
                </a:lnTo>
                <a:lnTo>
                  <a:pt x="83657" y="967354"/>
                </a:lnTo>
                <a:close/>
              </a:path>
              <a:path w="880110" h="1122679">
                <a:moveTo>
                  <a:pt x="129353" y="1002821"/>
                </a:moveTo>
                <a:lnTo>
                  <a:pt x="111632" y="1025651"/>
                </a:lnTo>
                <a:lnTo>
                  <a:pt x="158769" y="1025651"/>
                </a:lnTo>
                <a:lnTo>
                  <a:pt x="129353" y="1002821"/>
                </a:lnTo>
                <a:close/>
              </a:path>
              <a:path w="880110" h="1122679">
                <a:moveTo>
                  <a:pt x="834390" y="0"/>
                </a:moveTo>
                <a:lnTo>
                  <a:pt x="83657" y="967354"/>
                </a:lnTo>
                <a:lnTo>
                  <a:pt x="129353" y="1002821"/>
                </a:lnTo>
                <a:lnTo>
                  <a:pt x="880110" y="35559"/>
                </a:lnTo>
                <a:lnTo>
                  <a:pt x="83439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3154426" y="3937634"/>
            <a:ext cx="3061970" cy="173990"/>
          </a:xfrm>
          <a:custGeom>
            <a:avLst/>
            <a:gdLst/>
            <a:ahLst/>
            <a:cxnLst/>
            <a:rect l="l" t="t" r="r" b="b"/>
            <a:pathLst>
              <a:path w="3061970" h="173989">
                <a:moveTo>
                  <a:pt x="2888996" y="0"/>
                </a:moveTo>
                <a:lnTo>
                  <a:pt x="2888530" y="57925"/>
                </a:lnTo>
                <a:lnTo>
                  <a:pt x="2917444" y="58165"/>
                </a:lnTo>
                <a:lnTo>
                  <a:pt x="2917063" y="116077"/>
                </a:lnTo>
                <a:lnTo>
                  <a:pt x="2888062" y="116077"/>
                </a:lnTo>
                <a:lnTo>
                  <a:pt x="2887599" y="173735"/>
                </a:lnTo>
                <a:lnTo>
                  <a:pt x="3005228" y="116077"/>
                </a:lnTo>
                <a:lnTo>
                  <a:pt x="2917063" y="116077"/>
                </a:lnTo>
                <a:lnTo>
                  <a:pt x="3005720" y="115836"/>
                </a:lnTo>
                <a:lnTo>
                  <a:pt x="3061970" y="88264"/>
                </a:lnTo>
                <a:lnTo>
                  <a:pt x="2888996" y="0"/>
                </a:lnTo>
                <a:close/>
              </a:path>
              <a:path w="3061970" h="173989">
                <a:moveTo>
                  <a:pt x="2888530" y="57925"/>
                </a:moveTo>
                <a:lnTo>
                  <a:pt x="2888064" y="115836"/>
                </a:lnTo>
                <a:lnTo>
                  <a:pt x="2917063" y="116077"/>
                </a:lnTo>
                <a:lnTo>
                  <a:pt x="2917444" y="58165"/>
                </a:lnTo>
                <a:lnTo>
                  <a:pt x="2888530" y="57925"/>
                </a:lnTo>
                <a:close/>
              </a:path>
              <a:path w="3061970" h="173989">
                <a:moveTo>
                  <a:pt x="507" y="33908"/>
                </a:moveTo>
                <a:lnTo>
                  <a:pt x="0" y="91820"/>
                </a:lnTo>
                <a:lnTo>
                  <a:pt x="2888064" y="115836"/>
                </a:lnTo>
                <a:lnTo>
                  <a:pt x="2888530" y="57925"/>
                </a:lnTo>
                <a:lnTo>
                  <a:pt x="507" y="33908"/>
                </a:lnTo>
                <a:close/>
              </a:path>
            </a:pathLst>
          </a:custGeom>
          <a:solidFill>
            <a:srgbClr val="0000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spc="-5" dirty="0"/>
              <a:t>Pengolahan Citra </a:t>
            </a:r>
            <a:r>
              <a:rPr dirty="0"/>
              <a:t>- </a:t>
            </a:r>
            <a:r>
              <a:rPr spc="-5" dirty="0"/>
              <a:t>Color</a:t>
            </a:r>
            <a:r>
              <a:rPr spc="-40" dirty="0"/>
              <a:t> </a:t>
            </a:r>
            <a:r>
              <a:rPr spc="-5" dirty="0"/>
              <a:t>Theory</a:t>
            </a:r>
          </a:p>
        </p:txBody>
      </p:sp>
    </p:spTree>
    <p:extLst>
      <p:ext uri="{BB962C8B-B14F-4D97-AF65-F5344CB8AC3E}">
        <p14:creationId xmlns:p14="http://schemas.microsoft.com/office/powerpoint/2010/main" val="21860770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sz="3600" spc="-30" dirty="0"/>
              <a:t>Warna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707542" y="1736415"/>
            <a:ext cx="4219575" cy="889635"/>
          </a:xfrm>
          <a:prstGeom prst="rect">
            <a:avLst/>
          </a:prstGeom>
        </p:spPr>
        <p:txBody>
          <a:bodyPr vert="horz" wrap="square" lIns="0" tIns="78740" rIns="0" bIns="0" rtlCol="0">
            <a:spAutoFit/>
          </a:bodyPr>
          <a:lstStyle/>
          <a:p>
            <a:pPr marL="184785" indent="-172720">
              <a:lnSpc>
                <a:spcPct val="100000"/>
              </a:lnSpc>
              <a:spcBef>
                <a:spcPts val="620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20" dirty="0">
                <a:latin typeface="Calibri"/>
                <a:cs typeface="Calibri"/>
              </a:rPr>
              <a:t>Warna </a:t>
            </a:r>
            <a:r>
              <a:rPr sz="2400" dirty="0">
                <a:latin typeface="Calibri"/>
                <a:cs typeface="Calibri"/>
              </a:rPr>
              <a:t>adalah </a:t>
            </a:r>
            <a:r>
              <a:rPr sz="2400" i="1" spc="-5" dirty="0">
                <a:latin typeface="Calibri"/>
                <a:cs typeface="Calibri"/>
              </a:rPr>
              <a:t>persepsi </a:t>
            </a:r>
            <a:r>
              <a:rPr sz="2400" i="1" dirty="0">
                <a:latin typeface="Calibri"/>
                <a:cs typeface="Calibri"/>
              </a:rPr>
              <a:t>/</a:t>
            </a:r>
            <a:r>
              <a:rPr sz="2400" i="1" spc="-35" dirty="0">
                <a:latin typeface="Calibri"/>
                <a:cs typeface="Calibri"/>
              </a:rPr>
              <a:t> </a:t>
            </a:r>
            <a:r>
              <a:rPr sz="2400" i="1" spc="-5" dirty="0">
                <a:latin typeface="Calibri"/>
                <a:cs typeface="Calibri"/>
              </a:rPr>
              <a:t>sensasi.</a:t>
            </a:r>
            <a:endParaRPr sz="2400">
              <a:latin typeface="Calibri"/>
              <a:cs typeface="Calibri"/>
            </a:endParaRPr>
          </a:p>
          <a:p>
            <a:pPr marL="184785" indent="-172720">
              <a:lnSpc>
                <a:spcPct val="100000"/>
              </a:lnSpc>
              <a:spcBef>
                <a:spcPts val="520"/>
              </a:spcBef>
              <a:buFont typeface="Arial"/>
              <a:buChar char="•"/>
              <a:tabLst>
                <a:tab pos="185420" algn="l"/>
              </a:tabLst>
            </a:pPr>
            <a:r>
              <a:rPr sz="2400" i="1" spc="-5" dirty="0">
                <a:latin typeface="Calibri"/>
                <a:cs typeface="Calibri"/>
              </a:rPr>
              <a:t>Stimulus </a:t>
            </a:r>
            <a:r>
              <a:rPr sz="2400" spc="-5" dirty="0">
                <a:latin typeface="Calibri"/>
                <a:cs typeface="Calibri"/>
              </a:rPr>
              <a:t>warna </a:t>
            </a:r>
            <a:r>
              <a:rPr sz="2400" dirty="0">
                <a:latin typeface="Calibri"/>
                <a:cs typeface="Calibri"/>
              </a:rPr>
              <a:t>adalah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spc="-15" dirty="0">
                <a:latin typeface="Calibri"/>
                <a:cs typeface="Calibri"/>
              </a:rPr>
              <a:t>cahaya.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783828" y="54356"/>
            <a:ext cx="11620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latin typeface="Calibri"/>
                <a:cs typeface="Calibri"/>
              </a:rPr>
              <a:t>5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1075944" y="2758439"/>
            <a:ext cx="6992111" cy="395630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spc="-5" dirty="0"/>
              <a:t>Pengolahan Citra </a:t>
            </a:r>
            <a:r>
              <a:rPr dirty="0"/>
              <a:t>- </a:t>
            </a:r>
            <a:r>
              <a:rPr spc="-5" dirty="0"/>
              <a:t>Color</a:t>
            </a:r>
            <a:r>
              <a:rPr spc="-40" dirty="0"/>
              <a:t> </a:t>
            </a:r>
            <a:r>
              <a:rPr spc="-5" dirty="0"/>
              <a:t>Theory</a:t>
            </a:r>
          </a:p>
        </p:txBody>
      </p:sp>
    </p:spTree>
    <p:extLst>
      <p:ext uri="{BB962C8B-B14F-4D97-AF65-F5344CB8AC3E}">
        <p14:creationId xmlns:p14="http://schemas.microsoft.com/office/powerpoint/2010/main" val="31412829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6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spc="-5" dirty="0"/>
              <a:t>Pengolahan Citra </a:t>
            </a:r>
            <a:r>
              <a:rPr dirty="0"/>
              <a:t>- </a:t>
            </a:r>
            <a:r>
              <a:rPr spc="-5" dirty="0"/>
              <a:t>Color</a:t>
            </a:r>
            <a:r>
              <a:rPr spc="-40" dirty="0"/>
              <a:t> </a:t>
            </a:r>
            <a:r>
              <a:rPr spc="-5" dirty="0"/>
              <a:t>Theory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sz="3600" spc="-25" dirty="0"/>
              <a:t>Relative </a:t>
            </a:r>
            <a:r>
              <a:rPr sz="3600" spc="-20" dirty="0"/>
              <a:t>Perceptual Attributes </a:t>
            </a:r>
            <a:r>
              <a:rPr sz="3600" spc="-5" dirty="0"/>
              <a:t>of</a:t>
            </a:r>
            <a:r>
              <a:rPr sz="3600" spc="75" dirty="0"/>
              <a:t> </a:t>
            </a:r>
            <a:r>
              <a:rPr sz="3600" spc="-5" dirty="0"/>
              <a:t>Color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707542" y="1780308"/>
            <a:ext cx="7517130" cy="359346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84785" indent="-1727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85420" algn="l"/>
              </a:tabLst>
            </a:pPr>
            <a:r>
              <a:rPr sz="2400" b="1" i="1" spc="-10" dirty="0">
                <a:latin typeface="Calibri"/>
                <a:cs typeface="Calibri"/>
              </a:rPr>
              <a:t>Brightness/Lightness</a:t>
            </a:r>
            <a:r>
              <a:rPr sz="2400" b="1" spc="-10" dirty="0">
                <a:latin typeface="Calibri"/>
                <a:cs typeface="Calibri"/>
              </a:rPr>
              <a:t>:</a:t>
            </a:r>
            <a:endParaRPr sz="2400">
              <a:latin typeface="Calibri"/>
              <a:cs typeface="Calibri"/>
            </a:endParaRPr>
          </a:p>
          <a:p>
            <a:pPr marL="527685" marR="150495" lvl="1" indent="-172720">
              <a:lnSpc>
                <a:spcPts val="2380"/>
              </a:lnSpc>
              <a:spcBef>
                <a:spcPts val="450"/>
              </a:spcBef>
              <a:buFont typeface="Arial"/>
              <a:buChar char="•"/>
              <a:tabLst>
                <a:tab pos="528320" algn="l"/>
              </a:tabLst>
            </a:pPr>
            <a:r>
              <a:rPr sz="2200" spc="-15" dirty="0">
                <a:latin typeface="Calibri"/>
                <a:cs typeface="Calibri"/>
              </a:rPr>
              <a:t>intensitas </a:t>
            </a:r>
            <a:r>
              <a:rPr sz="2200" spc="-10" dirty="0">
                <a:latin typeface="Calibri"/>
                <a:cs typeface="Calibri"/>
              </a:rPr>
              <a:t>(sering disebut </a:t>
            </a:r>
            <a:r>
              <a:rPr sz="2200" spc="-25" dirty="0">
                <a:latin typeface="Calibri"/>
                <a:cs typeface="Calibri"/>
              </a:rPr>
              <a:t>gray </a:t>
            </a:r>
            <a:r>
              <a:rPr sz="2200" spc="-10" dirty="0">
                <a:latin typeface="Calibri"/>
                <a:cs typeface="Calibri"/>
              </a:rPr>
              <a:t>levels pada </a:t>
            </a:r>
            <a:r>
              <a:rPr sz="2200" spc="-15" dirty="0">
                <a:latin typeface="Calibri"/>
                <a:cs typeface="Calibri"/>
              </a:rPr>
              <a:t>citra, </a:t>
            </a:r>
            <a:r>
              <a:rPr sz="2200" spc="-10" dirty="0">
                <a:latin typeface="Calibri"/>
                <a:cs typeface="Calibri"/>
              </a:rPr>
              <a:t>dapat </a:t>
            </a:r>
            <a:r>
              <a:rPr sz="2200" spc="-15" dirty="0">
                <a:latin typeface="Calibri"/>
                <a:cs typeface="Calibri"/>
              </a:rPr>
              <a:t>diukur  dengan </a:t>
            </a:r>
            <a:r>
              <a:rPr sz="2200" spc="-10" dirty="0">
                <a:latin typeface="Calibri"/>
                <a:cs typeface="Calibri"/>
              </a:rPr>
              <a:t>radiance </a:t>
            </a:r>
            <a:r>
              <a:rPr sz="2200" spc="-15" dirty="0">
                <a:latin typeface="Calibri"/>
                <a:cs typeface="Calibri"/>
              </a:rPr>
              <a:t>atau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luminance)</a:t>
            </a:r>
            <a:endParaRPr sz="2200">
              <a:latin typeface="Calibri"/>
              <a:cs typeface="Calibri"/>
            </a:endParaRPr>
          </a:p>
          <a:p>
            <a:pPr marL="184785" indent="-172720">
              <a:lnSpc>
                <a:spcPct val="100000"/>
              </a:lnSpc>
              <a:spcBef>
                <a:spcPts val="455"/>
              </a:spcBef>
              <a:buFont typeface="Arial"/>
              <a:buChar char="•"/>
              <a:tabLst>
                <a:tab pos="185420" algn="l"/>
              </a:tabLst>
            </a:pPr>
            <a:r>
              <a:rPr sz="2400" b="1" i="1" spc="-5" dirty="0">
                <a:latin typeface="Calibri"/>
                <a:cs typeface="Calibri"/>
              </a:rPr>
              <a:t>Hue/Chroma</a:t>
            </a:r>
            <a:r>
              <a:rPr sz="2400" b="1" spc="-5" dirty="0">
                <a:latin typeface="Calibri"/>
                <a:cs typeface="Calibri"/>
              </a:rPr>
              <a:t>:</a:t>
            </a:r>
            <a:endParaRPr sz="2400">
              <a:latin typeface="Calibri"/>
              <a:cs typeface="Calibri"/>
            </a:endParaRPr>
          </a:p>
          <a:p>
            <a:pPr marL="527685" lvl="1" indent="-172720">
              <a:lnSpc>
                <a:spcPct val="100000"/>
              </a:lnSpc>
              <a:spcBef>
                <a:spcPts val="155"/>
              </a:spcBef>
              <a:buFont typeface="Arial"/>
              <a:buChar char="•"/>
              <a:tabLst>
                <a:tab pos="528320" algn="l"/>
              </a:tabLst>
            </a:pPr>
            <a:r>
              <a:rPr sz="2200" spc="-5" dirty="0">
                <a:latin typeface="Calibri"/>
                <a:cs typeface="Calibri"/>
              </a:rPr>
              <a:t>panjang gelombang </a:t>
            </a:r>
            <a:r>
              <a:rPr sz="2200" spc="-10" dirty="0">
                <a:latin typeface="Calibri"/>
                <a:cs typeface="Calibri"/>
              </a:rPr>
              <a:t>dominan </a:t>
            </a:r>
            <a:r>
              <a:rPr sz="2200" spc="-5" dirty="0">
                <a:latin typeface="Calibri"/>
                <a:cs typeface="Calibri"/>
              </a:rPr>
              <a:t>dalam </a:t>
            </a:r>
            <a:r>
              <a:rPr sz="2200" spc="-15" dirty="0">
                <a:latin typeface="Calibri"/>
                <a:cs typeface="Calibri"/>
              </a:rPr>
              <a:t>campuran</a:t>
            </a:r>
            <a:r>
              <a:rPr sz="2200" spc="-5" dirty="0">
                <a:latin typeface="Calibri"/>
                <a:cs typeface="Calibri"/>
              </a:rPr>
              <a:t> gelombang</a:t>
            </a:r>
            <a:endParaRPr sz="2200">
              <a:latin typeface="Calibri"/>
              <a:cs typeface="Calibri"/>
            </a:endParaRPr>
          </a:p>
          <a:p>
            <a:pPr marL="527685" marR="5080" lvl="1" indent="-172720">
              <a:lnSpc>
                <a:spcPts val="2350"/>
              </a:lnSpc>
              <a:spcBef>
                <a:spcPts val="475"/>
              </a:spcBef>
              <a:buFont typeface="Arial"/>
              <a:buChar char="•"/>
              <a:tabLst>
                <a:tab pos="528320" algn="l"/>
              </a:tabLst>
            </a:pPr>
            <a:r>
              <a:rPr sz="2200" spc="-10" dirty="0">
                <a:latin typeface="Calibri"/>
                <a:cs typeface="Calibri"/>
              </a:rPr>
              <a:t>Kita </a:t>
            </a:r>
            <a:r>
              <a:rPr sz="2200" spc="-15" dirty="0">
                <a:latin typeface="Calibri"/>
                <a:cs typeface="Calibri"/>
              </a:rPr>
              <a:t>menyebut </a:t>
            </a:r>
            <a:r>
              <a:rPr sz="2200" spc="-10" dirty="0">
                <a:latin typeface="Calibri"/>
                <a:cs typeface="Calibri"/>
              </a:rPr>
              <a:t>suatu benda ‘merah’ </a:t>
            </a:r>
            <a:r>
              <a:rPr sz="2200" spc="-15" dirty="0">
                <a:latin typeface="Calibri"/>
                <a:cs typeface="Calibri"/>
              </a:rPr>
              <a:t>atau </a:t>
            </a:r>
            <a:r>
              <a:rPr sz="2200" spc="-5" dirty="0">
                <a:latin typeface="Calibri"/>
                <a:cs typeface="Calibri"/>
              </a:rPr>
              <a:t>‘biru’ </a:t>
            </a:r>
            <a:r>
              <a:rPr sz="2200" spc="-5" dirty="0">
                <a:latin typeface="Wingdings"/>
                <a:cs typeface="Wingdings"/>
              </a:rPr>
              <a:t></a:t>
            </a:r>
            <a:r>
              <a:rPr sz="2200" spc="-5" dirty="0">
                <a:latin typeface="Times New Roman"/>
                <a:cs typeface="Times New Roman"/>
              </a:rPr>
              <a:t> </a:t>
            </a:r>
            <a:r>
              <a:rPr sz="2200" spc="-15" dirty="0">
                <a:latin typeface="Calibri"/>
                <a:cs typeface="Calibri"/>
              </a:rPr>
              <a:t>berarti kita  menyebutkan</a:t>
            </a:r>
            <a:r>
              <a:rPr sz="2200" spc="10" dirty="0">
                <a:latin typeface="Calibri"/>
                <a:cs typeface="Calibri"/>
              </a:rPr>
              <a:t> </a:t>
            </a:r>
            <a:r>
              <a:rPr sz="2200" i="1" spc="-20" dirty="0">
                <a:latin typeface="Calibri"/>
                <a:cs typeface="Calibri"/>
              </a:rPr>
              <a:t>hue</a:t>
            </a:r>
            <a:r>
              <a:rPr sz="2200" spc="-20" dirty="0">
                <a:latin typeface="Calibri"/>
                <a:cs typeface="Calibri"/>
              </a:rPr>
              <a:t>-nya</a:t>
            </a:r>
            <a:endParaRPr sz="2200">
              <a:latin typeface="Calibri"/>
              <a:cs typeface="Calibri"/>
            </a:endParaRPr>
          </a:p>
          <a:p>
            <a:pPr marL="184785" indent="-172720">
              <a:lnSpc>
                <a:spcPct val="100000"/>
              </a:lnSpc>
              <a:spcBef>
                <a:spcPts val="480"/>
              </a:spcBef>
              <a:buFont typeface="Arial"/>
              <a:buChar char="•"/>
              <a:tabLst>
                <a:tab pos="185420" algn="l"/>
              </a:tabLst>
            </a:pPr>
            <a:r>
              <a:rPr sz="2400" b="1" i="1" spc="-5" dirty="0">
                <a:latin typeface="Calibri"/>
                <a:cs typeface="Calibri"/>
              </a:rPr>
              <a:t>Saturation</a:t>
            </a:r>
            <a:r>
              <a:rPr sz="2400" b="1" spc="-5" dirty="0">
                <a:latin typeface="Calibri"/>
                <a:cs typeface="Calibri"/>
              </a:rPr>
              <a:t>:</a:t>
            </a:r>
            <a:endParaRPr sz="2400">
              <a:latin typeface="Calibri"/>
              <a:cs typeface="Calibri"/>
            </a:endParaRPr>
          </a:p>
          <a:p>
            <a:pPr marL="527685" marR="829944" lvl="1" indent="-172720">
              <a:lnSpc>
                <a:spcPts val="2380"/>
              </a:lnSpc>
              <a:spcBef>
                <a:spcPts val="440"/>
              </a:spcBef>
              <a:buFont typeface="Arial"/>
              <a:buChar char="•"/>
              <a:tabLst>
                <a:tab pos="528320" algn="l"/>
              </a:tabLst>
            </a:pPr>
            <a:r>
              <a:rPr sz="2200" spc="-15" dirty="0">
                <a:latin typeface="Calibri"/>
                <a:cs typeface="Calibri"/>
              </a:rPr>
              <a:t>kemurnian </a:t>
            </a:r>
            <a:r>
              <a:rPr sz="2200" spc="-10" dirty="0">
                <a:latin typeface="Calibri"/>
                <a:cs typeface="Calibri"/>
              </a:rPr>
              <a:t>relatif </a:t>
            </a:r>
            <a:r>
              <a:rPr sz="2200" spc="-15" dirty="0">
                <a:latin typeface="Calibri"/>
                <a:cs typeface="Calibri"/>
              </a:rPr>
              <a:t>atau derajat </a:t>
            </a:r>
            <a:r>
              <a:rPr sz="2200" spc="-20" dirty="0">
                <a:latin typeface="Calibri"/>
                <a:cs typeface="Calibri"/>
              </a:rPr>
              <a:t>banyaknya </a:t>
            </a:r>
            <a:r>
              <a:rPr sz="2200" spc="-10" dirty="0">
                <a:latin typeface="Calibri"/>
                <a:cs typeface="Calibri"/>
              </a:rPr>
              <a:t>warna </a:t>
            </a:r>
            <a:r>
              <a:rPr sz="2200" spc="-5" dirty="0">
                <a:latin typeface="Calibri"/>
                <a:cs typeface="Calibri"/>
              </a:rPr>
              <a:t>murni  </a:t>
            </a:r>
            <a:r>
              <a:rPr sz="2200" spc="-10" dirty="0">
                <a:latin typeface="Calibri"/>
                <a:cs typeface="Calibri"/>
              </a:rPr>
              <a:t>dibandingkan </a:t>
            </a:r>
            <a:r>
              <a:rPr sz="2200" spc="-15" dirty="0">
                <a:latin typeface="Calibri"/>
                <a:cs typeface="Calibri"/>
              </a:rPr>
              <a:t>dengan </a:t>
            </a:r>
            <a:r>
              <a:rPr sz="2200" spc="-10" dirty="0">
                <a:latin typeface="Calibri"/>
                <a:cs typeface="Calibri"/>
              </a:rPr>
              <a:t>warna putih</a:t>
            </a:r>
            <a:r>
              <a:rPr sz="2200" spc="1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murni.</a:t>
            </a:r>
            <a:endParaRPr sz="22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783828" y="54356"/>
            <a:ext cx="11620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latin typeface="Calibri"/>
                <a:cs typeface="Calibri"/>
              </a:rPr>
              <a:t>6</a:t>
            </a:r>
            <a:endParaRPr sz="140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463382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sz="3600" spc="-5" dirty="0"/>
              <a:t>Color Theory: </a:t>
            </a:r>
            <a:r>
              <a:rPr sz="3600" spc="-35" dirty="0"/>
              <a:t>Trichromatic </a:t>
            </a:r>
            <a:r>
              <a:rPr sz="3600" spc="-5" dirty="0"/>
              <a:t>Color</a:t>
            </a:r>
            <a:r>
              <a:rPr sz="3600" spc="20" dirty="0"/>
              <a:t> </a:t>
            </a:r>
            <a:r>
              <a:rPr sz="3600" spc="-10" dirty="0"/>
              <a:t>Vision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8783828" y="54356"/>
            <a:ext cx="11620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latin typeface="Calibri"/>
                <a:cs typeface="Calibri"/>
              </a:rPr>
              <a:t>7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146047" y="5658611"/>
            <a:ext cx="6852284" cy="654050"/>
          </a:xfrm>
          <a:custGeom>
            <a:avLst/>
            <a:gdLst/>
            <a:ahLst/>
            <a:cxnLst/>
            <a:rect l="l" t="t" r="r" b="b"/>
            <a:pathLst>
              <a:path w="6852284" h="654050">
                <a:moveTo>
                  <a:pt x="6742937" y="0"/>
                </a:moveTo>
                <a:lnTo>
                  <a:pt x="108965" y="0"/>
                </a:lnTo>
                <a:lnTo>
                  <a:pt x="66549" y="8562"/>
                </a:lnTo>
                <a:lnTo>
                  <a:pt x="31913" y="31913"/>
                </a:lnTo>
                <a:lnTo>
                  <a:pt x="8562" y="66549"/>
                </a:lnTo>
                <a:lnTo>
                  <a:pt x="0" y="108965"/>
                </a:lnTo>
                <a:lnTo>
                  <a:pt x="0" y="544830"/>
                </a:lnTo>
                <a:lnTo>
                  <a:pt x="8562" y="587241"/>
                </a:lnTo>
                <a:lnTo>
                  <a:pt x="31913" y="621877"/>
                </a:lnTo>
                <a:lnTo>
                  <a:pt x="66549" y="645231"/>
                </a:lnTo>
                <a:lnTo>
                  <a:pt x="108965" y="653796"/>
                </a:lnTo>
                <a:lnTo>
                  <a:pt x="6742937" y="653796"/>
                </a:lnTo>
                <a:lnTo>
                  <a:pt x="6785359" y="645231"/>
                </a:lnTo>
                <a:lnTo>
                  <a:pt x="6819995" y="621877"/>
                </a:lnTo>
                <a:lnTo>
                  <a:pt x="6843343" y="587241"/>
                </a:lnTo>
                <a:lnTo>
                  <a:pt x="6851904" y="544830"/>
                </a:lnTo>
                <a:lnTo>
                  <a:pt x="6851904" y="108965"/>
                </a:lnTo>
                <a:lnTo>
                  <a:pt x="6843343" y="66549"/>
                </a:lnTo>
                <a:lnTo>
                  <a:pt x="6819995" y="31913"/>
                </a:lnTo>
                <a:lnTo>
                  <a:pt x="6785359" y="8562"/>
                </a:lnTo>
                <a:lnTo>
                  <a:pt x="6742937" y="0"/>
                </a:lnTo>
                <a:close/>
              </a:path>
            </a:pathLst>
          </a:custGeom>
          <a:solidFill>
            <a:srgbClr val="9C85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1146047" y="5658611"/>
            <a:ext cx="6852284" cy="654050"/>
          </a:xfrm>
          <a:custGeom>
            <a:avLst/>
            <a:gdLst/>
            <a:ahLst/>
            <a:cxnLst/>
            <a:rect l="l" t="t" r="r" b="b"/>
            <a:pathLst>
              <a:path w="6852284" h="654050">
                <a:moveTo>
                  <a:pt x="0" y="108965"/>
                </a:moveTo>
                <a:lnTo>
                  <a:pt x="8562" y="66549"/>
                </a:lnTo>
                <a:lnTo>
                  <a:pt x="31913" y="31913"/>
                </a:lnTo>
                <a:lnTo>
                  <a:pt x="66549" y="8562"/>
                </a:lnTo>
                <a:lnTo>
                  <a:pt x="108965" y="0"/>
                </a:lnTo>
                <a:lnTo>
                  <a:pt x="6742937" y="0"/>
                </a:lnTo>
                <a:lnTo>
                  <a:pt x="6785359" y="8562"/>
                </a:lnTo>
                <a:lnTo>
                  <a:pt x="6819995" y="31913"/>
                </a:lnTo>
                <a:lnTo>
                  <a:pt x="6843343" y="66549"/>
                </a:lnTo>
                <a:lnTo>
                  <a:pt x="6851904" y="108965"/>
                </a:lnTo>
                <a:lnTo>
                  <a:pt x="6851904" y="544830"/>
                </a:lnTo>
                <a:lnTo>
                  <a:pt x="6843343" y="587241"/>
                </a:lnTo>
                <a:lnTo>
                  <a:pt x="6819995" y="621877"/>
                </a:lnTo>
                <a:lnTo>
                  <a:pt x="6785359" y="645231"/>
                </a:lnTo>
                <a:lnTo>
                  <a:pt x="6742937" y="653796"/>
                </a:lnTo>
                <a:lnTo>
                  <a:pt x="108965" y="653796"/>
                </a:lnTo>
                <a:lnTo>
                  <a:pt x="66549" y="645231"/>
                </a:lnTo>
                <a:lnTo>
                  <a:pt x="31913" y="621877"/>
                </a:lnTo>
                <a:lnTo>
                  <a:pt x="8562" y="587241"/>
                </a:lnTo>
                <a:lnTo>
                  <a:pt x="0" y="544830"/>
                </a:lnTo>
                <a:lnTo>
                  <a:pt x="0" y="108965"/>
                </a:lnTo>
                <a:close/>
              </a:path>
            </a:pathLst>
          </a:custGeom>
          <a:ln w="12192">
            <a:solidFill>
              <a:srgbClr val="705F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707542" y="1802333"/>
            <a:ext cx="7703820" cy="4360545"/>
          </a:xfrm>
          <a:prstGeom prst="rect">
            <a:avLst/>
          </a:prstGeom>
        </p:spPr>
        <p:txBody>
          <a:bodyPr vert="horz" wrap="square" lIns="0" tIns="49530" rIns="0" bIns="0" rtlCol="0">
            <a:spAutoFit/>
          </a:bodyPr>
          <a:lstStyle/>
          <a:p>
            <a:pPr marL="184785" marR="5080" indent="-172720">
              <a:lnSpc>
                <a:spcPct val="90000"/>
              </a:lnSpc>
              <a:spcBef>
                <a:spcPts val="390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5" dirty="0">
                <a:latin typeface="Calibri"/>
                <a:cs typeface="Calibri"/>
              </a:rPr>
              <a:t>Thomas </a:t>
            </a:r>
            <a:r>
              <a:rPr sz="2400" spc="-45" dirty="0">
                <a:latin typeface="Calibri"/>
                <a:cs typeface="Calibri"/>
              </a:rPr>
              <a:t>Young </a:t>
            </a:r>
            <a:r>
              <a:rPr sz="2400" spc="-5" dirty="0">
                <a:latin typeface="Calibri"/>
                <a:cs typeface="Calibri"/>
              </a:rPr>
              <a:t>(1802) </a:t>
            </a:r>
            <a:r>
              <a:rPr sz="2400" spc="-10" dirty="0">
                <a:latin typeface="Calibri"/>
                <a:cs typeface="Calibri"/>
              </a:rPr>
              <a:t>proposed that there </a:t>
            </a:r>
            <a:r>
              <a:rPr sz="2400" spc="-15" dirty="0">
                <a:latin typeface="Calibri"/>
                <a:cs typeface="Calibri"/>
              </a:rPr>
              <a:t>are </a:t>
            </a:r>
            <a:r>
              <a:rPr sz="2400" spc="-10" dirty="0">
                <a:latin typeface="Calibri"/>
                <a:cs typeface="Calibri"/>
              </a:rPr>
              <a:t>three </a:t>
            </a:r>
            <a:r>
              <a:rPr sz="2400" dirty="0">
                <a:latin typeface="Calibri"/>
                <a:cs typeface="Calibri"/>
              </a:rPr>
              <a:t>types </a:t>
            </a:r>
            <a:r>
              <a:rPr sz="2400" spc="-5" dirty="0">
                <a:latin typeface="Calibri"/>
                <a:cs typeface="Calibri"/>
              </a:rPr>
              <a:t>of  </a:t>
            </a:r>
            <a:r>
              <a:rPr sz="2400" spc="-15" dirty="0">
                <a:latin typeface="Calibri"/>
                <a:cs typeface="Calibri"/>
              </a:rPr>
              <a:t>photoreceptors </a:t>
            </a:r>
            <a:r>
              <a:rPr sz="2400" dirty="0">
                <a:latin typeface="Calibri"/>
                <a:cs typeface="Calibri"/>
              </a:rPr>
              <a:t>in the </a:t>
            </a:r>
            <a:r>
              <a:rPr sz="2400" spc="-10" dirty="0">
                <a:latin typeface="Calibri"/>
                <a:cs typeface="Calibri"/>
              </a:rPr>
              <a:t>eye. </a:t>
            </a:r>
            <a:r>
              <a:rPr sz="2400" spc="-45" dirty="0">
                <a:latin typeface="Calibri"/>
                <a:cs typeface="Calibri"/>
              </a:rPr>
              <a:t>Young </a:t>
            </a:r>
            <a:r>
              <a:rPr sz="2400" spc="-10" dirty="0">
                <a:latin typeface="Calibri"/>
                <a:cs typeface="Calibri"/>
              </a:rPr>
              <a:t>believed that </a:t>
            </a:r>
            <a:r>
              <a:rPr sz="2400" dirty="0">
                <a:latin typeface="Calibri"/>
                <a:cs typeface="Calibri"/>
              </a:rPr>
              <a:t>the </a:t>
            </a:r>
            <a:r>
              <a:rPr sz="2400" spc="-10" dirty="0">
                <a:latin typeface="Calibri"/>
                <a:cs typeface="Calibri"/>
              </a:rPr>
              <a:t>three  variables </a:t>
            </a:r>
            <a:r>
              <a:rPr sz="2400" spc="-5" dirty="0">
                <a:latin typeface="Calibri"/>
                <a:cs typeface="Calibri"/>
              </a:rPr>
              <a:t>responsible </a:t>
            </a:r>
            <a:r>
              <a:rPr sz="2400" spc="-20" dirty="0">
                <a:latin typeface="Calibri"/>
                <a:cs typeface="Calibri"/>
              </a:rPr>
              <a:t>for </a:t>
            </a:r>
            <a:r>
              <a:rPr sz="2400" spc="-10" dirty="0">
                <a:latin typeface="Calibri"/>
                <a:cs typeface="Calibri"/>
              </a:rPr>
              <a:t>our color </a:t>
            </a:r>
            <a:r>
              <a:rPr sz="2400" spc="-5" dirty="0">
                <a:latin typeface="Calibri"/>
                <a:cs typeface="Calibri"/>
              </a:rPr>
              <a:t>vision </a:t>
            </a:r>
            <a:r>
              <a:rPr sz="2400" spc="-15" dirty="0">
                <a:latin typeface="Calibri"/>
                <a:cs typeface="Calibri"/>
              </a:rPr>
              <a:t>were </a:t>
            </a:r>
            <a:r>
              <a:rPr sz="2400" dirty="0">
                <a:latin typeface="Calibri"/>
                <a:cs typeface="Calibri"/>
              </a:rPr>
              <a:t>in the </a:t>
            </a:r>
            <a:r>
              <a:rPr sz="2400" spc="-10" dirty="0">
                <a:latin typeface="Calibri"/>
                <a:cs typeface="Calibri"/>
              </a:rPr>
              <a:t>eye </a:t>
            </a:r>
            <a:r>
              <a:rPr sz="2400" dirty="0">
                <a:latin typeface="Calibri"/>
                <a:cs typeface="Calibri"/>
              </a:rPr>
              <a:t>and  </a:t>
            </a:r>
            <a:r>
              <a:rPr sz="2400" spc="-5" dirty="0">
                <a:latin typeface="Calibri"/>
                <a:cs typeface="Calibri"/>
              </a:rPr>
              <a:t>not </a:t>
            </a:r>
            <a:r>
              <a:rPr sz="2400" dirty="0">
                <a:latin typeface="Calibri"/>
                <a:cs typeface="Calibri"/>
              </a:rPr>
              <a:t>in the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light.</a:t>
            </a:r>
            <a:endParaRPr sz="2400">
              <a:latin typeface="Calibri"/>
              <a:cs typeface="Calibri"/>
            </a:endParaRPr>
          </a:p>
          <a:p>
            <a:pPr marL="184785" indent="-172720">
              <a:lnSpc>
                <a:spcPts val="2735"/>
              </a:lnSpc>
              <a:spcBef>
                <a:spcPts val="515"/>
              </a:spcBef>
              <a:buFont typeface="Arial"/>
              <a:buChar char="•"/>
              <a:tabLst>
                <a:tab pos="185420" algn="l"/>
              </a:tabLst>
            </a:pPr>
            <a:r>
              <a:rPr sz="2400" dirty="0">
                <a:latin typeface="Calibri"/>
                <a:cs typeface="Calibri"/>
              </a:rPr>
              <a:t>James </a:t>
            </a:r>
            <a:r>
              <a:rPr sz="2400" spc="-5" dirty="0">
                <a:latin typeface="Calibri"/>
                <a:cs typeface="Calibri"/>
              </a:rPr>
              <a:t>Clerk </a:t>
            </a:r>
            <a:r>
              <a:rPr sz="2400" spc="-10" dirty="0">
                <a:latin typeface="Calibri"/>
                <a:cs typeface="Calibri"/>
              </a:rPr>
              <a:t>Maxwell </a:t>
            </a:r>
            <a:r>
              <a:rPr sz="2400" spc="-5" dirty="0">
                <a:latin typeface="Calibri"/>
                <a:cs typeface="Calibri"/>
              </a:rPr>
              <a:t>(1855) </a:t>
            </a:r>
            <a:r>
              <a:rPr sz="2400" spc="-15" dirty="0">
                <a:latin typeface="Calibri"/>
                <a:cs typeface="Calibri"/>
              </a:rPr>
              <a:t>demonstrated </a:t>
            </a:r>
            <a:r>
              <a:rPr sz="2400" spc="-10" dirty="0">
                <a:latin typeface="Calibri"/>
                <a:cs typeface="Calibri"/>
              </a:rPr>
              <a:t>that most</a:t>
            </a:r>
            <a:r>
              <a:rPr sz="2400" spc="-60" dirty="0">
                <a:latin typeface="Calibri"/>
                <a:cs typeface="Calibri"/>
              </a:rPr>
              <a:t> </a:t>
            </a:r>
            <a:r>
              <a:rPr sz="2400" spc="-15" dirty="0">
                <a:latin typeface="Calibri"/>
                <a:cs typeface="Calibri"/>
              </a:rPr>
              <a:t>colors</a:t>
            </a:r>
            <a:endParaRPr sz="2400">
              <a:latin typeface="Calibri"/>
              <a:cs typeface="Calibri"/>
            </a:endParaRPr>
          </a:p>
          <a:p>
            <a:pPr marL="184785">
              <a:lnSpc>
                <a:spcPts val="2735"/>
              </a:lnSpc>
            </a:pPr>
            <a:r>
              <a:rPr sz="2400" spc="-10" dirty="0">
                <a:latin typeface="Calibri"/>
                <a:cs typeface="Calibri"/>
              </a:rPr>
              <a:t>could </a:t>
            </a:r>
            <a:r>
              <a:rPr sz="2400" spc="-5" dirty="0">
                <a:latin typeface="Calibri"/>
                <a:cs typeface="Calibri"/>
              </a:rPr>
              <a:t>be </a:t>
            </a:r>
            <a:r>
              <a:rPr sz="2400" spc="-10" dirty="0">
                <a:latin typeface="Calibri"/>
                <a:cs typeface="Calibri"/>
              </a:rPr>
              <a:t>matched by </a:t>
            </a:r>
            <a:r>
              <a:rPr sz="2400" dirty="0">
                <a:latin typeface="Calibri"/>
                <a:cs typeface="Calibri"/>
              </a:rPr>
              <a:t>the </a:t>
            </a:r>
            <a:r>
              <a:rPr sz="2400" spc="-5" dirty="0">
                <a:latin typeface="Calibri"/>
                <a:cs typeface="Calibri"/>
              </a:rPr>
              <a:t>mixture of </a:t>
            </a:r>
            <a:r>
              <a:rPr sz="2400" dirty="0">
                <a:latin typeface="Calibri"/>
                <a:cs typeface="Calibri"/>
              </a:rPr>
              <a:t>3 </a:t>
            </a:r>
            <a:r>
              <a:rPr sz="2400" spc="-15" dirty="0">
                <a:latin typeface="Calibri"/>
                <a:cs typeface="Calibri"/>
              </a:rPr>
              <a:t>colors </a:t>
            </a:r>
            <a:r>
              <a:rPr sz="2400" spc="-5" dirty="0">
                <a:latin typeface="Calibri"/>
                <a:cs typeface="Calibri"/>
              </a:rPr>
              <a:t>(3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primaries).</a:t>
            </a:r>
            <a:endParaRPr sz="2400">
              <a:latin typeface="Calibri"/>
              <a:cs typeface="Calibri"/>
            </a:endParaRPr>
          </a:p>
          <a:p>
            <a:pPr marL="184785" marR="151130" indent="-172720" algn="just">
              <a:lnSpc>
                <a:spcPct val="90100"/>
              </a:lnSpc>
              <a:spcBef>
                <a:spcPts val="800"/>
              </a:spcBef>
              <a:buFont typeface="Arial"/>
              <a:buChar char="•"/>
              <a:tabLst>
                <a:tab pos="185420" algn="l"/>
              </a:tabLst>
            </a:pPr>
            <a:r>
              <a:rPr sz="2400" dirty="0">
                <a:latin typeface="Calibri"/>
                <a:cs typeface="Calibri"/>
              </a:rPr>
              <a:t>Hermann </a:t>
            </a:r>
            <a:r>
              <a:rPr sz="2400" spc="-15" dirty="0">
                <a:latin typeface="Calibri"/>
                <a:cs typeface="Calibri"/>
              </a:rPr>
              <a:t>von </a:t>
            </a:r>
            <a:r>
              <a:rPr sz="2400" spc="-5" dirty="0">
                <a:latin typeface="Calibri"/>
                <a:cs typeface="Calibri"/>
              </a:rPr>
              <a:t>Helmholtz </a:t>
            </a:r>
            <a:r>
              <a:rPr sz="2400" spc="-10" dirty="0">
                <a:latin typeface="Calibri"/>
                <a:cs typeface="Calibri"/>
              </a:rPr>
              <a:t>supported </a:t>
            </a:r>
            <a:r>
              <a:rPr sz="2400" spc="-25" dirty="0">
                <a:latin typeface="Calibri"/>
                <a:cs typeface="Calibri"/>
              </a:rPr>
              <a:t>Maxwell’s </a:t>
            </a:r>
            <a:r>
              <a:rPr sz="2400" spc="-10" dirty="0">
                <a:latin typeface="Calibri"/>
                <a:cs typeface="Calibri"/>
              </a:rPr>
              <a:t>experimental  </a:t>
            </a:r>
            <a:r>
              <a:rPr sz="2400" spc="-15" dirty="0">
                <a:latin typeface="Calibri"/>
                <a:cs typeface="Calibri"/>
              </a:rPr>
              <a:t>data </a:t>
            </a:r>
            <a:r>
              <a:rPr sz="2400" spc="-10" dirty="0">
                <a:latin typeface="Calibri"/>
                <a:cs typeface="Calibri"/>
              </a:rPr>
              <a:t>by proposing </a:t>
            </a:r>
            <a:r>
              <a:rPr sz="2400" dirty="0">
                <a:latin typeface="Calibri"/>
                <a:cs typeface="Calibri"/>
              </a:rPr>
              <a:t>a </a:t>
            </a:r>
            <a:r>
              <a:rPr sz="2400" spc="-5" dirty="0">
                <a:latin typeface="Calibri"/>
                <a:cs typeface="Calibri"/>
              </a:rPr>
              <a:t>hypothesis of </a:t>
            </a:r>
            <a:r>
              <a:rPr sz="2400" dirty="0">
                <a:latin typeface="Calibri"/>
                <a:cs typeface="Calibri"/>
              </a:rPr>
              <a:t>3 channels with </a:t>
            </a:r>
            <a:r>
              <a:rPr sz="2400" spc="-20" dirty="0">
                <a:latin typeface="Calibri"/>
                <a:cs typeface="Calibri"/>
              </a:rPr>
              <a:t>different  </a:t>
            </a:r>
            <a:r>
              <a:rPr sz="2400" spc="-10" dirty="0">
                <a:latin typeface="Calibri"/>
                <a:cs typeface="Calibri"/>
              </a:rPr>
              <a:t>spectral </a:t>
            </a:r>
            <a:r>
              <a:rPr sz="2400" spc="-5" dirty="0">
                <a:latin typeface="Calibri"/>
                <a:cs typeface="Calibri"/>
              </a:rPr>
              <a:t>sensitivities.</a:t>
            </a:r>
            <a:endParaRPr sz="2400">
              <a:latin typeface="Calibri"/>
              <a:cs typeface="Calibri"/>
            </a:endParaRPr>
          </a:p>
          <a:p>
            <a:pPr>
              <a:lnSpc>
                <a:spcPct val="100000"/>
              </a:lnSpc>
            </a:pPr>
            <a:endParaRPr sz="24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2500">
              <a:latin typeface="Calibri"/>
              <a:cs typeface="Calibri"/>
            </a:endParaRPr>
          </a:p>
          <a:p>
            <a:pPr marL="598805">
              <a:lnSpc>
                <a:spcPct val="100000"/>
              </a:lnSpc>
              <a:spcBef>
                <a:spcPts val="5"/>
              </a:spcBef>
            </a:pPr>
            <a:r>
              <a:rPr sz="2400" spc="-15" dirty="0">
                <a:latin typeface="Calibri"/>
                <a:cs typeface="Calibri"/>
              </a:rPr>
              <a:t>Young-Helmholtz </a:t>
            </a:r>
            <a:r>
              <a:rPr sz="2400" spc="-20" dirty="0">
                <a:latin typeface="Calibri"/>
                <a:cs typeface="Calibri"/>
              </a:rPr>
              <a:t>Trichromatic </a:t>
            </a:r>
            <a:r>
              <a:rPr sz="2400" spc="-5" dirty="0">
                <a:latin typeface="Calibri"/>
                <a:cs typeface="Calibri"/>
              </a:rPr>
              <a:t>Theory of Color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Vision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spc="-5" dirty="0"/>
              <a:t>Pengolahan Citra </a:t>
            </a:r>
            <a:r>
              <a:rPr dirty="0"/>
              <a:t>- </a:t>
            </a:r>
            <a:r>
              <a:rPr spc="-5" dirty="0"/>
              <a:t>Color</a:t>
            </a:r>
            <a:r>
              <a:rPr spc="-40" dirty="0"/>
              <a:t> </a:t>
            </a:r>
            <a:r>
              <a:rPr spc="-5" dirty="0"/>
              <a:t>Theory</a:t>
            </a:r>
          </a:p>
        </p:txBody>
      </p:sp>
    </p:spTree>
    <p:extLst>
      <p:ext uri="{BB962C8B-B14F-4D97-AF65-F5344CB8AC3E}">
        <p14:creationId xmlns:p14="http://schemas.microsoft.com/office/powerpoint/2010/main" val="31975249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146685" rIns="0" bIns="0" rtlCol="0">
            <a:spAutoFit/>
          </a:bodyPr>
          <a:lstStyle/>
          <a:p>
            <a:pPr marL="720090" marR="1035685">
              <a:lnSpc>
                <a:spcPts val="3890"/>
              </a:lnSpc>
              <a:spcBef>
                <a:spcPts val="1155"/>
              </a:spcBef>
            </a:pPr>
            <a:r>
              <a:rPr sz="3600" spc="-25" dirty="0"/>
              <a:t>Young-Helmholtz </a:t>
            </a:r>
            <a:r>
              <a:rPr sz="3600" spc="-35" dirty="0"/>
              <a:t>Trichromatic </a:t>
            </a:r>
            <a:r>
              <a:rPr sz="3600" spc="-5" dirty="0"/>
              <a:t>Theory of  Color</a:t>
            </a:r>
            <a:r>
              <a:rPr sz="3600" spc="-20" dirty="0"/>
              <a:t> </a:t>
            </a:r>
            <a:r>
              <a:rPr sz="3600" spc="-10" dirty="0"/>
              <a:t>Vision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707542" y="1802333"/>
            <a:ext cx="7644130" cy="2136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785" indent="-172720">
              <a:lnSpc>
                <a:spcPts val="2740"/>
              </a:lnSpc>
              <a:spcBef>
                <a:spcPts val="100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10" dirty="0">
                <a:latin typeface="Calibri"/>
                <a:cs typeface="Calibri"/>
              </a:rPr>
              <a:t>There </a:t>
            </a:r>
            <a:r>
              <a:rPr sz="2400" spc="-15" dirty="0">
                <a:latin typeface="Calibri"/>
                <a:cs typeface="Calibri"/>
              </a:rPr>
              <a:t>are </a:t>
            </a:r>
            <a:r>
              <a:rPr sz="2400" spc="-10" dirty="0">
                <a:latin typeface="Calibri"/>
                <a:cs typeface="Calibri"/>
              </a:rPr>
              <a:t>three </a:t>
            </a:r>
            <a:r>
              <a:rPr sz="2400" spc="-15" dirty="0">
                <a:latin typeface="Calibri"/>
                <a:cs typeface="Calibri"/>
              </a:rPr>
              <a:t>receptors </a:t>
            </a:r>
            <a:r>
              <a:rPr sz="2400" dirty="0">
                <a:latin typeface="Calibri"/>
                <a:cs typeface="Calibri"/>
              </a:rPr>
              <a:t>in the </a:t>
            </a:r>
            <a:r>
              <a:rPr sz="2400" spc="-10" dirty="0">
                <a:latin typeface="Calibri"/>
                <a:cs typeface="Calibri"/>
              </a:rPr>
              <a:t>retina that </a:t>
            </a:r>
            <a:r>
              <a:rPr sz="2400" spc="-15" dirty="0">
                <a:latin typeface="Calibri"/>
                <a:cs typeface="Calibri"/>
              </a:rPr>
              <a:t>are</a:t>
            </a:r>
            <a:r>
              <a:rPr sz="2400" spc="7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responsible</a:t>
            </a:r>
            <a:endParaRPr sz="2400">
              <a:latin typeface="Calibri"/>
              <a:cs typeface="Calibri"/>
            </a:endParaRPr>
          </a:p>
          <a:p>
            <a:pPr marL="184785">
              <a:lnSpc>
                <a:spcPts val="2740"/>
              </a:lnSpc>
            </a:pPr>
            <a:r>
              <a:rPr sz="2400" spc="-20" dirty="0">
                <a:latin typeface="Calibri"/>
                <a:cs typeface="Calibri"/>
              </a:rPr>
              <a:t>for </a:t>
            </a:r>
            <a:r>
              <a:rPr sz="2400" dirty="0">
                <a:latin typeface="Calibri"/>
                <a:cs typeface="Calibri"/>
              </a:rPr>
              <a:t>the </a:t>
            </a:r>
            <a:r>
              <a:rPr sz="2400" spc="-5" dirty="0">
                <a:latin typeface="Calibri"/>
                <a:cs typeface="Calibri"/>
              </a:rPr>
              <a:t>perception of</a:t>
            </a:r>
            <a:r>
              <a:rPr sz="2400" dirty="0">
                <a:latin typeface="Calibri"/>
                <a:cs typeface="Calibri"/>
              </a:rPr>
              <a:t> </a:t>
            </a:r>
            <a:r>
              <a:rPr sz="2400" spc="-50" dirty="0">
                <a:latin typeface="Calibri"/>
                <a:cs typeface="Calibri"/>
              </a:rPr>
              <a:t>color.</a:t>
            </a:r>
            <a:endParaRPr sz="2400">
              <a:latin typeface="Calibri"/>
              <a:cs typeface="Calibri"/>
            </a:endParaRPr>
          </a:p>
          <a:p>
            <a:pPr marL="527685" marR="442595" lvl="1" indent="-172720">
              <a:lnSpc>
                <a:spcPts val="2380"/>
              </a:lnSpc>
              <a:spcBef>
                <a:spcPts val="450"/>
              </a:spcBef>
              <a:buFont typeface="Arial"/>
              <a:buChar char="•"/>
              <a:tabLst>
                <a:tab pos="528320" algn="l"/>
              </a:tabLst>
            </a:pPr>
            <a:r>
              <a:rPr sz="2200" spc="-10" dirty="0">
                <a:latin typeface="Calibri"/>
                <a:cs typeface="Calibri"/>
              </a:rPr>
              <a:t>One </a:t>
            </a:r>
            <a:r>
              <a:rPr sz="2200" spc="-15" dirty="0">
                <a:latin typeface="Calibri"/>
                <a:cs typeface="Calibri"/>
              </a:rPr>
              <a:t>receptor </a:t>
            </a:r>
            <a:r>
              <a:rPr sz="2200" spc="-5" dirty="0">
                <a:latin typeface="Calibri"/>
                <a:cs typeface="Calibri"/>
              </a:rPr>
              <a:t>is </a:t>
            </a:r>
            <a:r>
              <a:rPr sz="2200" spc="-10" dirty="0">
                <a:latin typeface="Calibri"/>
                <a:cs typeface="Calibri"/>
              </a:rPr>
              <a:t>sensitive </a:t>
            </a:r>
            <a:r>
              <a:rPr sz="2200" spc="-20" dirty="0">
                <a:latin typeface="Calibri"/>
                <a:cs typeface="Calibri"/>
              </a:rPr>
              <a:t>to </a:t>
            </a:r>
            <a:r>
              <a:rPr sz="2200" spc="-5" dirty="0">
                <a:latin typeface="Calibri"/>
                <a:cs typeface="Calibri"/>
              </a:rPr>
              <a:t>the </a:t>
            </a:r>
            <a:r>
              <a:rPr sz="2200" spc="-10" dirty="0">
                <a:latin typeface="Calibri"/>
                <a:cs typeface="Calibri"/>
              </a:rPr>
              <a:t>color green, </a:t>
            </a:r>
            <a:r>
              <a:rPr sz="2200" spc="-5" dirty="0">
                <a:latin typeface="Calibri"/>
                <a:cs typeface="Calibri"/>
              </a:rPr>
              <a:t>another </a:t>
            </a:r>
            <a:r>
              <a:rPr sz="2200" spc="-20" dirty="0">
                <a:latin typeface="Calibri"/>
                <a:cs typeface="Calibri"/>
              </a:rPr>
              <a:t>to </a:t>
            </a:r>
            <a:r>
              <a:rPr sz="2200" spc="-5" dirty="0">
                <a:latin typeface="Calibri"/>
                <a:cs typeface="Calibri"/>
              </a:rPr>
              <a:t>the  </a:t>
            </a:r>
            <a:r>
              <a:rPr sz="2200" spc="-10" dirty="0">
                <a:latin typeface="Calibri"/>
                <a:cs typeface="Calibri"/>
              </a:rPr>
              <a:t>color blue </a:t>
            </a:r>
            <a:r>
              <a:rPr sz="2200" spc="-5" dirty="0">
                <a:latin typeface="Calibri"/>
                <a:cs typeface="Calibri"/>
              </a:rPr>
              <a:t>and a </a:t>
            </a:r>
            <a:r>
              <a:rPr sz="2200" spc="-15" dirty="0">
                <a:latin typeface="Calibri"/>
                <a:cs typeface="Calibri"/>
              </a:rPr>
              <a:t>third </a:t>
            </a:r>
            <a:r>
              <a:rPr sz="2200" spc="-20" dirty="0">
                <a:latin typeface="Calibri"/>
                <a:cs typeface="Calibri"/>
              </a:rPr>
              <a:t>to </a:t>
            </a:r>
            <a:r>
              <a:rPr sz="2200" spc="-5" dirty="0">
                <a:latin typeface="Calibri"/>
                <a:cs typeface="Calibri"/>
              </a:rPr>
              <a:t>the </a:t>
            </a:r>
            <a:r>
              <a:rPr sz="2200" spc="-10" dirty="0">
                <a:latin typeface="Calibri"/>
                <a:cs typeface="Calibri"/>
              </a:rPr>
              <a:t>color</a:t>
            </a:r>
            <a:r>
              <a:rPr sz="2200" spc="4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red.</a:t>
            </a:r>
            <a:endParaRPr sz="2200">
              <a:latin typeface="Calibri"/>
              <a:cs typeface="Calibri"/>
            </a:endParaRPr>
          </a:p>
          <a:p>
            <a:pPr marL="184785" indent="-172720">
              <a:lnSpc>
                <a:spcPts val="2735"/>
              </a:lnSpc>
              <a:spcBef>
                <a:spcPts val="455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5" dirty="0">
                <a:latin typeface="Calibri"/>
                <a:cs typeface="Calibri"/>
              </a:rPr>
              <a:t>These </a:t>
            </a:r>
            <a:r>
              <a:rPr sz="2400" spc="-10" dirty="0">
                <a:latin typeface="Calibri"/>
                <a:cs typeface="Calibri"/>
              </a:rPr>
              <a:t>three </a:t>
            </a:r>
            <a:r>
              <a:rPr sz="2400" spc="-15" dirty="0">
                <a:latin typeface="Calibri"/>
                <a:cs typeface="Calibri"/>
              </a:rPr>
              <a:t>colors </a:t>
            </a:r>
            <a:r>
              <a:rPr sz="2400" spc="-10" dirty="0">
                <a:latin typeface="Calibri"/>
                <a:cs typeface="Calibri"/>
              </a:rPr>
              <a:t>can </a:t>
            </a:r>
            <a:r>
              <a:rPr sz="2400" dirty="0">
                <a:latin typeface="Calibri"/>
                <a:cs typeface="Calibri"/>
              </a:rPr>
              <a:t>then </a:t>
            </a:r>
            <a:r>
              <a:rPr sz="2400" spc="-5" dirty="0">
                <a:latin typeface="Calibri"/>
                <a:cs typeface="Calibri"/>
              </a:rPr>
              <a:t>be </a:t>
            </a:r>
            <a:r>
              <a:rPr sz="2400" spc="-10" dirty="0">
                <a:latin typeface="Calibri"/>
                <a:cs typeface="Calibri"/>
              </a:rPr>
              <a:t>combined </a:t>
            </a:r>
            <a:r>
              <a:rPr sz="2400" spc="-15" dirty="0">
                <a:latin typeface="Calibri"/>
                <a:cs typeface="Calibri"/>
              </a:rPr>
              <a:t>to form </a:t>
            </a:r>
            <a:r>
              <a:rPr sz="2400" spc="-20" dirty="0">
                <a:latin typeface="Calibri"/>
                <a:cs typeface="Calibri"/>
              </a:rPr>
              <a:t>any</a:t>
            </a:r>
            <a:r>
              <a:rPr sz="2400" spc="6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visible</a:t>
            </a:r>
            <a:endParaRPr sz="2400">
              <a:latin typeface="Calibri"/>
              <a:cs typeface="Calibri"/>
            </a:endParaRPr>
          </a:p>
          <a:p>
            <a:pPr marL="184785">
              <a:lnSpc>
                <a:spcPts val="2735"/>
              </a:lnSpc>
            </a:pPr>
            <a:r>
              <a:rPr sz="2400" spc="-10" dirty="0">
                <a:latin typeface="Calibri"/>
                <a:cs typeface="Calibri"/>
              </a:rPr>
              <a:t>color </a:t>
            </a:r>
            <a:r>
              <a:rPr sz="2400" dirty="0">
                <a:latin typeface="Calibri"/>
                <a:cs typeface="Calibri"/>
              </a:rPr>
              <a:t>in the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spectrum.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783828" y="54356"/>
            <a:ext cx="11620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latin typeface="Calibri"/>
                <a:cs typeface="Calibri"/>
              </a:rPr>
              <a:t>8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991611" y="4518659"/>
            <a:ext cx="3162300" cy="1808988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spc="-5" dirty="0"/>
              <a:t>Pengolahan Citra </a:t>
            </a:r>
            <a:r>
              <a:rPr dirty="0"/>
              <a:t>- </a:t>
            </a:r>
            <a:r>
              <a:rPr spc="-5" dirty="0"/>
              <a:t>Color</a:t>
            </a:r>
            <a:r>
              <a:rPr spc="-40" dirty="0"/>
              <a:t> </a:t>
            </a:r>
            <a:r>
              <a:rPr spc="-5" dirty="0"/>
              <a:t>Theory</a:t>
            </a:r>
          </a:p>
        </p:txBody>
      </p:sp>
    </p:spTree>
    <p:extLst>
      <p:ext uri="{BB962C8B-B14F-4D97-AF65-F5344CB8AC3E}">
        <p14:creationId xmlns:p14="http://schemas.microsoft.com/office/powerpoint/2010/main" val="16250255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17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5"/>
              </a:spcBef>
            </a:pPr>
            <a:endParaRPr sz="2500">
              <a:latin typeface="Times New Roman"/>
              <a:cs typeface="Times New Roman"/>
            </a:endParaRPr>
          </a:p>
          <a:p>
            <a:pPr marL="720090">
              <a:lnSpc>
                <a:spcPct val="100000"/>
              </a:lnSpc>
            </a:pPr>
            <a:r>
              <a:rPr sz="3200" spc="-20" dirty="0"/>
              <a:t>Warna </a:t>
            </a:r>
            <a:r>
              <a:rPr sz="3200" spc="-5" dirty="0"/>
              <a:t>Primer </a:t>
            </a:r>
            <a:r>
              <a:rPr sz="3200" dirty="0"/>
              <a:t>vs </a:t>
            </a:r>
            <a:r>
              <a:rPr sz="3200" spc="-5" dirty="0"/>
              <a:t>Sekunder </a:t>
            </a:r>
            <a:r>
              <a:rPr sz="3200" spc="-35" dirty="0"/>
              <a:t>Pada</a:t>
            </a:r>
            <a:r>
              <a:rPr sz="3200" spc="-110" dirty="0"/>
              <a:t> </a:t>
            </a:r>
            <a:r>
              <a:rPr sz="3200" spc="-40" dirty="0"/>
              <a:t>Cahaya</a:t>
            </a:r>
            <a:endParaRPr sz="3200"/>
          </a:p>
        </p:txBody>
      </p:sp>
      <p:sp>
        <p:nvSpPr>
          <p:cNvPr id="3" name="object 3"/>
          <p:cNvSpPr/>
          <p:nvPr/>
        </p:nvSpPr>
        <p:spPr>
          <a:xfrm>
            <a:off x="629412" y="5658611"/>
            <a:ext cx="3627120" cy="654050"/>
          </a:xfrm>
          <a:custGeom>
            <a:avLst/>
            <a:gdLst/>
            <a:ahLst/>
            <a:cxnLst/>
            <a:rect l="l" t="t" r="r" b="b"/>
            <a:pathLst>
              <a:path w="3627120" h="654050">
                <a:moveTo>
                  <a:pt x="3518154" y="0"/>
                </a:moveTo>
                <a:lnTo>
                  <a:pt x="108965" y="0"/>
                </a:lnTo>
                <a:lnTo>
                  <a:pt x="66549" y="8562"/>
                </a:lnTo>
                <a:lnTo>
                  <a:pt x="31913" y="31913"/>
                </a:lnTo>
                <a:lnTo>
                  <a:pt x="8562" y="66549"/>
                </a:lnTo>
                <a:lnTo>
                  <a:pt x="0" y="108965"/>
                </a:lnTo>
                <a:lnTo>
                  <a:pt x="0" y="544830"/>
                </a:lnTo>
                <a:lnTo>
                  <a:pt x="8562" y="587241"/>
                </a:lnTo>
                <a:lnTo>
                  <a:pt x="31913" y="621877"/>
                </a:lnTo>
                <a:lnTo>
                  <a:pt x="66549" y="645231"/>
                </a:lnTo>
                <a:lnTo>
                  <a:pt x="108965" y="653796"/>
                </a:lnTo>
                <a:lnTo>
                  <a:pt x="3518154" y="653796"/>
                </a:lnTo>
                <a:lnTo>
                  <a:pt x="3560575" y="645231"/>
                </a:lnTo>
                <a:lnTo>
                  <a:pt x="3595211" y="621877"/>
                </a:lnTo>
                <a:lnTo>
                  <a:pt x="3618559" y="587241"/>
                </a:lnTo>
                <a:lnTo>
                  <a:pt x="3627120" y="544830"/>
                </a:lnTo>
                <a:lnTo>
                  <a:pt x="3627120" y="108965"/>
                </a:lnTo>
                <a:lnTo>
                  <a:pt x="3618559" y="66549"/>
                </a:lnTo>
                <a:lnTo>
                  <a:pt x="3595211" y="31913"/>
                </a:lnTo>
                <a:lnTo>
                  <a:pt x="3560575" y="8562"/>
                </a:lnTo>
                <a:lnTo>
                  <a:pt x="3518154" y="0"/>
                </a:lnTo>
                <a:close/>
              </a:path>
            </a:pathLst>
          </a:custGeom>
          <a:solidFill>
            <a:srgbClr val="9C85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629412" y="5658611"/>
            <a:ext cx="3627120" cy="654050"/>
          </a:xfrm>
          <a:custGeom>
            <a:avLst/>
            <a:gdLst/>
            <a:ahLst/>
            <a:cxnLst/>
            <a:rect l="l" t="t" r="r" b="b"/>
            <a:pathLst>
              <a:path w="3627120" h="654050">
                <a:moveTo>
                  <a:pt x="0" y="108965"/>
                </a:moveTo>
                <a:lnTo>
                  <a:pt x="8562" y="66549"/>
                </a:lnTo>
                <a:lnTo>
                  <a:pt x="31913" y="31913"/>
                </a:lnTo>
                <a:lnTo>
                  <a:pt x="66549" y="8562"/>
                </a:lnTo>
                <a:lnTo>
                  <a:pt x="108965" y="0"/>
                </a:lnTo>
                <a:lnTo>
                  <a:pt x="3518154" y="0"/>
                </a:lnTo>
                <a:lnTo>
                  <a:pt x="3560575" y="8562"/>
                </a:lnTo>
                <a:lnTo>
                  <a:pt x="3595211" y="31913"/>
                </a:lnTo>
                <a:lnTo>
                  <a:pt x="3618559" y="66549"/>
                </a:lnTo>
                <a:lnTo>
                  <a:pt x="3627120" y="108965"/>
                </a:lnTo>
                <a:lnTo>
                  <a:pt x="3627120" y="544830"/>
                </a:lnTo>
                <a:lnTo>
                  <a:pt x="3618559" y="587241"/>
                </a:lnTo>
                <a:lnTo>
                  <a:pt x="3595211" y="621877"/>
                </a:lnTo>
                <a:lnTo>
                  <a:pt x="3560575" y="645231"/>
                </a:lnTo>
                <a:lnTo>
                  <a:pt x="3518154" y="653796"/>
                </a:lnTo>
                <a:lnTo>
                  <a:pt x="108965" y="653796"/>
                </a:lnTo>
                <a:lnTo>
                  <a:pt x="66549" y="645231"/>
                </a:lnTo>
                <a:lnTo>
                  <a:pt x="31913" y="621877"/>
                </a:lnTo>
                <a:lnTo>
                  <a:pt x="8562" y="587241"/>
                </a:lnTo>
                <a:lnTo>
                  <a:pt x="0" y="544830"/>
                </a:lnTo>
                <a:lnTo>
                  <a:pt x="0" y="108965"/>
                </a:lnTo>
                <a:close/>
              </a:path>
            </a:pathLst>
          </a:custGeom>
          <a:ln w="12192">
            <a:solidFill>
              <a:srgbClr val="705F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707542" y="1780308"/>
            <a:ext cx="2624455" cy="43827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84785" indent="-1727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20" dirty="0">
                <a:latin typeface="Calibri"/>
                <a:cs typeface="Calibri"/>
              </a:rPr>
              <a:t>Warna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primer:</a:t>
            </a:r>
            <a:endParaRPr sz="2400">
              <a:latin typeface="Calibri"/>
              <a:cs typeface="Calibri"/>
            </a:endParaRPr>
          </a:p>
          <a:p>
            <a:pPr marL="527685" lvl="1" indent="-172720">
              <a:lnSpc>
                <a:spcPct val="100000"/>
              </a:lnSpc>
              <a:spcBef>
                <a:spcPts val="155"/>
              </a:spcBef>
              <a:buFont typeface="Arial"/>
              <a:buChar char="•"/>
              <a:tabLst>
                <a:tab pos="528320" algn="l"/>
              </a:tabLst>
            </a:pPr>
            <a:r>
              <a:rPr sz="2200" spc="-15" dirty="0">
                <a:latin typeface="Calibri"/>
                <a:cs typeface="Calibri"/>
              </a:rPr>
              <a:t>red</a:t>
            </a:r>
            <a:r>
              <a:rPr sz="2200" spc="-2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(R)</a:t>
            </a:r>
            <a:endParaRPr sz="2200">
              <a:latin typeface="Calibri"/>
              <a:cs typeface="Calibri"/>
            </a:endParaRPr>
          </a:p>
          <a:p>
            <a:pPr marL="527685" lvl="1" indent="-172720">
              <a:lnSpc>
                <a:spcPct val="100000"/>
              </a:lnSpc>
              <a:spcBef>
                <a:spcPts val="130"/>
              </a:spcBef>
              <a:buFont typeface="Arial"/>
              <a:buChar char="•"/>
              <a:tabLst>
                <a:tab pos="528320" algn="l"/>
              </a:tabLst>
            </a:pPr>
            <a:r>
              <a:rPr sz="2200" spc="-10" dirty="0">
                <a:latin typeface="Calibri"/>
                <a:cs typeface="Calibri"/>
              </a:rPr>
              <a:t>green</a:t>
            </a:r>
            <a:r>
              <a:rPr sz="2200" spc="-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(G)</a:t>
            </a:r>
            <a:endParaRPr sz="2200">
              <a:latin typeface="Calibri"/>
              <a:cs typeface="Calibri"/>
            </a:endParaRPr>
          </a:p>
          <a:p>
            <a:pPr marL="527685" lvl="1" indent="-172720">
              <a:lnSpc>
                <a:spcPct val="100000"/>
              </a:lnSpc>
              <a:spcBef>
                <a:spcPts val="145"/>
              </a:spcBef>
              <a:buFont typeface="Arial"/>
              <a:buChar char="•"/>
              <a:tabLst>
                <a:tab pos="528320" algn="l"/>
              </a:tabLst>
            </a:pPr>
            <a:r>
              <a:rPr sz="2200" spc="-10" dirty="0">
                <a:latin typeface="Calibri"/>
                <a:cs typeface="Calibri"/>
              </a:rPr>
              <a:t>blue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(B)</a:t>
            </a:r>
            <a:endParaRPr sz="2200">
              <a:latin typeface="Calibri"/>
              <a:cs typeface="Calibri"/>
            </a:endParaRPr>
          </a:p>
          <a:p>
            <a:pPr marL="184785" indent="-172720">
              <a:lnSpc>
                <a:spcPct val="100000"/>
              </a:lnSpc>
              <a:spcBef>
                <a:spcPts val="500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20" dirty="0">
                <a:latin typeface="Calibri"/>
                <a:cs typeface="Calibri"/>
              </a:rPr>
              <a:t>Warna</a:t>
            </a:r>
            <a:r>
              <a:rPr sz="2400" spc="-10" dirty="0">
                <a:latin typeface="Calibri"/>
                <a:cs typeface="Calibri"/>
              </a:rPr>
              <a:t> sekunder:</a:t>
            </a:r>
            <a:endParaRPr sz="2400">
              <a:latin typeface="Calibri"/>
              <a:cs typeface="Calibri"/>
            </a:endParaRPr>
          </a:p>
          <a:p>
            <a:pPr marL="527685" lvl="1" indent="-172720">
              <a:lnSpc>
                <a:spcPct val="100000"/>
              </a:lnSpc>
              <a:spcBef>
                <a:spcPts val="150"/>
              </a:spcBef>
              <a:buFont typeface="Arial"/>
              <a:buChar char="•"/>
              <a:tabLst>
                <a:tab pos="528320" algn="l"/>
              </a:tabLst>
            </a:pPr>
            <a:r>
              <a:rPr sz="2200" spc="-15" dirty="0">
                <a:latin typeface="Calibri"/>
                <a:cs typeface="Calibri"/>
              </a:rPr>
              <a:t>magenta</a:t>
            </a:r>
            <a:r>
              <a:rPr sz="2200" spc="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(R+B)</a:t>
            </a:r>
            <a:endParaRPr sz="2200">
              <a:latin typeface="Calibri"/>
              <a:cs typeface="Calibri"/>
            </a:endParaRPr>
          </a:p>
          <a:p>
            <a:pPr marL="527685" lvl="1" indent="-172720">
              <a:lnSpc>
                <a:spcPct val="100000"/>
              </a:lnSpc>
              <a:spcBef>
                <a:spcPts val="130"/>
              </a:spcBef>
              <a:buFont typeface="Arial"/>
              <a:buChar char="•"/>
              <a:tabLst>
                <a:tab pos="528320" algn="l"/>
              </a:tabLst>
            </a:pPr>
            <a:r>
              <a:rPr sz="2200" spc="-15" dirty="0">
                <a:latin typeface="Calibri"/>
                <a:cs typeface="Calibri"/>
              </a:rPr>
              <a:t>cyan</a:t>
            </a:r>
            <a:r>
              <a:rPr sz="2200" spc="-5" dirty="0">
                <a:latin typeface="Calibri"/>
                <a:cs typeface="Calibri"/>
              </a:rPr>
              <a:t> (G+B)</a:t>
            </a:r>
            <a:endParaRPr sz="2200">
              <a:latin typeface="Calibri"/>
              <a:cs typeface="Calibri"/>
            </a:endParaRPr>
          </a:p>
          <a:p>
            <a:pPr marL="527685" lvl="1" indent="-172720">
              <a:lnSpc>
                <a:spcPct val="100000"/>
              </a:lnSpc>
              <a:spcBef>
                <a:spcPts val="135"/>
              </a:spcBef>
              <a:buFont typeface="Arial"/>
              <a:buChar char="•"/>
              <a:tabLst>
                <a:tab pos="528320" algn="l"/>
              </a:tabLst>
            </a:pPr>
            <a:r>
              <a:rPr sz="2200" spc="-10" dirty="0">
                <a:latin typeface="Calibri"/>
                <a:cs typeface="Calibri"/>
              </a:rPr>
              <a:t>yellow(R+G)</a:t>
            </a:r>
            <a:endParaRPr sz="2200">
              <a:latin typeface="Calibri"/>
              <a:cs typeface="Calibri"/>
            </a:endParaRPr>
          </a:p>
          <a:p>
            <a:pPr marL="184785" indent="-172720">
              <a:lnSpc>
                <a:spcPct val="100000"/>
              </a:lnSpc>
              <a:spcBef>
                <a:spcPts val="509"/>
              </a:spcBef>
              <a:buFont typeface="Arial"/>
              <a:buChar char="•"/>
              <a:tabLst>
                <a:tab pos="185420" algn="l"/>
              </a:tabLst>
            </a:pPr>
            <a:r>
              <a:rPr sz="2400" dirty="0">
                <a:latin typeface="Calibri"/>
                <a:cs typeface="Calibri"/>
              </a:rPr>
              <a:t>R+G+B: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putih</a:t>
            </a:r>
            <a:endParaRPr sz="24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4000">
              <a:latin typeface="Calibri"/>
              <a:cs typeface="Calibri"/>
            </a:endParaRPr>
          </a:p>
          <a:p>
            <a:pPr marL="857250">
              <a:lnSpc>
                <a:spcPct val="100000"/>
              </a:lnSpc>
            </a:pPr>
            <a:r>
              <a:rPr sz="2400" spc="-5" dirty="0">
                <a:latin typeface="Calibri"/>
                <a:cs typeface="Calibri"/>
              </a:rPr>
              <a:t>Additive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Color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657717" y="2158356"/>
            <a:ext cx="4047767" cy="3514377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8783828" y="54356"/>
            <a:ext cx="11620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latin typeface="Calibri"/>
                <a:cs typeface="Calibri"/>
              </a:rPr>
              <a:t>9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spc="-5" dirty="0"/>
              <a:t>Pengolahan Citra </a:t>
            </a:r>
            <a:r>
              <a:rPr dirty="0"/>
              <a:t>- </a:t>
            </a:r>
            <a:r>
              <a:rPr spc="-5" dirty="0"/>
              <a:t>Color</a:t>
            </a:r>
            <a:r>
              <a:rPr spc="-40" dirty="0"/>
              <a:t> </a:t>
            </a:r>
            <a:r>
              <a:rPr spc="-5" dirty="0"/>
              <a:t>Theory</a:t>
            </a:r>
          </a:p>
        </p:txBody>
      </p:sp>
    </p:spTree>
    <p:extLst>
      <p:ext uri="{BB962C8B-B14F-4D97-AF65-F5344CB8AC3E}">
        <p14:creationId xmlns:p14="http://schemas.microsoft.com/office/powerpoint/2010/main" val="103666855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sz="3600" spc="-15" dirty="0"/>
              <a:t>Three </a:t>
            </a:r>
            <a:r>
              <a:rPr sz="3600" spc="-5" dirty="0"/>
              <a:t>Sensitive</a:t>
            </a:r>
            <a:r>
              <a:rPr sz="3600" spc="-15" dirty="0"/>
              <a:t> </a:t>
            </a:r>
            <a:r>
              <a:rPr sz="3600" dirty="0"/>
              <a:t>Channels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707542" y="1802333"/>
            <a:ext cx="7324090" cy="3693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785" indent="-172720">
              <a:lnSpc>
                <a:spcPts val="2740"/>
              </a:lnSpc>
              <a:spcBef>
                <a:spcPts val="100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10" dirty="0">
                <a:latin typeface="Calibri"/>
                <a:cs typeface="Calibri"/>
              </a:rPr>
              <a:t>Three sensitive </a:t>
            </a:r>
            <a:r>
              <a:rPr sz="2400" dirty="0">
                <a:latin typeface="Calibri"/>
                <a:cs typeface="Calibri"/>
              </a:rPr>
              <a:t>channels </a:t>
            </a:r>
            <a:r>
              <a:rPr sz="2400" spc="-15" dirty="0">
                <a:latin typeface="Calibri"/>
                <a:cs typeface="Calibri"/>
              </a:rPr>
              <a:t>are </a:t>
            </a:r>
            <a:r>
              <a:rPr sz="2400" spc="-5" dirty="0">
                <a:latin typeface="Calibri"/>
                <a:cs typeface="Calibri"/>
              </a:rPr>
              <a:t>not </a:t>
            </a:r>
            <a:r>
              <a:rPr sz="2400" b="1" spc="-5" dirty="0">
                <a:latin typeface="Calibri"/>
                <a:cs typeface="Calibri"/>
              </a:rPr>
              <a:t>simply </a:t>
            </a:r>
            <a:r>
              <a:rPr sz="2400" b="1" spc="-10" dirty="0">
                <a:latin typeface="Calibri"/>
                <a:cs typeface="Calibri"/>
              </a:rPr>
              <a:t>additive </a:t>
            </a:r>
            <a:r>
              <a:rPr sz="2400" dirty="0">
                <a:latin typeface="Calibri"/>
                <a:cs typeface="Calibri"/>
              </a:rPr>
              <a:t>in</a:t>
            </a:r>
            <a:r>
              <a:rPr sz="2400" spc="7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their</a:t>
            </a:r>
            <a:endParaRPr sz="2400">
              <a:latin typeface="Calibri"/>
              <a:cs typeface="Calibri"/>
            </a:endParaRPr>
          </a:p>
          <a:p>
            <a:pPr marL="184785">
              <a:lnSpc>
                <a:spcPts val="2740"/>
              </a:lnSpc>
            </a:pPr>
            <a:r>
              <a:rPr sz="2400" spc="-5" dirty="0">
                <a:latin typeface="Calibri"/>
                <a:cs typeface="Calibri"/>
              </a:rPr>
              <a:t>response </a:t>
            </a:r>
            <a:r>
              <a:rPr sz="2400" spc="-15" dirty="0">
                <a:latin typeface="Calibri"/>
                <a:cs typeface="Calibri"/>
              </a:rPr>
              <a:t>to </a:t>
            </a:r>
            <a:r>
              <a:rPr sz="2400" spc="-5" dirty="0">
                <a:latin typeface="Calibri"/>
                <a:cs typeface="Calibri"/>
              </a:rPr>
              <a:t>light.</a:t>
            </a:r>
            <a:endParaRPr sz="2400">
              <a:latin typeface="Calibri"/>
              <a:cs typeface="Calibri"/>
            </a:endParaRPr>
          </a:p>
          <a:p>
            <a:pPr marL="527685" marR="64135" lvl="1" indent="-172720">
              <a:lnSpc>
                <a:spcPts val="2380"/>
              </a:lnSpc>
              <a:spcBef>
                <a:spcPts val="450"/>
              </a:spcBef>
              <a:buFont typeface="Arial"/>
              <a:buChar char="•"/>
              <a:tabLst>
                <a:tab pos="528320" algn="l"/>
              </a:tabLst>
            </a:pPr>
            <a:r>
              <a:rPr sz="2200" spc="-20" dirty="0">
                <a:latin typeface="Calibri"/>
                <a:cs typeface="Calibri"/>
              </a:rPr>
              <a:t>Red </a:t>
            </a:r>
            <a:r>
              <a:rPr sz="2200" spc="-10" dirty="0">
                <a:latin typeface="Calibri"/>
                <a:cs typeface="Calibri"/>
              </a:rPr>
              <a:t>dan Green dapat </a:t>
            </a:r>
            <a:r>
              <a:rPr sz="2200" spc="-5" dirty="0">
                <a:latin typeface="Calibri"/>
                <a:cs typeface="Calibri"/>
              </a:rPr>
              <a:t>menjadi </a:t>
            </a:r>
            <a:r>
              <a:rPr sz="2200" spc="-10" dirty="0">
                <a:latin typeface="Calibri"/>
                <a:cs typeface="Calibri"/>
              </a:rPr>
              <a:t>warna kuning, </a:t>
            </a:r>
            <a:r>
              <a:rPr sz="2200" spc="-15" dirty="0">
                <a:latin typeface="Calibri"/>
                <a:cs typeface="Calibri"/>
              </a:rPr>
              <a:t>yang </a:t>
            </a:r>
            <a:r>
              <a:rPr sz="2200" spc="-5" dirty="0">
                <a:latin typeface="Calibri"/>
                <a:cs typeface="Calibri"/>
              </a:rPr>
              <a:t>tidak  </a:t>
            </a:r>
            <a:r>
              <a:rPr sz="2200" spc="-10" dirty="0">
                <a:latin typeface="Calibri"/>
                <a:cs typeface="Calibri"/>
              </a:rPr>
              <a:t>menampilkan unsur </a:t>
            </a:r>
            <a:r>
              <a:rPr sz="2200" spc="-20" dirty="0">
                <a:latin typeface="Calibri"/>
                <a:cs typeface="Calibri"/>
              </a:rPr>
              <a:t>Red </a:t>
            </a:r>
            <a:r>
              <a:rPr sz="2200" spc="-10" dirty="0">
                <a:latin typeface="Calibri"/>
                <a:cs typeface="Calibri"/>
              </a:rPr>
              <a:t>dan Green </a:t>
            </a:r>
            <a:r>
              <a:rPr sz="2200" spc="-5" dirty="0">
                <a:latin typeface="Calibri"/>
                <a:cs typeface="Calibri"/>
              </a:rPr>
              <a:t>(tidak ada </a:t>
            </a:r>
            <a:r>
              <a:rPr sz="2200" spc="-25" dirty="0">
                <a:latin typeface="Calibri"/>
                <a:cs typeface="Calibri"/>
              </a:rPr>
              <a:t>efek </a:t>
            </a:r>
            <a:r>
              <a:rPr sz="2200" spc="-10" dirty="0">
                <a:latin typeface="Calibri"/>
                <a:cs typeface="Calibri"/>
              </a:rPr>
              <a:t>reddish-  green)</a:t>
            </a:r>
            <a:endParaRPr sz="2200">
              <a:latin typeface="Calibri"/>
              <a:cs typeface="Calibri"/>
            </a:endParaRPr>
          </a:p>
          <a:p>
            <a:pPr lvl="1">
              <a:lnSpc>
                <a:spcPct val="100000"/>
              </a:lnSpc>
              <a:spcBef>
                <a:spcPts val="55"/>
              </a:spcBef>
              <a:buFont typeface="Arial"/>
              <a:buChar char="•"/>
            </a:pPr>
            <a:endParaRPr sz="2550">
              <a:latin typeface="Calibri"/>
              <a:cs typeface="Calibri"/>
            </a:endParaRPr>
          </a:p>
          <a:p>
            <a:pPr marL="527685" marR="5080" lvl="1" indent="-172720">
              <a:lnSpc>
                <a:spcPts val="2380"/>
              </a:lnSpc>
              <a:buFont typeface="Arial"/>
              <a:buChar char="•"/>
              <a:tabLst>
                <a:tab pos="528320" algn="l"/>
              </a:tabLst>
            </a:pPr>
            <a:r>
              <a:rPr sz="2200" spc="-10" dirty="0">
                <a:latin typeface="Calibri"/>
                <a:cs typeface="Calibri"/>
              </a:rPr>
              <a:t>Campuran warna </a:t>
            </a:r>
            <a:r>
              <a:rPr sz="2200" spc="-35" dirty="0">
                <a:latin typeface="Calibri"/>
                <a:cs typeface="Calibri"/>
              </a:rPr>
              <a:t>Yellow </a:t>
            </a:r>
            <a:r>
              <a:rPr sz="2200" spc="-10" dirty="0">
                <a:latin typeface="Calibri"/>
                <a:cs typeface="Calibri"/>
              </a:rPr>
              <a:t>dan </a:t>
            </a:r>
            <a:r>
              <a:rPr sz="2200" spc="-5" dirty="0">
                <a:latin typeface="Calibri"/>
                <a:cs typeface="Calibri"/>
              </a:rPr>
              <a:t>Blue </a:t>
            </a:r>
            <a:r>
              <a:rPr sz="2200" spc="-10" dirty="0">
                <a:latin typeface="Calibri"/>
                <a:cs typeface="Calibri"/>
              </a:rPr>
              <a:t>dapat menghasilkan putih  </a:t>
            </a:r>
            <a:r>
              <a:rPr sz="2200" spc="-15" dirty="0">
                <a:latin typeface="Calibri"/>
                <a:cs typeface="Calibri"/>
              </a:rPr>
              <a:t>yang </a:t>
            </a:r>
            <a:r>
              <a:rPr sz="2200" spc="-5" dirty="0">
                <a:latin typeface="Calibri"/>
                <a:cs typeface="Calibri"/>
              </a:rPr>
              <a:t>tidak </a:t>
            </a:r>
            <a:r>
              <a:rPr sz="2200" spc="-10" dirty="0">
                <a:latin typeface="Calibri"/>
                <a:cs typeface="Calibri"/>
              </a:rPr>
              <a:t>menampilkan unsur</a:t>
            </a:r>
            <a:r>
              <a:rPr sz="2200" spc="30" dirty="0">
                <a:latin typeface="Calibri"/>
                <a:cs typeface="Calibri"/>
              </a:rPr>
              <a:t> </a:t>
            </a:r>
            <a:r>
              <a:rPr sz="2200" spc="-35" dirty="0">
                <a:latin typeface="Calibri"/>
                <a:cs typeface="Calibri"/>
              </a:rPr>
              <a:t>Yellow</a:t>
            </a:r>
            <a:endParaRPr sz="2200">
              <a:latin typeface="Calibri"/>
              <a:cs typeface="Calibri"/>
            </a:endParaRPr>
          </a:p>
          <a:p>
            <a:pPr lvl="1">
              <a:lnSpc>
                <a:spcPct val="100000"/>
              </a:lnSpc>
              <a:spcBef>
                <a:spcPts val="50"/>
              </a:spcBef>
              <a:buFont typeface="Arial"/>
              <a:buChar char="•"/>
            </a:pPr>
            <a:endParaRPr sz="2550">
              <a:latin typeface="Calibri"/>
              <a:cs typeface="Calibri"/>
            </a:endParaRPr>
          </a:p>
          <a:p>
            <a:pPr marL="527685" marR="340995" lvl="1" indent="-172720">
              <a:lnSpc>
                <a:spcPts val="2380"/>
              </a:lnSpc>
              <a:buFont typeface="Arial"/>
              <a:buChar char="•"/>
              <a:tabLst>
                <a:tab pos="528320" algn="l"/>
              </a:tabLst>
            </a:pPr>
            <a:r>
              <a:rPr sz="2200" spc="-5" dirty="0">
                <a:latin typeface="Calibri"/>
                <a:cs typeface="Calibri"/>
              </a:rPr>
              <a:t>Blue dan </a:t>
            </a:r>
            <a:r>
              <a:rPr sz="2200" spc="-35" dirty="0">
                <a:latin typeface="Calibri"/>
                <a:cs typeface="Calibri"/>
              </a:rPr>
              <a:t>Yellow </a:t>
            </a:r>
            <a:r>
              <a:rPr sz="2200" spc="-10" dirty="0">
                <a:latin typeface="Calibri"/>
                <a:cs typeface="Calibri"/>
              </a:rPr>
              <a:t>dapat </a:t>
            </a:r>
            <a:r>
              <a:rPr sz="2200" spc="-15" dirty="0">
                <a:latin typeface="Calibri"/>
                <a:cs typeface="Calibri"/>
              </a:rPr>
              <a:t>bercampur dengan </a:t>
            </a:r>
            <a:r>
              <a:rPr sz="2200" spc="-20" dirty="0">
                <a:latin typeface="Calibri"/>
                <a:cs typeface="Calibri"/>
              </a:rPr>
              <a:t>Red </a:t>
            </a:r>
            <a:r>
              <a:rPr sz="2200" spc="-10" dirty="0">
                <a:latin typeface="Calibri"/>
                <a:cs typeface="Calibri"/>
              </a:rPr>
              <a:t>dan Green  </a:t>
            </a:r>
            <a:r>
              <a:rPr sz="2200" spc="-15" dirty="0">
                <a:latin typeface="Calibri"/>
                <a:cs typeface="Calibri"/>
              </a:rPr>
              <a:t>dengan </a:t>
            </a:r>
            <a:r>
              <a:rPr sz="2200" spc="-20" dirty="0">
                <a:latin typeface="Calibri"/>
                <a:cs typeface="Calibri"/>
              </a:rPr>
              <a:t>tetap </a:t>
            </a:r>
            <a:r>
              <a:rPr sz="2200" spc="-10" dirty="0">
                <a:latin typeface="Calibri"/>
                <a:cs typeface="Calibri"/>
              </a:rPr>
              <a:t>menampilkan unsur warna</a:t>
            </a:r>
            <a:r>
              <a:rPr sz="2200" spc="80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kandungannya</a:t>
            </a:r>
            <a:endParaRPr sz="22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693911" y="54356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5" dirty="0">
                <a:latin typeface="Calibri"/>
                <a:cs typeface="Calibri"/>
              </a:rPr>
              <a:t>10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7120128" y="3229355"/>
            <a:ext cx="829055" cy="4191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7120128" y="4364735"/>
            <a:ext cx="848868" cy="38100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4154423" y="5692140"/>
            <a:ext cx="3838955" cy="362711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spc="-5" dirty="0"/>
              <a:t>Pengolahan Citra </a:t>
            </a:r>
            <a:r>
              <a:rPr dirty="0"/>
              <a:t>- </a:t>
            </a:r>
            <a:r>
              <a:rPr spc="-5" dirty="0"/>
              <a:t>Color</a:t>
            </a:r>
            <a:r>
              <a:rPr spc="-40" dirty="0"/>
              <a:t> </a:t>
            </a:r>
            <a:r>
              <a:rPr spc="-5" dirty="0"/>
              <a:t>Theory</a:t>
            </a:r>
          </a:p>
        </p:txBody>
      </p:sp>
    </p:spTree>
    <p:extLst>
      <p:ext uri="{BB962C8B-B14F-4D97-AF65-F5344CB8AC3E}">
        <p14:creationId xmlns:p14="http://schemas.microsoft.com/office/powerpoint/2010/main" val="22910118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sz="3600" spc="-5" dirty="0"/>
              <a:t>Color Theory: </a:t>
            </a:r>
            <a:r>
              <a:rPr sz="3600" spc="-10" dirty="0"/>
              <a:t>Opponent </a:t>
            </a:r>
            <a:r>
              <a:rPr sz="3600" spc="-5" dirty="0"/>
              <a:t>Color</a:t>
            </a:r>
            <a:r>
              <a:rPr sz="3600" spc="35" dirty="0"/>
              <a:t> </a:t>
            </a:r>
            <a:r>
              <a:rPr sz="3600" spc="-5" dirty="0"/>
              <a:t>Theory</a:t>
            </a:r>
            <a:endParaRPr sz="3600"/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785" indent="-172720">
              <a:lnSpc>
                <a:spcPts val="2740"/>
              </a:lnSpc>
              <a:spcBef>
                <a:spcPts val="100"/>
              </a:spcBef>
              <a:buFont typeface="Arial"/>
              <a:buChar char="•"/>
              <a:tabLst>
                <a:tab pos="185420" algn="l"/>
              </a:tabLst>
            </a:pPr>
            <a:r>
              <a:rPr spc="-15" dirty="0"/>
              <a:t>Ewald </a:t>
            </a:r>
            <a:r>
              <a:rPr dirty="0"/>
              <a:t>Hering </a:t>
            </a:r>
            <a:r>
              <a:rPr spc="-5" dirty="0"/>
              <a:t>(1892) </a:t>
            </a:r>
            <a:r>
              <a:rPr spc="-10" dirty="0"/>
              <a:t>pointed </a:t>
            </a:r>
            <a:r>
              <a:rPr spc="-5" dirty="0"/>
              <a:t>out </a:t>
            </a:r>
            <a:r>
              <a:rPr dirty="0"/>
              <a:t>a </a:t>
            </a:r>
            <a:r>
              <a:rPr spc="-5" dirty="0"/>
              <a:t>specific</a:t>
            </a:r>
            <a:r>
              <a:rPr spc="-70" dirty="0"/>
              <a:t> </a:t>
            </a:r>
            <a:r>
              <a:rPr spc="-10" dirty="0"/>
              <a:t>antagonism</a:t>
            </a:r>
          </a:p>
          <a:p>
            <a:pPr marL="184785">
              <a:lnSpc>
                <a:spcPts val="2740"/>
              </a:lnSpc>
            </a:pPr>
            <a:r>
              <a:rPr spc="-5" dirty="0"/>
              <a:t>between certain</a:t>
            </a:r>
            <a:r>
              <a:rPr spc="-20" dirty="0"/>
              <a:t> </a:t>
            </a:r>
            <a:r>
              <a:rPr spc="-5" dirty="0"/>
              <a:t>hues.</a:t>
            </a:r>
          </a:p>
          <a:p>
            <a:pPr marL="184785" marR="626110" indent="-172720">
              <a:lnSpc>
                <a:spcPts val="2590"/>
              </a:lnSpc>
              <a:spcBef>
                <a:spcPts val="844"/>
              </a:spcBef>
              <a:buFont typeface="Arial"/>
              <a:buChar char="•"/>
              <a:tabLst>
                <a:tab pos="185420" algn="l"/>
              </a:tabLst>
            </a:pPr>
            <a:r>
              <a:rPr dirty="0"/>
              <a:t>Hering </a:t>
            </a:r>
            <a:r>
              <a:rPr spc="-10" dirty="0"/>
              <a:t>proposed </a:t>
            </a:r>
            <a:r>
              <a:rPr spc="-5" dirty="0"/>
              <a:t>that </a:t>
            </a:r>
            <a:r>
              <a:rPr spc="-10" dirty="0"/>
              <a:t>there </a:t>
            </a:r>
            <a:r>
              <a:rPr spc="-15" dirty="0"/>
              <a:t>were </a:t>
            </a:r>
            <a:r>
              <a:rPr spc="-10" dirty="0"/>
              <a:t>three </a:t>
            </a:r>
            <a:r>
              <a:rPr spc="-15" dirty="0"/>
              <a:t>separated  </a:t>
            </a:r>
            <a:r>
              <a:rPr spc="-10" dirty="0"/>
              <a:t>antagonistic (opponent) </a:t>
            </a:r>
            <a:r>
              <a:rPr spc="-5" dirty="0"/>
              <a:t>channels </a:t>
            </a:r>
            <a:r>
              <a:rPr dirty="0"/>
              <a:t>in the</a:t>
            </a:r>
            <a:r>
              <a:rPr spc="-20" dirty="0"/>
              <a:t> </a:t>
            </a:r>
            <a:r>
              <a:rPr spc="-10" dirty="0"/>
              <a:t>retina: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990600" y="1832178"/>
            <a:ext cx="1642110" cy="1082675"/>
          </a:xfrm>
          <a:prstGeom prst="rect">
            <a:avLst/>
          </a:prstGeom>
        </p:spPr>
        <p:txBody>
          <a:bodyPr vert="horz" wrap="square" lIns="0" tIns="29845" rIns="0" bIns="0" rtlCol="0">
            <a:spAutoFit/>
          </a:bodyPr>
          <a:lstStyle/>
          <a:p>
            <a:pPr marL="184785" indent="-172720">
              <a:lnSpc>
                <a:spcPct val="100000"/>
              </a:lnSpc>
              <a:spcBef>
                <a:spcPts val="235"/>
              </a:spcBef>
              <a:buFont typeface="Arial"/>
              <a:buChar char="•"/>
              <a:tabLst>
                <a:tab pos="185420" algn="l"/>
              </a:tabLst>
            </a:pPr>
            <a:r>
              <a:rPr sz="2200" spc="-10" dirty="0">
                <a:latin typeface="Calibri"/>
                <a:cs typeface="Calibri"/>
              </a:rPr>
              <a:t>R-G</a:t>
            </a:r>
            <a:r>
              <a:rPr sz="2200" spc="-5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channel</a:t>
            </a:r>
            <a:endParaRPr sz="2200" dirty="0">
              <a:latin typeface="Calibri"/>
              <a:cs typeface="Calibri"/>
            </a:endParaRPr>
          </a:p>
          <a:p>
            <a:pPr marL="184785" indent="-172720">
              <a:lnSpc>
                <a:spcPct val="100000"/>
              </a:lnSpc>
              <a:spcBef>
                <a:spcPts val="135"/>
              </a:spcBef>
              <a:buFont typeface="Arial"/>
              <a:buChar char="•"/>
              <a:tabLst>
                <a:tab pos="185420" algn="l"/>
              </a:tabLst>
            </a:pPr>
            <a:r>
              <a:rPr sz="2200" spc="-10" dirty="0">
                <a:latin typeface="Calibri"/>
                <a:cs typeface="Calibri"/>
              </a:rPr>
              <a:t>Y-B</a:t>
            </a:r>
            <a:r>
              <a:rPr sz="2200" spc="-5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channel</a:t>
            </a:r>
            <a:endParaRPr sz="2200" dirty="0">
              <a:latin typeface="Calibri"/>
              <a:cs typeface="Calibri"/>
            </a:endParaRPr>
          </a:p>
          <a:p>
            <a:pPr marL="184785" indent="-172720">
              <a:lnSpc>
                <a:spcPct val="100000"/>
              </a:lnSpc>
              <a:spcBef>
                <a:spcPts val="130"/>
              </a:spcBef>
              <a:buFont typeface="Arial"/>
              <a:buChar char="•"/>
              <a:tabLst>
                <a:tab pos="185420" algn="l"/>
              </a:tabLst>
            </a:pPr>
            <a:r>
              <a:rPr sz="2200" spc="-5" dirty="0">
                <a:latin typeface="Calibri"/>
                <a:cs typeface="Calibri"/>
              </a:rPr>
              <a:t>B-W</a:t>
            </a:r>
            <a:r>
              <a:rPr sz="2200" spc="-65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channel</a:t>
            </a:r>
            <a:endParaRPr sz="2200" dirty="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693911" y="54356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5" dirty="0">
                <a:latin typeface="Calibri"/>
                <a:cs typeface="Calibri"/>
              </a:rPr>
              <a:t>11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2559084" y="2105227"/>
            <a:ext cx="158750" cy="536575"/>
          </a:xfrm>
          <a:custGeom>
            <a:avLst/>
            <a:gdLst/>
            <a:ahLst/>
            <a:cxnLst/>
            <a:rect l="l" t="t" r="r" b="b"/>
            <a:pathLst>
              <a:path w="158750" h="536575">
                <a:moveTo>
                  <a:pt x="0" y="0"/>
                </a:moveTo>
                <a:lnTo>
                  <a:pt x="30866" y="1045"/>
                </a:lnTo>
                <a:lnTo>
                  <a:pt x="56054" y="3889"/>
                </a:lnTo>
                <a:lnTo>
                  <a:pt x="73026" y="8090"/>
                </a:lnTo>
                <a:lnTo>
                  <a:pt x="79248" y="13207"/>
                </a:lnTo>
                <a:lnTo>
                  <a:pt x="79248" y="255015"/>
                </a:lnTo>
                <a:lnTo>
                  <a:pt x="85469" y="260133"/>
                </a:lnTo>
                <a:lnTo>
                  <a:pt x="102441" y="264334"/>
                </a:lnTo>
                <a:lnTo>
                  <a:pt x="127629" y="267178"/>
                </a:lnTo>
                <a:lnTo>
                  <a:pt x="158496" y="268223"/>
                </a:lnTo>
                <a:lnTo>
                  <a:pt x="127629" y="269269"/>
                </a:lnTo>
                <a:lnTo>
                  <a:pt x="102441" y="272113"/>
                </a:lnTo>
                <a:lnTo>
                  <a:pt x="85469" y="276314"/>
                </a:lnTo>
                <a:lnTo>
                  <a:pt x="79248" y="281431"/>
                </a:lnTo>
                <a:lnTo>
                  <a:pt x="79248" y="523239"/>
                </a:lnTo>
                <a:lnTo>
                  <a:pt x="73026" y="528357"/>
                </a:lnTo>
                <a:lnTo>
                  <a:pt x="56054" y="532558"/>
                </a:lnTo>
                <a:lnTo>
                  <a:pt x="30866" y="535402"/>
                </a:lnTo>
                <a:lnTo>
                  <a:pt x="0" y="536447"/>
                </a:lnTo>
              </a:path>
            </a:pathLst>
          </a:custGeom>
          <a:ln w="6096">
            <a:solidFill>
              <a:srgbClr val="C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3466657" y="1858313"/>
            <a:ext cx="108585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spc="-5" dirty="0">
                <a:latin typeface="Calibri"/>
                <a:cs typeface="Calibri"/>
              </a:rPr>
              <a:t>Ch</a:t>
            </a:r>
            <a:r>
              <a:rPr sz="2000" spc="-40" dirty="0">
                <a:latin typeface="Calibri"/>
                <a:cs typeface="Calibri"/>
              </a:rPr>
              <a:t>r</a:t>
            </a:r>
            <a:r>
              <a:rPr sz="2000" spc="-5" dirty="0">
                <a:latin typeface="Calibri"/>
                <a:cs typeface="Calibri"/>
              </a:rPr>
              <a:t>om</a:t>
            </a:r>
            <a:r>
              <a:rPr sz="2000" spc="-35" dirty="0">
                <a:latin typeface="Calibri"/>
                <a:cs typeface="Calibri"/>
              </a:rPr>
              <a:t>a</a:t>
            </a:r>
            <a:r>
              <a:rPr sz="2000" dirty="0">
                <a:latin typeface="Calibri"/>
                <a:cs typeface="Calibri"/>
              </a:rPr>
              <a:t>tic</a:t>
            </a:r>
          </a:p>
        </p:txBody>
      </p:sp>
      <p:sp>
        <p:nvSpPr>
          <p:cNvPr id="8" name="object 8"/>
          <p:cNvSpPr txBox="1"/>
          <p:nvPr/>
        </p:nvSpPr>
        <p:spPr>
          <a:xfrm>
            <a:off x="3466657" y="2208096"/>
            <a:ext cx="115062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5" dirty="0">
                <a:latin typeface="Calibri"/>
                <a:cs typeface="Calibri"/>
              </a:rPr>
              <a:t>Luminance</a:t>
            </a:r>
            <a:endParaRPr sz="2000" dirty="0">
              <a:latin typeface="Calibri"/>
              <a:cs typeface="Calibri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2675444" y="2335413"/>
            <a:ext cx="421005" cy="76200"/>
          </a:xfrm>
          <a:custGeom>
            <a:avLst/>
            <a:gdLst/>
            <a:ahLst/>
            <a:cxnLst/>
            <a:rect l="l" t="t" r="r" b="b"/>
            <a:pathLst>
              <a:path w="421005" h="76200">
                <a:moveTo>
                  <a:pt x="344677" y="0"/>
                </a:moveTo>
                <a:lnTo>
                  <a:pt x="344677" y="76199"/>
                </a:lnTo>
                <a:lnTo>
                  <a:pt x="408177" y="44449"/>
                </a:lnTo>
                <a:lnTo>
                  <a:pt x="357377" y="44449"/>
                </a:lnTo>
                <a:lnTo>
                  <a:pt x="357377" y="31749"/>
                </a:lnTo>
                <a:lnTo>
                  <a:pt x="408177" y="31749"/>
                </a:lnTo>
                <a:lnTo>
                  <a:pt x="344677" y="0"/>
                </a:lnTo>
                <a:close/>
              </a:path>
              <a:path w="421005" h="76200">
                <a:moveTo>
                  <a:pt x="344677" y="31749"/>
                </a:moveTo>
                <a:lnTo>
                  <a:pt x="0" y="31749"/>
                </a:lnTo>
                <a:lnTo>
                  <a:pt x="0" y="44449"/>
                </a:lnTo>
                <a:lnTo>
                  <a:pt x="344677" y="44449"/>
                </a:lnTo>
                <a:lnTo>
                  <a:pt x="344677" y="31749"/>
                </a:lnTo>
                <a:close/>
              </a:path>
              <a:path w="421005" h="76200">
                <a:moveTo>
                  <a:pt x="408177" y="31749"/>
                </a:moveTo>
                <a:lnTo>
                  <a:pt x="357377" y="31749"/>
                </a:lnTo>
                <a:lnTo>
                  <a:pt x="357377" y="44449"/>
                </a:lnTo>
                <a:lnTo>
                  <a:pt x="408177" y="44449"/>
                </a:lnTo>
                <a:lnTo>
                  <a:pt x="420877" y="38099"/>
                </a:lnTo>
                <a:lnTo>
                  <a:pt x="408177" y="31749"/>
                </a:lnTo>
                <a:close/>
              </a:path>
            </a:pathLst>
          </a:custGeom>
          <a:solidFill>
            <a:srgbClr val="C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146047" y="5658611"/>
            <a:ext cx="6852284" cy="654050"/>
          </a:xfrm>
          <a:custGeom>
            <a:avLst/>
            <a:gdLst/>
            <a:ahLst/>
            <a:cxnLst/>
            <a:rect l="l" t="t" r="r" b="b"/>
            <a:pathLst>
              <a:path w="6852284" h="654050">
                <a:moveTo>
                  <a:pt x="6742937" y="0"/>
                </a:moveTo>
                <a:lnTo>
                  <a:pt x="108965" y="0"/>
                </a:lnTo>
                <a:lnTo>
                  <a:pt x="66549" y="8562"/>
                </a:lnTo>
                <a:lnTo>
                  <a:pt x="31913" y="31913"/>
                </a:lnTo>
                <a:lnTo>
                  <a:pt x="8562" y="66549"/>
                </a:lnTo>
                <a:lnTo>
                  <a:pt x="0" y="108965"/>
                </a:lnTo>
                <a:lnTo>
                  <a:pt x="0" y="544830"/>
                </a:lnTo>
                <a:lnTo>
                  <a:pt x="8562" y="587241"/>
                </a:lnTo>
                <a:lnTo>
                  <a:pt x="31913" y="621877"/>
                </a:lnTo>
                <a:lnTo>
                  <a:pt x="66549" y="645231"/>
                </a:lnTo>
                <a:lnTo>
                  <a:pt x="108965" y="653796"/>
                </a:lnTo>
                <a:lnTo>
                  <a:pt x="6742937" y="653796"/>
                </a:lnTo>
                <a:lnTo>
                  <a:pt x="6785359" y="645231"/>
                </a:lnTo>
                <a:lnTo>
                  <a:pt x="6819995" y="621877"/>
                </a:lnTo>
                <a:lnTo>
                  <a:pt x="6843343" y="587241"/>
                </a:lnTo>
                <a:lnTo>
                  <a:pt x="6851904" y="544830"/>
                </a:lnTo>
                <a:lnTo>
                  <a:pt x="6851904" y="108965"/>
                </a:lnTo>
                <a:lnTo>
                  <a:pt x="6843343" y="66549"/>
                </a:lnTo>
                <a:lnTo>
                  <a:pt x="6819995" y="31913"/>
                </a:lnTo>
                <a:lnTo>
                  <a:pt x="6785359" y="8562"/>
                </a:lnTo>
                <a:lnTo>
                  <a:pt x="6742937" y="0"/>
                </a:lnTo>
                <a:close/>
              </a:path>
            </a:pathLst>
          </a:custGeom>
          <a:solidFill>
            <a:srgbClr val="9C85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1146047" y="5658611"/>
            <a:ext cx="6852284" cy="654050"/>
          </a:xfrm>
          <a:custGeom>
            <a:avLst/>
            <a:gdLst/>
            <a:ahLst/>
            <a:cxnLst/>
            <a:rect l="l" t="t" r="r" b="b"/>
            <a:pathLst>
              <a:path w="6852284" h="654050">
                <a:moveTo>
                  <a:pt x="0" y="108965"/>
                </a:moveTo>
                <a:lnTo>
                  <a:pt x="8562" y="66549"/>
                </a:lnTo>
                <a:lnTo>
                  <a:pt x="31913" y="31913"/>
                </a:lnTo>
                <a:lnTo>
                  <a:pt x="66549" y="8562"/>
                </a:lnTo>
                <a:lnTo>
                  <a:pt x="108965" y="0"/>
                </a:lnTo>
                <a:lnTo>
                  <a:pt x="6742937" y="0"/>
                </a:lnTo>
                <a:lnTo>
                  <a:pt x="6785359" y="8562"/>
                </a:lnTo>
                <a:lnTo>
                  <a:pt x="6819995" y="31913"/>
                </a:lnTo>
                <a:lnTo>
                  <a:pt x="6843343" y="66549"/>
                </a:lnTo>
                <a:lnTo>
                  <a:pt x="6851904" y="108965"/>
                </a:lnTo>
                <a:lnTo>
                  <a:pt x="6851904" y="544830"/>
                </a:lnTo>
                <a:lnTo>
                  <a:pt x="6843343" y="587241"/>
                </a:lnTo>
                <a:lnTo>
                  <a:pt x="6819995" y="621877"/>
                </a:lnTo>
                <a:lnTo>
                  <a:pt x="6785359" y="645231"/>
                </a:lnTo>
                <a:lnTo>
                  <a:pt x="6742937" y="653796"/>
                </a:lnTo>
                <a:lnTo>
                  <a:pt x="108965" y="653796"/>
                </a:lnTo>
                <a:lnTo>
                  <a:pt x="66549" y="645231"/>
                </a:lnTo>
                <a:lnTo>
                  <a:pt x="31913" y="621877"/>
                </a:lnTo>
                <a:lnTo>
                  <a:pt x="8562" y="587241"/>
                </a:lnTo>
                <a:lnTo>
                  <a:pt x="0" y="544830"/>
                </a:lnTo>
                <a:lnTo>
                  <a:pt x="0" y="108965"/>
                </a:lnTo>
                <a:close/>
              </a:path>
            </a:pathLst>
          </a:custGeom>
          <a:ln w="12192">
            <a:solidFill>
              <a:srgbClr val="705F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770509" y="4588588"/>
            <a:ext cx="7305040" cy="1781175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184785" marR="5080" indent="-172720">
              <a:lnSpc>
                <a:spcPct val="90100"/>
              </a:lnSpc>
              <a:spcBef>
                <a:spcPts val="385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10" dirty="0">
                <a:latin typeface="Calibri"/>
                <a:cs typeface="Calibri"/>
              </a:rPr>
              <a:t>Boynton </a:t>
            </a:r>
            <a:r>
              <a:rPr sz="2400" dirty="0">
                <a:latin typeface="Calibri"/>
                <a:cs typeface="Calibri"/>
              </a:rPr>
              <a:t>&amp; </a:t>
            </a:r>
            <a:r>
              <a:rPr sz="2400" spc="-10" dirty="0">
                <a:latin typeface="Calibri"/>
                <a:cs typeface="Calibri"/>
              </a:rPr>
              <a:t>Gordon </a:t>
            </a:r>
            <a:r>
              <a:rPr sz="2400" spc="-5" dirty="0">
                <a:latin typeface="Calibri"/>
                <a:cs typeface="Calibri"/>
              </a:rPr>
              <a:t>(1965) </a:t>
            </a:r>
            <a:r>
              <a:rPr sz="2400" spc="-10" dirty="0">
                <a:latin typeface="Calibri"/>
                <a:cs typeface="Calibri"/>
              </a:rPr>
              <a:t>proposed that </a:t>
            </a:r>
            <a:r>
              <a:rPr sz="2400" dirty="0">
                <a:latin typeface="Calibri"/>
                <a:cs typeface="Calibri"/>
              </a:rPr>
              <a:t>with </a:t>
            </a:r>
            <a:r>
              <a:rPr sz="2400" spc="-5" dirty="0">
                <a:latin typeface="Calibri"/>
                <a:cs typeface="Calibri"/>
              </a:rPr>
              <a:t>only </a:t>
            </a:r>
            <a:r>
              <a:rPr sz="2400" spc="-20" dirty="0">
                <a:latin typeface="Calibri"/>
                <a:cs typeface="Calibri"/>
              </a:rPr>
              <a:t>four  </a:t>
            </a:r>
            <a:r>
              <a:rPr sz="2400" spc="-5" dirty="0">
                <a:latin typeface="Calibri"/>
                <a:cs typeface="Calibri"/>
              </a:rPr>
              <a:t>unique hues </a:t>
            </a:r>
            <a:r>
              <a:rPr sz="2400" spc="-10" dirty="0">
                <a:latin typeface="Calibri"/>
                <a:cs typeface="Calibri"/>
              </a:rPr>
              <a:t>(red, green, yellow </a:t>
            </a:r>
            <a:r>
              <a:rPr sz="2400" dirty="0">
                <a:latin typeface="Calibri"/>
                <a:cs typeface="Calibri"/>
              </a:rPr>
              <a:t>and </a:t>
            </a:r>
            <a:r>
              <a:rPr sz="2400" spc="-5" dirty="0">
                <a:latin typeface="Calibri"/>
                <a:cs typeface="Calibri"/>
              </a:rPr>
              <a:t>blue), </a:t>
            </a:r>
            <a:r>
              <a:rPr sz="2400" dirty="0">
                <a:latin typeface="Calibri"/>
                <a:cs typeface="Calibri"/>
              </a:rPr>
              <a:t>all </a:t>
            </a:r>
            <a:r>
              <a:rPr sz="2400" spc="-5" dirty="0">
                <a:latin typeface="Calibri"/>
                <a:cs typeface="Calibri"/>
              </a:rPr>
              <a:t>hues </a:t>
            </a:r>
            <a:r>
              <a:rPr sz="2400" spc="-10" dirty="0">
                <a:latin typeface="Calibri"/>
                <a:cs typeface="Calibri"/>
              </a:rPr>
              <a:t>can </a:t>
            </a:r>
            <a:r>
              <a:rPr sz="2400" spc="-5" dirty="0">
                <a:latin typeface="Calibri"/>
                <a:cs typeface="Calibri"/>
              </a:rPr>
              <a:t>be  </a:t>
            </a:r>
            <a:r>
              <a:rPr sz="2400" spc="-10" dirty="0">
                <a:latin typeface="Calibri"/>
                <a:cs typeface="Calibri"/>
              </a:rPr>
              <a:t>produced.</a:t>
            </a:r>
            <a:endParaRPr sz="24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350" dirty="0">
              <a:latin typeface="Calibri"/>
              <a:cs typeface="Calibri"/>
            </a:endParaRPr>
          </a:p>
          <a:p>
            <a:pPr marL="422909" algn="ctr">
              <a:lnSpc>
                <a:spcPct val="100000"/>
              </a:lnSpc>
            </a:pPr>
            <a:r>
              <a:rPr sz="2400" spc="-10" dirty="0">
                <a:latin typeface="Calibri"/>
                <a:cs typeface="Calibri"/>
              </a:rPr>
              <a:t>Opponent </a:t>
            </a:r>
            <a:r>
              <a:rPr sz="2400" spc="-5" dirty="0">
                <a:latin typeface="Calibri"/>
                <a:cs typeface="Calibri"/>
              </a:rPr>
              <a:t>Theory of Color</a:t>
            </a:r>
            <a:r>
              <a:rPr sz="2400" spc="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Vision</a:t>
            </a:r>
            <a:endParaRPr sz="2400" dirty="0">
              <a:latin typeface="Calibri"/>
              <a:cs typeface="Calibri"/>
            </a:endParaRPr>
          </a:p>
        </p:txBody>
      </p:sp>
      <p:sp>
        <p:nvSpPr>
          <p:cNvPr id="14" name="object 14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spc="-5" dirty="0"/>
              <a:t>Pengolahan Citra </a:t>
            </a:r>
            <a:r>
              <a:rPr dirty="0"/>
              <a:t>- </a:t>
            </a:r>
            <a:r>
              <a:rPr spc="-5" dirty="0"/>
              <a:t>Color</a:t>
            </a:r>
            <a:r>
              <a:rPr spc="-40" dirty="0"/>
              <a:t> </a:t>
            </a:r>
            <a:r>
              <a:rPr spc="-5" dirty="0"/>
              <a:t>Theory</a:t>
            </a:r>
          </a:p>
        </p:txBody>
      </p:sp>
    </p:spTree>
    <p:extLst>
      <p:ext uri="{BB962C8B-B14F-4D97-AF65-F5344CB8AC3E}">
        <p14:creationId xmlns:p14="http://schemas.microsoft.com/office/powerpoint/2010/main" val="749314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sz="3600" spc="-5" dirty="0"/>
              <a:t>The </a:t>
            </a:r>
            <a:r>
              <a:rPr sz="3600" spc="-10" dirty="0"/>
              <a:t>Opponent </a:t>
            </a:r>
            <a:r>
              <a:rPr sz="3600" spc="-5" dirty="0"/>
              <a:t>Theory of Color Vision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707542" y="1802333"/>
            <a:ext cx="7726045" cy="2360930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184785" marR="5080" indent="-172720">
              <a:lnSpc>
                <a:spcPct val="90100"/>
              </a:lnSpc>
              <a:spcBef>
                <a:spcPts val="385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5" dirty="0">
                <a:latin typeface="Calibri"/>
                <a:cs typeface="Calibri"/>
              </a:rPr>
              <a:t>The </a:t>
            </a:r>
            <a:r>
              <a:rPr sz="2400" spc="-20" dirty="0">
                <a:latin typeface="Calibri"/>
                <a:cs typeface="Calibri"/>
              </a:rPr>
              <a:t>four </a:t>
            </a:r>
            <a:r>
              <a:rPr sz="2400" spc="-5" dirty="0">
                <a:latin typeface="Calibri"/>
                <a:cs typeface="Calibri"/>
              </a:rPr>
              <a:t>unique hues of </a:t>
            </a:r>
            <a:r>
              <a:rPr sz="2400" spc="-10" dirty="0">
                <a:latin typeface="Calibri"/>
                <a:cs typeface="Calibri"/>
              </a:rPr>
              <a:t>red, green, yellow </a:t>
            </a:r>
            <a:r>
              <a:rPr sz="2400" dirty="0">
                <a:latin typeface="Calibri"/>
                <a:cs typeface="Calibri"/>
              </a:rPr>
              <a:t>and </a:t>
            </a:r>
            <a:r>
              <a:rPr sz="2400" spc="-5" dirty="0">
                <a:latin typeface="Calibri"/>
                <a:cs typeface="Calibri"/>
              </a:rPr>
              <a:t>blue </a:t>
            </a:r>
            <a:r>
              <a:rPr sz="2400" dirty="0">
                <a:latin typeface="Calibri"/>
                <a:cs typeface="Calibri"/>
              </a:rPr>
              <a:t>when  </a:t>
            </a:r>
            <a:r>
              <a:rPr sz="2400" spc="-20" dirty="0">
                <a:latin typeface="Calibri"/>
                <a:cs typeface="Calibri"/>
              </a:rPr>
              <a:t>taken </a:t>
            </a:r>
            <a:r>
              <a:rPr sz="2400" spc="-10" dirty="0">
                <a:latin typeface="Calibri"/>
                <a:cs typeface="Calibri"/>
              </a:rPr>
              <a:t>together </a:t>
            </a:r>
            <a:r>
              <a:rPr sz="2400" dirty="0">
                <a:latin typeface="Calibri"/>
                <a:cs typeface="Calibri"/>
              </a:rPr>
              <a:t>with </a:t>
            </a:r>
            <a:r>
              <a:rPr sz="2400" spc="-5" dirty="0">
                <a:latin typeface="Calibri"/>
                <a:cs typeface="Calibri"/>
              </a:rPr>
              <a:t>white </a:t>
            </a:r>
            <a:r>
              <a:rPr sz="2400" dirty="0">
                <a:latin typeface="Calibri"/>
                <a:cs typeface="Calibri"/>
              </a:rPr>
              <a:t>and </a:t>
            </a:r>
            <a:r>
              <a:rPr sz="2400" spc="-5" dirty="0">
                <a:latin typeface="Calibri"/>
                <a:cs typeface="Calibri"/>
              </a:rPr>
              <a:t>black </a:t>
            </a:r>
            <a:r>
              <a:rPr sz="2400" spc="-15" dirty="0">
                <a:latin typeface="Calibri"/>
                <a:cs typeface="Calibri"/>
              </a:rPr>
              <a:t>form </a:t>
            </a:r>
            <a:r>
              <a:rPr sz="2400" dirty="0">
                <a:latin typeface="Calibri"/>
                <a:cs typeface="Calibri"/>
              </a:rPr>
              <a:t>a </a:t>
            </a:r>
            <a:r>
              <a:rPr sz="2400" spc="-10" dirty="0">
                <a:latin typeface="Calibri"/>
                <a:cs typeface="Calibri"/>
              </a:rPr>
              <a:t>group </a:t>
            </a:r>
            <a:r>
              <a:rPr sz="2400" spc="-5" dirty="0">
                <a:latin typeface="Calibri"/>
                <a:cs typeface="Calibri"/>
              </a:rPr>
              <a:t>of six </a:t>
            </a:r>
            <a:r>
              <a:rPr sz="2400" spc="-10" dirty="0">
                <a:latin typeface="Calibri"/>
                <a:cs typeface="Calibri"/>
              </a:rPr>
              <a:t>basic  color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properties.</a:t>
            </a:r>
            <a:endParaRPr sz="2400">
              <a:latin typeface="Calibri"/>
              <a:cs typeface="Calibri"/>
            </a:endParaRPr>
          </a:p>
          <a:p>
            <a:pPr marL="527685" lvl="1" indent="-172720">
              <a:lnSpc>
                <a:spcPts val="2510"/>
              </a:lnSpc>
              <a:spcBef>
                <a:spcPts val="155"/>
              </a:spcBef>
              <a:buFont typeface="Arial"/>
              <a:buChar char="•"/>
              <a:tabLst>
                <a:tab pos="528320" algn="l"/>
              </a:tabLst>
            </a:pPr>
            <a:r>
              <a:rPr sz="2200" spc="-20" dirty="0">
                <a:latin typeface="Calibri"/>
                <a:cs typeface="Calibri"/>
              </a:rPr>
              <a:t>Red </a:t>
            </a:r>
            <a:r>
              <a:rPr sz="2200" spc="-5" dirty="0">
                <a:latin typeface="Calibri"/>
                <a:cs typeface="Calibri"/>
              </a:rPr>
              <a:t>and </a:t>
            </a:r>
            <a:r>
              <a:rPr sz="2200" spc="-10" dirty="0">
                <a:latin typeface="Calibri"/>
                <a:cs typeface="Calibri"/>
              </a:rPr>
              <a:t>green are not </a:t>
            </a:r>
            <a:r>
              <a:rPr sz="2200" spc="-5" dirty="0">
                <a:latin typeface="Calibri"/>
                <a:cs typeface="Calibri"/>
              </a:rPr>
              <a:t>only unique </a:t>
            </a:r>
            <a:r>
              <a:rPr sz="2200" spc="-10" dirty="0">
                <a:latin typeface="Calibri"/>
                <a:cs typeface="Calibri"/>
              </a:rPr>
              <a:t>hues but are</a:t>
            </a:r>
            <a:r>
              <a:rPr sz="2200" spc="7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also</a:t>
            </a:r>
            <a:endParaRPr sz="2200">
              <a:latin typeface="Calibri"/>
              <a:cs typeface="Calibri"/>
            </a:endParaRPr>
          </a:p>
          <a:p>
            <a:pPr marL="527685">
              <a:lnSpc>
                <a:spcPts val="2510"/>
              </a:lnSpc>
            </a:pPr>
            <a:r>
              <a:rPr sz="2200" spc="-10" dirty="0">
                <a:latin typeface="Calibri"/>
                <a:cs typeface="Calibri"/>
              </a:rPr>
              <a:t>psychologically opponent color</a:t>
            </a:r>
            <a:r>
              <a:rPr sz="2200" spc="2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sensations.</a:t>
            </a:r>
            <a:endParaRPr sz="2200">
              <a:latin typeface="Calibri"/>
              <a:cs typeface="Calibri"/>
            </a:endParaRPr>
          </a:p>
          <a:p>
            <a:pPr marL="527685" marR="69850" lvl="1" indent="-172720">
              <a:lnSpc>
                <a:spcPts val="2380"/>
              </a:lnSpc>
              <a:spcBef>
                <a:spcPts val="430"/>
              </a:spcBef>
              <a:buFont typeface="Arial"/>
              <a:buChar char="•"/>
              <a:tabLst>
                <a:tab pos="528320" algn="l"/>
              </a:tabLst>
            </a:pPr>
            <a:r>
              <a:rPr sz="2200" spc="-5" dirty="0">
                <a:latin typeface="Calibri"/>
                <a:cs typeface="Calibri"/>
              </a:rPr>
              <a:t>In </a:t>
            </a:r>
            <a:r>
              <a:rPr sz="2200" spc="-10" dirty="0">
                <a:latin typeface="Calibri"/>
                <a:cs typeface="Calibri"/>
              </a:rPr>
              <a:t>the </a:t>
            </a:r>
            <a:r>
              <a:rPr sz="2200" spc="-5" dirty="0">
                <a:latin typeface="Calibri"/>
                <a:cs typeface="Calibri"/>
              </a:rPr>
              <a:t>same </a:t>
            </a:r>
            <a:r>
              <a:rPr sz="2200" spc="-60" dirty="0">
                <a:latin typeface="Calibri"/>
                <a:cs typeface="Calibri"/>
              </a:rPr>
              <a:t>way, </a:t>
            </a:r>
            <a:r>
              <a:rPr sz="2200" spc="-10" dirty="0">
                <a:latin typeface="Calibri"/>
                <a:cs typeface="Calibri"/>
              </a:rPr>
              <a:t>yellow </a:t>
            </a:r>
            <a:r>
              <a:rPr sz="2200" spc="-5" dirty="0">
                <a:latin typeface="Calibri"/>
                <a:cs typeface="Calibri"/>
              </a:rPr>
              <a:t>and </a:t>
            </a:r>
            <a:r>
              <a:rPr sz="2200" spc="-10" dirty="0">
                <a:latin typeface="Calibri"/>
                <a:cs typeface="Calibri"/>
              </a:rPr>
              <a:t>blue are </a:t>
            </a:r>
            <a:r>
              <a:rPr sz="2200" spc="-5" dirty="0">
                <a:latin typeface="Calibri"/>
                <a:cs typeface="Calibri"/>
              </a:rPr>
              <a:t>an </a:t>
            </a:r>
            <a:r>
              <a:rPr sz="2200" spc="-10" dirty="0">
                <a:latin typeface="Calibri"/>
                <a:cs typeface="Calibri"/>
              </a:rPr>
              <a:t>opponent </a:t>
            </a:r>
            <a:r>
              <a:rPr sz="2200" spc="-5" dirty="0">
                <a:latin typeface="Calibri"/>
                <a:cs typeface="Calibri"/>
              </a:rPr>
              <a:t>pair of </a:t>
            </a:r>
            <a:r>
              <a:rPr sz="2200" spc="-10" dirty="0">
                <a:latin typeface="Calibri"/>
                <a:cs typeface="Calibri"/>
              </a:rPr>
              <a:t>color  perceptions </a:t>
            </a:r>
            <a:r>
              <a:rPr sz="2200" spc="-5" dirty="0">
                <a:latin typeface="Calibri"/>
                <a:cs typeface="Calibri"/>
              </a:rPr>
              <a:t>as </a:t>
            </a:r>
            <a:r>
              <a:rPr sz="2200" spc="-15" dirty="0">
                <a:latin typeface="Calibri"/>
                <a:cs typeface="Calibri"/>
              </a:rPr>
              <a:t>are </a:t>
            </a:r>
            <a:r>
              <a:rPr sz="2200" spc="-10" dirty="0">
                <a:latin typeface="Calibri"/>
                <a:cs typeface="Calibri"/>
              </a:rPr>
              <a:t>white </a:t>
            </a:r>
            <a:r>
              <a:rPr sz="2200" spc="-5" dirty="0">
                <a:latin typeface="Calibri"/>
                <a:cs typeface="Calibri"/>
              </a:rPr>
              <a:t>and</a:t>
            </a:r>
            <a:r>
              <a:rPr sz="2200" spc="5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black.</a:t>
            </a:r>
            <a:endParaRPr sz="22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693911" y="54356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5" dirty="0">
                <a:latin typeface="Calibri"/>
                <a:cs typeface="Calibri"/>
              </a:rPr>
              <a:t>12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990088" y="4483608"/>
            <a:ext cx="798830" cy="783590"/>
          </a:xfrm>
          <a:custGeom>
            <a:avLst/>
            <a:gdLst/>
            <a:ahLst/>
            <a:cxnLst/>
            <a:rect l="l" t="t" r="r" b="b"/>
            <a:pathLst>
              <a:path w="798829" h="783589">
                <a:moveTo>
                  <a:pt x="798576" y="0"/>
                </a:moveTo>
                <a:lnTo>
                  <a:pt x="0" y="0"/>
                </a:lnTo>
                <a:lnTo>
                  <a:pt x="0" y="783336"/>
                </a:lnTo>
                <a:lnTo>
                  <a:pt x="798576" y="783336"/>
                </a:lnTo>
                <a:lnTo>
                  <a:pt x="798576" y="0"/>
                </a:lnTo>
                <a:close/>
              </a:path>
            </a:pathLst>
          </a:custGeom>
          <a:solidFill>
            <a:srgbClr val="00AF5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990088" y="4483608"/>
            <a:ext cx="798830" cy="783590"/>
          </a:xfrm>
          <a:custGeom>
            <a:avLst/>
            <a:gdLst/>
            <a:ahLst/>
            <a:cxnLst/>
            <a:rect l="l" t="t" r="r" b="b"/>
            <a:pathLst>
              <a:path w="798829" h="783589">
                <a:moveTo>
                  <a:pt x="0" y="783336"/>
                </a:moveTo>
                <a:lnTo>
                  <a:pt x="798576" y="783336"/>
                </a:lnTo>
                <a:lnTo>
                  <a:pt x="798576" y="0"/>
                </a:lnTo>
                <a:lnTo>
                  <a:pt x="0" y="0"/>
                </a:lnTo>
                <a:lnTo>
                  <a:pt x="0" y="783336"/>
                </a:lnTo>
                <a:close/>
              </a:path>
            </a:pathLst>
          </a:custGeom>
          <a:ln w="12192">
            <a:solidFill>
              <a:srgbClr val="00AF5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990088" y="5527547"/>
            <a:ext cx="798830" cy="784860"/>
          </a:xfrm>
          <a:custGeom>
            <a:avLst/>
            <a:gdLst/>
            <a:ahLst/>
            <a:cxnLst/>
            <a:rect l="l" t="t" r="r" b="b"/>
            <a:pathLst>
              <a:path w="798829" h="784860">
                <a:moveTo>
                  <a:pt x="798576" y="0"/>
                </a:moveTo>
                <a:lnTo>
                  <a:pt x="0" y="0"/>
                </a:lnTo>
                <a:lnTo>
                  <a:pt x="0" y="784859"/>
                </a:lnTo>
                <a:lnTo>
                  <a:pt x="798576" y="784859"/>
                </a:lnTo>
                <a:lnTo>
                  <a:pt x="798576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2990088" y="5527547"/>
            <a:ext cx="798830" cy="784860"/>
          </a:xfrm>
          <a:custGeom>
            <a:avLst/>
            <a:gdLst/>
            <a:ahLst/>
            <a:cxnLst/>
            <a:rect l="l" t="t" r="r" b="b"/>
            <a:pathLst>
              <a:path w="798829" h="784860">
                <a:moveTo>
                  <a:pt x="0" y="784859"/>
                </a:moveTo>
                <a:lnTo>
                  <a:pt x="798576" y="784859"/>
                </a:lnTo>
                <a:lnTo>
                  <a:pt x="798576" y="0"/>
                </a:lnTo>
                <a:lnTo>
                  <a:pt x="0" y="0"/>
                </a:lnTo>
                <a:lnTo>
                  <a:pt x="0" y="784859"/>
                </a:lnTo>
                <a:close/>
              </a:path>
            </a:pathLst>
          </a:custGeom>
          <a:ln w="12192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4172711" y="4483608"/>
            <a:ext cx="798830" cy="783590"/>
          </a:xfrm>
          <a:custGeom>
            <a:avLst/>
            <a:gdLst/>
            <a:ahLst/>
            <a:cxnLst/>
            <a:rect l="l" t="t" r="r" b="b"/>
            <a:pathLst>
              <a:path w="798829" h="783589">
                <a:moveTo>
                  <a:pt x="798576" y="0"/>
                </a:moveTo>
                <a:lnTo>
                  <a:pt x="0" y="0"/>
                </a:lnTo>
                <a:lnTo>
                  <a:pt x="0" y="783336"/>
                </a:lnTo>
                <a:lnTo>
                  <a:pt x="798576" y="783336"/>
                </a:lnTo>
                <a:lnTo>
                  <a:pt x="798576" y="0"/>
                </a:lnTo>
                <a:close/>
              </a:path>
            </a:pathLst>
          </a:custGeom>
          <a:solidFill>
            <a:srgbClr val="FBEF5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4172711" y="4483608"/>
            <a:ext cx="798830" cy="783590"/>
          </a:xfrm>
          <a:custGeom>
            <a:avLst/>
            <a:gdLst/>
            <a:ahLst/>
            <a:cxnLst/>
            <a:rect l="l" t="t" r="r" b="b"/>
            <a:pathLst>
              <a:path w="798829" h="783589">
                <a:moveTo>
                  <a:pt x="0" y="783336"/>
                </a:moveTo>
                <a:lnTo>
                  <a:pt x="798576" y="783336"/>
                </a:lnTo>
                <a:lnTo>
                  <a:pt x="798576" y="0"/>
                </a:lnTo>
                <a:lnTo>
                  <a:pt x="0" y="0"/>
                </a:lnTo>
                <a:lnTo>
                  <a:pt x="0" y="783336"/>
                </a:lnTo>
                <a:close/>
              </a:path>
            </a:pathLst>
          </a:custGeom>
          <a:ln w="12192">
            <a:solidFill>
              <a:srgbClr val="FBEF5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4172711" y="5527547"/>
            <a:ext cx="798830" cy="784860"/>
          </a:xfrm>
          <a:custGeom>
            <a:avLst/>
            <a:gdLst/>
            <a:ahLst/>
            <a:cxnLst/>
            <a:rect l="l" t="t" r="r" b="b"/>
            <a:pathLst>
              <a:path w="798829" h="784860">
                <a:moveTo>
                  <a:pt x="798576" y="0"/>
                </a:moveTo>
                <a:lnTo>
                  <a:pt x="0" y="0"/>
                </a:lnTo>
                <a:lnTo>
                  <a:pt x="0" y="784859"/>
                </a:lnTo>
                <a:lnTo>
                  <a:pt x="798576" y="784859"/>
                </a:lnTo>
                <a:lnTo>
                  <a:pt x="798576" y="0"/>
                </a:lnTo>
                <a:close/>
              </a:path>
            </a:pathLst>
          </a:custGeom>
          <a:solidFill>
            <a:srgbClr val="0000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4172711" y="5527547"/>
            <a:ext cx="798830" cy="784860"/>
          </a:xfrm>
          <a:custGeom>
            <a:avLst/>
            <a:gdLst/>
            <a:ahLst/>
            <a:cxnLst/>
            <a:rect l="l" t="t" r="r" b="b"/>
            <a:pathLst>
              <a:path w="798829" h="784860">
                <a:moveTo>
                  <a:pt x="0" y="784859"/>
                </a:moveTo>
                <a:lnTo>
                  <a:pt x="798576" y="784859"/>
                </a:lnTo>
                <a:lnTo>
                  <a:pt x="798576" y="0"/>
                </a:lnTo>
                <a:lnTo>
                  <a:pt x="0" y="0"/>
                </a:lnTo>
                <a:lnTo>
                  <a:pt x="0" y="784859"/>
                </a:lnTo>
                <a:close/>
              </a:path>
            </a:pathLst>
          </a:custGeom>
          <a:ln w="12192">
            <a:solidFill>
              <a:srgbClr val="0000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5378196" y="4483608"/>
            <a:ext cx="797560" cy="783590"/>
          </a:xfrm>
          <a:custGeom>
            <a:avLst/>
            <a:gdLst/>
            <a:ahLst/>
            <a:cxnLst/>
            <a:rect l="l" t="t" r="r" b="b"/>
            <a:pathLst>
              <a:path w="797560" h="783589">
                <a:moveTo>
                  <a:pt x="0" y="783336"/>
                </a:moveTo>
                <a:lnTo>
                  <a:pt x="797051" y="783336"/>
                </a:lnTo>
                <a:lnTo>
                  <a:pt x="797051" y="0"/>
                </a:lnTo>
                <a:lnTo>
                  <a:pt x="0" y="0"/>
                </a:lnTo>
                <a:lnTo>
                  <a:pt x="0" y="783336"/>
                </a:lnTo>
                <a:close/>
              </a:path>
            </a:pathLst>
          </a:custGeom>
          <a:ln w="1219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5378196" y="5527547"/>
            <a:ext cx="797560" cy="784860"/>
          </a:xfrm>
          <a:custGeom>
            <a:avLst/>
            <a:gdLst/>
            <a:ahLst/>
            <a:cxnLst/>
            <a:rect l="l" t="t" r="r" b="b"/>
            <a:pathLst>
              <a:path w="797560" h="784860">
                <a:moveTo>
                  <a:pt x="797051" y="0"/>
                </a:moveTo>
                <a:lnTo>
                  <a:pt x="0" y="0"/>
                </a:lnTo>
                <a:lnTo>
                  <a:pt x="0" y="784859"/>
                </a:lnTo>
                <a:lnTo>
                  <a:pt x="797051" y="784859"/>
                </a:lnTo>
                <a:lnTo>
                  <a:pt x="797051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5378196" y="5527547"/>
            <a:ext cx="797560" cy="784860"/>
          </a:xfrm>
          <a:custGeom>
            <a:avLst/>
            <a:gdLst/>
            <a:ahLst/>
            <a:cxnLst/>
            <a:rect l="l" t="t" r="r" b="b"/>
            <a:pathLst>
              <a:path w="797560" h="784860">
                <a:moveTo>
                  <a:pt x="0" y="784859"/>
                </a:moveTo>
                <a:lnTo>
                  <a:pt x="797051" y="784859"/>
                </a:lnTo>
                <a:lnTo>
                  <a:pt x="797051" y="0"/>
                </a:lnTo>
                <a:lnTo>
                  <a:pt x="0" y="0"/>
                </a:lnTo>
                <a:lnTo>
                  <a:pt x="0" y="784859"/>
                </a:lnTo>
                <a:close/>
              </a:path>
            </a:pathLst>
          </a:custGeom>
          <a:ln w="1219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spc="-5" dirty="0"/>
              <a:t>Pengolahan Citra </a:t>
            </a:r>
            <a:r>
              <a:rPr dirty="0"/>
              <a:t>- </a:t>
            </a:r>
            <a:r>
              <a:rPr spc="-5" dirty="0"/>
              <a:t>Color</a:t>
            </a:r>
            <a:r>
              <a:rPr spc="-40" dirty="0"/>
              <a:t> </a:t>
            </a:r>
            <a:r>
              <a:rPr spc="-5" dirty="0"/>
              <a:t>Theory</a:t>
            </a:r>
          </a:p>
        </p:txBody>
      </p:sp>
    </p:spTree>
    <p:extLst>
      <p:ext uri="{BB962C8B-B14F-4D97-AF65-F5344CB8AC3E}">
        <p14:creationId xmlns:p14="http://schemas.microsoft.com/office/powerpoint/2010/main" val="7414665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693911" y="54356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5" dirty="0">
                <a:latin typeface="Calibri"/>
                <a:cs typeface="Calibri"/>
              </a:rPr>
              <a:t>13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0" y="361188"/>
            <a:ext cx="4543425" cy="3192780"/>
          </a:xfrm>
          <a:custGeom>
            <a:avLst/>
            <a:gdLst/>
            <a:ahLst/>
            <a:cxnLst/>
            <a:rect l="l" t="t" r="r" b="b"/>
            <a:pathLst>
              <a:path w="4543425" h="3192779">
                <a:moveTo>
                  <a:pt x="4543044" y="0"/>
                </a:moveTo>
                <a:lnTo>
                  <a:pt x="0" y="0"/>
                </a:lnTo>
                <a:lnTo>
                  <a:pt x="0" y="3192780"/>
                </a:lnTo>
                <a:lnTo>
                  <a:pt x="4543044" y="3192780"/>
                </a:lnTo>
                <a:lnTo>
                  <a:pt x="4543044" y="0"/>
                </a:lnTo>
                <a:close/>
              </a:path>
            </a:pathLst>
          </a:custGeom>
          <a:solidFill>
            <a:srgbClr val="FFFF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0" y="361188"/>
            <a:ext cx="4543425" cy="3192780"/>
          </a:xfrm>
          <a:custGeom>
            <a:avLst/>
            <a:gdLst/>
            <a:ahLst/>
            <a:cxnLst/>
            <a:rect l="l" t="t" r="r" b="b"/>
            <a:pathLst>
              <a:path w="4543425" h="3192779">
                <a:moveTo>
                  <a:pt x="0" y="3192780"/>
                </a:moveTo>
                <a:lnTo>
                  <a:pt x="4543044" y="3192780"/>
                </a:lnTo>
                <a:lnTo>
                  <a:pt x="4543044" y="0"/>
                </a:lnTo>
                <a:lnTo>
                  <a:pt x="0" y="0"/>
                </a:lnTo>
                <a:lnTo>
                  <a:pt x="0" y="3192780"/>
                </a:lnTo>
                <a:close/>
              </a:path>
            </a:pathLst>
          </a:custGeom>
          <a:ln w="12192">
            <a:solidFill>
              <a:srgbClr val="FFFF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4543044" y="361188"/>
            <a:ext cx="4601210" cy="3192780"/>
          </a:xfrm>
          <a:custGeom>
            <a:avLst/>
            <a:gdLst/>
            <a:ahLst/>
            <a:cxnLst/>
            <a:rect l="l" t="t" r="r" b="b"/>
            <a:pathLst>
              <a:path w="4601209" h="3192779">
                <a:moveTo>
                  <a:pt x="4600956" y="0"/>
                </a:moveTo>
                <a:lnTo>
                  <a:pt x="0" y="0"/>
                </a:lnTo>
                <a:lnTo>
                  <a:pt x="0" y="3192780"/>
                </a:lnTo>
                <a:lnTo>
                  <a:pt x="4600956" y="3192780"/>
                </a:lnTo>
                <a:lnTo>
                  <a:pt x="4600956" y="0"/>
                </a:lnTo>
                <a:close/>
              </a:path>
            </a:pathLst>
          </a:custGeom>
          <a:solidFill>
            <a:srgbClr val="0000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543044" y="361188"/>
            <a:ext cx="4601210" cy="3192780"/>
          </a:xfrm>
          <a:custGeom>
            <a:avLst/>
            <a:gdLst/>
            <a:ahLst/>
            <a:cxnLst/>
            <a:rect l="l" t="t" r="r" b="b"/>
            <a:pathLst>
              <a:path w="4601209" h="3192779">
                <a:moveTo>
                  <a:pt x="0" y="3192780"/>
                </a:moveTo>
                <a:lnTo>
                  <a:pt x="4600956" y="3192780"/>
                </a:lnTo>
                <a:lnTo>
                  <a:pt x="4600956" y="0"/>
                </a:lnTo>
                <a:lnTo>
                  <a:pt x="0" y="0"/>
                </a:lnTo>
                <a:lnTo>
                  <a:pt x="0" y="3192780"/>
                </a:lnTo>
                <a:close/>
              </a:path>
            </a:pathLst>
          </a:custGeom>
          <a:ln w="12192">
            <a:solidFill>
              <a:srgbClr val="0000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0" y="3570732"/>
            <a:ext cx="4543425" cy="3185160"/>
          </a:xfrm>
          <a:custGeom>
            <a:avLst/>
            <a:gdLst/>
            <a:ahLst/>
            <a:cxnLst/>
            <a:rect l="l" t="t" r="r" b="b"/>
            <a:pathLst>
              <a:path w="4543425" h="3185159">
                <a:moveTo>
                  <a:pt x="4543044" y="0"/>
                </a:moveTo>
                <a:lnTo>
                  <a:pt x="0" y="0"/>
                </a:lnTo>
                <a:lnTo>
                  <a:pt x="0" y="3185160"/>
                </a:lnTo>
                <a:lnTo>
                  <a:pt x="4543044" y="3185160"/>
                </a:lnTo>
                <a:lnTo>
                  <a:pt x="4543044" y="0"/>
                </a:lnTo>
                <a:close/>
              </a:path>
            </a:pathLst>
          </a:custGeom>
          <a:solidFill>
            <a:srgbClr val="0099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0" y="3570732"/>
            <a:ext cx="4543425" cy="3185160"/>
          </a:xfrm>
          <a:custGeom>
            <a:avLst/>
            <a:gdLst/>
            <a:ahLst/>
            <a:cxnLst/>
            <a:rect l="l" t="t" r="r" b="b"/>
            <a:pathLst>
              <a:path w="4543425" h="3185159">
                <a:moveTo>
                  <a:pt x="0" y="3185160"/>
                </a:moveTo>
                <a:lnTo>
                  <a:pt x="4543044" y="3185160"/>
                </a:lnTo>
                <a:lnTo>
                  <a:pt x="4543044" y="0"/>
                </a:lnTo>
                <a:lnTo>
                  <a:pt x="0" y="0"/>
                </a:lnTo>
                <a:lnTo>
                  <a:pt x="0" y="3185160"/>
                </a:lnTo>
                <a:close/>
              </a:path>
            </a:pathLst>
          </a:custGeom>
          <a:ln w="12192">
            <a:solidFill>
              <a:srgbClr val="0099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4543044" y="3570732"/>
            <a:ext cx="4601210" cy="3185160"/>
          </a:xfrm>
          <a:custGeom>
            <a:avLst/>
            <a:gdLst/>
            <a:ahLst/>
            <a:cxnLst/>
            <a:rect l="l" t="t" r="r" b="b"/>
            <a:pathLst>
              <a:path w="4601209" h="3185159">
                <a:moveTo>
                  <a:pt x="4600956" y="0"/>
                </a:moveTo>
                <a:lnTo>
                  <a:pt x="0" y="0"/>
                </a:lnTo>
                <a:lnTo>
                  <a:pt x="0" y="3185160"/>
                </a:lnTo>
                <a:lnTo>
                  <a:pt x="4600956" y="3185160"/>
                </a:lnTo>
                <a:lnTo>
                  <a:pt x="4600956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4543044" y="3570732"/>
            <a:ext cx="4601210" cy="3185160"/>
          </a:xfrm>
          <a:custGeom>
            <a:avLst/>
            <a:gdLst/>
            <a:ahLst/>
            <a:cxnLst/>
            <a:rect l="l" t="t" r="r" b="b"/>
            <a:pathLst>
              <a:path w="4601209" h="3185159">
                <a:moveTo>
                  <a:pt x="0" y="3185160"/>
                </a:moveTo>
                <a:lnTo>
                  <a:pt x="4600956" y="3185160"/>
                </a:lnTo>
                <a:lnTo>
                  <a:pt x="4600956" y="0"/>
                </a:lnTo>
                <a:lnTo>
                  <a:pt x="0" y="0"/>
                </a:lnTo>
                <a:lnTo>
                  <a:pt x="0" y="3185160"/>
                </a:lnTo>
                <a:close/>
              </a:path>
            </a:pathLst>
          </a:custGeom>
          <a:ln w="12192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>
            <a:spLocks noGrp="1"/>
          </p:cNvSpPr>
          <p:nvPr>
            <p:ph type="ftr" sz="quarter" idx="5"/>
          </p:nvPr>
        </p:nvSpPr>
        <p:spPr>
          <a:xfrm>
            <a:off x="707542" y="6469557"/>
            <a:ext cx="1163955" cy="13343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lang="en-ID" spc="-5" dirty="0"/>
              <a:t>  </a:t>
            </a:r>
            <a:endParaRPr spc="-5" dirty="0"/>
          </a:p>
        </p:txBody>
      </p:sp>
      <p:sp>
        <p:nvSpPr>
          <p:cNvPr id="12" name="object 12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spc="-5" dirty="0"/>
              <a:t>Pengolahan Citra </a:t>
            </a:r>
            <a:r>
              <a:rPr dirty="0"/>
              <a:t>- </a:t>
            </a:r>
            <a:r>
              <a:rPr spc="-5" dirty="0"/>
              <a:t>Color</a:t>
            </a:r>
            <a:r>
              <a:rPr spc="-40" dirty="0"/>
              <a:t> </a:t>
            </a:r>
            <a:r>
              <a:rPr spc="-5" dirty="0"/>
              <a:t>Theory</a:t>
            </a:r>
          </a:p>
        </p:txBody>
      </p:sp>
    </p:spTree>
    <p:extLst>
      <p:ext uri="{BB962C8B-B14F-4D97-AF65-F5344CB8AC3E}">
        <p14:creationId xmlns:p14="http://schemas.microsoft.com/office/powerpoint/2010/main" val="56737032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693911" y="54356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5" dirty="0">
                <a:latin typeface="Calibri"/>
                <a:cs typeface="Calibri"/>
              </a:rPr>
              <a:t>14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3" name="object 3"/>
          <p:cNvSpPr/>
          <p:nvPr/>
        </p:nvSpPr>
        <p:spPr>
          <a:xfrm>
            <a:off x="0" y="368807"/>
            <a:ext cx="9144000" cy="6489700"/>
          </a:xfrm>
          <a:custGeom>
            <a:avLst/>
            <a:gdLst/>
            <a:ahLst/>
            <a:cxnLst/>
            <a:rect l="l" t="t" r="r" b="b"/>
            <a:pathLst>
              <a:path w="9144000" h="6489700">
                <a:moveTo>
                  <a:pt x="9144000" y="0"/>
                </a:moveTo>
                <a:lnTo>
                  <a:pt x="0" y="0"/>
                </a:lnTo>
                <a:lnTo>
                  <a:pt x="0" y="6489192"/>
                </a:lnTo>
                <a:lnTo>
                  <a:pt x="9144000" y="6489192"/>
                </a:lnTo>
                <a:lnTo>
                  <a:pt x="9144000" y="0"/>
                </a:lnTo>
                <a:close/>
              </a:path>
            </a:pathLst>
          </a:custGeom>
          <a:solidFill>
            <a:srgbClr val="7E7E7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0" y="368807"/>
            <a:ext cx="9144000" cy="6489700"/>
          </a:xfrm>
          <a:custGeom>
            <a:avLst/>
            <a:gdLst/>
            <a:ahLst/>
            <a:cxnLst/>
            <a:rect l="l" t="t" r="r" b="b"/>
            <a:pathLst>
              <a:path w="9144000" h="6489700">
                <a:moveTo>
                  <a:pt x="0" y="6489192"/>
                </a:moveTo>
                <a:lnTo>
                  <a:pt x="9144000" y="6489192"/>
                </a:lnTo>
                <a:lnTo>
                  <a:pt x="9144000" y="0"/>
                </a:lnTo>
                <a:lnTo>
                  <a:pt x="0" y="0"/>
                </a:lnTo>
                <a:lnTo>
                  <a:pt x="0" y="6489192"/>
                </a:lnTo>
                <a:close/>
              </a:path>
            </a:pathLst>
          </a:custGeom>
          <a:ln w="12192">
            <a:solidFill>
              <a:srgbClr val="7E7E7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154172" y="11938"/>
            <a:ext cx="26555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5" dirty="0">
                <a:latin typeface="Calibri"/>
                <a:cs typeface="Calibri"/>
              </a:rPr>
              <a:t>Complementary</a:t>
            </a:r>
            <a:r>
              <a:rPr sz="1800" b="1" spc="-95" dirty="0">
                <a:latin typeface="Calibri"/>
                <a:cs typeface="Calibri"/>
              </a:rPr>
              <a:t> </a:t>
            </a:r>
            <a:r>
              <a:rPr sz="1800" b="1" spc="-10" dirty="0">
                <a:latin typeface="Calibri"/>
                <a:cs typeface="Calibri"/>
              </a:rPr>
              <a:t>Afterimage</a:t>
            </a:r>
            <a:endParaRPr sz="1800">
              <a:latin typeface="Calibri"/>
              <a:cs typeface="Calibri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xfrm>
            <a:off x="707542" y="6469557"/>
            <a:ext cx="1163955" cy="13343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lang="en-ID" spc="-5" dirty="0"/>
              <a:t>  </a:t>
            </a:r>
            <a:endParaRPr spc="-5" dirty="0"/>
          </a:p>
        </p:txBody>
      </p:sp>
      <p:sp>
        <p:nvSpPr>
          <p:cNvPr id="7" name="object 7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spc="-5" dirty="0"/>
              <a:t>Pengolahan Citra </a:t>
            </a:r>
            <a:r>
              <a:rPr dirty="0"/>
              <a:t>- </a:t>
            </a:r>
            <a:r>
              <a:rPr spc="-5" dirty="0"/>
              <a:t>Color</a:t>
            </a:r>
            <a:r>
              <a:rPr spc="-40" dirty="0"/>
              <a:t> </a:t>
            </a:r>
            <a:r>
              <a:rPr spc="-5" dirty="0"/>
              <a:t>Theory</a:t>
            </a:r>
          </a:p>
        </p:txBody>
      </p:sp>
    </p:spTree>
    <p:extLst>
      <p:ext uri="{BB962C8B-B14F-4D97-AF65-F5344CB8AC3E}">
        <p14:creationId xmlns:p14="http://schemas.microsoft.com/office/powerpoint/2010/main" val="333003076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sz="3600" spc="-5" dirty="0"/>
              <a:t>Serba-Serbi</a:t>
            </a:r>
            <a:r>
              <a:rPr sz="3600" spc="-10" dirty="0"/>
              <a:t> </a:t>
            </a:r>
            <a:r>
              <a:rPr sz="3600" spc="-30" dirty="0"/>
              <a:t>Warna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707542" y="1780308"/>
            <a:ext cx="7591425" cy="188150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84785" indent="-1727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85420" algn="l"/>
              </a:tabLst>
            </a:pPr>
            <a:r>
              <a:rPr sz="2400" dirty="0">
                <a:latin typeface="Calibri"/>
                <a:cs typeface="Calibri"/>
              </a:rPr>
              <a:t>Ada </a:t>
            </a:r>
            <a:r>
              <a:rPr sz="2400" spc="-10" dirty="0">
                <a:latin typeface="Calibri"/>
                <a:cs typeface="Calibri"/>
              </a:rPr>
              <a:t>berapa </a:t>
            </a:r>
            <a:r>
              <a:rPr sz="2400" spc="-5" dirty="0">
                <a:latin typeface="Calibri"/>
                <a:cs typeface="Calibri"/>
              </a:rPr>
              <a:t>warna </a:t>
            </a:r>
            <a:r>
              <a:rPr sz="2400" spc="-10" dirty="0">
                <a:latin typeface="Calibri"/>
                <a:cs typeface="Calibri"/>
              </a:rPr>
              <a:t>yang </a:t>
            </a:r>
            <a:r>
              <a:rPr sz="2400" spc="-5" dirty="0">
                <a:latin typeface="Calibri"/>
                <a:cs typeface="Calibri"/>
              </a:rPr>
              <a:t>bisa </a:t>
            </a:r>
            <a:r>
              <a:rPr sz="2400" spc="-10" dirty="0">
                <a:latin typeface="Calibri"/>
                <a:cs typeface="Calibri"/>
              </a:rPr>
              <a:t>dibedakan </a:t>
            </a:r>
            <a:r>
              <a:rPr sz="2400" spc="-5" dirty="0">
                <a:latin typeface="Calibri"/>
                <a:cs typeface="Calibri"/>
              </a:rPr>
              <a:t>oleh </a:t>
            </a:r>
            <a:r>
              <a:rPr sz="2400" spc="-15" dirty="0">
                <a:latin typeface="Calibri"/>
                <a:cs typeface="Calibri"/>
              </a:rPr>
              <a:t>mata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manusia?</a:t>
            </a:r>
          </a:p>
          <a:p>
            <a:pPr marL="527685" lvl="1" indent="-172720">
              <a:lnSpc>
                <a:spcPct val="100000"/>
              </a:lnSpc>
              <a:spcBef>
                <a:spcPts val="155"/>
              </a:spcBef>
              <a:buFont typeface="Arial"/>
              <a:buChar char="•"/>
              <a:tabLst>
                <a:tab pos="528320" algn="l"/>
              </a:tabLst>
            </a:pPr>
            <a:r>
              <a:rPr sz="2200" spc="-15" dirty="0">
                <a:latin typeface="Calibri"/>
                <a:cs typeface="Calibri"/>
              </a:rPr>
              <a:t>Estimasinya </a:t>
            </a:r>
            <a:r>
              <a:rPr sz="2200" spc="-5" dirty="0">
                <a:latin typeface="Calibri"/>
                <a:cs typeface="Calibri"/>
              </a:rPr>
              <a:t>lebih </a:t>
            </a:r>
            <a:r>
              <a:rPr sz="2200" spc="-10" dirty="0">
                <a:latin typeface="Calibri"/>
                <a:cs typeface="Calibri"/>
              </a:rPr>
              <a:t>dari </a:t>
            </a:r>
            <a:r>
              <a:rPr sz="2200" spc="-5" dirty="0">
                <a:latin typeface="Calibri"/>
                <a:cs typeface="Calibri"/>
              </a:rPr>
              <a:t>1 </a:t>
            </a:r>
            <a:r>
              <a:rPr sz="2200" spc="-15" dirty="0">
                <a:latin typeface="Calibri"/>
                <a:cs typeface="Calibri"/>
              </a:rPr>
              <a:t>juta </a:t>
            </a:r>
            <a:r>
              <a:rPr sz="2200" spc="-10" dirty="0">
                <a:latin typeface="Calibri"/>
                <a:cs typeface="Calibri"/>
              </a:rPr>
              <a:t>warna </a:t>
            </a:r>
            <a:r>
              <a:rPr sz="2200" spc="-15" dirty="0">
                <a:latin typeface="Calibri"/>
                <a:cs typeface="Calibri"/>
              </a:rPr>
              <a:t>yang</a:t>
            </a:r>
            <a:r>
              <a:rPr sz="2200" spc="55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unik</a:t>
            </a:r>
            <a:endParaRPr sz="2200" dirty="0">
              <a:latin typeface="Calibri"/>
              <a:cs typeface="Calibri"/>
            </a:endParaRPr>
          </a:p>
          <a:p>
            <a:pPr marL="184785" marR="559435" indent="-172720">
              <a:lnSpc>
                <a:spcPts val="2590"/>
              </a:lnSpc>
              <a:spcBef>
                <a:spcPts val="825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10" dirty="0">
                <a:latin typeface="Calibri"/>
                <a:cs typeface="Calibri"/>
              </a:rPr>
              <a:t>Bagaimana </a:t>
            </a:r>
            <a:r>
              <a:rPr sz="2400" spc="-25" dirty="0">
                <a:latin typeface="Calibri"/>
                <a:cs typeface="Calibri"/>
              </a:rPr>
              <a:t>caranya </a:t>
            </a:r>
            <a:r>
              <a:rPr sz="2400" spc="-10" dirty="0">
                <a:latin typeface="Calibri"/>
                <a:cs typeface="Calibri"/>
              </a:rPr>
              <a:t>kita </a:t>
            </a:r>
            <a:r>
              <a:rPr sz="2400" spc="-5" dirty="0">
                <a:latin typeface="Calibri"/>
                <a:cs typeface="Calibri"/>
              </a:rPr>
              <a:t>bisa saling </a:t>
            </a:r>
            <a:r>
              <a:rPr sz="2400" spc="-15" dirty="0">
                <a:latin typeface="Calibri"/>
                <a:cs typeface="Calibri"/>
              </a:rPr>
              <a:t>mengkomunikasikan  secara </a:t>
            </a:r>
            <a:r>
              <a:rPr sz="2400" spc="-20" dirty="0">
                <a:latin typeface="Calibri"/>
                <a:cs typeface="Calibri"/>
              </a:rPr>
              <a:t>akurat </a:t>
            </a:r>
            <a:r>
              <a:rPr sz="2400" spc="-10" dirty="0">
                <a:latin typeface="Calibri"/>
                <a:cs typeface="Calibri"/>
              </a:rPr>
              <a:t>suatu persepsi</a:t>
            </a:r>
            <a:r>
              <a:rPr sz="2400" spc="1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warna?</a:t>
            </a:r>
            <a:endParaRPr sz="2400" dirty="0">
              <a:latin typeface="Calibri"/>
              <a:cs typeface="Calibri"/>
            </a:endParaRPr>
          </a:p>
          <a:p>
            <a:pPr marL="527685" lvl="1" indent="-172720">
              <a:lnSpc>
                <a:spcPct val="100000"/>
              </a:lnSpc>
              <a:spcBef>
                <a:spcPts val="114"/>
              </a:spcBef>
              <a:buFont typeface="Arial"/>
              <a:buChar char="•"/>
              <a:tabLst>
                <a:tab pos="528320" algn="l"/>
              </a:tabLst>
            </a:pPr>
            <a:r>
              <a:rPr sz="2200" spc="-5" dirty="0">
                <a:latin typeface="Calibri"/>
                <a:cs typeface="Calibri"/>
              </a:rPr>
              <a:t>Sampel. </a:t>
            </a:r>
            <a:r>
              <a:rPr sz="2200" spc="-10" dirty="0">
                <a:latin typeface="Calibri"/>
                <a:cs typeface="Calibri"/>
              </a:rPr>
              <a:t>Selain </a:t>
            </a:r>
            <a:r>
              <a:rPr sz="2200" spc="-5" dirty="0">
                <a:latin typeface="Calibri"/>
                <a:cs typeface="Calibri"/>
              </a:rPr>
              <a:t>itu </a:t>
            </a:r>
            <a:r>
              <a:rPr sz="2200" spc="-25" dirty="0">
                <a:latin typeface="Calibri"/>
                <a:cs typeface="Calibri"/>
              </a:rPr>
              <a:t>kosa kata </a:t>
            </a:r>
            <a:r>
              <a:rPr sz="2200" spc="-5" dirty="0">
                <a:latin typeface="Calibri"/>
                <a:cs typeface="Calibri"/>
              </a:rPr>
              <a:t>manusia </a:t>
            </a:r>
            <a:r>
              <a:rPr sz="2200" spc="-15" dirty="0">
                <a:latin typeface="Calibri"/>
                <a:cs typeface="Calibri"/>
              </a:rPr>
              <a:t>sangat</a:t>
            </a:r>
            <a:r>
              <a:rPr sz="2200" spc="70" dirty="0">
                <a:latin typeface="Calibri"/>
                <a:cs typeface="Calibri"/>
              </a:rPr>
              <a:t> </a:t>
            </a:r>
            <a:r>
              <a:rPr sz="2200" spc="-10" dirty="0">
                <a:latin typeface="Calibri"/>
                <a:cs typeface="Calibri"/>
              </a:rPr>
              <a:t>terbatas.</a:t>
            </a:r>
            <a:endParaRPr sz="2200" dirty="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693911" y="54356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5" dirty="0">
                <a:latin typeface="Calibri"/>
                <a:cs typeface="Calibri"/>
              </a:rPr>
              <a:t>15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068067" y="5850635"/>
            <a:ext cx="5008245" cy="652780"/>
          </a:xfrm>
          <a:custGeom>
            <a:avLst/>
            <a:gdLst/>
            <a:ahLst/>
            <a:cxnLst/>
            <a:rect l="l" t="t" r="r" b="b"/>
            <a:pathLst>
              <a:path w="5008245" h="652779">
                <a:moveTo>
                  <a:pt x="4899152" y="0"/>
                </a:moveTo>
                <a:lnTo>
                  <a:pt x="108712" y="0"/>
                </a:lnTo>
                <a:lnTo>
                  <a:pt x="66383" y="8542"/>
                </a:lnTo>
                <a:lnTo>
                  <a:pt x="31829" y="31838"/>
                </a:lnTo>
                <a:lnTo>
                  <a:pt x="8538" y="66394"/>
                </a:lnTo>
                <a:lnTo>
                  <a:pt x="0" y="108711"/>
                </a:lnTo>
                <a:lnTo>
                  <a:pt x="0" y="543559"/>
                </a:lnTo>
                <a:lnTo>
                  <a:pt x="8538" y="585877"/>
                </a:lnTo>
                <a:lnTo>
                  <a:pt x="31829" y="620433"/>
                </a:lnTo>
                <a:lnTo>
                  <a:pt x="66383" y="643729"/>
                </a:lnTo>
                <a:lnTo>
                  <a:pt x="108712" y="652271"/>
                </a:lnTo>
                <a:lnTo>
                  <a:pt x="4899152" y="652271"/>
                </a:lnTo>
                <a:lnTo>
                  <a:pt x="4941480" y="643729"/>
                </a:lnTo>
                <a:lnTo>
                  <a:pt x="4976034" y="620433"/>
                </a:lnTo>
                <a:lnTo>
                  <a:pt x="4999325" y="585877"/>
                </a:lnTo>
                <a:lnTo>
                  <a:pt x="5007863" y="543559"/>
                </a:lnTo>
                <a:lnTo>
                  <a:pt x="5007863" y="108711"/>
                </a:lnTo>
                <a:lnTo>
                  <a:pt x="4999325" y="66394"/>
                </a:lnTo>
                <a:lnTo>
                  <a:pt x="4976034" y="31838"/>
                </a:lnTo>
                <a:lnTo>
                  <a:pt x="4941480" y="8542"/>
                </a:lnTo>
                <a:lnTo>
                  <a:pt x="4899152" y="0"/>
                </a:lnTo>
                <a:close/>
              </a:path>
            </a:pathLst>
          </a:custGeom>
          <a:solidFill>
            <a:srgbClr val="9C85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068067" y="5850635"/>
            <a:ext cx="5008245" cy="652780"/>
          </a:xfrm>
          <a:custGeom>
            <a:avLst/>
            <a:gdLst/>
            <a:ahLst/>
            <a:cxnLst/>
            <a:rect l="l" t="t" r="r" b="b"/>
            <a:pathLst>
              <a:path w="5008245" h="652779">
                <a:moveTo>
                  <a:pt x="0" y="108711"/>
                </a:moveTo>
                <a:lnTo>
                  <a:pt x="8538" y="66394"/>
                </a:lnTo>
                <a:lnTo>
                  <a:pt x="31829" y="31838"/>
                </a:lnTo>
                <a:lnTo>
                  <a:pt x="66383" y="8542"/>
                </a:lnTo>
                <a:lnTo>
                  <a:pt x="108712" y="0"/>
                </a:lnTo>
                <a:lnTo>
                  <a:pt x="4899152" y="0"/>
                </a:lnTo>
                <a:lnTo>
                  <a:pt x="4941480" y="8542"/>
                </a:lnTo>
                <a:lnTo>
                  <a:pt x="4976034" y="31838"/>
                </a:lnTo>
                <a:lnTo>
                  <a:pt x="4999325" y="66394"/>
                </a:lnTo>
                <a:lnTo>
                  <a:pt x="5007863" y="108711"/>
                </a:lnTo>
                <a:lnTo>
                  <a:pt x="5007863" y="543559"/>
                </a:lnTo>
                <a:lnTo>
                  <a:pt x="4999325" y="585877"/>
                </a:lnTo>
                <a:lnTo>
                  <a:pt x="4976034" y="620433"/>
                </a:lnTo>
                <a:lnTo>
                  <a:pt x="4941480" y="643729"/>
                </a:lnTo>
                <a:lnTo>
                  <a:pt x="4899152" y="652271"/>
                </a:lnTo>
                <a:lnTo>
                  <a:pt x="108712" y="652271"/>
                </a:lnTo>
                <a:lnTo>
                  <a:pt x="66383" y="643729"/>
                </a:lnTo>
                <a:lnTo>
                  <a:pt x="31829" y="620433"/>
                </a:lnTo>
                <a:lnTo>
                  <a:pt x="8538" y="585877"/>
                </a:lnTo>
                <a:lnTo>
                  <a:pt x="0" y="543559"/>
                </a:lnTo>
                <a:lnTo>
                  <a:pt x="0" y="108711"/>
                </a:lnTo>
                <a:close/>
              </a:path>
            </a:pathLst>
          </a:custGeom>
          <a:ln w="12192">
            <a:solidFill>
              <a:srgbClr val="705F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707542" y="4562094"/>
            <a:ext cx="7706359" cy="179260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84785" marR="5080" indent="-172720">
              <a:lnSpc>
                <a:spcPts val="2590"/>
              </a:lnSpc>
              <a:spcBef>
                <a:spcPts val="425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10" dirty="0">
                <a:latin typeface="Calibri"/>
                <a:cs typeface="Calibri"/>
              </a:rPr>
              <a:t>Kita </a:t>
            </a:r>
            <a:r>
              <a:rPr sz="2400" spc="-5" dirty="0">
                <a:latin typeface="Calibri"/>
                <a:cs typeface="Calibri"/>
              </a:rPr>
              <a:t>butuh </a:t>
            </a:r>
            <a:r>
              <a:rPr sz="2400" spc="-10" dirty="0">
                <a:latin typeface="Calibri"/>
                <a:cs typeface="Calibri"/>
              </a:rPr>
              <a:t>suatu </a:t>
            </a:r>
            <a:r>
              <a:rPr sz="2400" spc="-15" dirty="0">
                <a:latin typeface="Calibri"/>
                <a:cs typeface="Calibri"/>
              </a:rPr>
              <a:t>sistem </a:t>
            </a:r>
            <a:r>
              <a:rPr sz="2400" spc="-10" dirty="0">
                <a:latin typeface="Calibri"/>
                <a:cs typeface="Calibri"/>
              </a:rPr>
              <a:t>untuk </a:t>
            </a:r>
            <a:r>
              <a:rPr sz="2400" spc="-5" dirty="0">
                <a:latin typeface="Calibri"/>
                <a:cs typeface="Calibri"/>
              </a:rPr>
              <a:t>mengurutkan warna-warna  dan </a:t>
            </a:r>
            <a:r>
              <a:rPr sz="2400" spc="-10" dirty="0">
                <a:latin typeface="Calibri"/>
                <a:cs typeface="Calibri"/>
              </a:rPr>
              <a:t>menfasilitasi spesifikasi </a:t>
            </a:r>
            <a:r>
              <a:rPr sz="2400" spc="-5" dirty="0">
                <a:latin typeface="Calibri"/>
                <a:cs typeface="Calibri"/>
              </a:rPr>
              <a:t>warna </a:t>
            </a:r>
            <a:r>
              <a:rPr sz="2400" spc="-10" dirty="0">
                <a:latin typeface="Calibri"/>
                <a:cs typeface="Calibri"/>
              </a:rPr>
              <a:t>berdasarkan attribut yang  disepakati.</a:t>
            </a:r>
            <a:endParaRPr sz="24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2400">
              <a:latin typeface="Calibri"/>
              <a:cs typeface="Calibri"/>
            </a:endParaRPr>
          </a:p>
          <a:p>
            <a:pPr marL="22225" algn="ctr">
              <a:lnSpc>
                <a:spcPct val="100000"/>
              </a:lnSpc>
            </a:pPr>
            <a:r>
              <a:rPr sz="2400" spc="-5" dirty="0">
                <a:latin typeface="Calibri"/>
                <a:cs typeface="Calibri"/>
              </a:rPr>
              <a:t>Color </a:t>
            </a:r>
            <a:r>
              <a:rPr sz="2400" spc="-15" dirty="0">
                <a:latin typeface="Calibri"/>
                <a:cs typeface="Calibri"/>
              </a:rPr>
              <a:t>Order Systems </a:t>
            </a:r>
            <a:r>
              <a:rPr sz="2400" dirty="0">
                <a:latin typeface="Calibri"/>
                <a:cs typeface="Calibri"/>
              </a:rPr>
              <a:t>/ </a:t>
            </a:r>
            <a:r>
              <a:rPr sz="2400" spc="-10" dirty="0">
                <a:latin typeface="Calibri"/>
                <a:cs typeface="Calibri"/>
              </a:rPr>
              <a:t>Color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Model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spc="-5" dirty="0"/>
              <a:t>Pengolahan Citra </a:t>
            </a:r>
            <a:r>
              <a:rPr dirty="0"/>
              <a:t>- </a:t>
            </a:r>
            <a:r>
              <a:rPr spc="-5" dirty="0"/>
              <a:t>Color</a:t>
            </a:r>
            <a:r>
              <a:rPr spc="-40" dirty="0"/>
              <a:t> </a:t>
            </a:r>
            <a:r>
              <a:rPr spc="-5" dirty="0"/>
              <a:t>Theory</a:t>
            </a:r>
          </a:p>
        </p:txBody>
      </p:sp>
    </p:spTree>
    <p:extLst>
      <p:ext uri="{BB962C8B-B14F-4D97-AF65-F5344CB8AC3E}">
        <p14:creationId xmlns:p14="http://schemas.microsoft.com/office/powerpoint/2010/main" val="28169320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sz="3600" spc="-10" dirty="0"/>
              <a:t>XYZ </a:t>
            </a:r>
            <a:r>
              <a:rPr sz="3600" spc="-30" dirty="0"/>
              <a:t>Tristimulus</a:t>
            </a:r>
            <a:r>
              <a:rPr sz="3600" spc="5" dirty="0"/>
              <a:t> </a:t>
            </a:r>
            <a:r>
              <a:rPr sz="3600" spc="-40" dirty="0"/>
              <a:t>Values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707542" y="1802333"/>
            <a:ext cx="7466965" cy="2242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785" marR="396240" indent="-185420">
              <a:lnSpc>
                <a:spcPts val="2740"/>
              </a:lnSpc>
              <a:spcBef>
                <a:spcPts val="100"/>
              </a:spcBef>
              <a:buFont typeface="Arial"/>
              <a:buChar char="•"/>
              <a:tabLst>
                <a:tab pos="185420" algn="l"/>
              </a:tabLst>
            </a:pPr>
            <a:r>
              <a:rPr sz="2400" dirty="0">
                <a:latin typeface="Calibri"/>
                <a:cs typeface="Calibri"/>
              </a:rPr>
              <a:t>3 </a:t>
            </a:r>
            <a:r>
              <a:rPr sz="2400" spc="-5" dirty="0">
                <a:latin typeface="Calibri"/>
                <a:cs typeface="Calibri"/>
              </a:rPr>
              <a:t>buah warna (R,G, </a:t>
            </a:r>
            <a:r>
              <a:rPr sz="2400" dirty="0">
                <a:latin typeface="Calibri"/>
                <a:cs typeface="Calibri"/>
              </a:rPr>
              <a:t>and B) </a:t>
            </a:r>
            <a:r>
              <a:rPr sz="2400" spc="-10" dirty="0">
                <a:latin typeface="Calibri"/>
                <a:cs typeface="Calibri"/>
              </a:rPr>
              <a:t>yang </a:t>
            </a:r>
            <a:r>
              <a:rPr sz="2400" spc="-5" dirty="0">
                <a:latin typeface="Calibri"/>
                <a:cs typeface="Calibri"/>
              </a:rPr>
              <a:t>diterima di </a:t>
            </a:r>
            <a:r>
              <a:rPr sz="2400" spc="-10" dirty="0">
                <a:latin typeface="Calibri"/>
                <a:cs typeface="Calibri"/>
              </a:rPr>
              <a:t>retina</a:t>
            </a:r>
            <a:r>
              <a:rPr sz="2400" spc="-10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dapat</a:t>
            </a:r>
            <a:endParaRPr sz="2400">
              <a:latin typeface="Calibri"/>
              <a:cs typeface="Calibri"/>
            </a:endParaRPr>
          </a:p>
          <a:p>
            <a:pPr marR="22860" algn="ctr">
              <a:lnSpc>
                <a:spcPts val="2740"/>
              </a:lnSpc>
            </a:pPr>
            <a:r>
              <a:rPr sz="2400" spc="-15" dirty="0">
                <a:latin typeface="Calibri"/>
                <a:cs typeface="Calibri"/>
              </a:rPr>
              <a:t>dikombinasikan </a:t>
            </a:r>
            <a:r>
              <a:rPr sz="2400" dirty="0">
                <a:latin typeface="Calibri"/>
                <a:cs typeface="Calibri"/>
              </a:rPr>
              <a:t>menjadi </a:t>
            </a:r>
            <a:r>
              <a:rPr sz="2400" spc="-5" dirty="0">
                <a:latin typeface="Calibri"/>
                <a:cs typeface="Calibri"/>
              </a:rPr>
              <a:t>warna </a:t>
            </a:r>
            <a:r>
              <a:rPr sz="2400" dirty="0">
                <a:latin typeface="Calibri"/>
                <a:cs typeface="Calibri"/>
              </a:rPr>
              <a:t>apa </a:t>
            </a:r>
            <a:r>
              <a:rPr sz="2400" spc="-5" dirty="0">
                <a:latin typeface="Calibri"/>
                <a:cs typeface="Calibri"/>
              </a:rPr>
              <a:t>saja dalam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spectrum.</a:t>
            </a:r>
            <a:endParaRPr sz="2400">
              <a:latin typeface="Calibri"/>
              <a:cs typeface="Calibri"/>
            </a:endParaRPr>
          </a:p>
          <a:p>
            <a:pPr marL="184785" marR="5080" indent="-185420">
              <a:lnSpc>
                <a:spcPts val="2735"/>
              </a:lnSpc>
              <a:spcBef>
                <a:spcPts val="515"/>
              </a:spcBef>
              <a:buFont typeface="Arial"/>
              <a:buChar char="•"/>
              <a:tabLst>
                <a:tab pos="185420" algn="l"/>
              </a:tabLst>
            </a:pPr>
            <a:r>
              <a:rPr sz="2400" dirty="0">
                <a:latin typeface="Calibri"/>
                <a:cs typeface="Calibri"/>
              </a:rPr>
              <a:t>Jumlah </a:t>
            </a:r>
            <a:r>
              <a:rPr sz="2400" spc="-10" dirty="0">
                <a:latin typeface="Calibri"/>
                <a:cs typeface="Calibri"/>
              </a:rPr>
              <a:t>warna </a:t>
            </a:r>
            <a:r>
              <a:rPr sz="2400" dirty="0">
                <a:latin typeface="Calibri"/>
                <a:cs typeface="Calibri"/>
              </a:rPr>
              <a:t>R, G, </a:t>
            </a:r>
            <a:r>
              <a:rPr sz="2400" spc="-5" dirty="0">
                <a:latin typeface="Calibri"/>
                <a:cs typeface="Calibri"/>
              </a:rPr>
              <a:t>dan </a:t>
            </a:r>
            <a:r>
              <a:rPr sz="2400" dirty="0">
                <a:latin typeface="Calibri"/>
                <a:cs typeface="Calibri"/>
              </a:rPr>
              <a:t>B </a:t>
            </a:r>
            <a:r>
              <a:rPr sz="2400" spc="-10" dirty="0">
                <a:latin typeface="Calibri"/>
                <a:cs typeface="Calibri"/>
              </a:rPr>
              <a:t>yang dibutuhkan </a:t>
            </a:r>
            <a:r>
              <a:rPr sz="2400" spc="-5" dirty="0">
                <a:latin typeface="Calibri"/>
                <a:cs typeface="Calibri"/>
              </a:rPr>
              <a:t>disebut</a:t>
            </a:r>
            <a:r>
              <a:rPr sz="2400" spc="-7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sebagai</a:t>
            </a:r>
            <a:endParaRPr sz="2400">
              <a:latin typeface="Calibri"/>
              <a:cs typeface="Calibri"/>
            </a:endParaRPr>
          </a:p>
          <a:p>
            <a:pPr marR="4157345" algn="ctr">
              <a:lnSpc>
                <a:spcPts val="2735"/>
              </a:lnSpc>
            </a:pPr>
            <a:r>
              <a:rPr sz="2400" i="1" spc="-5" dirty="0">
                <a:latin typeface="Calibri"/>
                <a:cs typeface="Calibri"/>
              </a:rPr>
              <a:t>tristimulus </a:t>
            </a:r>
            <a:r>
              <a:rPr sz="2400" i="1" dirty="0">
                <a:latin typeface="Calibri"/>
                <a:cs typeface="Calibri"/>
              </a:rPr>
              <a:t>values</a:t>
            </a:r>
            <a:r>
              <a:rPr sz="2400" dirty="0">
                <a:latin typeface="Calibri"/>
                <a:cs typeface="Calibri"/>
              </a:rPr>
              <a:t>: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spc="-80" dirty="0">
                <a:latin typeface="Calibri"/>
                <a:cs typeface="Calibri"/>
              </a:rPr>
              <a:t>X,Y,Z.</a:t>
            </a:r>
            <a:endParaRPr sz="2400">
              <a:latin typeface="Calibri"/>
              <a:cs typeface="Calibri"/>
            </a:endParaRPr>
          </a:p>
          <a:p>
            <a:pPr marL="184785" marR="5080" indent="-172720">
              <a:lnSpc>
                <a:spcPts val="2590"/>
              </a:lnSpc>
              <a:spcBef>
                <a:spcPts val="850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20" dirty="0">
                <a:latin typeface="Calibri"/>
                <a:cs typeface="Calibri"/>
              </a:rPr>
              <a:t>Warna </a:t>
            </a:r>
            <a:r>
              <a:rPr sz="2400" dirty="0">
                <a:latin typeface="Calibri"/>
                <a:cs typeface="Calibri"/>
              </a:rPr>
              <a:t>tsb lalu </a:t>
            </a:r>
            <a:r>
              <a:rPr sz="2400" spc="-5" dirty="0">
                <a:latin typeface="Calibri"/>
                <a:cs typeface="Calibri"/>
              </a:rPr>
              <a:t>bisa </a:t>
            </a:r>
            <a:r>
              <a:rPr sz="2400" spc="-20" dirty="0">
                <a:latin typeface="Calibri"/>
                <a:cs typeface="Calibri"/>
              </a:rPr>
              <a:t>dinyatakan </a:t>
            </a:r>
            <a:r>
              <a:rPr sz="2400" spc="-15" dirty="0">
                <a:latin typeface="Calibri"/>
                <a:cs typeface="Calibri"/>
              </a:rPr>
              <a:t>dengan </a:t>
            </a:r>
            <a:r>
              <a:rPr sz="2400" i="1" spc="-5" dirty="0">
                <a:latin typeface="Calibri"/>
                <a:cs typeface="Calibri"/>
              </a:rPr>
              <a:t>trichromatic </a:t>
            </a:r>
            <a:r>
              <a:rPr sz="2400" i="1" dirty="0">
                <a:latin typeface="Calibri"/>
                <a:cs typeface="Calibri"/>
              </a:rPr>
              <a:t>values:  </a:t>
            </a:r>
            <a:r>
              <a:rPr sz="2400" i="1" spc="-30" dirty="0">
                <a:latin typeface="Calibri"/>
                <a:cs typeface="Calibri"/>
              </a:rPr>
              <a:t>z,y,z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050442" y="5235466"/>
            <a:ext cx="4435475" cy="729615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84785" indent="-172720">
              <a:lnSpc>
                <a:spcPct val="100000"/>
              </a:lnSpc>
              <a:spcBef>
                <a:spcPts val="229"/>
              </a:spcBef>
              <a:buFont typeface="Arial"/>
              <a:buChar char="•"/>
              <a:tabLst>
                <a:tab pos="185420" algn="l"/>
              </a:tabLst>
            </a:pPr>
            <a:r>
              <a:rPr sz="2200" spc="-10" dirty="0">
                <a:latin typeface="Calibri"/>
                <a:cs typeface="Calibri"/>
              </a:rPr>
              <a:t>Note that </a:t>
            </a:r>
            <a:r>
              <a:rPr sz="2200" spc="-5" dirty="0">
                <a:latin typeface="Cambria Math"/>
                <a:cs typeface="Cambria Math"/>
              </a:rPr>
              <a:t>𝑥 + 𝑦 + 𝑧 =</a:t>
            </a:r>
            <a:r>
              <a:rPr sz="2200" spc="450" dirty="0">
                <a:latin typeface="Cambria Math"/>
                <a:cs typeface="Cambria Math"/>
              </a:rPr>
              <a:t> </a:t>
            </a:r>
            <a:r>
              <a:rPr sz="2200" spc="-5" dirty="0">
                <a:latin typeface="Cambria Math"/>
                <a:cs typeface="Cambria Math"/>
              </a:rPr>
              <a:t>1</a:t>
            </a:r>
            <a:endParaRPr sz="2200">
              <a:latin typeface="Cambria Math"/>
              <a:cs typeface="Cambria Math"/>
            </a:endParaRPr>
          </a:p>
          <a:p>
            <a:pPr marL="184785" indent="-172720">
              <a:lnSpc>
                <a:spcPct val="100000"/>
              </a:lnSpc>
              <a:spcBef>
                <a:spcPts val="130"/>
              </a:spcBef>
              <a:buFont typeface="Arial"/>
              <a:buChar char="•"/>
              <a:tabLst>
                <a:tab pos="185420" algn="l"/>
              </a:tabLst>
            </a:pPr>
            <a:r>
              <a:rPr sz="2200" spc="-10" dirty="0">
                <a:latin typeface="Calibri"/>
                <a:cs typeface="Calibri"/>
              </a:rPr>
              <a:t>Using </a:t>
            </a:r>
            <a:r>
              <a:rPr sz="2200" spc="-5" dirty="0">
                <a:latin typeface="Calibri"/>
                <a:cs typeface="Calibri"/>
              </a:rPr>
              <a:t>x and </a:t>
            </a:r>
            <a:r>
              <a:rPr sz="2200" spc="-85" dirty="0">
                <a:latin typeface="Calibri"/>
                <a:cs typeface="Calibri"/>
              </a:rPr>
              <a:t>y, </a:t>
            </a:r>
            <a:r>
              <a:rPr sz="2200" spc="-15" dirty="0">
                <a:latin typeface="Calibri"/>
                <a:cs typeface="Calibri"/>
              </a:rPr>
              <a:t>we can </a:t>
            </a:r>
            <a:r>
              <a:rPr sz="2200" spc="-10" dirty="0">
                <a:latin typeface="Calibri"/>
                <a:cs typeface="Calibri"/>
              </a:rPr>
              <a:t>plot </a:t>
            </a:r>
            <a:r>
              <a:rPr sz="2200" spc="-5" dirty="0">
                <a:latin typeface="Calibri"/>
                <a:cs typeface="Calibri"/>
              </a:rPr>
              <a:t>the</a:t>
            </a:r>
            <a:r>
              <a:rPr sz="2200" spc="145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colors..</a:t>
            </a:r>
            <a:endParaRPr sz="22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693911" y="54356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5" dirty="0">
                <a:latin typeface="Calibri"/>
                <a:cs typeface="Calibri"/>
              </a:rPr>
              <a:t>18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1436497" y="4595876"/>
            <a:ext cx="1309370" cy="20320"/>
          </a:xfrm>
          <a:custGeom>
            <a:avLst/>
            <a:gdLst/>
            <a:ahLst/>
            <a:cxnLst/>
            <a:rect l="l" t="t" r="r" b="b"/>
            <a:pathLst>
              <a:path w="1309370" h="20320">
                <a:moveTo>
                  <a:pt x="1309116" y="0"/>
                </a:moveTo>
                <a:lnTo>
                  <a:pt x="0" y="0"/>
                </a:lnTo>
                <a:lnTo>
                  <a:pt x="0" y="19812"/>
                </a:lnTo>
                <a:lnTo>
                  <a:pt x="1309116" y="19812"/>
                </a:lnTo>
                <a:lnTo>
                  <a:pt x="130911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856894" y="4145407"/>
            <a:ext cx="1893570" cy="8255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31570">
              <a:lnSpc>
                <a:spcPts val="2345"/>
              </a:lnSpc>
              <a:spcBef>
                <a:spcPts val="100"/>
              </a:spcBef>
            </a:pPr>
            <a:r>
              <a:rPr sz="2400" dirty="0">
                <a:latin typeface="Cambria Math"/>
                <a:cs typeface="Cambria Math"/>
              </a:rPr>
              <a:t>𝑋</a:t>
            </a:r>
            <a:endParaRPr sz="2400">
              <a:latin typeface="Cambria Math"/>
              <a:cs typeface="Cambria Math"/>
            </a:endParaRPr>
          </a:p>
          <a:p>
            <a:pPr marL="12700">
              <a:lnSpc>
                <a:spcPts val="1710"/>
              </a:lnSpc>
            </a:pPr>
            <a:r>
              <a:rPr sz="2400" dirty="0">
                <a:latin typeface="Cambria Math"/>
                <a:cs typeface="Cambria Math"/>
              </a:rPr>
              <a:t>𝑥</a:t>
            </a:r>
            <a:r>
              <a:rPr sz="2400" spc="185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=</a:t>
            </a:r>
            <a:endParaRPr sz="2400">
              <a:latin typeface="Cambria Math"/>
              <a:cs typeface="Cambria Math"/>
            </a:endParaRPr>
          </a:p>
          <a:p>
            <a:pPr marL="579755">
              <a:lnSpc>
                <a:spcPts val="2245"/>
              </a:lnSpc>
            </a:pPr>
            <a:r>
              <a:rPr sz="2400" dirty="0">
                <a:latin typeface="Cambria Math"/>
                <a:cs typeface="Cambria Math"/>
              </a:rPr>
              <a:t>𝑋 + 𝑌 +</a:t>
            </a:r>
            <a:r>
              <a:rPr sz="2400" spc="15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𝑍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4298569" y="4595876"/>
            <a:ext cx="1309370" cy="20320"/>
          </a:xfrm>
          <a:custGeom>
            <a:avLst/>
            <a:gdLst/>
            <a:ahLst/>
            <a:cxnLst/>
            <a:rect l="l" t="t" r="r" b="b"/>
            <a:pathLst>
              <a:path w="1309370" h="20320">
                <a:moveTo>
                  <a:pt x="1309115" y="0"/>
                </a:moveTo>
                <a:lnTo>
                  <a:pt x="0" y="0"/>
                </a:lnTo>
                <a:lnTo>
                  <a:pt x="0" y="19812"/>
                </a:lnTo>
                <a:lnTo>
                  <a:pt x="1309115" y="19812"/>
                </a:lnTo>
                <a:lnTo>
                  <a:pt x="1309115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3715003" y="4145407"/>
            <a:ext cx="1899920" cy="8255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41730">
              <a:lnSpc>
                <a:spcPts val="2345"/>
              </a:lnSpc>
              <a:spcBef>
                <a:spcPts val="100"/>
              </a:spcBef>
            </a:pPr>
            <a:r>
              <a:rPr sz="2400" dirty="0">
                <a:latin typeface="Cambria Math"/>
                <a:cs typeface="Cambria Math"/>
              </a:rPr>
              <a:t>𝑌</a:t>
            </a:r>
            <a:endParaRPr sz="2400">
              <a:latin typeface="Cambria Math"/>
              <a:cs typeface="Cambria Math"/>
            </a:endParaRPr>
          </a:p>
          <a:p>
            <a:pPr marL="12700">
              <a:lnSpc>
                <a:spcPts val="1710"/>
              </a:lnSpc>
            </a:pPr>
            <a:r>
              <a:rPr sz="2400" dirty="0">
                <a:latin typeface="Cambria Math"/>
                <a:cs typeface="Cambria Math"/>
              </a:rPr>
              <a:t>𝑦</a:t>
            </a:r>
            <a:r>
              <a:rPr sz="2400" spc="170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=</a:t>
            </a:r>
            <a:endParaRPr sz="2400">
              <a:latin typeface="Cambria Math"/>
              <a:cs typeface="Cambria Math"/>
            </a:endParaRPr>
          </a:p>
          <a:p>
            <a:pPr marL="584200">
              <a:lnSpc>
                <a:spcPts val="2245"/>
              </a:lnSpc>
            </a:pPr>
            <a:r>
              <a:rPr sz="2400" dirty="0">
                <a:latin typeface="Cambria Math"/>
                <a:cs typeface="Cambria Math"/>
              </a:rPr>
              <a:t>𝑋 + 𝑌 +</a:t>
            </a:r>
            <a:r>
              <a:rPr sz="2400" spc="30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𝑍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7150861" y="4582033"/>
            <a:ext cx="1309370" cy="20320"/>
          </a:xfrm>
          <a:custGeom>
            <a:avLst/>
            <a:gdLst/>
            <a:ahLst/>
            <a:cxnLst/>
            <a:rect l="l" t="t" r="r" b="b"/>
            <a:pathLst>
              <a:path w="1309370" h="20320">
                <a:moveTo>
                  <a:pt x="1309116" y="0"/>
                </a:moveTo>
                <a:lnTo>
                  <a:pt x="0" y="0"/>
                </a:lnTo>
                <a:lnTo>
                  <a:pt x="0" y="19812"/>
                </a:lnTo>
                <a:lnTo>
                  <a:pt x="1309116" y="19812"/>
                </a:lnTo>
                <a:lnTo>
                  <a:pt x="130911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590538" y="4131691"/>
            <a:ext cx="1875155" cy="8255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20775">
              <a:lnSpc>
                <a:spcPts val="2345"/>
              </a:lnSpc>
              <a:spcBef>
                <a:spcPts val="100"/>
              </a:spcBef>
            </a:pPr>
            <a:r>
              <a:rPr sz="2400" dirty="0">
                <a:latin typeface="Cambria Math"/>
                <a:cs typeface="Cambria Math"/>
              </a:rPr>
              <a:t>𝑍</a:t>
            </a:r>
            <a:endParaRPr sz="2400">
              <a:latin typeface="Cambria Math"/>
              <a:cs typeface="Cambria Math"/>
            </a:endParaRPr>
          </a:p>
          <a:p>
            <a:pPr marL="12700">
              <a:lnSpc>
                <a:spcPts val="1710"/>
              </a:lnSpc>
            </a:pPr>
            <a:r>
              <a:rPr sz="2400" dirty="0">
                <a:latin typeface="Cambria Math"/>
                <a:cs typeface="Cambria Math"/>
              </a:rPr>
              <a:t>𝑧</a:t>
            </a:r>
            <a:r>
              <a:rPr sz="2400" spc="160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=</a:t>
            </a:r>
            <a:endParaRPr sz="2400">
              <a:latin typeface="Cambria Math"/>
              <a:cs typeface="Cambria Math"/>
            </a:endParaRPr>
          </a:p>
          <a:p>
            <a:pPr marL="561340">
              <a:lnSpc>
                <a:spcPts val="2245"/>
              </a:lnSpc>
            </a:pPr>
            <a:r>
              <a:rPr sz="2400" dirty="0">
                <a:latin typeface="Cambria Math"/>
                <a:cs typeface="Cambria Math"/>
              </a:rPr>
              <a:t>𝑋 + 𝑌 +</a:t>
            </a:r>
            <a:r>
              <a:rPr sz="2400" spc="15" dirty="0">
                <a:latin typeface="Cambria Math"/>
                <a:cs typeface="Cambria Math"/>
              </a:rPr>
              <a:t> </a:t>
            </a:r>
            <a:r>
              <a:rPr sz="2400" dirty="0">
                <a:latin typeface="Cambria Math"/>
                <a:cs typeface="Cambria Math"/>
              </a:rPr>
              <a:t>𝑍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ftr" sz="quarter" idx="5"/>
          </p:nvPr>
        </p:nvSpPr>
        <p:spPr>
          <a:xfrm>
            <a:off x="707542" y="6469557"/>
            <a:ext cx="1163955" cy="13343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lang="en-ID" spc="-5" dirty="0"/>
              <a:t>  </a:t>
            </a:r>
            <a:endParaRPr spc="-5" dirty="0"/>
          </a:p>
        </p:txBody>
      </p:sp>
      <p:sp>
        <p:nvSpPr>
          <p:cNvPr id="13" name="object 13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spc="-5" dirty="0"/>
              <a:t>Pengolahan Citra </a:t>
            </a:r>
            <a:r>
              <a:rPr dirty="0"/>
              <a:t>- </a:t>
            </a:r>
            <a:r>
              <a:rPr spc="-5" dirty="0"/>
              <a:t>Color</a:t>
            </a:r>
            <a:r>
              <a:rPr spc="-40" dirty="0"/>
              <a:t> </a:t>
            </a:r>
            <a:r>
              <a:rPr spc="-5" dirty="0"/>
              <a:t>Theory</a:t>
            </a:r>
          </a:p>
        </p:txBody>
      </p:sp>
    </p:spTree>
    <p:extLst>
      <p:ext uri="{BB962C8B-B14F-4D97-AF65-F5344CB8AC3E}">
        <p14:creationId xmlns:p14="http://schemas.microsoft.com/office/powerpoint/2010/main" val="6646104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sz="3600" spc="-5" dirty="0"/>
              <a:t>CIE </a:t>
            </a:r>
            <a:r>
              <a:rPr sz="3600" spc="-15" dirty="0"/>
              <a:t>Chromaticity</a:t>
            </a:r>
            <a:r>
              <a:rPr sz="3600" spc="15" dirty="0"/>
              <a:t> </a:t>
            </a:r>
            <a:r>
              <a:rPr sz="3600" spc="-15" dirty="0"/>
              <a:t>Diagram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8693911" y="54356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5" dirty="0">
                <a:latin typeface="Calibri"/>
                <a:cs typeface="Calibri"/>
              </a:rPr>
              <a:t>19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23215" y="6276543"/>
            <a:ext cx="8561070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spc="-5" dirty="0">
                <a:solidFill>
                  <a:srgbClr val="212121"/>
                </a:solidFill>
                <a:latin typeface="Arial"/>
                <a:cs typeface="Arial"/>
              </a:rPr>
              <a:t>CIE</a:t>
            </a:r>
            <a:r>
              <a:rPr sz="1600" spc="-5" dirty="0">
                <a:solidFill>
                  <a:srgbClr val="212121"/>
                </a:solidFill>
                <a:latin typeface="Arial"/>
                <a:cs typeface="Arial"/>
              </a:rPr>
              <a:t>: Commission internationale de l'éclairage (International Commission on Illumination) is</a:t>
            </a:r>
            <a:r>
              <a:rPr sz="1600" spc="165" dirty="0">
                <a:solidFill>
                  <a:srgbClr val="212121"/>
                </a:solidFill>
                <a:latin typeface="Arial"/>
                <a:cs typeface="Arial"/>
              </a:rPr>
              <a:t> </a:t>
            </a:r>
            <a:r>
              <a:rPr sz="1600" spc="-5" dirty="0">
                <a:solidFill>
                  <a:srgbClr val="212121"/>
                </a:solidFill>
                <a:latin typeface="Arial"/>
                <a:cs typeface="Arial"/>
              </a:rPr>
              <a:t>the</a:t>
            </a:r>
            <a:endParaRPr sz="160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186939" y="1937714"/>
            <a:ext cx="4544202" cy="434268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xfrm>
            <a:off x="707542" y="6469557"/>
            <a:ext cx="1163955" cy="13343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lang="en-ID" spc="-5" dirty="0"/>
              <a:t>  </a:t>
            </a:r>
            <a:endParaRPr spc="-5" dirty="0"/>
          </a:p>
        </p:txBody>
      </p:sp>
      <p:sp>
        <p:nvSpPr>
          <p:cNvPr id="7" name="object 7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spc="-5" dirty="0"/>
              <a:t>Pengolahan Citra </a:t>
            </a:r>
            <a:r>
              <a:rPr dirty="0"/>
              <a:t>- </a:t>
            </a:r>
            <a:r>
              <a:rPr spc="-5" dirty="0"/>
              <a:t>Color</a:t>
            </a:r>
            <a:r>
              <a:rPr spc="-40" dirty="0"/>
              <a:t> </a:t>
            </a:r>
            <a:r>
              <a:rPr spc="-5" dirty="0"/>
              <a:t>Theory</a:t>
            </a:r>
          </a:p>
        </p:txBody>
      </p:sp>
      <p:sp>
        <p:nvSpPr>
          <p:cNvPr id="8" name="object 8"/>
          <p:cNvSpPr txBox="1"/>
          <p:nvPr/>
        </p:nvSpPr>
        <p:spPr>
          <a:xfrm>
            <a:off x="223215" y="6533487"/>
            <a:ext cx="6282690" cy="2520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864"/>
              </a:lnSpc>
            </a:pPr>
            <a:r>
              <a:rPr sz="1600" spc="-5" dirty="0">
                <a:solidFill>
                  <a:srgbClr val="212121"/>
                </a:solidFill>
                <a:latin typeface="Arial"/>
                <a:cs typeface="Arial"/>
              </a:rPr>
              <a:t>international authority on </a:t>
            </a:r>
            <a:r>
              <a:rPr sz="1600" u="heavy" spc="-5" dirty="0">
                <a:solidFill>
                  <a:srgbClr val="8E57B6"/>
                </a:solidFill>
                <a:uFill>
                  <a:solidFill>
                    <a:srgbClr val="8E57B6"/>
                  </a:solidFill>
                </a:uFill>
                <a:latin typeface="Arial"/>
                <a:cs typeface="Arial"/>
                <a:hlinkClick r:id="rId3"/>
              </a:rPr>
              <a:t>light</a:t>
            </a:r>
            <a:r>
              <a:rPr sz="1600" spc="-5" dirty="0">
                <a:solidFill>
                  <a:srgbClr val="212121"/>
                </a:solidFill>
                <a:latin typeface="Arial"/>
                <a:cs typeface="Arial"/>
              </a:rPr>
              <a:t>, </a:t>
            </a:r>
            <a:r>
              <a:rPr sz="1600" u="heavy" spc="-5" dirty="0">
                <a:solidFill>
                  <a:srgbClr val="8E57B6"/>
                </a:solidFill>
                <a:uFill>
                  <a:solidFill>
                    <a:srgbClr val="8E57B6"/>
                  </a:solidFill>
                </a:uFill>
                <a:latin typeface="Arial"/>
                <a:cs typeface="Arial"/>
                <a:hlinkClick r:id="rId4"/>
              </a:rPr>
              <a:t>illumination</a:t>
            </a:r>
            <a:r>
              <a:rPr sz="1600" spc="-5" dirty="0">
                <a:solidFill>
                  <a:srgbClr val="212121"/>
                </a:solidFill>
                <a:latin typeface="Arial"/>
                <a:cs typeface="Arial"/>
              </a:rPr>
              <a:t>, </a:t>
            </a:r>
            <a:r>
              <a:rPr sz="1600" u="heavy" spc="-15" dirty="0">
                <a:solidFill>
                  <a:srgbClr val="8E57B6"/>
                </a:solidFill>
                <a:uFill>
                  <a:solidFill>
                    <a:srgbClr val="8E57B6"/>
                  </a:solidFill>
                </a:uFill>
                <a:latin typeface="Arial"/>
                <a:cs typeface="Arial"/>
                <a:hlinkClick r:id="rId5"/>
              </a:rPr>
              <a:t>colour</a:t>
            </a:r>
            <a:r>
              <a:rPr sz="1600" spc="-15" dirty="0">
                <a:solidFill>
                  <a:srgbClr val="212121"/>
                </a:solidFill>
                <a:latin typeface="Arial"/>
                <a:cs typeface="Arial"/>
              </a:rPr>
              <a:t>, </a:t>
            </a:r>
            <a:r>
              <a:rPr sz="1600" spc="-5" dirty="0">
                <a:solidFill>
                  <a:srgbClr val="212121"/>
                </a:solidFill>
                <a:latin typeface="Arial"/>
                <a:cs typeface="Arial"/>
              </a:rPr>
              <a:t>and </a:t>
            </a:r>
            <a:r>
              <a:rPr sz="1600" u="heavy" spc="-5" dirty="0">
                <a:solidFill>
                  <a:srgbClr val="8E57B6"/>
                </a:solidFill>
                <a:uFill>
                  <a:solidFill>
                    <a:srgbClr val="8E57B6"/>
                  </a:solidFill>
                </a:uFill>
                <a:latin typeface="Arial"/>
                <a:cs typeface="Arial"/>
                <a:hlinkClick r:id="rId6"/>
              </a:rPr>
              <a:t>colour</a:t>
            </a:r>
            <a:r>
              <a:rPr sz="1600" u="heavy" spc="145" dirty="0">
                <a:solidFill>
                  <a:srgbClr val="8E57B6"/>
                </a:solidFill>
                <a:uFill>
                  <a:solidFill>
                    <a:srgbClr val="8E57B6"/>
                  </a:solidFill>
                </a:uFill>
                <a:latin typeface="Arial"/>
                <a:cs typeface="Arial"/>
                <a:hlinkClick r:id="rId6"/>
              </a:rPr>
              <a:t> </a:t>
            </a:r>
            <a:r>
              <a:rPr sz="1600" u="heavy" spc="-5" dirty="0">
                <a:solidFill>
                  <a:srgbClr val="8E57B6"/>
                </a:solidFill>
                <a:uFill>
                  <a:solidFill>
                    <a:srgbClr val="8E57B6"/>
                  </a:solidFill>
                </a:uFill>
                <a:latin typeface="Arial"/>
                <a:cs typeface="Arial"/>
                <a:hlinkClick r:id="rId6"/>
              </a:rPr>
              <a:t>spaces</a:t>
            </a:r>
            <a:r>
              <a:rPr sz="1600" spc="-5" dirty="0">
                <a:solidFill>
                  <a:srgbClr val="212121"/>
                </a:solidFill>
                <a:latin typeface="Arial"/>
                <a:cs typeface="Arial"/>
              </a:rPr>
              <a:t>.</a:t>
            </a:r>
            <a:endParaRPr sz="160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625197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186939" y="1937714"/>
            <a:ext cx="4544202" cy="434268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2186939" y="1865376"/>
            <a:ext cx="4530852" cy="4559808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sz="3600" spc="-15" dirty="0"/>
              <a:t>What </a:t>
            </a:r>
            <a:r>
              <a:rPr sz="3600" spc="-5" dirty="0"/>
              <a:t>about </a:t>
            </a:r>
            <a:r>
              <a:rPr sz="3600" spc="-10" dirty="0"/>
              <a:t>digital</a:t>
            </a:r>
            <a:r>
              <a:rPr sz="3600" spc="60" dirty="0"/>
              <a:t> </a:t>
            </a:r>
            <a:r>
              <a:rPr sz="3600" spc="-20" dirty="0"/>
              <a:t>monitors?</a:t>
            </a:r>
            <a:endParaRPr sz="3600"/>
          </a:p>
        </p:txBody>
      </p:sp>
      <p:sp>
        <p:nvSpPr>
          <p:cNvPr id="5" name="object 5"/>
          <p:cNvSpPr txBox="1"/>
          <p:nvPr/>
        </p:nvSpPr>
        <p:spPr>
          <a:xfrm>
            <a:off x="8693911" y="54356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5" dirty="0">
                <a:latin typeface="Calibri"/>
                <a:cs typeface="Calibri"/>
              </a:rPr>
              <a:t>20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82142" y="6365240"/>
            <a:ext cx="657987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1350" spc="-569" baseline="49382" dirty="0">
                <a:solidFill>
                  <a:srgbClr val="888888"/>
                </a:solidFill>
                <a:latin typeface="Calibri"/>
                <a:cs typeface="Calibri"/>
              </a:rPr>
              <a:t>L</a:t>
            </a:r>
            <a:r>
              <a:rPr sz="2400" spc="-459" dirty="0">
                <a:latin typeface="Arial"/>
                <a:cs typeface="Arial"/>
              </a:rPr>
              <a:t>•</a:t>
            </a:r>
            <a:r>
              <a:rPr sz="1350" baseline="49382" dirty="0">
                <a:solidFill>
                  <a:srgbClr val="888888"/>
                </a:solidFill>
                <a:latin typeface="Calibri"/>
                <a:cs typeface="Calibri"/>
              </a:rPr>
              <a:t>a</a:t>
            </a:r>
            <a:r>
              <a:rPr sz="1350" spc="-7" baseline="49382" dirty="0">
                <a:solidFill>
                  <a:srgbClr val="888888"/>
                </a:solidFill>
                <a:latin typeface="Calibri"/>
                <a:cs typeface="Calibri"/>
              </a:rPr>
              <a:t>k</a:t>
            </a:r>
            <a:r>
              <a:rPr sz="1350" spc="-337" baseline="49382" dirty="0">
                <a:solidFill>
                  <a:srgbClr val="888888"/>
                </a:solidFill>
                <a:latin typeface="Calibri"/>
                <a:cs typeface="Calibri"/>
              </a:rPr>
              <a:t>s</a:t>
            </a:r>
            <a:r>
              <a:rPr sz="2400" spc="-1065" dirty="0">
                <a:latin typeface="Calibri"/>
                <a:cs typeface="Calibri"/>
              </a:rPr>
              <a:t>C</a:t>
            </a:r>
            <a:r>
              <a:rPr sz="1350" baseline="49382" dirty="0">
                <a:solidFill>
                  <a:srgbClr val="888888"/>
                </a:solidFill>
                <a:latin typeface="Calibri"/>
                <a:cs typeface="Calibri"/>
              </a:rPr>
              <a:t>m</a:t>
            </a:r>
            <a:r>
              <a:rPr sz="1350" spc="-7" baseline="49382" dirty="0">
                <a:solidFill>
                  <a:srgbClr val="888888"/>
                </a:solidFill>
                <a:latin typeface="Calibri"/>
                <a:cs typeface="Calibri"/>
              </a:rPr>
              <a:t>i</a:t>
            </a:r>
            <a:r>
              <a:rPr sz="1350" spc="-247" baseline="49382" dirty="0">
                <a:solidFill>
                  <a:srgbClr val="888888"/>
                </a:solidFill>
                <a:latin typeface="Calibri"/>
                <a:cs typeface="Calibri"/>
              </a:rPr>
              <a:t>t</a:t>
            </a:r>
            <a:r>
              <a:rPr sz="2400" spc="-1105" dirty="0">
                <a:latin typeface="Calibri"/>
                <a:cs typeface="Calibri"/>
              </a:rPr>
              <a:t>o</a:t>
            </a:r>
            <a:r>
              <a:rPr sz="1350" baseline="49382" dirty="0">
                <a:solidFill>
                  <a:srgbClr val="888888"/>
                </a:solidFill>
                <a:latin typeface="Calibri"/>
                <a:cs typeface="Calibri"/>
              </a:rPr>
              <a:t>a</a:t>
            </a:r>
            <a:r>
              <a:rPr sz="1350" spc="-22" baseline="49382" dirty="0">
                <a:solidFill>
                  <a:srgbClr val="888888"/>
                </a:solidFill>
                <a:latin typeface="Calibri"/>
                <a:cs typeface="Calibri"/>
              </a:rPr>
              <a:t> </a:t>
            </a:r>
            <a:r>
              <a:rPr sz="1350" spc="-15" baseline="49382" dirty="0">
                <a:solidFill>
                  <a:srgbClr val="888888"/>
                </a:solidFill>
                <a:latin typeface="Calibri"/>
                <a:cs typeface="Calibri"/>
              </a:rPr>
              <a:t>R</a:t>
            </a:r>
            <a:r>
              <a:rPr sz="2400" spc="-545" dirty="0">
                <a:latin typeface="Calibri"/>
                <a:cs typeface="Calibri"/>
              </a:rPr>
              <a:t>l</a:t>
            </a:r>
            <a:r>
              <a:rPr sz="1350" baseline="49382" dirty="0">
                <a:solidFill>
                  <a:srgbClr val="888888"/>
                </a:solidFill>
                <a:latin typeface="Calibri"/>
                <a:cs typeface="Calibri"/>
              </a:rPr>
              <a:t>a</a:t>
            </a:r>
            <a:r>
              <a:rPr sz="1350" spc="-555" baseline="49382" dirty="0">
                <a:solidFill>
                  <a:srgbClr val="888888"/>
                </a:solidFill>
                <a:latin typeface="Calibri"/>
                <a:cs typeface="Calibri"/>
              </a:rPr>
              <a:t>h</a:t>
            </a:r>
            <a:r>
              <a:rPr sz="2400" spc="-905" dirty="0">
                <a:latin typeface="Calibri"/>
                <a:cs typeface="Calibri"/>
              </a:rPr>
              <a:t>o</a:t>
            </a:r>
            <a:r>
              <a:rPr sz="1350" baseline="49382" dirty="0">
                <a:solidFill>
                  <a:srgbClr val="888888"/>
                </a:solidFill>
                <a:latin typeface="Calibri"/>
                <a:cs typeface="Calibri"/>
              </a:rPr>
              <a:t>a</a:t>
            </a:r>
            <a:r>
              <a:rPr sz="1350" spc="-15" baseline="49382" dirty="0">
                <a:solidFill>
                  <a:srgbClr val="888888"/>
                </a:solidFill>
                <a:latin typeface="Calibri"/>
                <a:cs typeface="Calibri"/>
              </a:rPr>
              <a:t>d</a:t>
            </a:r>
            <a:r>
              <a:rPr sz="1350" spc="-307" baseline="49382" dirty="0">
                <a:solidFill>
                  <a:srgbClr val="888888"/>
                </a:solidFill>
                <a:latin typeface="Calibri"/>
                <a:cs typeface="Calibri"/>
              </a:rPr>
              <a:t>i</a:t>
            </a:r>
            <a:r>
              <a:rPr sz="2400" spc="-640" dirty="0">
                <a:latin typeface="Calibri"/>
                <a:cs typeface="Calibri"/>
              </a:rPr>
              <a:t>r</a:t>
            </a:r>
            <a:r>
              <a:rPr sz="1350" baseline="49382" dirty="0">
                <a:solidFill>
                  <a:srgbClr val="888888"/>
                </a:solidFill>
                <a:latin typeface="Calibri"/>
                <a:cs typeface="Calibri"/>
              </a:rPr>
              <a:t>a</a:t>
            </a:r>
            <a:r>
              <a:rPr sz="1350" spc="-465" baseline="49382" dirty="0">
                <a:solidFill>
                  <a:srgbClr val="888888"/>
                </a:solidFill>
                <a:latin typeface="Calibri"/>
                <a:cs typeface="Calibri"/>
              </a:rPr>
              <a:t>n</a:t>
            </a:r>
            <a:r>
              <a:rPr sz="2400" spc="-640" dirty="0">
                <a:latin typeface="Calibri"/>
                <a:cs typeface="Calibri"/>
              </a:rPr>
              <a:t>s</a:t>
            </a:r>
            <a:r>
              <a:rPr sz="1350" baseline="49382" dirty="0">
                <a:solidFill>
                  <a:srgbClr val="888888"/>
                </a:solidFill>
                <a:latin typeface="Calibri"/>
                <a:cs typeface="Calibri"/>
              </a:rPr>
              <a:t>ti  </a:t>
            </a:r>
            <a:r>
              <a:rPr sz="1350" spc="60" baseline="49382" dirty="0">
                <a:solidFill>
                  <a:srgbClr val="888888"/>
                </a:solidFill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</a:t>
            </a:r>
            <a:r>
              <a:rPr sz="2400" spc="-25" dirty="0">
                <a:latin typeface="Calibri"/>
                <a:cs typeface="Calibri"/>
              </a:rPr>
              <a:t>a</a:t>
            </a:r>
            <a:r>
              <a:rPr sz="2400" dirty="0">
                <a:latin typeface="Calibri"/>
                <a:cs typeface="Calibri"/>
              </a:rPr>
              <a:t>t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spc="-35" dirty="0">
                <a:latin typeface="Calibri"/>
                <a:cs typeface="Calibri"/>
              </a:rPr>
              <a:t>e</a:t>
            </a:r>
            <a:r>
              <a:rPr sz="2400" spc="-5" dirty="0">
                <a:latin typeface="Calibri"/>
                <a:cs typeface="Calibri"/>
              </a:rPr>
              <a:t>xi</a:t>
            </a:r>
            <a:r>
              <a:rPr sz="2400" spc="-25" dirty="0">
                <a:latin typeface="Calibri"/>
                <a:cs typeface="Calibri"/>
              </a:rPr>
              <a:t>s</a:t>
            </a:r>
            <a:r>
              <a:rPr sz="2400" dirty="0">
                <a:latin typeface="Calibri"/>
                <a:cs typeface="Calibri"/>
              </a:rPr>
              <a:t>t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5" dirty="0">
                <a:latin typeface="Cambria Math"/>
                <a:cs typeface="Cambria Math"/>
              </a:rPr>
              <a:t>≠</a:t>
            </a:r>
            <a:r>
              <a:rPr sz="2400" spc="-20" dirty="0">
                <a:latin typeface="Calibri"/>
                <a:cs typeface="Calibri"/>
              </a:rPr>
              <a:t>c</a:t>
            </a:r>
            <a:r>
              <a:rPr sz="2400" spc="-5" dirty="0">
                <a:latin typeface="Calibri"/>
                <a:cs typeface="Calibri"/>
              </a:rPr>
              <a:t>ol</a:t>
            </a:r>
            <a:r>
              <a:rPr sz="2400" spc="-15" dirty="0">
                <a:latin typeface="Calibri"/>
                <a:cs typeface="Calibri"/>
              </a:rPr>
              <a:t>o</a:t>
            </a:r>
            <a:r>
              <a:rPr sz="2400" spc="-35" dirty="0">
                <a:latin typeface="Calibri"/>
                <a:cs typeface="Calibri"/>
              </a:rPr>
              <a:t>r</a:t>
            </a:r>
            <a:r>
              <a:rPr sz="2400" spc="-585" dirty="0">
                <a:latin typeface="Calibri"/>
                <a:cs typeface="Calibri"/>
              </a:rPr>
              <a:t>s</a:t>
            </a:r>
            <a:r>
              <a:rPr sz="1350" baseline="49382" dirty="0">
                <a:solidFill>
                  <a:srgbClr val="888888"/>
                </a:solidFill>
                <a:latin typeface="Calibri"/>
                <a:cs typeface="Calibri"/>
              </a:rPr>
              <a:t>P</a:t>
            </a:r>
            <a:r>
              <a:rPr sz="1350" spc="-7" baseline="49382" dirty="0">
                <a:solidFill>
                  <a:srgbClr val="888888"/>
                </a:solidFill>
                <a:latin typeface="Calibri"/>
                <a:cs typeface="Calibri"/>
              </a:rPr>
              <a:t>e</a:t>
            </a:r>
            <a:r>
              <a:rPr sz="1350" spc="-419" baseline="49382" dirty="0">
                <a:solidFill>
                  <a:srgbClr val="888888"/>
                </a:solidFill>
                <a:latin typeface="Calibri"/>
                <a:cs typeface="Calibri"/>
              </a:rPr>
              <a:t>n</a:t>
            </a:r>
            <a:r>
              <a:rPr sz="2400" spc="-1445" dirty="0">
                <a:latin typeface="Calibri"/>
                <a:cs typeface="Calibri"/>
              </a:rPr>
              <a:t>w</a:t>
            </a:r>
            <a:r>
              <a:rPr sz="1350" spc="-15" baseline="49382" dirty="0">
                <a:solidFill>
                  <a:srgbClr val="888888"/>
                </a:solidFill>
                <a:latin typeface="Calibri"/>
                <a:cs typeface="Calibri"/>
              </a:rPr>
              <a:t>g</a:t>
            </a:r>
            <a:r>
              <a:rPr sz="1350" baseline="49382" dirty="0">
                <a:solidFill>
                  <a:srgbClr val="888888"/>
                </a:solidFill>
                <a:latin typeface="Calibri"/>
                <a:cs typeface="Calibri"/>
              </a:rPr>
              <a:t>o</a:t>
            </a:r>
            <a:r>
              <a:rPr sz="1350" spc="-7" baseline="49382" dirty="0">
                <a:solidFill>
                  <a:srgbClr val="888888"/>
                </a:solidFill>
                <a:latin typeface="Calibri"/>
                <a:cs typeface="Calibri"/>
              </a:rPr>
              <a:t>l</a:t>
            </a:r>
            <a:r>
              <a:rPr sz="1350" spc="-179" baseline="49382" dirty="0">
                <a:solidFill>
                  <a:srgbClr val="888888"/>
                </a:solidFill>
                <a:latin typeface="Calibri"/>
                <a:cs typeface="Calibri"/>
              </a:rPr>
              <a:t>a</a:t>
            </a:r>
            <a:r>
              <a:rPr sz="2400" spc="-1080" dirty="0">
                <a:latin typeface="Calibri"/>
                <a:cs typeface="Calibri"/>
              </a:rPr>
              <a:t>e</a:t>
            </a:r>
            <a:r>
              <a:rPr sz="1350" spc="-15" baseline="49382" dirty="0">
                <a:solidFill>
                  <a:srgbClr val="888888"/>
                </a:solidFill>
                <a:latin typeface="Calibri"/>
                <a:cs typeface="Calibri"/>
              </a:rPr>
              <a:t>h</a:t>
            </a:r>
            <a:r>
              <a:rPr sz="1350" baseline="49382" dirty="0">
                <a:solidFill>
                  <a:srgbClr val="888888"/>
                </a:solidFill>
                <a:latin typeface="Calibri"/>
                <a:cs typeface="Calibri"/>
              </a:rPr>
              <a:t>an</a:t>
            </a:r>
            <a:r>
              <a:rPr sz="1350" spc="7" baseline="49382" dirty="0">
                <a:solidFill>
                  <a:srgbClr val="888888"/>
                </a:solidFill>
                <a:latin typeface="Calibri"/>
                <a:cs typeface="Calibri"/>
              </a:rPr>
              <a:t> </a:t>
            </a:r>
            <a:r>
              <a:rPr sz="1350" spc="-667" baseline="49382" dirty="0">
                <a:solidFill>
                  <a:srgbClr val="888888"/>
                </a:solidFill>
                <a:latin typeface="Calibri"/>
                <a:cs typeface="Calibri"/>
              </a:rPr>
              <a:t>C</a:t>
            </a:r>
            <a:r>
              <a:rPr sz="2400" spc="-575" dirty="0">
                <a:latin typeface="Calibri"/>
                <a:cs typeface="Calibri"/>
              </a:rPr>
              <a:t>c</a:t>
            </a:r>
            <a:r>
              <a:rPr sz="1350" spc="-7" baseline="49382" dirty="0">
                <a:solidFill>
                  <a:srgbClr val="888888"/>
                </a:solidFill>
                <a:latin typeface="Calibri"/>
                <a:cs typeface="Calibri"/>
              </a:rPr>
              <a:t>i</a:t>
            </a:r>
            <a:r>
              <a:rPr sz="1350" baseline="49382" dirty="0">
                <a:solidFill>
                  <a:srgbClr val="888888"/>
                </a:solidFill>
                <a:latin typeface="Calibri"/>
                <a:cs typeface="Calibri"/>
              </a:rPr>
              <a:t>t</a:t>
            </a:r>
            <a:r>
              <a:rPr sz="1350" spc="-397" baseline="49382" dirty="0">
                <a:solidFill>
                  <a:srgbClr val="888888"/>
                </a:solidFill>
                <a:latin typeface="Calibri"/>
                <a:cs typeface="Calibri"/>
              </a:rPr>
              <a:t>r</a:t>
            </a:r>
            <a:r>
              <a:rPr sz="2400" spc="-894" dirty="0">
                <a:latin typeface="Calibri"/>
                <a:cs typeface="Calibri"/>
              </a:rPr>
              <a:t>a</a:t>
            </a:r>
            <a:r>
              <a:rPr sz="1350" baseline="49382" dirty="0">
                <a:solidFill>
                  <a:srgbClr val="888888"/>
                </a:solidFill>
                <a:latin typeface="Calibri"/>
                <a:cs typeface="Calibri"/>
              </a:rPr>
              <a:t>a</a:t>
            </a:r>
            <a:r>
              <a:rPr sz="1350" spc="-15" baseline="49382" dirty="0">
                <a:solidFill>
                  <a:srgbClr val="888888"/>
                </a:solidFill>
                <a:latin typeface="Calibri"/>
                <a:cs typeface="Calibri"/>
              </a:rPr>
              <a:t> </a:t>
            </a:r>
            <a:r>
              <a:rPr sz="1350" spc="-22" baseline="49382" dirty="0">
                <a:solidFill>
                  <a:srgbClr val="888888"/>
                </a:solidFill>
                <a:latin typeface="Calibri"/>
                <a:cs typeface="Calibri"/>
              </a:rPr>
              <a:t>-</a:t>
            </a:r>
            <a:r>
              <a:rPr sz="2400" spc="-1050" dirty="0">
                <a:latin typeface="Calibri"/>
                <a:cs typeface="Calibri"/>
              </a:rPr>
              <a:t>n</a:t>
            </a:r>
            <a:r>
              <a:rPr sz="1350" spc="-7" baseline="49382" dirty="0">
                <a:solidFill>
                  <a:srgbClr val="888888"/>
                </a:solidFill>
                <a:latin typeface="Calibri"/>
                <a:cs typeface="Calibri"/>
              </a:rPr>
              <a:t>C</a:t>
            </a:r>
            <a:r>
              <a:rPr sz="1350" baseline="49382" dirty="0">
                <a:solidFill>
                  <a:srgbClr val="888888"/>
                </a:solidFill>
                <a:latin typeface="Calibri"/>
                <a:cs typeface="Calibri"/>
              </a:rPr>
              <a:t>o</a:t>
            </a:r>
            <a:r>
              <a:rPr sz="1350" spc="-7" baseline="49382" dirty="0">
                <a:solidFill>
                  <a:srgbClr val="888888"/>
                </a:solidFill>
                <a:latin typeface="Calibri"/>
                <a:cs typeface="Calibri"/>
              </a:rPr>
              <a:t>l</a:t>
            </a:r>
            <a:r>
              <a:rPr sz="1350" spc="-97" baseline="49382" dirty="0">
                <a:solidFill>
                  <a:srgbClr val="888888"/>
                </a:solidFill>
                <a:latin typeface="Calibri"/>
                <a:cs typeface="Calibri"/>
              </a:rPr>
              <a:t>o</a:t>
            </a:r>
            <a:r>
              <a:rPr sz="2400" spc="-775" dirty="0">
                <a:latin typeface="Calibri"/>
                <a:cs typeface="Calibri"/>
              </a:rPr>
              <a:t>r</a:t>
            </a:r>
            <a:r>
              <a:rPr sz="1350" baseline="49382" dirty="0">
                <a:solidFill>
                  <a:srgbClr val="888888"/>
                </a:solidFill>
                <a:latin typeface="Calibri"/>
                <a:cs typeface="Calibri"/>
              </a:rPr>
              <a:t>r</a:t>
            </a:r>
            <a:r>
              <a:rPr sz="1350" spc="-22" baseline="49382" dirty="0">
                <a:solidFill>
                  <a:srgbClr val="888888"/>
                </a:solidFill>
                <a:latin typeface="Calibri"/>
                <a:cs typeface="Calibri"/>
              </a:rPr>
              <a:t> </a:t>
            </a:r>
            <a:r>
              <a:rPr sz="1350" spc="-315" baseline="49382" dirty="0">
                <a:solidFill>
                  <a:srgbClr val="888888"/>
                </a:solidFill>
                <a:latin typeface="Calibri"/>
                <a:cs typeface="Calibri"/>
              </a:rPr>
              <a:t>T</a:t>
            </a:r>
            <a:r>
              <a:rPr sz="2400" spc="-985" dirty="0">
                <a:latin typeface="Calibri"/>
                <a:cs typeface="Calibri"/>
              </a:rPr>
              <a:t>e</a:t>
            </a:r>
            <a:r>
              <a:rPr sz="1350" spc="-15" baseline="49382" dirty="0">
                <a:solidFill>
                  <a:srgbClr val="888888"/>
                </a:solidFill>
                <a:latin typeface="Calibri"/>
                <a:cs typeface="Calibri"/>
              </a:rPr>
              <a:t>h</a:t>
            </a:r>
            <a:r>
              <a:rPr sz="1350" spc="-7" baseline="49382" dirty="0">
                <a:solidFill>
                  <a:srgbClr val="888888"/>
                </a:solidFill>
                <a:latin typeface="Calibri"/>
                <a:cs typeface="Calibri"/>
              </a:rPr>
              <a:t>e</a:t>
            </a:r>
            <a:r>
              <a:rPr sz="1350" spc="-607" baseline="49382" dirty="0">
                <a:solidFill>
                  <a:srgbClr val="888888"/>
                </a:solidFill>
                <a:latin typeface="Calibri"/>
                <a:cs typeface="Calibri"/>
              </a:rPr>
              <a:t>o</a:t>
            </a:r>
            <a:r>
              <a:rPr sz="2400" spc="-860" dirty="0">
                <a:latin typeface="Calibri"/>
                <a:cs typeface="Calibri"/>
              </a:rPr>
              <a:t>p</a:t>
            </a:r>
            <a:r>
              <a:rPr sz="1350" spc="-7" baseline="49382" dirty="0">
                <a:solidFill>
                  <a:srgbClr val="888888"/>
                </a:solidFill>
                <a:latin typeface="Calibri"/>
                <a:cs typeface="Calibri"/>
              </a:rPr>
              <a:t>r</a:t>
            </a:r>
            <a:r>
              <a:rPr sz="1350" baseline="49382" dirty="0">
                <a:solidFill>
                  <a:srgbClr val="888888"/>
                </a:solidFill>
                <a:latin typeface="Calibri"/>
                <a:cs typeface="Calibri"/>
              </a:rPr>
              <a:t>y</a:t>
            </a:r>
            <a:r>
              <a:rPr sz="1350" spc="-104" baseline="49382" dirty="0">
                <a:solidFill>
                  <a:srgbClr val="888888"/>
                </a:solidFill>
                <a:latin typeface="Calibri"/>
                <a:cs typeface="Calibri"/>
              </a:rPr>
              <a:t> </a:t>
            </a:r>
            <a:r>
              <a:rPr sz="2400" spc="-30" dirty="0">
                <a:latin typeface="Calibri"/>
                <a:cs typeface="Calibri"/>
              </a:rPr>
              <a:t>r</a:t>
            </a:r>
            <a:r>
              <a:rPr sz="2400" spc="-5" dirty="0">
                <a:latin typeface="Calibri"/>
                <a:cs typeface="Calibri"/>
              </a:rPr>
              <a:t>oduc</a:t>
            </a:r>
            <a:r>
              <a:rPr sz="2400" dirty="0">
                <a:latin typeface="Calibri"/>
                <a:cs typeface="Calibri"/>
              </a:rPr>
              <a:t>e</a:t>
            </a:r>
            <a:r>
              <a:rPr sz="2400" spc="-5" dirty="0">
                <a:latin typeface="Calibri"/>
                <a:cs typeface="Calibri"/>
              </a:rPr>
              <a:t> digi</a:t>
            </a:r>
            <a:r>
              <a:rPr sz="2400" spc="-25" dirty="0">
                <a:latin typeface="Calibri"/>
                <a:cs typeface="Calibri"/>
              </a:rPr>
              <a:t>t</a:t>
            </a:r>
            <a:r>
              <a:rPr sz="2400" dirty="0">
                <a:latin typeface="Calibri"/>
                <a:cs typeface="Calibri"/>
              </a:rPr>
              <a:t>ally</a:t>
            </a:r>
            <a:endParaRPr sz="240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0766958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xfrm>
            <a:off x="707542" y="6469557"/>
            <a:ext cx="1163955" cy="13343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lang="en-ID" spc="-5" dirty="0"/>
              <a:t>  </a:t>
            </a:r>
            <a:endParaRPr spc="-5" dirty="0"/>
          </a:p>
        </p:txBody>
      </p:sp>
      <p:sp>
        <p:nvSpPr>
          <p:cNvPr id="6" name="object 6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spc="-5" dirty="0"/>
              <a:t>Pengolahan Citra </a:t>
            </a:r>
            <a:r>
              <a:rPr dirty="0"/>
              <a:t>- </a:t>
            </a:r>
            <a:r>
              <a:rPr spc="-5" dirty="0"/>
              <a:t>Color</a:t>
            </a:r>
            <a:r>
              <a:rPr spc="-40" dirty="0"/>
              <a:t> </a:t>
            </a:r>
            <a:r>
              <a:rPr spc="-5" dirty="0"/>
              <a:t>Theory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sz="3600" spc="-5" dirty="0"/>
              <a:t>Color Models </a:t>
            </a:r>
            <a:r>
              <a:rPr sz="3600" spc="-30" dirty="0"/>
              <a:t>for</a:t>
            </a:r>
            <a:r>
              <a:rPr sz="3600" spc="-25" dirty="0"/>
              <a:t> Hardware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707542" y="1732771"/>
            <a:ext cx="6624320" cy="998855"/>
          </a:xfrm>
          <a:prstGeom prst="rect">
            <a:avLst/>
          </a:prstGeom>
        </p:spPr>
        <p:txBody>
          <a:bodyPr vert="horz" wrap="square" lIns="0" tIns="73025" rIns="0" bIns="0" rtlCol="0">
            <a:spAutoFit/>
          </a:bodyPr>
          <a:lstStyle/>
          <a:p>
            <a:pPr marL="184785" indent="-172720">
              <a:lnSpc>
                <a:spcPct val="100000"/>
              </a:lnSpc>
              <a:spcBef>
                <a:spcPts val="575"/>
              </a:spcBef>
              <a:buFont typeface="Arial"/>
              <a:buChar char="•"/>
              <a:tabLst>
                <a:tab pos="185420" algn="l"/>
              </a:tabLst>
            </a:pPr>
            <a:r>
              <a:rPr sz="2800" b="1" spc="-15" dirty="0">
                <a:latin typeface="Calibri"/>
                <a:cs typeface="Calibri"/>
              </a:rPr>
              <a:t>RGB </a:t>
            </a:r>
            <a:r>
              <a:rPr sz="2800" spc="-10" dirty="0">
                <a:latin typeface="Calibri"/>
                <a:cs typeface="Calibri"/>
              </a:rPr>
              <a:t>untuk monitor warna </a:t>
            </a:r>
            <a:r>
              <a:rPr sz="2800" spc="-5" dirty="0">
                <a:latin typeface="Calibri"/>
                <a:cs typeface="Calibri"/>
              </a:rPr>
              <a:t>dan </a:t>
            </a:r>
            <a:r>
              <a:rPr sz="2800" spc="-25" dirty="0">
                <a:latin typeface="Calibri"/>
                <a:cs typeface="Calibri"/>
              </a:rPr>
              <a:t>kamera</a:t>
            </a:r>
            <a:r>
              <a:rPr sz="2800" spc="11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video</a:t>
            </a:r>
            <a:endParaRPr sz="2800">
              <a:latin typeface="Calibri"/>
              <a:cs typeface="Calibri"/>
            </a:endParaRPr>
          </a:p>
          <a:p>
            <a:pPr marL="184785" indent="-172720">
              <a:lnSpc>
                <a:spcPct val="100000"/>
              </a:lnSpc>
              <a:spcBef>
                <a:spcPts val="470"/>
              </a:spcBef>
              <a:buFont typeface="Arial"/>
              <a:buChar char="•"/>
              <a:tabLst>
                <a:tab pos="185420" algn="l"/>
              </a:tabLst>
            </a:pPr>
            <a:r>
              <a:rPr sz="2800" spc="-5" dirty="0">
                <a:latin typeface="Calibri"/>
                <a:cs typeface="Calibri"/>
              </a:rPr>
              <a:t>Model </a:t>
            </a:r>
            <a:r>
              <a:rPr sz="2800" b="1" spc="-10" dirty="0">
                <a:latin typeface="Calibri"/>
                <a:cs typeface="Calibri"/>
              </a:rPr>
              <a:t>CMYK </a:t>
            </a:r>
            <a:r>
              <a:rPr sz="2800" spc="-10" dirty="0">
                <a:latin typeface="Calibri"/>
                <a:cs typeface="Calibri"/>
              </a:rPr>
              <a:t>untuk </a:t>
            </a:r>
            <a:r>
              <a:rPr sz="2800" spc="-15" dirty="0">
                <a:latin typeface="Calibri"/>
                <a:cs typeface="Calibri"/>
              </a:rPr>
              <a:t>printer</a:t>
            </a:r>
            <a:r>
              <a:rPr sz="2800" spc="100" dirty="0">
                <a:latin typeface="Calibri"/>
                <a:cs typeface="Calibri"/>
              </a:rPr>
              <a:t> </a:t>
            </a:r>
            <a:r>
              <a:rPr sz="2800" spc="-10" dirty="0">
                <a:latin typeface="Calibri"/>
                <a:cs typeface="Calibri"/>
              </a:rPr>
              <a:t>warna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693911" y="54356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5" dirty="0">
                <a:latin typeface="Calibri"/>
                <a:cs typeface="Calibri"/>
              </a:rPr>
              <a:t>21</a:t>
            </a:r>
            <a:endParaRPr sz="140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4618027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753190" y="2695948"/>
            <a:ext cx="4333549" cy="3733431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sz="3600" spc="-15" dirty="0"/>
              <a:t>RGB </a:t>
            </a:r>
            <a:r>
              <a:rPr sz="3600" spc="-5" dirty="0"/>
              <a:t>Color</a:t>
            </a:r>
            <a:r>
              <a:rPr sz="3600" dirty="0"/>
              <a:t> </a:t>
            </a:r>
            <a:r>
              <a:rPr sz="3600" spc="-5" dirty="0"/>
              <a:t>Model</a:t>
            </a:r>
            <a:endParaRPr sz="3600"/>
          </a:p>
        </p:txBody>
      </p:sp>
      <p:sp>
        <p:nvSpPr>
          <p:cNvPr id="4" name="object 4"/>
          <p:cNvSpPr txBox="1"/>
          <p:nvPr/>
        </p:nvSpPr>
        <p:spPr>
          <a:xfrm>
            <a:off x="707542" y="1736415"/>
            <a:ext cx="5565775" cy="889635"/>
          </a:xfrm>
          <a:prstGeom prst="rect">
            <a:avLst/>
          </a:prstGeom>
        </p:spPr>
        <p:txBody>
          <a:bodyPr vert="horz" wrap="square" lIns="0" tIns="78740" rIns="0" bIns="0" rtlCol="0">
            <a:spAutoFit/>
          </a:bodyPr>
          <a:lstStyle/>
          <a:p>
            <a:pPr marL="184785" indent="-172720">
              <a:lnSpc>
                <a:spcPct val="100000"/>
              </a:lnSpc>
              <a:spcBef>
                <a:spcPts val="620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10" dirty="0">
                <a:latin typeface="Calibri"/>
                <a:cs typeface="Calibri"/>
              </a:rPr>
              <a:t>Standard </a:t>
            </a:r>
            <a:r>
              <a:rPr sz="2400" dirty="0">
                <a:latin typeface="Calibri"/>
                <a:cs typeface="Calibri"/>
              </a:rPr>
              <a:t>model </a:t>
            </a:r>
            <a:r>
              <a:rPr sz="2400" spc="-20" dirty="0">
                <a:latin typeface="Calibri"/>
                <a:cs typeface="Calibri"/>
              </a:rPr>
              <a:t>for </a:t>
            </a:r>
            <a:r>
              <a:rPr sz="2400" spc="-10" dirty="0">
                <a:latin typeface="Calibri"/>
                <a:cs typeface="Calibri"/>
              </a:rPr>
              <a:t>color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monitor</a:t>
            </a:r>
            <a:endParaRPr sz="2400">
              <a:latin typeface="Calibri"/>
              <a:cs typeface="Calibri"/>
            </a:endParaRPr>
          </a:p>
          <a:p>
            <a:pPr marL="184785" indent="-172720">
              <a:lnSpc>
                <a:spcPct val="100000"/>
              </a:lnSpc>
              <a:spcBef>
                <a:spcPts val="520"/>
              </a:spcBef>
              <a:buFont typeface="Arial"/>
              <a:buChar char="•"/>
              <a:tabLst>
                <a:tab pos="185420" algn="l"/>
                <a:tab pos="4834890" algn="l"/>
              </a:tabLst>
            </a:pPr>
            <a:r>
              <a:rPr sz="2400" dirty="0">
                <a:latin typeface="Calibri"/>
                <a:cs typeface="Calibri"/>
              </a:rPr>
              <a:t>Based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o</a:t>
            </a:r>
            <a:r>
              <a:rPr sz="2400" dirty="0">
                <a:latin typeface="Calibri"/>
                <a:cs typeface="Calibri"/>
              </a:rPr>
              <a:t>n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tr</a:t>
            </a:r>
            <a:r>
              <a:rPr sz="2400" spc="5" dirty="0">
                <a:latin typeface="Calibri"/>
                <a:cs typeface="Calibri"/>
              </a:rPr>
              <a:t>i</a:t>
            </a:r>
            <a:r>
              <a:rPr sz="2400" spc="-5" dirty="0">
                <a:latin typeface="Calibri"/>
                <a:cs typeface="Calibri"/>
              </a:rPr>
              <a:t>-</a:t>
            </a:r>
            <a:r>
              <a:rPr sz="2400" spc="-30" dirty="0">
                <a:latin typeface="Calibri"/>
                <a:cs typeface="Calibri"/>
              </a:rPr>
              <a:t>s</a:t>
            </a:r>
            <a:r>
              <a:rPr sz="2400" dirty="0">
                <a:latin typeface="Calibri"/>
                <a:cs typeface="Calibri"/>
              </a:rPr>
              <a:t>timulus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theo</a:t>
            </a:r>
            <a:r>
              <a:rPr sz="2400" spc="10" dirty="0">
                <a:latin typeface="Calibri"/>
                <a:cs typeface="Calibri"/>
              </a:rPr>
              <a:t>r</a:t>
            </a:r>
            <a:r>
              <a:rPr sz="2400" dirty="0">
                <a:latin typeface="Calibri"/>
                <a:cs typeface="Calibri"/>
              </a:rPr>
              <a:t>y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o</a:t>
            </a:r>
            <a:r>
              <a:rPr sz="2400" dirty="0">
                <a:latin typeface="Calibri"/>
                <a:cs typeface="Calibri"/>
              </a:rPr>
              <a:t>f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spc="-15" dirty="0">
                <a:latin typeface="Calibri"/>
                <a:cs typeface="Calibri"/>
              </a:rPr>
              <a:t>c</a:t>
            </a:r>
            <a:r>
              <a:rPr sz="2400" spc="-5" dirty="0">
                <a:latin typeface="Calibri"/>
                <a:cs typeface="Calibri"/>
              </a:rPr>
              <a:t>ol</a:t>
            </a:r>
            <a:r>
              <a:rPr sz="2400" spc="-15" dirty="0">
                <a:latin typeface="Calibri"/>
                <a:cs typeface="Calibri"/>
              </a:rPr>
              <a:t>o</a:t>
            </a:r>
            <a:r>
              <a:rPr sz="2400" dirty="0">
                <a:latin typeface="Calibri"/>
                <a:cs typeface="Calibri"/>
              </a:rPr>
              <a:t>r	vi</a:t>
            </a:r>
            <a:r>
              <a:rPr sz="2400" spc="-10" dirty="0">
                <a:latin typeface="Calibri"/>
                <a:cs typeface="Calibri"/>
              </a:rPr>
              <a:t>s</a:t>
            </a:r>
            <a:r>
              <a:rPr sz="2400" dirty="0">
                <a:latin typeface="Calibri"/>
                <a:cs typeface="Calibri"/>
              </a:rPr>
              <a:t>ion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693911" y="54356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5" dirty="0">
                <a:latin typeface="Calibri"/>
                <a:cs typeface="Calibri"/>
              </a:rPr>
              <a:t>22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5429647" y="3133344"/>
            <a:ext cx="3067407" cy="282053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>
            <a:spLocks noGrp="1"/>
          </p:cNvSpPr>
          <p:nvPr>
            <p:ph type="ftr" sz="quarter" idx="5"/>
          </p:nvPr>
        </p:nvSpPr>
        <p:spPr>
          <a:xfrm>
            <a:off x="707542" y="6469557"/>
            <a:ext cx="1163955" cy="13343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lang="en-ID" spc="-5" dirty="0"/>
              <a:t>  </a:t>
            </a:r>
            <a:endParaRPr spc="-5" dirty="0"/>
          </a:p>
        </p:txBody>
      </p:sp>
      <p:sp>
        <p:nvSpPr>
          <p:cNvPr id="8" name="object 8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spc="-5" dirty="0"/>
              <a:t>Pengolahan Citra </a:t>
            </a:r>
            <a:r>
              <a:rPr dirty="0"/>
              <a:t>- </a:t>
            </a:r>
            <a:r>
              <a:rPr spc="-5" dirty="0"/>
              <a:t>Color</a:t>
            </a:r>
            <a:r>
              <a:rPr spc="-40" dirty="0"/>
              <a:t> </a:t>
            </a:r>
            <a:r>
              <a:rPr spc="-5" dirty="0"/>
              <a:t>Theory</a:t>
            </a:r>
          </a:p>
        </p:txBody>
      </p:sp>
    </p:spTree>
    <p:extLst>
      <p:ext uri="{BB962C8B-B14F-4D97-AF65-F5344CB8AC3E}">
        <p14:creationId xmlns:p14="http://schemas.microsoft.com/office/powerpoint/2010/main" val="72191047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sz="3600" spc="-15" dirty="0"/>
              <a:t>RGB</a:t>
            </a:r>
            <a:r>
              <a:rPr sz="3600" spc="-10" dirty="0"/>
              <a:t> Channels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8693911" y="54356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5" dirty="0">
                <a:latin typeface="Calibri"/>
                <a:cs typeface="Calibri"/>
              </a:rPr>
              <a:t>23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348464" y="2196098"/>
            <a:ext cx="4351843" cy="3505541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xfrm>
            <a:off x="707542" y="6469557"/>
            <a:ext cx="1163955" cy="13343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lang="en-ID" spc="-5" dirty="0"/>
              <a:t>  </a:t>
            </a:r>
            <a:endParaRPr spc="-5" dirty="0"/>
          </a:p>
        </p:txBody>
      </p:sp>
      <p:sp>
        <p:nvSpPr>
          <p:cNvPr id="6" name="object 6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spc="-5" dirty="0"/>
              <a:t>Pengolahan Citra </a:t>
            </a:r>
            <a:r>
              <a:rPr dirty="0"/>
              <a:t>- </a:t>
            </a:r>
            <a:r>
              <a:rPr spc="-5" dirty="0"/>
              <a:t>Color</a:t>
            </a:r>
            <a:r>
              <a:rPr spc="-40" dirty="0"/>
              <a:t> </a:t>
            </a:r>
            <a:r>
              <a:rPr spc="-5" dirty="0"/>
              <a:t>Theory</a:t>
            </a:r>
          </a:p>
        </p:txBody>
      </p:sp>
    </p:spTree>
    <p:extLst>
      <p:ext uri="{BB962C8B-B14F-4D97-AF65-F5344CB8AC3E}">
        <p14:creationId xmlns:p14="http://schemas.microsoft.com/office/powerpoint/2010/main" val="143288641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xfrm>
            <a:off x="707542" y="6469557"/>
            <a:ext cx="1163955" cy="13343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lang="en-ID" spc="-5" dirty="0"/>
              <a:t>  </a:t>
            </a:r>
            <a:endParaRPr spc="-5" dirty="0"/>
          </a:p>
        </p:txBody>
      </p:sp>
      <p:sp>
        <p:nvSpPr>
          <p:cNvPr id="6" name="object 6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spc="-5" dirty="0"/>
              <a:t>Pengolahan Citra </a:t>
            </a:r>
            <a:r>
              <a:rPr dirty="0"/>
              <a:t>- </a:t>
            </a:r>
            <a:r>
              <a:rPr spc="-5" dirty="0"/>
              <a:t>Color</a:t>
            </a:r>
            <a:r>
              <a:rPr spc="-40" dirty="0"/>
              <a:t> </a:t>
            </a:r>
            <a:r>
              <a:rPr spc="-5" dirty="0"/>
              <a:t>Theory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sz="3600" spc="-15" dirty="0"/>
              <a:t>RGB</a:t>
            </a:r>
            <a:r>
              <a:rPr sz="3600" spc="-10" dirty="0"/>
              <a:t> </a:t>
            </a:r>
            <a:r>
              <a:rPr sz="3600" spc="-20" dirty="0"/>
              <a:t>Colors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707542" y="1736415"/>
            <a:ext cx="7651750" cy="3289935"/>
          </a:xfrm>
          <a:prstGeom prst="rect">
            <a:avLst/>
          </a:prstGeom>
        </p:spPr>
        <p:txBody>
          <a:bodyPr vert="horz" wrap="square" lIns="0" tIns="78740" rIns="0" bIns="0" rtlCol="0">
            <a:spAutoFit/>
          </a:bodyPr>
          <a:lstStyle/>
          <a:p>
            <a:pPr marL="184785" indent="-172720">
              <a:lnSpc>
                <a:spcPct val="100000"/>
              </a:lnSpc>
              <a:spcBef>
                <a:spcPts val="620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15" dirty="0">
                <a:latin typeface="Calibri"/>
                <a:cs typeface="Calibri"/>
              </a:rPr>
              <a:t>Mayoritas sistem </a:t>
            </a:r>
            <a:r>
              <a:rPr sz="2400" spc="-10" dirty="0">
                <a:latin typeface="Calibri"/>
                <a:cs typeface="Calibri"/>
              </a:rPr>
              <a:t>dapat mereproduksi 256</a:t>
            </a:r>
            <a:r>
              <a:rPr sz="2400" spc="-3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warna.</a:t>
            </a:r>
            <a:endParaRPr sz="2400">
              <a:latin typeface="Calibri"/>
              <a:cs typeface="Calibri"/>
            </a:endParaRPr>
          </a:p>
          <a:p>
            <a:pPr marL="184785" marR="5080" indent="-172720">
              <a:lnSpc>
                <a:spcPts val="2590"/>
              </a:lnSpc>
              <a:spcBef>
                <a:spcPts val="844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10" dirty="0">
                <a:latin typeface="Calibri"/>
                <a:cs typeface="Calibri"/>
              </a:rPr>
              <a:t>Antar </a:t>
            </a:r>
            <a:r>
              <a:rPr sz="2400" spc="-15" dirty="0">
                <a:latin typeface="Calibri"/>
                <a:cs typeface="Calibri"/>
              </a:rPr>
              <a:t>sistem/hardward </a:t>
            </a:r>
            <a:r>
              <a:rPr sz="2400" dirty="0">
                <a:latin typeface="Calibri"/>
                <a:cs typeface="Calibri"/>
              </a:rPr>
              <a:t>ada </a:t>
            </a:r>
            <a:r>
              <a:rPr sz="2400" spc="-20" dirty="0">
                <a:latin typeface="Calibri"/>
                <a:cs typeface="Calibri"/>
              </a:rPr>
              <a:t>banyak </a:t>
            </a:r>
            <a:r>
              <a:rPr sz="2400" spc="-5" dirty="0">
                <a:latin typeface="Calibri"/>
                <a:cs typeface="Calibri"/>
              </a:rPr>
              <a:t>variabel, jadi </a:t>
            </a:r>
            <a:r>
              <a:rPr sz="2400" spc="-10" dirty="0">
                <a:latin typeface="Calibri"/>
                <a:cs typeface="Calibri"/>
              </a:rPr>
              <a:t>dibutuhkan  </a:t>
            </a:r>
            <a:r>
              <a:rPr sz="2400" dirty="0">
                <a:latin typeface="Calibri"/>
                <a:cs typeface="Calibri"/>
              </a:rPr>
              <a:t>ada </a:t>
            </a:r>
            <a:r>
              <a:rPr sz="2400" spc="-10" dirty="0">
                <a:latin typeface="Calibri"/>
                <a:cs typeface="Calibri"/>
              </a:rPr>
              <a:t>subset </a:t>
            </a:r>
            <a:r>
              <a:rPr sz="2400" spc="-5" dirty="0">
                <a:latin typeface="Calibri"/>
                <a:cs typeface="Calibri"/>
              </a:rPr>
              <a:t>warna </a:t>
            </a:r>
            <a:r>
              <a:rPr sz="2400" spc="-10" dirty="0">
                <a:latin typeface="Calibri"/>
                <a:cs typeface="Calibri"/>
              </a:rPr>
              <a:t>yang </a:t>
            </a:r>
            <a:r>
              <a:rPr sz="2400" spc="-5" dirty="0">
                <a:latin typeface="Calibri"/>
                <a:cs typeface="Calibri"/>
              </a:rPr>
              <a:t>selalu </a:t>
            </a:r>
            <a:r>
              <a:rPr sz="2400" spc="-10" dirty="0">
                <a:latin typeface="Calibri"/>
                <a:cs typeface="Calibri"/>
              </a:rPr>
              <a:t>dapat </a:t>
            </a:r>
            <a:r>
              <a:rPr sz="2400" spc="-15" dirty="0">
                <a:latin typeface="Calibri"/>
                <a:cs typeface="Calibri"/>
              </a:rPr>
              <a:t>direproduksi</a:t>
            </a:r>
            <a:r>
              <a:rPr sz="2400" dirty="0">
                <a:latin typeface="Calibri"/>
                <a:cs typeface="Calibri"/>
              </a:rPr>
              <a:t> </a:t>
            </a:r>
            <a:r>
              <a:rPr sz="2400" i="1" dirty="0">
                <a:latin typeface="Calibri"/>
                <a:cs typeface="Calibri"/>
              </a:rPr>
              <a:t>reliably</a:t>
            </a:r>
            <a:endParaRPr sz="2400">
              <a:latin typeface="Calibri"/>
              <a:cs typeface="Calibri"/>
            </a:endParaRPr>
          </a:p>
          <a:p>
            <a:pPr marL="591185" lvl="1" indent="-236220">
              <a:lnSpc>
                <a:spcPts val="2510"/>
              </a:lnSpc>
              <a:spcBef>
                <a:spcPts val="120"/>
              </a:spcBef>
              <a:buFont typeface="Arial"/>
              <a:buChar char="•"/>
              <a:tabLst>
                <a:tab pos="591185" algn="l"/>
                <a:tab pos="591820" algn="l"/>
              </a:tabLst>
            </a:pPr>
            <a:r>
              <a:rPr sz="2200" spc="-25" dirty="0">
                <a:latin typeface="Calibri"/>
                <a:cs typeface="Calibri"/>
              </a:rPr>
              <a:t>Safe </a:t>
            </a:r>
            <a:r>
              <a:rPr sz="2200" spc="-15" dirty="0">
                <a:latin typeface="Calibri"/>
                <a:cs typeface="Calibri"/>
              </a:rPr>
              <a:t>RGB colors </a:t>
            </a:r>
            <a:r>
              <a:rPr sz="2200" spc="-5" dirty="0">
                <a:latin typeface="Calibri"/>
                <a:cs typeface="Calibri"/>
              </a:rPr>
              <a:t>/ </a:t>
            </a:r>
            <a:r>
              <a:rPr sz="2200" spc="-15" dirty="0">
                <a:latin typeface="Calibri"/>
                <a:cs typeface="Calibri"/>
              </a:rPr>
              <a:t>all-systems </a:t>
            </a:r>
            <a:r>
              <a:rPr sz="2200" spc="-20" dirty="0">
                <a:latin typeface="Calibri"/>
                <a:cs typeface="Calibri"/>
              </a:rPr>
              <a:t>safe </a:t>
            </a:r>
            <a:r>
              <a:rPr sz="2200" spc="-15" dirty="0">
                <a:latin typeface="Calibri"/>
                <a:cs typeface="Calibri"/>
              </a:rPr>
              <a:t>colors </a:t>
            </a:r>
            <a:r>
              <a:rPr sz="2200" spc="-5" dirty="0">
                <a:latin typeface="Calibri"/>
                <a:cs typeface="Calibri"/>
              </a:rPr>
              <a:t>/ </a:t>
            </a:r>
            <a:r>
              <a:rPr sz="2200" spc="-20" dirty="0">
                <a:latin typeface="Calibri"/>
                <a:cs typeface="Calibri"/>
              </a:rPr>
              <a:t>safe </a:t>
            </a:r>
            <a:r>
              <a:rPr sz="2200" spc="-30" dirty="0">
                <a:latin typeface="Calibri"/>
                <a:cs typeface="Calibri"/>
              </a:rPr>
              <a:t>Web</a:t>
            </a:r>
            <a:r>
              <a:rPr sz="2200" spc="210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colors/</a:t>
            </a:r>
            <a:endParaRPr sz="2200">
              <a:latin typeface="Calibri"/>
              <a:cs typeface="Calibri"/>
            </a:endParaRPr>
          </a:p>
          <a:p>
            <a:pPr marL="527685">
              <a:lnSpc>
                <a:spcPts val="2510"/>
              </a:lnSpc>
            </a:pPr>
            <a:r>
              <a:rPr sz="2200" spc="-20" dirty="0">
                <a:latin typeface="Calibri"/>
                <a:cs typeface="Calibri"/>
              </a:rPr>
              <a:t>safe </a:t>
            </a:r>
            <a:r>
              <a:rPr sz="2200" spc="-15" dirty="0">
                <a:latin typeface="Calibri"/>
                <a:cs typeface="Calibri"/>
              </a:rPr>
              <a:t>browser</a:t>
            </a:r>
            <a:r>
              <a:rPr sz="2200" spc="20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colors.</a:t>
            </a:r>
            <a:endParaRPr sz="2200">
              <a:latin typeface="Calibri"/>
              <a:cs typeface="Calibri"/>
            </a:endParaRPr>
          </a:p>
          <a:p>
            <a:pPr marL="184785" marR="567055" indent="-172720">
              <a:lnSpc>
                <a:spcPts val="2590"/>
              </a:lnSpc>
              <a:spcBef>
                <a:spcPts val="825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15" dirty="0">
                <a:latin typeface="Calibri"/>
                <a:cs typeface="Calibri"/>
              </a:rPr>
              <a:t>Dengan </a:t>
            </a:r>
            <a:r>
              <a:rPr sz="2400" spc="-10" dirty="0">
                <a:latin typeface="Calibri"/>
                <a:cs typeface="Calibri"/>
              </a:rPr>
              <a:t>variasi antar </a:t>
            </a:r>
            <a:r>
              <a:rPr sz="2400" spc="-15" dirty="0">
                <a:latin typeface="Calibri"/>
                <a:cs typeface="Calibri"/>
              </a:rPr>
              <a:t>sistem </a:t>
            </a:r>
            <a:r>
              <a:rPr sz="2400" spc="-5" dirty="0">
                <a:latin typeface="Calibri"/>
                <a:cs typeface="Calibri"/>
              </a:rPr>
              <a:t>warna bisa </a:t>
            </a:r>
            <a:r>
              <a:rPr sz="2400" spc="-10" dirty="0">
                <a:latin typeface="Calibri"/>
                <a:cs typeface="Calibri"/>
              </a:rPr>
              <a:t>diproses </a:t>
            </a:r>
            <a:r>
              <a:rPr sz="2400" spc="-15" dirty="0">
                <a:latin typeface="Calibri"/>
                <a:cs typeface="Calibri"/>
              </a:rPr>
              <a:t>dengan  </a:t>
            </a:r>
            <a:r>
              <a:rPr sz="2400" spc="-5" dirty="0">
                <a:latin typeface="Calibri"/>
                <a:cs typeface="Calibri"/>
              </a:rPr>
              <a:t>berbeda</a:t>
            </a:r>
            <a:endParaRPr sz="2400">
              <a:latin typeface="Calibri"/>
              <a:cs typeface="Calibri"/>
            </a:endParaRPr>
          </a:p>
          <a:p>
            <a:pPr marL="527685" lvl="1" indent="-172720">
              <a:lnSpc>
                <a:spcPts val="2510"/>
              </a:lnSpc>
              <a:spcBef>
                <a:spcPts val="114"/>
              </a:spcBef>
              <a:buFont typeface="Arial"/>
              <a:buChar char="•"/>
              <a:tabLst>
                <a:tab pos="528320" algn="l"/>
              </a:tabLst>
            </a:pPr>
            <a:r>
              <a:rPr sz="2200" spc="-10" dirty="0">
                <a:latin typeface="Calibri"/>
                <a:cs typeface="Calibri"/>
              </a:rPr>
              <a:t>Kita </a:t>
            </a:r>
            <a:r>
              <a:rPr sz="2200" spc="-20" dirty="0">
                <a:latin typeface="Calibri"/>
                <a:cs typeface="Calibri"/>
              </a:rPr>
              <a:t>punya </a:t>
            </a:r>
            <a:r>
              <a:rPr sz="2200" spc="-5" dirty="0">
                <a:latin typeface="Calibri"/>
                <a:cs typeface="Calibri"/>
              </a:rPr>
              <a:t>216 </a:t>
            </a:r>
            <a:r>
              <a:rPr sz="2200" spc="-10" dirty="0">
                <a:latin typeface="Calibri"/>
                <a:cs typeface="Calibri"/>
              </a:rPr>
              <a:t>warna yang </a:t>
            </a:r>
            <a:r>
              <a:rPr sz="2200" spc="-5" dirty="0">
                <a:latin typeface="Calibri"/>
                <a:cs typeface="Calibri"/>
              </a:rPr>
              <a:t>bisa </a:t>
            </a:r>
            <a:r>
              <a:rPr sz="2200" spc="-15" dirty="0">
                <a:latin typeface="Calibri"/>
                <a:cs typeface="Calibri"/>
              </a:rPr>
              <a:t>direproduksi </a:t>
            </a:r>
            <a:r>
              <a:rPr sz="2200" spc="-5" dirty="0">
                <a:latin typeface="Calibri"/>
                <a:cs typeface="Calibri"/>
              </a:rPr>
              <a:t>semua</a:t>
            </a:r>
            <a:r>
              <a:rPr sz="2200" spc="35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sistem</a:t>
            </a:r>
            <a:endParaRPr sz="2200">
              <a:latin typeface="Calibri"/>
              <a:cs typeface="Calibri"/>
            </a:endParaRPr>
          </a:p>
          <a:p>
            <a:pPr marL="527685">
              <a:lnSpc>
                <a:spcPts val="2510"/>
              </a:lnSpc>
            </a:pPr>
            <a:r>
              <a:rPr sz="2200" spc="-20" dirty="0">
                <a:latin typeface="Calibri"/>
                <a:cs typeface="Calibri"/>
              </a:rPr>
              <a:t>secara </a:t>
            </a:r>
            <a:r>
              <a:rPr sz="2200" i="1" spc="-5" dirty="0">
                <a:latin typeface="Calibri"/>
                <a:cs typeface="Calibri"/>
              </a:rPr>
              <a:t>de</a:t>
            </a:r>
            <a:r>
              <a:rPr sz="2200" i="1" spc="10" dirty="0">
                <a:latin typeface="Calibri"/>
                <a:cs typeface="Calibri"/>
              </a:rPr>
              <a:t> </a:t>
            </a:r>
            <a:r>
              <a:rPr sz="2200" i="1" spc="-20" dirty="0">
                <a:latin typeface="Calibri"/>
                <a:cs typeface="Calibri"/>
              </a:rPr>
              <a:t>facto</a:t>
            </a:r>
            <a:endParaRPr sz="22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693911" y="54356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5" dirty="0">
                <a:latin typeface="Calibri"/>
                <a:cs typeface="Calibri"/>
              </a:rPr>
              <a:t>24</a:t>
            </a:r>
            <a:endParaRPr sz="140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950356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xfrm>
            <a:off x="707542" y="6469557"/>
            <a:ext cx="1163955" cy="13343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lang="en-ID" spc="-5" dirty="0"/>
              <a:t>  </a:t>
            </a:r>
            <a:endParaRPr spc="-5" dirty="0"/>
          </a:p>
        </p:txBody>
      </p:sp>
      <p:sp>
        <p:nvSpPr>
          <p:cNvPr id="6" name="object 6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spc="-5" dirty="0"/>
              <a:t>Pengolahan Citra </a:t>
            </a:r>
            <a:r>
              <a:rPr dirty="0"/>
              <a:t>- </a:t>
            </a:r>
            <a:r>
              <a:rPr spc="-5" dirty="0"/>
              <a:t>Color</a:t>
            </a:r>
            <a:r>
              <a:rPr spc="-40" dirty="0"/>
              <a:t> </a:t>
            </a:r>
            <a:r>
              <a:rPr spc="-5" dirty="0"/>
              <a:t>Theory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sz="3600" spc="-30" dirty="0"/>
              <a:t>Warna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707542" y="1780308"/>
            <a:ext cx="5083810" cy="304101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84785" indent="-1727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20" dirty="0">
                <a:latin typeface="Calibri"/>
                <a:cs typeface="Calibri"/>
              </a:rPr>
              <a:t>Warna </a:t>
            </a:r>
            <a:r>
              <a:rPr sz="2400" dirty="0">
                <a:latin typeface="Calibri"/>
                <a:cs typeface="Calibri"/>
              </a:rPr>
              <a:t>Primer </a:t>
            </a:r>
            <a:r>
              <a:rPr sz="2400" spc="-5" dirty="0">
                <a:latin typeface="Calibri"/>
                <a:cs typeface="Calibri"/>
              </a:rPr>
              <a:t>pada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spc="-15" dirty="0">
                <a:latin typeface="Calibri"/>
                <a:cs typeface="Calibri"/>
              </a:rPr>
              <a:t>cahaya:</a:t>
            </a:r>
            <a:endParaRPr sz="2400">
              <a:latin typeface="Calibri"/>
              <a:cs typeface="Calibri"/>
            </a:endParaRPr>
          </a:p>
          <a:p>
            <a:pPr marL="527685" lvl="1" indent="-172720">
              <a:lnSpc>
                <a:spcPct val="100000"/>
              </a:lnSpc>
              <a:spcBef>
                <a:spcPts val="155"/>
              </a:spcBef>
              <a:buFont typeface="Arial"/>
              <a:buChar char="•"/>
              <a:tabLst>
                <a:tab pos="528320" algn="l"/>
              </a:tabLst>
            </a:pPr>
            <a:r>
              <a:rPr sz="2200" spc="-5" dirty="0">
                <a:latin typeface="Calibri"/>
                <a:cs typeface="Calibri"/>
              </a:rPr>
              <a:t>R</a:t>
            </a:r>
            <a:endParaRPr sz="2200">
              <a:latin typeface="Calibri"/>
              <a:cs typeface="Calibri"/>
            </a:endParaRPr>
          </a:p>
          <a:p>
            <a:pPr marL="527685" lvl="1" indent="-172720">
              <a:lnSpc>
                <a:spcPct val="100000"/>
              </a:lnSpc>
              <a:spcBef>
                <a:spcPts val="130"/>
              </a:spcBef>
              <a:buFont typeface="Arial"/>
              <a:buChar char="•"/>
              <a:tabLst>
                <a:tab pos="528320" algn="l"/>
              </a:tabLst>
            </a:pPr>
            <a:r>
              <a:rPr sz="2200" spc="-5" dirty="0">
                <a:latin typeface="Calibri"/>
                <a:cs typeface="Calibri"/>
              </a:rPr>
              <a:t>G</a:t>
            </a:r>
            <a:endParaRPr sz="2200">
              <a:latin typeface="Calibri"/>
              <a:cs typeface="Calibri"/>
            </a:endParaRPr>
          </a:p>
          <a:p>
            <a:pPr marL="527685" lvl="1" indent="-172720">
              <a:lnSpc>
                <a:spcPct val="100000"/>
              </a:lnSpc>
              <a:spcBef>
                <a:spcPts val="145"/>
              </a:spcBef>
              <a:buFont typeface="Arial"/>
              <a:buChar char="•"/>
              <a:tabLst>
                <a:tab pos="528320" algn="l"/>
              </a:tabLst>
            </a:pPr>
            <a:r>
              <a:rPr sz="2200" spc="-5" dirty="0">
                <a:latin typeface="Calibri"/>
                <a:cs typeface="Calibri"/>
              </a:rPr>
              <a:t>B</a:t>
            </a:r>
            <a:endParaRPr sz="2200">
              <a:latin typeface="Calibri"/>
              <a:cs typeface="Calibri"/>
            </a:endParaRPr>
          </a:p>
          <a:p>
            <a:pPr marL="184785" indent="-172720">
              <a:lnSpc>
                <a:spcPct val="100000"/>
              </a:lnSpc>
              <a:spcBef>
                <a:spcPts val="500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15" dirty="0">
                <a:latin typeface="Calibri"/>
                <a:cs typeface="Calibri"/>
              </a:rPr>
              <a:t>Reproduksi </a:t>
            </a:r>
            <a:r>
              <a:rPr sz="2400" spc="-5" dirty="0">
                <a:latin typeface="Calibri"/>
                <a:cs typeface="Calibri"/>
              </a:rPr>
              <a:t>warna pada alat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elektronik?</a:t>
            </a:r>
            <a:endParaRPr sz="2400">
              <a:latin typeface="Calibri"/>
              <a:cs typeface="Calibri"/>
            </a:endParaRPr>
          </a:p>
          <a:p>
            <a:pPr marL="527685" lvl="1" indent="-172720">
              <a:lnSpc>
                <a:spcPct val="100000"/>
              </a:lnSpc>
              <a:spcBef>
                <a:spcPts val="150"/>
              </a:spcBef>
              <a:buFont typeface="Arial"/>
              <a:buChar char="•"/>
              <a:tabLst>
                <a:tab pos="528320" algn="l"/>
              </a:tabLst>
            </a:pPr>
            <a:r>
              <a:rPr sz="2200" spc="-15" dirty="0">
                <a:latin typeface="Calibri"/>
                <a:cs typeface="Calibri"/>
              </a:rPr>
              <a:t>Cahaya</a:t>
            </a:r>
            <a:endParaRPr sz="2200">
              <a:latin typeface="Calibri"/>
              <a:cs typeface="Calibri"/>
            </a:endParaRPr>
          </a:p>
          <a:p>
            <a:pPr marL="184785" indent="-172720">
              <a:lnSpc>
                <a:spcPct val="100000"/>
              </a:lnSpc>
              <a:spcBef>
                <a:spcPts val="495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15" dirty="0">
                <a:latin typeface="Calibri"/>
                <a:cs typeface="Calibri"/>
              </a:rPr>
              <a:t>Reproduksi </a:t>
            </a:r>
            <a:r>
              <a:rPr sz="2400" spc="-5" dirty="0">
                <a:latin typeface="Calibri"/>
                <a:cs typeface="Calibri"/>
              </a:rPr>
              <a:t>warna pada </a:t>
            </a:r>
            <a:r>
              <a:rPr sz="2400" dirty="0">
                <a:latin typeface="Calibri"/>
                <a:cs typeface="Calibri"/>
              </a:rPr>
              <a:t>media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cetak?</a:t>
            </a:r>
            <a:endParaRPr sz="2400">
              <a:latin typeface="Calibri"/>
              <a:cs typeface="Calibri"/>
            </a:endParaRPr>
          </a:p>
          <a:p>
            <a:pPr marL="527685" lvl="1" indent="-172720">
              <a:lnSpc>
                <a:spcPct val="100000"/>
              </a:lnSpc>
              <a:spcBef>
                <a:spcPts val="155"/>
              </a:spcBef>
              <a:buFont typeface="Arial"/>
              <a:buChar char="•"/>
              <a:tabLst>
                <a:tab pos="528320" algn="l"/>
              </a:tabLst>
            </a:pPr>
            <a:r>
              <a:rPr sz="2200" b="1" spc="-10" dirty="0">
                <a:latin typeface="Calibri"/>
                <a:cs typeface="Calibri"/>
              </a:rPr>
              <a:t>Pigmen</a:t>
            </a:r>
            <a:endParaRPr sz="22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693911" y="54356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5" dirty="0">
                <a:latin typeface="Calibri"/>
                <a:cs typeface="Calibri"/>
              </a:rPr>
              <a:t>25</a:t>
            </a:r>
            <a:endParaRPr sz="140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6233303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17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5"/>
              </a:spcBef>
            </a:pPr>
            <a:endParaRPr sz="2500">
              <a:latin typeface="Times New Roman"/>
              <a:cs typeface="Times New Roman"/>
            </a:endParaRPr>
          </a:p>
          <a:p>
            <a:pPr marL="720090">
              <a:lnSpc>
                <a:spcPct val="100000"/>
              </a:lnSpc>
            </a:pPr>
            <a:r>
              <a:rPr sz="3200" spc="-20" dirty="0"/>
              <a:t>Warna </a:t>
            </a:r>
            <a:r>
              <a:rPr sz="3200" spc="-5" dirty="0"/>
              <a:t>Primer </a:t>
            </a:r>
            <a:r>
              <a:rPr sz="3200" dirty="0"/>
              <a:t>vs </a:t>
            </a:r>
            <a:r>
              <a:rPr sz="3200" spc="-5" dirty="0"/>
              <a:t>Sekunder </a:t>
            </a:r>
            <a:r>
              <a:rPr sz="3200" spc="-35" dirty="0"/>
              <a:t>Pada</a:t>
            </a:r>
            <a:r>
              <a:rPr sz="3200" spc="-114" dirty="0"/>
              <a:t> </a:t>
            </a:r>
            <a:r>
              <a:rPr sz="3200" spc="-20" dirty="0"/>
              <a:t>Pigmen</a:t>
            </a:r>
            <a:endParaRPr sz="3200"/>
          </a:p>
        </p:txBody>
      </p:sp>
      <p:sp>
        <p:nvSpPr>
          <p:cNvPr id="3" name="object 3"/>
          <p:cNvSpPr/>
          <p:nvPr/>
        </p:nvSpPr>
        <p:spPr>
          <a:xfrm>
            <a:off x="629412" y="5658611"/>
            <a:ext cx="3627120" cy="654050"/>
          </a:xfrm>
          <a:custGeom>
            <a:avLst/>
            <a:gdLst/>
            <a:ahLst/>
            <a:cxnLst/>
            <a:rect l="l" t="t" r="r" b="b"/>
            <a:pathLst>
              <a:path w="3627120" h="654050">
                <a:moveTo>
                  <a:pt x="3518154" y="0"/>
                </a:moveTo>
                <a:lnTo>
                  <a:pt x="108965" y="0"/>
                </a:lnTo>
                <a:lnTo>
                  <a:pt x="66549" y="8562"/>
                </a:lnTo>
                <a:lnTo>
                  <a:pt x="31913" y="31913"/>
                </a:lnTo>
                <a:lnTo>
                  <a:pt x="8562" y="66549"/>
                </a:lnTo>
                <a:lnTo>
                  <a:pt x="0" y="108965"/>
                </a:lnTo>
                <a:lnTo>
                  <a:pt x="0" y="544830"/>
                </a:lnTo>
                <a:lnTo>
                  <a:pt x="8562" y="587241"/>
                </a:lnTo>
                <a:lnTo>
                  <a:pt x="31913" y="621877"/>
                </a:lnTo>
                <a:lnTo>
                  <a:pt x="66549" y="645231"/>
                </a:lnTo>
                <a:lnTo>
                  <a:pt x="108965" y="653796"/>
                </a:lnTo>
                <a:lnTo>
                  <a:pt x="3518154" y="653796"/>
                </a:lnTo>
                <a:lnTo>
                  <a:pt x="3560575" y="645231"/>
                </a:lnTo>
                <a:lnTo>
                  <a:pt x="3595211" y="621877"/>
                </a:lnTo>
                <a:lnTo>
                  <a:pt x="3618559" y="587241"/>
                </a:lnTo>
                <a:lnTo>
                  <a:pt x="3627120" y="544830"/>
                </a:lnTo>
                <a:lnTo>
                  <a:pt x="3627120" y="108965"/>
                </a:lnTo>
                <a:lnTo>
                  <a:pt x="3618559" y="66549"/>
                </a:lnTo>
                <a:lnTo>
                  <a:pt x="3595211" y="31913"/>
                </a:lnTo>
                <a:lnTo>
                  <a:pt x="3560575" y="8562"/>
                </a:lnTo>
                <a:lnTo>
                  <a:pt x="3518154" y="0"/>
                </a:lnTo>
                <a:close/>
              </a:path>
            </a:pathLst>
          </a:custGeom>
          <a:solidFill>
            <a:srgbClr val="9C85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629412" y="5658611"/>
            <a:ext cx="3627120" cy="654050"/>
          </a:xfrm>
          <a:custGeom>
            <a:avLst/>
            <a:gdLst/>
            <a:ahLst/>
            <a:cxnLst/>
            <a:rect l="l" t="t" r="r" b="b"/>
            <a:pathLst>
              <a:path w="3627120" h="654050">
                <a:moveTo>
                  <a:pt x="0" y="108965"/>
                </a:moveTo>
                <a:lnTo>
                  <a:pt x="8562" y="66549"/>
                </a:lnTo>
                <a:lnTo>
                  <a:pt x="31913" y="31913"/>
                </a:lnTo>
                <a:lnTo>
                  <a:pt x="66549" y="8562"/>
                </a:lnTo>
                <a:lnTo>
                  <a:pt x="108965" y="0"/>
                </a:lnTo>
                <a:lnTo>
                  <a:pt x="3518154" y="0"/>
                </a:lnTo>
                <a:lnTo>
                  <a:pt x="3560575" y="8562"/>
                </a:lnTo>
                <a:lnTo>
                  <a:pt x="3595211" y="31913"/>
                </a:lnTo>
                <a:lnTo>
                  <a:pt x="3618559" y="66549"/>
                </a:lnTo>
                <a:lnTo>
                  <a:pt x="3627120" y="108965"/>
                </a:lnTo>
                <a:lnTo>
                  <a:pt x="3627120" y="544830"/>
                </a:lnTo>
                <a:lnTo>
                  <a:pt x="3618559" y="587241"/>
                </a:lnTo>
                <a:lnTo>
                  <a:pt x="3595211" y="621877"/>
                </a:lnTo>
                <a:lnTo>
                  <a:pt x="3560575" y="645231"/>
                </a:lnTo>
                <a:lnTo>
                  <a:pt x="3518154" y="653796"/>
                </a:lnTo>
                <a:lnTo>
                  <a:pt x="108965" y="653796"/>
                </a:lnTo>
                <a:lnTo>
                  <a:pt x="66549" y="645231"/>
                </a:lnTo>
                <a:lnTo>
                  <a:pt x="31913" y="621877"/>
                </a:lnTo>
                <a:lnTo>
                  <a:pt x="8562" y="587241"/>
                </a:lnTo>
                <a:lnTo>
                  <a:pt x="0" y="544830"/>
                </a:lnTo>
                <a:lnTo>
                  <a:pt x="0" y="108965"/>
                </a:lnTo>
                <a:close/>
              </a:path>
            </a:pathLst>
          </a:custGeom>
          <a:ln w="12192">
            <a:solidFill>
              <a:srgbClr val="705F8B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707542" y="1780308"/>
            <a:ext cx="2808605" cy="43827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84785" indent="-1727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20" dirty="0">
                <a:latin typeface="Calibri"/>
                <a:cs typeface="Calibri"/>
              </a:rPr>
              <a:t>Warna</a:t>
            </a:r>
            <a:r>
              <a:rPr sz="2400" spc="-5" dirty="0">
                <a:latin typeface="Calibri"/>
                <a:cs typeface="Calibri"/>
              </a:rPr>
              <a:t> primer:</a:t>
            </a:r>
            <a:endParaRPr sz="2400">
              <a:latin typeface="Calibri"/>
              <a:cs typeface="Calibri"/>
            </a:endParaRPr>
          </a:p>
          <a:p>
            <a:pPr marL="527685" lvl="1" indent="-172720">
              <a:lnSpc>
                <a:spcPct val="100000"/>
              </a:lnSpc>
              <a:spcBef>
                <a:spcPts val="155"/>
              </a:spcBef>
              <a:buFont typeface="Arial"/>
              <a:buChar char="•"/>
              <a:tabLst>
                <a:tab pos="528320" algn="l"/>
              </a:tabLst>
            </a:pPr>
            <a:r>
              <a:rPr sz="2200" spc="-15" dirty="0">
                <a:latin typeface="Calibri"/>
                <a:cs typeface="Calibri"/>
              </a:rPr>
              <a:t>magenta</a:t>
            </a:r>
            <a:endParaRPr sz="2200">
              <a:latin typeface="Calibri"/>
              <a:cs typeface="Calibri"/>
            </a:endParaRPr>
          </a:p>
          <a:p>
            <a:pPr marL="527685" lvl="1" indent="-172720">
              <a:lnSpc>
                <a:spcPct val="100000"/>
              </a:lnSpc>
              <a:spcBef>
                <a:spcPts val="130"/>
              </a:spcBef>
              <a:buFont typeface="Arial"/>
              <a:buChar char="•"/>
              <a:tabLst>
                <a:tab pos="528320" algn="l"/>
              </a:tabLst>
            </a:pPr>
            <a:r>
              <a:rPr sz="2200" spc="-15" dirty="0">
                <a:latin typeface="Calibri"/>
                <a:cs typeface="Calibri"/>
              </a:rPr>
              <a:t>cyan</a:t>
            </a:r>
            <a:endParaRPr sz="2200">
              <a:latin typeface="Calibri"/>
              <a:cs typeface="Calibri"/>
            </a:endParaRPr>
          </a:p>
          <a:p>
            <a:pPr marL="527685" lvl="1" indent="-172720">
              <a:lnSpc>
                <a:spcPct val="100000"/>
              </a:lnSpc>
              <a:spcBef>
                <a:spcPts val="145"/>
              </a:spcBef>
              <a:buFont typeface="Arial"/>
              <a:buChar char="•"/>
              <a:tabLst>
                <a:tab pos="528320" algn="l"/>
              </a:tabLst>
            </a:pPr>
            <a:r>
              <a:rPr sz="2200" spc="-10" dirty="0">
                <a:latin typeface="Calibri"/>
                <a:cs typeface="Calibri"/>
              </a:rPr>
              <a:t>yellow</a:t>
            </a:r>
            <a:endParaRPr sz="2200">
              <a:latin typeface="Calibri"/>
              <a:cs typeface="Calibri"/>
            </a:endParaRPr>
          </a:p>
          <a:p>
            <a:pPr marL="184785" indent="-172720">
              <a:lnSpc>
                <a:spcPct val="100000"/>
              </a:lnSpc>
              <a:spcBef>
                <a:spcPts val="500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20" dirty="0">
                <a:latin typeface="Calibri"/>
                <a:cs typeface="Calibri"/>
              </a:rPr>
              <a:t>Warna</a:t>
            </a:r>
            <a:r>
              <a:rPr sz="2400" spc="-10" dirty="0">
                <a:latin typeface="Calibri"/>
                <a:cs typeface="Calibri"/>
              </a:rPr>
              <a:t> sekunder:</a:t>
            </a:r>
            <a:endParaRPr sz="2400">
              <a:latin typeface="Calibri"/>
              <a:cs typeface="Calibri"/>
            </a:endParaRPr>
          </a:p>
          <a:p>
            <a:pPr marL="527685" lvl="1" indent="-172720">
              <a:lnSpc>
                <a:spcPct val="100000"/>
              </a:lnSpc>
              <a:spcBef>
                <a:spcPts val="150"/>
              </a:spcBef>
              <a:buFont typeface="Arial"/>
              <a:buChar char="•"/>
              <a:tabLst>
                <a:tab pos="528320" algn="l"/>
              </a:tabLst>
            </a:pPr>
            <a:r>
              <a:rPr sz="2200" spc="-15" dirty="0">
                <a:latin typeface="Calibri"/>
                <a:cs typeface="Calibri"/>
              </a:rPr>
              <a:t>red</a:t>
            </a:r>
            <a:endParaRPr sz="2200">
              <a:latin typeface="Calibri"/>
              <a:cs typeface="Calibri"/>
            </a:endParaRPr>
          </a:p>
          <a:p>
            <a:pPr marL="527685" lvl="1" indent="-172720">
              <a:lnSpc>
                <a:spcPct val="100000"/>
              </a:lnSpc>
              <a:spcBef>
                <a:spcPts val="130"/>
              </a:spcBef>
              <a:buFont typeface="Arial"/>
              <a:buChar char="•"/>
              <a:tabLst>
                <a:tab pos="528320" algn="l"/>
              </a:tabLst>
            </a:pPr>
            <a:r>
              <a:rPr sz="2200" spc="-10" dirty="0">
                <a:latin typeface="Calibri"/>
                <a:cs typeface="Calibri"/>
              </a:rPr>
              <a:t>green</a:t>
            </a:r>
            <a:endParaRPr sz="2200">
              <a:latin typeface="Calibri"/>
              <a:cs typeface="Calibri"/>
            </a:endParaRPr>
          </a:p>
          <a:p>
            <a:pPr marL="527685" lvl="1" indent="-172720">
              <a:lnSpc>
                <a:spcPct val="100000"/>
              </a:lnSpc>
              <a:spcBef>
                <a:spcPts val="135"/>
              </a:spcBef>
              <a:buFont typeface="Arial"/>
              <a:buChar char="•"/>
              <a:tabLst>
                <a:tab pos="528320" algn="l"/>
              </a:tabLst>
            </a:pPr>
            <a:r>
              <a:rPr sz="2200" spc="-10" dirty="0">
                <a:latin typeface="Calibri"/>
                <a:cs typeface="Calibri"/>
              </a:rPr>
              <a:t>blue</a:t>
            </a:r>
            <a:endParaRPr sz="2200">
              <a:latin typeface="Calibri"/>
              <a:cs typeface="Calibri"/>
            </a:endParaRPr>
          </a:p>
          <a:p>
            <a:pPr lvl="1">
              <a:lnSpc>
                <a:spcPct val="100000"/>
              </a:lnSpc>
              <a:spcBef>
                <a:spcPts val="45"/>
              </a:spcBef>
              <a:buFont typeface="Arial"/>
              <a:buChar char="•"/>
            </a:pPr>
            <a:endParaRPr sz="2650">
              <a:latin typeface="Calibri"/>
              <a:cs typeface="Calibri"/>
            </a:endParaRPr>
          </a:p>
          <a:p>
            <a:pPr marL="184785" indent="-172720">
              <a:lnSpc>
                <a:spcPct val="100000"/>
              </a:lnSpc>
              <a:buFont typeface="Arial"/>
              <a:buChar char="•"/>
              <a:tabLst>
                <a:tab pos="185420" algn="l"/>
              </a:tabLst>
            </a:pPr>
            <a:r>
              <a:rPr sz="2400" dirty="0">
                <a:latin typeface="Calibri"/>
                <a:cs typeface="Calibri"/>
              </a:rPr>
              <a:t>R+G+B:</a:t>
            </a:r>
            <a:r>
              <a:rPr sz="2400" spc="-3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black</a:t>
            </a:r>
            <a:endParaRPr sz="2400">
              <a:latin typeface="Calibri"/>
              <a:cs typeface="Calibri"/>
            </a:endParaRPr>
          </a:p>
          <a:p>
            <a:pPr marL="673100">
              <a:lnSpc>
                <a:spcPct val="100000"/>
              </a:lnSpc>
              <a:spcBef>
                <a:spcPts val="2145"/>
              </a:spcBef>
            </a:pPr>
            <a:r>
              <a:rPr sz="2400" spc="-10" dirty="0">
                <a:latin typeface="Calibri"/>
                <a:cs typeface="Calibri"/>
              </a:rPr>
              <a:t>Subtractive</a:t>
            </a:r>
            <a:r>
              <a:rPr sz="2400" spc="-8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Color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5230729" y="2309989"/>
            <a:ext cx="3781065" cy="3514391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8693911" y="54356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5" dirty="0">
                <a:latin typeface="Calibri"/>
                <a:cs typeface="Calibri"/>
              </a:rPr>
              <a:t>26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xfrm>
            <a:off x="707542" y="6469557"/>
            <a:ext cx="1163955" cy="13343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lang="en-ID" spc="-5" dirty="0"/>
              <a:t>  </a:t>
            </a:r>
            <a:endParaRPr spc="-5" dirty="0"/>
          </a:p>
        </p:txBody>
      </p:sp>
      <p:sp>
        <p:nvSpPr>
          <p:cNvPr id="9" name="object 9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spc="-5" dirty="0"/>
              <a:t>Pengolahan Citra </a:t>
            </a:r>
            <a:r>
              <a:rPr dirty="0"/>
              <a:t>- </a:t>
            </a:r>
            <a:r>
              <a:rPr spc="-5" dirty="0"/>
              <a:t>Color</a:t>
            </a:r>
            <a:r>
              <a:rPr spc="-40" dirty="0"/>
              <a:t> </a:t>
            </a:r>
            <a:r>
              <a:rPr spc="-5" dirty="0"/>
              <a:t>Theory</a:t>
            </a:r>
          </a:p>
        </p:txBody>
      </p:sp>
    </p:spTree>
    <p:extLst>
      <p:ext uri="{BB962C8B-B14F-4D97-AF65-F5344CB8AC3E}">
        <p14:creationId xmlns:p14="http://schemas.microsoft.com/office/powerpoint/2010/main" val="223101999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xfrm>
            <a:off x="707542" y="6469557"/>
            <a:ext cx="1163955" cy="13343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lang="en-ID" spc="-5" dirty="0"/>
              <a:t>  </a:t>
            </a:r>
            <a:endParaRPr spc="-5" dirty="0"/>
          </a:p>
        </p:txBody>
      </p:sp>
      <p:sp>
        <p:nvSpPr>
          <p:cNvPr id="6" name="object 6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spc="-5" dirty="0"/>
              <a:t>Pengolahan Citra </a:t>
            </a:r>
            <a:r>
              <a:rPr dirty="0"/>
              <a:t>- </a:t>
            </a:r>
            <a:r>
              <a:rPr spc="-5" dirty="0"/>
              <a:t>Color</a:t>
            </a:r>
            <a:r>
              <a:rPr spc="-40" dirty="0"/>
              <a:t> </a:t>
            </a:r>
            <a:r>
              <a:rPr spc="-5" dirty="0"/>
              <a:t>Theory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sz="3600" spc="-5" dirty="0"/>
              <a:t>Model CMY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707542" y="1759661"/>
            <a:ext cx="7098030" cy="3685540"/>
          </a:xfrm>
          <a:prstGeom prst="rect">
            <a:avLst/>
          </a:prstGeom>
        </p:spPr>
        <p:txBody>
          <a:bodyPr vert="horz" wrap="square" lIns="0" tIns="94615" rIns="0" bIns="0" rtlCol="0">
            <a:spAutoFit/>
          </a:bodyPr>
          <a:lstStyle/>
          <a:p>
            <a:pPr marL="184785" marR="5080" indent="-172720">
              <a:lnSpc>
                <a:spcPts val="2690"/>
              </a:lnSpc>
              <a:spcBef>
                <a:spcPts val="745"/>
              </a:spcBef>
              <a:buFont typeface="Arial"/>
              <a:buChar char="•"/>
              <a:tabLst>
                <a:tab pos="185420" algn="l"/>
              </a:tabLst>
            </a:pPr>
            <a:r>
              <a:rPr sz="2800" spc="-20" dirty="0">
                <a:latin typeface="Calibri"/>
                <a:cs typeface="Calibri"/>
              </a:rPr>
              <a:t>Cyan </a:t>
            </a:r>
            <a:r>
              <a:rPr sz="2800" spc="-15" dirty="0">
                <a:latin typeface="Calibri"/>
                <a:cs typeface="Calibri"/>
              </a:rPr>
              <a:t>Magenta </a:t>
            </a:r>
            <a:r>
              <a:rPr sz="2800" spc="-40" dirty="0">
                <a:latin typeface="Calibri"/>
                <a:cs typeface="Calibri"/>
              </a:rPr>
              <a:t>Yellow </a:t>
            </a:r>
            <a:r>
              <a:rPr sz="2800" spc="-5" dirty="0">
                <a:latin typeface="Calibri"/>
                <a:cs typeface="Calibri"/>
              </a:rPr>
              <a:t>(CMY) adalah </a:t>
            </a:r>
            <a:r>
              <a:rPr sz="2800" i="1" spc="-10" dirty="0">
                <a:latin typeface="Calibri"/>
                <a:cs typeface="Calibri"/>
              </a:rPr>
              <a:t>substractive  primaries</a:t>
            </a:r>
            <a:r>
              <a:rPr sz="2800" spc="-10" dirty="0">
                <a:latin typeface="Calibri"/>
                <a:cs typeface="Calibri"/>
              </a:rPr>
              <a:t>, untuk</a:t>
            </a:r>
            <a:r>
              <a:rPr sz="2800" spc="45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pigmen.</a:t>
            </a:r>
            <a:endParaRPr sz="2800">
              <a:latin typeface="Calibri"/>
              <a:cs typeface="Calibri"/>
            </a:endParaRPr>
          </a:p>
          <a:p>
            <a:pPr marL="184785" marR="23495" indent="-172720">
              <a:lnSpc>
                <a:spcPts val="2690"/>
              </a:lnSpc>
              <a:spcBef>
                <a:spcPts val="2005"/>
              </a:spcBef>
              <a:buFont typeface="Arial"/>
              <a:buChar char="•"/>
              <a:tabLst>
                <a:tab pos="185420" algn="l"/>
              </a:tabLst>
            </a:pPr>
            <a:r>
              <a:rPr sz="2800" spc="-5" dirty="0">
                <a:latin typeface="Calibri"/>
                <a:cs typeface="Calibri"/>
              </a:rPr>
              <a:t>Model </a:t>
            </a:r>
            <a:r>
              <a:rPr sz="2800" spc="-10" dirty="0">
                <a:latin typeface="Calibri"/>
                <a:cs typeface="Calibri"/>
              </a:rPr>
              <a:t>CMY digunakan </a:t>
            </a:r>
            <a:r>
              <a:rPr sz="2800" spc="-15" dirty="0">
                <a:latin typeface="Calibri"/>
                <a:cs typeface="Calibri"/>
              </a:rPr>
              <a:t>sebagai </a:t>
            </a:r>
            <a:r>
              <a:rPr sz="2800" i="1" spc="-10" dirty="0">
                <a:latin typeface="Calibri"/>
                <a:cs typeface="Calibri"/>
              </a:rPr>
              <a:t>color </a:t>
            </a:r>
            <a:r>
              <a:rPr sz="2800" i="1" spc="-5" dirty="0">
                <a:latin typeface="Calibri"/>
                <a:cs typeface="Calibri"/>
              </a:rPr>
              <a:t>model </a:t>
            </a:r>
            <a:r>
              <a:rPr sz="2800" spc="-10" dirty="0">
                <a:latin typeface="Calibri"/>
                <a:cs typeface="Calibri"/>
              </a:rPr>
              <a:t>bagi  </a:t>
            </a:r>
            <a:r>
              <a:rPr sz="2800" spc="-15" dirty="0">
                <a:latin typeface="Calibri"/>
                <a:cs typeface="Calibri"/>
              </a:rPr>
              <a:t>printer </a:t>
            </a:r>
            <a:r>
              <a:rPr sz="2800" spc="-5" dirty="0">
                <a:latin typeface="Calibri"/>
                <a:cs typeface="Calibri"/>
              </a:rPr>
              <a:t>dan </a:t>
            </a:r>
            <a:r>
              <a:rPr sz="2800" spc="-10" dirty="0">
                <a:latin typeface="Calibri"/>
                <a:cs typeface="Calibri"/>
              </a:rPr>
              <a:t>alat </a:t>
            </a:r>
            <a:r>
              <a:rPr sz="2800" spc="-15" dirty="0">
                <a:latin typeface="Calibri"/>
                <a:cs typeface="Calibri"/>
              </a:rPr>
              <a:t>cetak</a:t>
            </a:r>
            <a:r>
              <a:rPr sz="2800" spc="45" dirty="0">
                <a:latin typeface="Calibri"/>
                <a:cs typeface="Calibri"/>
              </a:rPr>
              <a:t> </a:t>
            </a:r>
            <a:r>
              <a:rPr sz="2800" spc="-20" dirty="0">
                <a:latin typeface="Calibri"/>
                <a:cs typeface="Calibri"/>
              </a:rPr>
              <a:t>lainnya.</a:t>
            </a:r>
            <a:endParaRPr sz="2800">
              <a:latin typeface="Calibri"/>
              <a:cs typeface="Calibri"/>
            </a:endParaRPr>
          </a:p>
          <a:p>
            <a:pPr marL="184785" indent="-172720">
              <a:lnSpc>
                <a:spcPct val="100000"/>
              </a:lnSpc>
              <a:spcBef>
                <a:spcPts val="1340"/>
              </a:spcBef>
              <a:buFont typeface="Arial"/>
              <a:buChar char="•"/>
              <a:tabLst>
                <a:tab pos="185420" algn="l"/>
              </a:tabLst>
            </a:pPr>
            <a:r>
              <a:rPr sz="2800" spc="-10" dirty="0">
                <a:latin typeface="Calibri"/>
                <a:cs typeface="Calibri"/>
              </a:rPr>
              <a:t>CMYK</a:t>
            </a:r>
            <a:endParaRPr sz="2800">
              <a:latin typeface="Calibri"/>
              <a:cs typeface="Calibri"/>
            </a:endParaRPr>
          </a:p>
          <a:p>
            <a:pPr marL="527685" lvl="1" indent="-172720">
              <a:lnSpc>
                <a:spcPct val="100000"/>
              </a:lnSpc>
              <a:spcBef>
                <a:spcPts val="990"/>
              </a:spcBef>
              <a:buFont typeface="Arial"/>
              <a:buChar char="•"/>
              <a:tabLst>
                <a:tab pos="528320" algn="l"/>
              </a:tabLst>
            </a:pPr>
            <a:r>
              <a:rPr sz="2600" dirty="0">
                <a:latin typeface="Calibri"/>
                <a:cs typeface="Calibri"/>
              </a:rPr>
              <a:t>K </a:t>
            </a:r>
            <a:r>
              <a:rPr sz="2600" spc="-5" dirty="0">
                <a:latin typeface="Calibri"/>
                <a:cs typeface="Calibri"/>
              </a:rPr>
              <a:t>adalah warna</a:t>
            </a:r>
            <a:r>
              <a:rPr sz="2600" spc="-15" dirty="0">
                <a:latin typeface="Calibri"/>
                <a:cs typeface="Calibri"/>
              </a:rPr>
              <a:t> </a:t>
            </a:r>
            <a:r>
              <a:rPr sz="2600" spc="-40" dirty="0">
                <a:latin typeface="Calibri"/>
                <a:cs typeface="Calibri"/>
              </a:rPr>
              <a:t>HITAM</a:t>
            </a:r>
            <a:endParaRPr sz="2600">
              <a:latin typeface="Calibri"/>
              <a:cs typeface="Calibri"/>
            </a:endParaRPr>
          </a:p>
          <a:p>
            <a:pPr marL="527685" marR="173355" lvl="1" indent="-172720">
              <a:lnSpc>
                <a:spcPts val="2500"/>
              </a:lnSpc>
              <a:spcBef>
                <a:spcPts val="1575"/>
              </a:spcBef>
              <a:buFont typeface="Arial"/>
              <a:buChar char="•"/>
              <a:tabLst>
                <a:tab pos="528320" algn="l"/>
              </a:tabLst>
            </a:pPr>
            <a:r>
              <a:rPr sz="2600" dirty="0">
                <a:latin typeface="Calibri"/>
                <a:cs typeface="Calibri"/>
              </a:rPr>
              <a:t>CMY </a:t>
            </a:r>
            <a:r>
              <a:rPr sz="2600" spc="-5" dirty="0">
                <a:latin typeface="Calibri"/>
                <a:cs typeface="Calibri"/>
              </a:rPr>
              <a:t>dicampur </a:t>
            </a:r>
            <a:r>
              <a:rPr sz="2600" dirty="0">
                <a:latin typeface="Calibri"/>
                <a:cs typeface="Calibri"/>
              </a:rPr>
              <a:t>tidak </a:t>
            </a:r>
            <a:r>
              <a:rPr sz="2600" spc="-10" dirty="0">
                <a:latin typeface="Calibri"/>
                <a:cs typeface="Calibri"/>
              </a:rPr>
              <a:t>dapat </a:t>
            </a:r>
            <a:r>
              <a:rPr sz="2600" spc="-5" dirty="0">
                <a:latin typeface="Calibri"/>
                <a:cs typeface="Calibri"/>
              </a:rPr>
              <a:t>menghasilkan warna  </a:t>
            </a:r>
            <a:r>
              <a:rPr sz="2600" spc="-10" dirty="0">
                <a:latin typeface="Calibri"/>
                <a:cs typeface="Calibri"/>
              </a:rPr>
              <a:t>hitam</a:t>
            </a:r>
            <a:r>
              <a:rPr sz="2600" spc="-5" dirty="0">
                <a:latin typeface="Calibri"/>
                <a:cs typeface="Calibri"/>
              </a:rPr>
              <a:t> </a:t>
            </a:r>
            <a:r>
              <a:rPr sz="2600" spc="-20" dirty="0">
                <a:latin typeface="Calibri"/>
                <a:cs typeface="Calibri"/>
              </a:rPr>
              <a:t>pekat</a:t>
            </a:r>
            <a:endParaRPr sz="26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693911" y="54356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5" dirty="0">
                <a:latin typeface="Calibri"/>
                <a:cs typeface="Calibri"/>
              </a:rPr>
              <a:t>27</a:t>
            </a:r>
            <a:endParaRPr sz="140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108802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274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20"/>
              </a:spcBef>
            </a:pPr>
            <a:r>
              <a:rPr sz="3600" spc="-15" dirty="0"/>
              <a:t>RGB </a:t>
            </a:r>
            <a:r>
              <a:rPr sz="3600" b="0" dirty="0">
                <a:latin typeface="Cambria Math"/>
                <a:cs typeface="Cambria Math"/>
              </a:rPr>
              <a:t>↔</a:t>
            </a:r>
            <a:r>
              <a:rPr sz="3600" b="0" spc="20" dirty="0">
                <a:latin typeface="Cambria Math"/>
                <a:cs typeface="Cambria Math"/>
              </a:rPr>
              <a:t> </a:t>
            </a:r>
            <a:r>
              <a:rPr sz="3600" spc="-5" dirty="0"/>
              <a:t>CMY</a:t>
            </a:r>
            <a:endParaRPr sz="3600">
              <a:latin typeface="Cambria Math"/>
              <a:cs typeface="Cambria Math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07542" y="1780308"/>
            <a:ext cx="6005195" cy="119761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84785" indent="-1727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5" dirty="0">
                <a:latin typeface="Calibri"/>
                <a:cs typeface="Calibri"/>
              </a:rPr>
              <a:t>Range nilai</a:t>
            </a:r>
            <a:r>
              <a:rPr sz="2400" spc="-75" dirty="0">
                <a:latin typeface="Calibri"/>
                <a:cs typeface="Calibri"/>
              </a:rPr>
              <a:t> </a:t>
            </a:r>
            <a:r>
              <a:rPr sz="2400" spc="-10" dirty="0">
                <a:latin typeface="Calibri"/>
                <a:cs typeface="Calibri"/>
              </a:rPr>
              <a:t>RGB:</a:t>
            </a:r>
            <a:endParaRPr sz="2400">
              <a:latin typeface="Calibri"/>
              <a:cs typeface="Calibri"/>
            </a:endParaRPr>
          </a:p>
          <a:p>
            <a:pPr marL="527685" lvl="1" indent="-172720">
              <a:lnSpc>
                <a:spcPct val="100000"/>
              </a:lnSpc>
              <a:spcBef>
                <a:spcPts val="155"/>
              </a:spcBef>
              <a:buFont typeface="Arial"/>
              <a:buChar char="•"/>
              <a:tabLst>
                <a:tab pos="528320" algn="l"/>
              </a:tabLst>
            </a:pPr>
            <a:r>
              <a:rPr sz="2200" spc="-5" dirty="0">
                <a:latin typeface="Calibri"/>
                <a:cs typeface="Calibri"/>
              </a:rPr>
              <a:t>8-bit:</a:t>
            </a:r>
            <a:r>
              <a:rPr sz="2200" spc="-105" dirty="0">
                <a:latin typeface="Calibri"/>
                <a:cs typeface="Calibri"/>
              </a:rPr>
              <a:t> </a:t>
            </a:r>
            <a:r>
              <a:rPr sz="2200" dirty="0">
                <a:latin typeface="Calibri"/>
                <a:cs typeface="Calibri"/>
              </a:rPr>
              <a:t>0-255</a:t>
            </a:r>
            <a:endParaRPr sz="2200">
              <a:latin typeface="Calibri"/>
              <a:cs typeface="Calibri"/>
            </a:endParaRPr>
          </a:p>
          <a:p>
            <a:pPr marL="184785" indent="-172720">
              <a:lnSpc>
                <a:spcPct val="100000"/>
              </a:lnSpc>
              <a:spcBef>
                <a:spcPts val="495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10" dirty="0">
                <a:latin typeface="Calibri"/>
                <a:cs typeface="Calibri"/>
              </a:rPr>
              <a:t>Jika </a:t>
            </a:r>
            <a:r>
              <a:rPr sz="2400" spc="-5" dirty="0">
                <a:latin typeface="Calibri"/>
                <a:cs typeface="Calibri"/>
              </a:rPr>
              <a:t>nilai </a:t>
            </a:r>
            <a:r>
              <a:rPr sz="2400" spc="-10" dirty="0">
                <a:latin typeface="Calibri"/>
                <a:cs typeface="Calibri"/>
              </a:rPr>
              <a:t>RGB </a:t>
            </a:r>
            <a:r>
              <a:rPr sz="2400" spc="-5" dirty="0">
                <a:latin typeface="Calibri"/>
                <a:cs typeface="Calibri"/>
              </a:rPr>
              <a:t>dinormalisasi </a:t>
            </a:r>
            <a:r>
              <a:rPr sz="2400" dirty="0">
                <a:latin typeface="Calibri"/>
                <a:cs typeface="Calibri"/>
              </a:rPr>
              <a:t>menjadi </a:t>
            </a:r>
            <a:r>
              <a:rPr sz="2400" spc="-15" dirty="0">
                <a:latin typeface="Calibri"/>
                <a:cs typeface="Calibri"/>
              </a:rPr>
              <a:t>range</a:t>
            </a:r>
            <a:r>
              <a:rPr sz="2400" spc="-8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[0,1]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07542" y="4721939"/>
            <a:ext cx="4765675" cy="764540"/>
          </a:xfrm>
          <a:prstGeom prst="rect">
            <a:avLst/>
          </a:prstGeom>
        </p:spPr>
        <p:txBody>
          <a:bodyPr vert="horz" wrap="square" lIns="0" tIns="32384" rIns="0" bIns="0" rtlCol="0">
            <a:spAutoFit/>
          </a:bodyPr>
          <a:lstStyle/>
          <a:p>
            <a:pPr marL="184785" indent="-172720">
              <a:lnSpc>
                <a:spcPct val="100000"/>
              </a:lnSpc>
              <a:spcBef>
                <a:spcPts val="254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50" dirty="0">
                <a:latin typeface="Calibri"/>
                <a:cs typeface="Calibri"/>
              </a:rPr>
              <a:t>Var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K?</a:t>
            </a:r>
            <a:endParaRPr sz="2400">
              <a:latin typeface="Calibri"/>
              <a:cs typeface="Calibri"/>
            </a:endParaRPr>
          </a:p>
          <a:p>
            <a:pPr marL="527685" lvl="1" indent="-172720">
              <a:lnSpc>
                <a:spcPct val="100000"/>
              </a:lnSpc>
              <a:spcBef>
                <a:spcPts val="140"/>
              </a:spcBef>
              <a:buFont typeface="Arial"/>
              <a:buChar char="•"/>
              <a:tabLst>
                <a:tab pos="528320" algn="l"/>
              </a:tabLst>
            </a:pPr>
            <a:r>
              <a:rPr sz="2200" spc="-5" dirty="0">
                <a:latin typeface="Calibri"/>
                <a:cs typeface="Calibri"/>
              </a:rPr>
              <a:t>1, di mana </a:t>
            </a:r>
            <a:r>
              <a:rPr sz="2200" spc="-40" dirty="0">
                <a:latin typeface="Calibri"/>
                <a:cs typeface="Calibri"/>
              </a:rPr>
              <a:t>C,M,Y </a:t>
            </a:r>
            <a:r>
              <a:rPr sz="2200" spc="-15" dirty="0">
                <a:latin typeface="Calibri"/>
                <a:cs typeface="Calibri"/>
              </a:rPr>
              <a:t>semuanya </a:t>
            </a:r>
            <a:r>
              <a:rPr sz="2200" spc="-10" dirty="0">
                <a:latin typeface="Calibri"/>
                <a:cs typeface="Calibri"/>
              </a:rPr>
              <a:t>bernilai</a:t>
            </a:r>
            <a:r>
              <a:rPr sz="2200" spc="5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0</a:t>
            </a:r>
            <a:endParaRPr sz="22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693911" y="54356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5" dirty="0">
                <a:latin typeface="Calibri"/>
                <a:cs typeface="Calibri"/>
              </a:rPr>
              <a:t>28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3901059" y="4185920"/>
            <a:ext cx="81280" cy="15240"/>
          </a:xfrm>
          <a:custGeom>
            <a:avLst/>
            <a:gdLst/>
            <a:ahLst/>
            <a:cxnLst/>
            <a:rect l="l" t="t" r="r" b="b"/>
            <a:pathLst>
              <a:path w="81279" h="15239">
                <a:moveTo>
                  <a:pt x="0" y="15239"/>
                </a:moveTo>
                <a:lnTo>
                  <a:pt x="81025" y="15239"/>
                </a:lnTo>
                <a:lnTo>
                  <a:pt x="81025" y="0"/>
                </a:lnTo>
                <a:lnTo>
                  <a:pt x="0" y="0"/>
                </a:lnTo>
                <a:lnTo>
                  <a:pt x="0" y="1523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3951351" y="3310890"/>
            <a:ext cx="31115" cy="875030"/>
          </a:xfrm>
          <a:custGeom>
            <a:avLst/>
            <a:gdLst/>
            <a:ahLst/>
            <a:cxnLst/>
            <a:rect l="l" t="t" r="r" b="b"/>
            <a:pathLst>
              <a:path w="31114" h="875029">
                <a:moveTo>
                  <a:pt x="0" y="875030"/>
                </a:moveTo>
                <a:lnTo>
                  <a:pt x="30734" y="875030"/>
                </a:lnTo>
                <a:lnTo>
                  <a:pt x="30734" y="0"/>
                </a:lnTo>
                <a:lnTo>
                  <a:pt x="0" y="0"/>
                </a:lnTo>
                <a:lnTo>
                  <a:pt x="0" y="87503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3901059" y="3296920"/>
            <a:ext cx="81280" cy="13970"/>
          </a:xfrm>
          <a:custGeom>
            <a:avLst/>
            <a:gdLst/>
            <a:ahLst/>
            <a:cxnLst/>
            <a:rect l="l" t="t" r="r" b="b"/>
            <a:pathLst>
              <a:path w="81279" h="13970">
                <a:moveTo>
                  <a:pt x="0" y="13970"/>
                </a:moveTo>
                <a:lnTo>
                  <a:pt x="81025" y="13970"/>
                </a:lnTo>
                <a:lnTo>
                  <a:pt x="81025" y="0"/>
                </a:lnTo>
                <a:lnTo>
                  <a:pt x="0" y="0"/>
                </a:lnTo>
                <a:lnTo>
                  <a:pt x="0" y="1397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3539744" y="4185920"/>
            <a:ext cx="81280" cy="15240"/>
          </a:xfrm>
          <a:custGeom>
            <a:avLst/>
            <a:gdLst/>
            <a:ahLst/>
            <a:cxnLst/>
            <a:rect l="l" t="t" r="r" b="b"/>
            <a:pathLst>
              <a:path w="81279" h="15239">
                <a:moveTo>
                  <a:pt x="0" y="15239"/>
                </a:moveTo>
                <a:lnTo>
                  <a:pt x="80898" y="15239"/>
                </a:lnTo>
                <a:lnTo>
                  <a:pt x="80898" y="0"/>
                </a:lnTo>
                <a:lnTo>
                  <a:pt x="0" y="0"/>
                </a:lnTo>
                <a:lnTo>
                  <a:pt x="0" y="1523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3539744" y="3310890"/>
            <a:ext cx="31115" cy="875030"/>
          </a:xfrm>
          <a:custGeom>
            <a:avLst/>
            <a:gdLst/>
            <a:ahLst/>
            <a:cxnLst/>
            <a:rect l="l" t="t" r="r" b="b"/>
            <a:pathLst>
              <a:path w="31114" h="875029">
                <a:moveTo>
                  <a:pt x="0" y="875030"/>
                </a:moveTo>
                <a:lnTo>
                  <a:pt x="30606" y="875030"/>
                </a:lnTo>
                <a:lnTo>
                  <a:pt x="30606" y="0"/>
                </a:lnTo>
                <a:lnTo>
                  <a:pt x="0" y="0"/>
                </a:lnTo>
                <a:lnTo>
                  <a:pt x="0" y="87503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3539744" y="3296920"/>
            <a:ext cx="81280" cy="13970"/>
          </a:xfrm>
          <a:custGeom>
            <a:avLst/>
            <a:gdLst/>
            <a:ahLst/>
            <a:cxnLst/>
            <a:rect l="l" t="t" r="r" b="b"/>
            <a:pathLst>
              <a:path w="81279" h="13970">
                <a:moveTo>
                  <a:pt x="0" y="13970"/>
                </a:moveTo>
                <a:lnTo>
                  <a:pt x="80898" y="13970"/>
                </a:lnTo>
                <a:lnTo>
                  <a:pt x="80898" y="0"/>
                </a:lnTo>
                <a:lnTo>
                  <a:pt x="0" y="0"/>
                </a:lnTo>
                <a:lnTo>
                  <a:pt x="0" y="1397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3615690" y="3176396"/>
            <a:ext cx="285115" cy="1106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7625">
              <a:lnSpc>
                <a:spcPts val="2845"/>
              </a:lnSpc>
              <a:spcBef>
                <a:spcPts val="100"/>
              </a:spcBef>
            </a:pPr>
            <a:r>
              <a:rPr sz="2400" dirty="0">
                <a:latin typeface="Cambria Math"/>
                <a:cs typeface="Cambria Math"/>
              </a:rPr>
              <a:t>𝐶</a:t>
            </a:r>
            <a:endParaRPr sz="2400">
              <a:latin typeface="Cambria Math"/>
              <a:cs typeface="Cambria Math"/>
            </a:endParaRPr>
          </a:p>
          <a:p>
            <a:pPr marL="12700">
              <a:lnSpc>
                <a:spcPts val="2815"/>
              </a:lnSpc>
            </a:pPr>
            <a:r>
              <a:rPr sz="2400" dirty="0">
                <a:latin typeface="Cambria Math"/>
                <a:cs typeface="Cambria Math"/>
              </a:rPr>
              <a:t>𝑀</a:t>
            </a:r>
            <a:endParaRPr sz="2400">
              <a:latin typeface="Cambria Math"/>
              <a:cs typeface="Cambria Math"/>
            </a:endParaRPr>
          </a:p>
          <a:p>
            <a:pPr marL="33655">
              <a:lnSpc>
                <a:spcPts val="2850"/>
              </a:lnSpc>
            </a:pPr>
            <a:r>
              <a:rPr sz="2400" dirty="0">
                <a:latin typeface="Cambria Math"/>
                <a:cs typeface="Cambria Math"/>
              </a:rPr>
              <a:t>𝐾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088129" y="3517772"/>
            <a:ext cx="2533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mbria Math"/>
                <a:cs typeface="Cambria Math"/>
              </a:rPr>
              <a:t>=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4708778" y="4185920"/>
            <a:ext cx="81280" cy="15240"/>
          </a:xfrm>
          <a:custGeom>
            <a:avLst/>
            <a:gdLst/>
            <a:ahLst/>
            <a:cxnLst/>
            <a:rect l="l" t="t" r="r" b="b"/>
            <a:pathLst>
              <a:path w="81279" h="15239">
                <a:moveTo>
                  <a:pt x="0" y="15239"/>
                </a:moveTo>
                <a:lnTo>
                  <a:pt x="81025" y="15239"/>
                </a:lnTo>
                <a:lnTo>
                  <a:pt x="81025" y="0"/>
                </a:lnTo>
                <a:lnTo>
                  <a:pt x="0" y="0"/>
                </a:lnTo>
                <a:lnTo>
                  <a:pt x="0" y="1523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4759071" y="3310890"/>
            <a:ext cx="31115" cy="875030"/>
          </a:xfrm>
          <a:custGeom>
            <a:avLst/>
            <a:gdLst/>
            <a:ahLst/>
            <a:cxnLst/>
            <a:rect l="l" t="t" r="r" b="b"/>
            <a:pathLst>
              <a:path w="31114" h="875029">
                <a:moveTo>
                  <a:pt x="0" y="875030"/>
                </a:moveTo>
                <a:lnTo>
                  <a:pt x="30733" y="875030"/>
                </a:lnTo>
                <a:lnTo>
                  <a:pt x="30733" y="0"/>
                </a:lnTo>
                <a:lnTo>
                  <a:pt x="0" y="0"/>
                </a:lnTo>
                <a:lnTo>
                  <a:pt x="0" y="87503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4708778" y="3296920"/>
            <a:ext cx="81280" cy="13970"/>
          </a:xfrm>
          <a:custGeom>
            <a:avLst/>
            <a:gdLst/>
            <a:ahLst/>
            <a:cxnLst/>
            <a:rect l="l" t="t" r="r" b="b"/>
            <a:pathLst>
              <a:path w="81279" h="13970">
                <a:moveTo>
                  <a:pt x="0" y="13970"/>
                </a:moveTo>
                <a:lnTo>
                  <a:pt x="81025" y="13970"/>
                </a:lnTo>
                <a:lnTo>
                  <a:pt x="81025" y="0"/>
                </a:lnTo>
                <a:lnTo>
                  <a:pt x="0" y="0"/>
                </a:lnTo>
                <a:lnTo>
                  <a:pt x="0" y="1397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4445000" y="4185920"/>
            <a:ext cx="81280" cy="15240"/>
          </a:xfrm>
          <a:custGeom>
            <a:avLst/>
            <a:gdLst/>
            <a:ahLst/>
            <a:cxnLst/>
            <a:rect l="l" t="t" r="r" b="b"/>
            <a:pathLst>
              <a:path w="81279" h="15239">
                <a:moveTo>
                  <a:pt x="0" y="15239"/>
                </a:moveTo>
                <a:lnTo>
                  <a:pt x="80899" y="15239"/>
                </a:lnTo>
                <a:lnTo>
                  <a:pt x="80899" y="0"/>
                </a:lnTo>
                <a:lnTo>
                  <a:pt x="0" y="0"/>
                </a:lnTo>
                <a:lnTo>
                  <a:pt x="0" y="1523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4445000" y="3310890"/>
            <a:ext cx="31115" cy="875030"/>
          </a:xfrm>
          <a:custGeom>
            <a:avLst/>
            <a:gdLst/>
            <a:ahLst/>
            <a:cxnLst/>
            <a:rect l="l" t="t" r="r" b="b"/>
            <a:pathLst>
              <a:path w="31114" h="875029">
                <a:moveTo>
                  <a:pt x="0" y="875030"/>
                </a:moveTo>
                <a:lnTo>
                  <a:pt x="30607" y="875030"/>
                </a:lnTo>
                <a:lnTo>
                  <a:pt x="30607" y="0"/>
                </a:lnTo>
                <a:lnTo>
                  <a:pt x="0" y="0"/>
                </a:lnTo>
                <a:lnTo>
                  <a:pt x="0" y="87503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4445000" y="3296920"/>
            <a:ext cx="81280" cy="13970"/>
          </a:xfrm>
          <a:custGeom>
            <a:avLst/>
            <a:gdLst/>
            <a:ahLst/>
            <a:cxnLst/>
            <a:rect l="l" t="t" r="r" b="b"/>
            <a:pathLst>
              <a:path w="81279" h="13970">
                <a:moveTo>
                  <a:pt x="0" y="13970"/>
                </a:moveTo>
                <a:lnTo>
                  <a:pt x="80899" y="13970"/>
                </a:lnTo>
                <a:lnTo>
                  <a:pt x="80899" y="0"/>
                </a:lnTo>
                <a:lnTo>
                  <a:pt x="0" y="0"/>
                </a:lnTo>
                <a:lnTo>
                  <a:pt x="0" y="1397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4520946" y="3176396"/>
            <a:ext cx="194945" cy="1106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45"/>
              </a:lnSpc>
              <a:spcBef>
                <a:spcPts val="100"/>
              </a:spcBef>
            </a:pPr>
            <a:r>
              <a:rPr sz="2400" dirty="0">
                <a:latin typeface="Cambria Math"/>
                <a:cs typeface="Cambria Math"/>
              </a:rPr>
              <a:t>1</a:t>
            </a:r>
            <a:endParaRPr sz="2400">
              <a:latin typeface="Cambria Math"/>
              <a:cs typeface="Cambria Math"/>
            </a:endParaRPr>
          </a:p>
          <a:p>
            <a:pPr marL="12700">
              <a:lnSpc>
                <a:spcPts val="2815"/>
              </a:lnSpc>
            </a:pPr>
            <a:r>
              <a:rPr sz="2400" dirty="0">
                <a:latin typeface="Cambria Math"/>
                <a:cs typeface="Cambria Math"/>
              </a:rPr>
              <a:t>1</a:t>
            </a:r>
            <a:endParaRPr sz="2400">
              <a:latin typeface="Cambria Math"/>
              <a:cs typeface="Cambria Math"/>
            </a:endParaRPr>
          </a:p>
          <a:p>
            <a:pPr marL="12700">
              <a:lnSpc>
                <a:spcPts val="2850"/>
              </a:lnSpc>
            </a:pPr>
            <a:r>
              <a:rPr sz="2400" dirty="0">
                <a:latin typeface="Cambria Math"/>
                <a:cs typeface="Cambria Math"/>
              </a:rPr>
              <a:t>1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879085" y="3517772"/>
            <a:ext cx="25336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Cambria Math"/>
                <a:cs typeface="Cambria Math"/>
              </a:rPr>
              <a:t>−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5522595" y="4185920"/>
            <a:ext cx="81280" cy="15240"/>
          </a:xfrm>
          <a:custGeom>
            <a:avLst/>
            <a:gdLst/>
            <a:ahLst/>
            <a:cxnLst/>
            <a:rect l="l" t="t" r="r" b="b"/>
            <a:pathLst>
              <a:path w="81279" h="15239">
                <a:moveTo>
                  <a:pt x="0" y="15239"/>
                </a:moveTo>
                <a:lnTo>
                  <a:pt x="81025" y="15239"/>
                </a:lnTo>
                <a:lnTo>
                  <a:pt x="81025" y="0"/>
                </a:lnTo>
                <a:lnTo>
                  <a:pt x="0" y="0"/>
                </a:lnTo>
                <a:lnTo>
                  <a:pt x="0" y="1523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5572886" y="3310890"/>
            <a:ext cx="31115" cy="875030"/>
          </a:xfrm>
          <a:custGeom>
            <a:avLst/>
            <a:gdLst/>
            <a:ahLst/>
            <a:cxnLst/>
            <a:rect l="l" t="t" r="r" b="b"/>
            <a:pathLst>
              <a:path w="31114" h="875029">
                <a:moveTo>
                  <a:pt x="0" y="875030"/>
                </a:moveTo>
                <a:lnTo>
                  <a:pt x="30734" y="875030"/>
                </a:lnTo>
                <a:lnTo>
                  <a:pt x="30734" y="0"/>
                </a:lnTo>
                <a:lnTo>
                  <a:pt x="0" y="0"/>
                </a:lnTo>
                <a:lnTo>
                  <a:pt x="0" y="87503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5522595" y="3296920"/>
            <a:ext cx="81280" cy="13970"/>
          </a:xfrm>
          <a:custGeom>
            <a:avLst/>
            <a:gdLst/>
            <a:ahLst/>
            <a:cxnLst/>
            <a:rect l="l" t="t" r="r" b="b"/>
            <a:pathLst>
              <a:path w="81279" h="13970">
                <a:moveTo>
                  <a:pt x="0" y="13970"/>
                </a:moveTo>
                <a:lnTo>
                  <a:pt x="81025" y="13970"/>
                </a:lnTo>
                <a:lnTo>
                  <a:pt x="81025" y="0"/>
                </a:lnTo>
                <a:lnTo>
                  <a:pt x="0" y="0"/>
                </a:lnTo>
                <a:lnTo>
                  <a:pt x="0" y="1397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5219191" y="4185920"/>
            <a:ext cx="81280" cy="15240"/>
          </a:xfrm>
          <a:custGeom>
            <a:avLst/>
            <a:gdLst/>
            <a:ahLst/>
            <a:cxnLst/>
            <a:rect l="l" t="t" r="r" b="b"/>
            <a:pathLst>
              <a:path w="81279" h="15239">
                <a:moveTo>
                  <a:pt x="0" y="15239"/>
                </a:moveTo>
                <a:lnTo>
                  <a:pt x="80899" y="15239"/>
                </a:lnTo>
                <a:lnTo>
                  <a:pt x="80899" y="0"/>
                </a:lnTo>
                <a:lnTo>
                  <a:pt x="0" y="0"/>
                </a:lnTo>
                <a:lnTo>
                  <a:pt x="0" y="1523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5219191" y="3310890"/>
            <a:ext cx="31115" cy="875030"/>
          </a:xfrm>
          <a:custGeom>
            <a:avLst/>
            <a:gdLst/>
            <a:ahLst/>
            <a:cxnLst/>
            <a:rect l="l" t="t" r="r" b="b"/>
            <a:pathLst>
              <a:path w="31114" h="875029">
                <a:moveTo>
                  <a:pt x="0" y="875030"/>
                </a:moveTo>
                <a:lnTo>
                  <a:pt x="30607" y="875030"/>
                </a:lnTo>
                <a:lnTo>
                  <a:pt x="30607" y="0"/>
                </a:lnTo>
                <a:lnTo>
                  <a:pt x="0" y="0"/>
                </a:lnTo>
                <a:lnTo>
                  <a:pt x="0" y="87503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5219191" y="3296920"/>
            <a:ext cx="81280" cy="13970"/>
          </a:xfrm>
          <a:custGeom>
            <a:avLst/>
            <a:gdLst/>
            <a:ahLst/>
            <a:cxnLst/>
            <a:rect l="l" t="t" r="r" b="b"/>
            <a:pathLst>
              <a:path w="81279" h="13970">
                <a:moveTo>
                  <a:pt x="0" y="13970"/>
                </a:moveTo>
                <a:lnTo>
                  <a:pt x="80899" y="13970"/>
                </a:lnTo>
                <a:lnTo>
                  <a:pt x="80899" y="0"/>
                </a:lnTo>
                <a:lnTo>
                  <a:pt x="0" y="0"/>
                </a:lnTo>
                <a:lnTo>
                  <a:pt x="0" y="1397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 txBox="1"/>
          <p:nvPr/>
        </p:nvSpPr>
        <p:spPr>
          <a:xfrm>
            <a:off x="5295391" y="3174872"/>
            <a:ext cx="226060" cy="1106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240">
              <a:lnSpc>
                <a:spcPts val="2850"/>
              </a:lnSpc>
              <a:spcBef>
                <a:spcPts val="100"/>
              </a:spcBef>
            </a:pPr>
            <a:r>
              <a:rPr sz="2400" dirty="0">
                <a:latin typeface="Cambria Math"/>
                <a:cs typeface="Cambria Math"/>
              </a:rPr>
              <a:t>𝑅</a:t>
            </a:r>
            <a:endParaRPr sz="2400">
              <a:latin typeface="Cambria Math"/>
              <a:cs typeface="Cambria Math"/>
            </a:endParaRPr>
          </a:p>
          <a:p>
            <a:pPr marL="13970">
              <a:lnSpc>
                <a:spcPts val="2815"/>
              </a:lnSpc>
            </a:pPr>
            <a:r>
              <a:rPr sz="2400" dirty="0">
                <a:latin typeface="Cambria Math"/>
                <a:cs typeface="Cambria Math"/>
              </a:rPr>
              <a:t>𝐺</a:t>
            </a:r>
            <a:endParaRPr sz="2400">
              <a:latin typeface="Cambria Math"/>
              <a:cs typeface="Cambria Math"/>
            </a:endParaRPr>
          </a:p>
          <a:p>
            <a:pPr marL="12700">
              <a:lnSpc>
                <a:spcPts val="2845"/>
              </a:lnSpc>
            </a:pPr>
            <a:r>
              <a:rPr sz="2400" dirty="0">
                <a:latin typeface="Cambria Math"/>
                <a:cs typeface="Cambria Math"/>
              </a:rPr>
              <a:t>𝐵</a:t>
            </a:r>
            <a:endParaRPr sz="2400">
              <a:latin typeface="Cambria Math"/>
              <a:cs typeface="Cambria Math"/>
            </a:endParaRPr>
          </a:p>
        </p:txBody>
      </p:sp>
      <p:sp>
        <p:nvSpPr>
          <p:cNvPr id="29" name="object 29"/>
          <p:cNvSpPr txBox="1">
            <a:spLocks noGrp="1"/>
          </p:cNvSpPr>
          <p:nvPr>
            <p:ph type="ftr" sz="quarter" idx="5"/>
          </p:nvPr>
        </p:nvSpPr>
        <p:spPr>
          <a:xfrm>
            <a:off x="707542" y="6469557"/>
            <a:ext cx="1163955" cy="13343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lang="en-ID" spc="-5" dirty="0"/>
              <a:t>  </a:t>
            </a:r>
            <a:endParaRPr spc="-5" dirty="0"/>
          </a:p>
        </p:txBody>
      </p:sp>
      <p:sp>
        <p:nvSpPr>
          <p:cNvPr id="30" name="object 30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spc="-5" dirty="0"/>
              <a:t>Pengolahan Citra </a:t>
            </a:r>
            <a:r>
              <a:rPr dirty="0"/>
              <a:t>- </a:t>
            </a:r>
            <a:r>
              <a:rPr spc="-5" dirty="0"/>
              <a:t>Color</a:t>
            </a:r>
            <a:r>
              <a:rPr spc="-40" dirty="0"/>
              <a:t> </a:t>
            </a:r>
            <a:r>
              <a:rPr spc="-5" dirty="0"/>
              <a:t>Theory</a:t>
            </a:r>
          </a:p>
        </p:txBody>
      </p:sp>
    </p:spTree>
    <p:extLst>
      <p:ext uri="{BB962C8B-B14F-4D97-AF65-F5344CB8AC3E}">
        <p14:creationId xmlns:p14="http://schemas.microsoft.com/office/powerpoint/2010/main" val="5503331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xfrm>
            <a:off x="707542" y="6469557"/>
            <a:ext cx="1163955" cy="13343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lang="en-ID" spc="-5" dirty="0"/>
              <a:t>  </a:t>
            </a:r>
            <a:endParaRPr spc="-5" dirty="0"/>
          </a:p>
        </p:txBody>
      </p:sp>
      <p:sp>
        <p:nvSpPr>
          <p:cNvPr id="6" name="object 6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spc="-5" dirty="0"/>
              <a:t>Pengolahan Citra </a:t>
            </a:r>
            <a:r>
              <a:rPr dirty="0"/>
              <a:t>- </a:t>
            </a:r>
            <a:r>
              <a:rPr spc="-5" dirty="0"/>
              <a:t>Color</a:t>
            </a:r>
            <a:r>
              <a:rPr spc="-40" dirty="0"/>
              <a:t> </a:t>
            </a:r>
            <a:r>
              <a:rPr spc="-5" dirty="0"/>
              <a:t>Theory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sz="3600" spc="-15" dirty="0"/>
              <a:t>RGB </a:t>
            </a:r>
            <a:r>
              <a:rPr sz="3600" spc="-5" dirty="0"/>
              <a:t>and CMY </a:t>
            </a:r>
            <a:r>
              <a:rPr sz="3600" dirty="0"/>
              <a:t>in a</a:t>
            </a:r>
            <a:r>
              <a:rPr sz="3600" spc="5" dirty="0"/>
              <a:t> </a:t>
            </a:r>
            <a:r>
              <a:rPr sz="3600" spc="-5" dirty="0"/>
              <a:t>Glance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707542" y="1780308"/>
            <a:ext cx="7591425" cy="393001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84785" indent="-1727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10" dirty="0">
                <a:latin typeface="Calibri"/>
                <a:cs typeface="Calibri"/>
              </a:rPr>
              <a:t>Creating </a:t>
            </a:r>
            <a:r>
              <a:rPr sz="2400" spc="-15" dirty="0">
                <a:latin typeface="Calibri"/>
                <a:cs typeface="Calibri"/>
              </a:rPr>
              <a:t>colors </a:t>
            </a:r>
            <a:r>
              <a:rPr sz="2400" dirty="0">
                <a:latin typeface="Calibri"/>
                <a:cs typeface="Calibri"/>
              </a:rPr>
              <a:t>in </a:t>
            </a:r>
            <a:r>
              <a:rPr sz="2400" spc="-10" dirty="0">
                <a:latin typeface="Calibri"/>
                <a:cs typeface="Calibri"/>
              </a:rPr>
              <a:t>RGB </a:t>
            </a:r>
            <a:r>
              <a:rPr sz="2400" dirty="0">
                <a:latin typeface="Calibri"/>
                <a:cs typeface="Calibri"/>
              </a:rPr>
              <a:t>and </a:t>
            </a:r>
            <a:r>
              <a:rPr sz="2400" spc="-5" dirty="0">
                <a:latin typeface="Calibri"/>
                <a:cs typeface="Calibri"/>
              </a:rPr>
              <a:t>CMY </a:t>
            </a:r>
            <a:r>
              <a:rPr sz="2400" dirty="0">
                <a:latin typeface="Calibri"/>
                <a:cs typeface="Calibri"/>
              </a:rPr>
              <a:t>is</a:t>
            </a:r>
            <a:r>
              <a:rPr sz="2400" spc="-65" dirty="0">
                <a:latin typeface="Calibri"/>
                <a:cs typeface="Calibri"/>
              </a:rPr>
              <a:t> </a:t>
            </a:r>
            <a:r>
              <a:rPr sz="2400" spc="-15" dirty="0">
                <a:latin typeface="Calibri"/>
                <a:cs typeface="Calibri"/>
              </a:rPr>
              <a:t>straightforward</a:t>
            </a:r>
            <a:endParaRPr sz="2400">
              <a:latin typeface="Calibri"/>
              <a:cs typeface="Calibri"/>
            </a:endParaRPr>
          </a:p>
          <a:p>
            <a:pPr marL="527685" lvl="1" indent="-172720">
              <a:lnSpc>
                <a:spcPct val="100000"/>
              </a:lnSpc>
              <a:spcBef>
                <a:spcPts val="155"/>
              </a:spcBef>
              <a:buFont typeface="Arial"/>
              <a:buChar char="•"/>
              <a:tabLst>
                <a:tab pos="528320" algn="l"/>
              </a:tabLst>
            </a:pPr>
            <a:r>
              <a:rPr sz="2200" spc="-10" dirty="0">
                <a:latin typeface="Calibri"/>
                <a:cs typeface="Calibri"/>
              </a:rPr>
              <a:t>Additive </a:t>
            </a:r>
            <a:r>
              <a:rPr sz="2200" dirty="0">
                <a:latin typeface="Calibri"/>
                <a:cs typeface="Calibri"/>
              </a:rPr>
              <a:t>or </a:t>
            </a:r>
            <a:r>
              <a:rPr sz="2200" spc="-15" dirty="0">
                <a:latin typeface="Calibri"/>
                <a:cs typeface="Calibri"/>
              </a:rPr>
              <a:t>subtractive</a:t>
            </a:r>
            <a:r>
              <a:rPr sz="2200" spc="10" dirty="0">
                <a:latin typeface="Calibri"/>
                <a:cs typeface="Calibri"/>
              </a:rPr>
              <a:t> </a:t>
            </a:r>
            <a:r>
              <a:rPr sz="2200" spc="-15" dirty="0">
                <a:latin typeface="Calibri"/>
                <a:cs typeface="Calibri"/>
              </a:rPr>
              <a:t>colors.</a:t>
            </a:r>
            <a:endParaRPr sz="2200">
              <a:latin typeface="Calibri"/>
              <a:cs typeface="Calibri"/>
            </a:endParaRPr>
          </a:p>
          <a:p>
            <a:pPr marL="184785" indent="-172720">
              <a:lnSpc>
                <a:spcPct val="100000"/>
              </a:lnSpc>
              <a:spcBef>
                <a:spcPts val="495"/>
              </a:spcBef>
              <a:buFont typeface="Arial"/>
              <a:buChar char="•"/>
              <a:tabLst>
                <a:tab pos="185420" algn="l"/>
              </a:tabLst>
            </a:pPr>
            <a:r>
              <a:rPr sz="2400" dirty="0">
                <a:latin typeface="Calibri"/>
                <a:cs typeface="Calibri"/>
              </a:rPr>
              <a:t>It is </a:t>
            </a:r>
            <a:r>
              <a:rPr sz="2400" spc="-15" dirty="0">
                <a:latin typeface="Calibri"/>
                <a:cs typeface="Calibri"/>
              </a:rPr>
              <a:t>easy to convert colors from </a:t>
            </a:r>
            <a:r>
              <a:rPr sz="2400" spc="-10" dirty="0">
                <a:latin typeface="Calibri"/>
                <a:cs typeface="Calibri"/>
              </a:rPr>
              <a:t>RGB </a:t>
            </a:r>
            <a:r>
              <a:rPr sz="2400" spc="-15" dirty="0">
                <a:latin typeface="Calibri"/>
                <a:cs typeface="Calibri"/>
              </a:rPr>
              <a:t>to </a:t>
            </a:r>
            <a:r>
              <a:rPr sz="2400" spc="-5" dirty="0">
                <a:latin typeface="Calibri"/>
                <a:cs typeface="Calibri"/>
              </a:rPr>
              <a:t>CMY </a:t>
            </a:r>
            <a:r>
              <a:rPr sz="2400" dirty="0">
                <a:latin typeface="Calibri"/>
                <a:cs typeface="Calibri"/>
              </a:rPr>
              <a:t>and </a:t>
            </a:r>
            <a:r>
              <a:rPr sz="2400" spc="-5" dirty="0">
                <a:latin typeface="Calibri"/>
                <a:cs typeface="Calibri"/>
              </a:rPr>
              <a:t>vice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spc="-15" dirty="0">
                <a:latin typeface="Calibri"/>
                <a:cs typeface="Calibri"/>
              </a:rPr>
              <a:t>versa.</a:t>
            </a:r>
            <a:endParaRPr sz="2400">
              <a:latin typeface="Calibri"/>
              <a:cs typeface="Calibri"/>
            </a:endParaRPr>
          </a:p>
          <a:p>
            <a:pPr marL="184785" indent="-172720">
              <a:lnSpc>
                <a:spcPct val="100000"/>
              </a:lnSpc>
              <a:spcBef>
                <a:spcPts val="515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5" dirty="0">
                <a:latin typeface="Calibri"/>
                <a:cs typeface="Calibri"/>
              </a:rPr>
              <a:t>RGB: </a:t>
            </a:r>
            <a:r>
              <a:rPr sz="2400" dirty="0">
                <a:latin typeface="Calibri"/>
                <a:cs typeface="Calibri"/>
              </a:rPr>
              <a:t>is </a:t>
            </a:r>
            <a:r>
              <a:rPr sz="2400" spc="-15" dirty="0">
                <a:latin typeface="Calibri"/>
                <a:cs typeface="Calibri"/>
              </a:rPr>
              <a:t>easy to understand </a:t>
            </a:r>
            <a:r>
              <a:rPr sz="2400" spc="-5" dirty="0">
                <a:latin typeface="Calibri"/>
                <a:cs typeface="Calibri"/>
              </a:rPr>
              <a:t>based on human </a:t>
            </a:r>
            <a:r>
              <a:rPr sz="2400" spc="-10" dirty="0">
                <a:latin typeface="Calibri"/>
                <a:cs typeface="Calibri"/>
              </a:rPr>
              <a:t>photopic</a:t>
            </a:r>
            <a:r>
              <a:rPr sz="2400" spc="2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vision</a:t>
            </a:r>
            <a:endParaRPr sz="2400">
              <a:latin typeface="Calibri"/>
              <a:cs typeface="Calibri"/>
            </a:endParaRPr>
          </a:p>
          <a:p>
            <a:pPr marL="527685" lvl="1" indent="-172720">
              <a:lnSpc>
                <a:spcPct val="100000"/>
              </a:lnSpc>
              <a:spcBef>
                <a:spcPts val="155"/>
              </a:spcBef>
              <a:buFont typeface="Arial"/>
              <a:buChar char="•"/>
              <a:tabLst>
                <a:tab pos="528320" algn="l"/>
              </a:tabLst>
            </a:pPr>
            <a:r>
              <a:rPr sz="2200" spc="-10" dirty="0">
                <a:latin typeface="Calibri"/>
                <a:cs typeface="Calibri"/>
              </a:rPr>
              <a:t>The </a:t>
            </a:r>
            <a:r>
              <a:rPr sz="2200" spc="-5" dirty="0">
                <a:latin typeface="Calibri"/>
                <a:cs typeface="Calibri"/>
              </a:rPr>
              <a:t>vision </a:t>
            </a:r>
            <a:r>
              <a:rPr sz="2200" spc="-15" dirty="0">
                <a:latin typeface="Calibri"/>
                <a:cs typeface="Calibri"/>
              </a:rPr>
              <a:t>captured </a:t>
            </a:r>
            <a:r>
              <a:rPr sz="2200" spc="-10" dirty="0">
                <a:latin typeface="Calibri"/>
                <a:cs typeface="Calibri"/>
              </a:rPr>
              <a:t>by </a:t>
            </a:r>
            <a:r>
              <a:rPr sz="2200" spc="-5" dirty="0">
                <a:latin typeface="Calibri"/>
                <a:cs typeface="Calibri"/>
              </a:rPr>
              <a:t>the R,G,B </a:t>
            </a:r>
            <a:r>
              <a:rPr sz="2200" spc="-15" dirty="0">
                <a:latin typeface="Calibri"/>
                <a:cs typeface="Calibri"/>
              </a:rPr>
              <a:t>cone</a:t>
            </a:r>
            <a:r>
              <a:rPr sz="2200" spc="70" dirty="0">
                <a:latin typeface="Calibri"/>
                <a:cs typeface="Calibri"/>
              </a:rPr>
              <a:t> </a:t>
            </a:r>
            <a:r>
              <a:rPr sz="2200" spc="-5" dirty="0">
                <a:latin typeface="Calibri"/>
                <a:cs typeface="Calibri"/>
              </a:rPr>
              <a:t>cells</a:t>
            </a:r>
            <a:endParaRPr sz="2200">
              <a:latin typeface="Calibri"/>
              <a:cs typeface="Calibri"/>
            </a:endParaRPr>
          </a:p>
          <a:p>
            <a:pPr marL="184785" indent="-172720">
              <a:lnSpc>
                <a:spcPct val="100000"/>
              </a:lnSpc>
              <a:spcBef>
                <a:spcPts val="495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10" dirty="0">
                <a:latin typeface="Calibri"/>
                <a:cs typeface="Calibri"/>
              </a:rPr>
              <a:t>RGB </a:t>
            </a:r>
            <a:r>
              <a:rPr sz="2400" dirty="0">
                <a:latin typeface="Calibri"/>
                <a:cs typeface="Calibri"/>
              </a:rPr>
              <a:t>and </a:t>
            </a:r>
            <a:r>
              <a:rPr sz="2400" spc="-5" dirty="0">
                <a:latin typeface="Calibri"/>
                <a:cs typeface="Calibri"/>
              </a:rPr>
              <a:t>CMY </a:t>
            </a:r>
            <a:r>
              <a:rPr sz="2400" spc="-15" dirty="0">
                <a:latin typeface="Calibri"/>
                <a:cs typeface="Calibri"/>
              </a:rPr>
              <a:t>are </a:t>
            </a:r>
            <a:r>
              <a:rPr sz="2400" spc="-5" dirty="0">
                <a:latin typeface="Calibri"/>
                <a:cs typeface="Calibri"/>
              </a:rPr>
              <a:t>both </a:t>
            </a:r>
            <a:r>
              <a:rPr sz="2400" dirty="0">
                <a:latin typeface="Calibri"/>
                <a:cs typeface="Calibri"/>
              </a:rPr>
              <a:t>ideal </a:t>
            </a:r>
            <a:r>
              <a:rPr sz="2400" spc="-20" dirty="0">
                <a:latin typeface="Calibri"/>
                <a:cs typeface="Calibri"/>
              </a:rPr>
              <a:t>for </a:t>
            </a:r>
            <a:r>
              <a:rPr sz="2400" spc="-15" dirty="0">
                <a:latin typeface="Calibri"/>
                <a:cs typeface="Calibri"/>
              </a:rPr>
              <a:t>hardware</a:t>
            </a:r>
            <a:r>
              <a:rPr sz="2400" spc="-4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implementation</a:t>
            </a:r>
            <a:endParaRPr sz="240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60"/>
              </a:spcBef>
              <a:buFont typeface="Arial"/>
              <a:buChar char="•"/>
            </a:pPr>
            <a:endParaRPr sz="3150">
              <a:latin typeface="Calibri"/>
              <a:cs typeface="Calibri"/>
            </a:endParaRPr>
          </a:p>
          <a:p>
            <a:pPr marL="184785" indent="-172720">
              <a:lnSpc>
                <a:spcPct val="100000"/>
              </a:lnSpc>
              <a:buFont typeface="Arial"/>
              <a:buChar char="•"/>
              <a:tabLst>
                <a:tab pos="185420" algn="l"/>
              </a:tabLst>
            </a:pPr>
            <a:r>
              <a:rPr sz="2400" dirty="0">
                <a:latin typeface="Calibri"/>
                <a:cs typeface="Calibri"/>
              </a:rPr>
              <a:t>But,</a:t>
            </a:r>
            <a:endParaRPr sz="2400">
              <a:latin typeface="Calibri"/>
              <a:cs typeface="Calibri"/>
            </a:endParaRPr>
          </a:p>
          <a:p>
            <a:pPr marL="527685" marR="5080" lvl="1" indent="-172720">
              <a:lnSpc>
                <a:spcPts val="2380"/>
              </a:lnSpc>
              <a:spcBef>
                <a:spcPts val="445"/>
              </a:spcBef>
              <a:buFont typeface="Arial"/>
              <a:buChar char="•"/>
              <a:tabLst>
                <a:tab pos="528320" algn="l"/>
              </a:tabLst>
            </a:pPr>
            <a:r>
              <a:rPr sz="2200" spc="-15" dirty="0">
                <a:latin typeface="Calibri"/>
                <a:cs typeface="Calibri"/>
              </a:rPr>
              <a:t>RGB </a:t>
            </a:r>
            <a:r>
              <a:rPr sz="2200" spc="-5" dirty="0">
                <a:latin typeface="Calibri"/>
                <a:cs typeface="Calibri"/>
              </a:rPr>
              <a:t>and </a:t>
            </a:r>
            <a:r>
              <a:rPr sz="2200" spc="-10" dirty="0">
                <a:latin typeface="Calibri"/>
                <a:cs typeface="Calibri"/>
              </a:rPr>
              <a:t>CMY are not </a:t>
            </a:r>
            <a:r>
              <a:rPr sz="2200" spc="-5" dirty="0">
                <a:latin typeface="Calibri"/>
                <a:cs typeface="Calibri"/>
              </a:rPr>
              <a:t>ideal </a:t>
            </a:r>
            <a:r>
              <a:rPr sz="2200" spc="-20" dirty="0">
                <a:latin typeface="Calibri"/>
                <a:cs typeface="Calibri"/>
              </a:rPr>
              <a:t>to </a:t>
            </a:r>
            <a:r>
              <a:rPr sz="2200" spc="-10" dirty="0">
                <a:latin typeface="Calibri"/>
                <a:cs typeface="Calibri"/>
              </a:rPr>
              <a:t>describe how </a:t>
            </a:r>
            <a:r>
              <a:rPr sz="2200" i="1" spc="-10" dirty="0">
                <a:latin typeface="Calibri"/>
                <a:cs typeface="Calibri"/>
              </a:rPr>
              <a:t>humans </a:t>
            </a:r>
            <a:r>
              <a:rPr sz="2200" spc="-15" dirty="0">
                <a:latin typeface="Calibri"/>
                <a:cs typeface="Calibri"/>
              </a:rPr>
              <a:t>perceieve  colors.</a:t>
            </a:r>
            <a:endParaRPr sz="22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693911" y="54356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5" dirty="0">
                <a:latin typeface="Calibri"/>
                <a:cs typeface="Calibri"/>
              </a:rPr>
              <a:t>29</a:t>
            </a:r>
            <a:endParaRPr sz="140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1444906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sz="3600" spc="-5" dirty="0"/>
              <a:t>HSI (also known </a:t>
            </a:r>
            <a:r>
              <a:rPr sz="3600" dirty="0"/>
              <a:t>as </a:t>
            </a:r>
            <a:r>
              <a:rPr sz="3600" spc="-10" dirty="0"/>
              <a:t>HSV </a:t>
            </a:r>
            <a:r>
              <a:rPr sz="3600" dirty="0"/>
              <a:t>/</a:t>
            </a:r>
            <a:r>
              <a:rPr sz="3600" spc="-45" dirty="0"/>
              <a:t> </a:t>
            </a:r>
            <a:r>
              <a:rPr sz="3600" spc="-5" dirty="0"/>
              <a:t>HSL)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707542" y="1802333"/>
            <a:ext cx="699770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785" indent="-17272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5" dirty="0">
                <a:latin typeface="Calibri"/>
                <a:cs typeface="Calibri"/>
              </a:rPr>
              <a:t>Hue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07542" y="3095066"/>
            <a:ext cx="148018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785" indent="-17272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15" dirty="0">
                <a:latin typeface="Calibri"/>
                <a:cs typeface="Calibri"/>
              </a:rPr>
              <a:t>Saturation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07542" y="4387672"/>
            <a:ext cx="127317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785" indent="-17272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10" dirty="0">
                <a:latin typeface="Calibri"/>
                <a:cs typeface="Calibri"/>
              </a:rPr>
              <a:t>Intensity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693911" y="54356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5" dirty="0">
                <a:latin typeface="Calibri"/>
                <a:cs typeface="Calibri"/>
              </a:rPr>
              <a:t>30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1533144" y="2385060"/>
            <a:ext cx="6077711" cy="3048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533144" y="3736847"/>
            <a:ext cx="6077711" cy="367283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533144" y="5151120"/>
            <a:ext cx="6077711" cy="295656"/>
          </a:xfrm>
          <a:prstGeom prst="rect">
            <a:avLst/>
          </a:prstGeom>
          <a:blipFill>
            <a:blip r:embed="rId4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>
            <a:spLocks noGrp="1"/>
          </p:cNvSpPr>
          <p:nvPr>
            <p:ph type="ftr" sz="quarter" idx="5"/>
          </p:nvPr>
        </p:nvSpPr>
        <p:spPr>
          <a:xfrm>
            <a:off x="707542" y="6469557"/>
            <a:ext cx="1163955" cy="13343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lang="en-ID" spc="-5" dirty="0"/>
              <a:t>  </a:t>
            </a:r>
            <a:endParaRPr spc="-5" dirty="0"/>
          </a:p>
        </p:txBody>
      </p:sp>
      <p:sp>
        <p:nvSpPr>
          <p:cNvPr id="11" name="object 11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spc="-5" dirty="0"/>
              <a:t>Pengolahan Citra </a:t>
            </a:r>
            <a:r>
              <a:rPr dirty="0"/>
              <a:t>- </a:t>
            </a:r>
            <a:r>
              <a:rPr spc="-5" dirty="0"/>
              <a:t>Color</a:t>
            </a:r>
            <a:r>
              <a:rPr spc="-40" dirty="0"/>
              <a:t> </a:t>
            </a:r>
            <a:r>
              <a:rPr spc="-5" dirty="0"/>
              <a:t>Theory</a:t>
            </a:r>
          </a:p>
        </p:txBody>
      </p:sp>
    </p:spTree>
    <p:extLst>
      <p:ext uri="{BB962C8B-B14F-4D97-AF65-F5344CB8AC3E}">
        <p14:creationId xmlns:p14="http://schemas.microsoft.com/office/powerpoint/2010/main" val="370177106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sz="3600" spc="-5" dirty="0"/>
              <a:t>HSV </a:t>
            </a:r>
            <a:r>
              <a:rPr sz="3600" dirty="0"/>
              <a:t>/ </a:t>
            </a:r>
            <a:r>
              <a:rPr sz="3600" spc="-5" dirty="0"/>
              <a:t>HSL </a:t>
            </a:r>
            <a:r>
              <a:rPr sz="3600" dirty="0"/>
              <a:t>/</a:t>
            </a:r>
            <a:r>
              <a:rPr sz="3600" spc="-60" dirty="0"/>
              <a:t> </a:t>
            </a:r>
            <a:r>
              <a:rPr sz="3600" spc="-5" dirty="0"/>
              <a:t>HSI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8693911" y="54356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5" dirty="0">
                <a:latin typeface="Calibri"/>
                <a:cs typeface="Calibri"/>
              </a:rPr>
              <a:t>31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1461082" y="1865609"/>
            <a:ext cx="6390126" cy="4202295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xfrm>
            <a:off x="707542" y="6469557"/>
            <a:ext cx="1163955" cy="13343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lang="en-ID" spc="-5" dirty="0"/>
              <a:t>  </a:t>
            </a:r>
            <a:endParaRPr spc="-5" dirty="0"/>
          </a:p>
        </p:txBody>
      </p:sp>
      <p:sp>
        <p:nvSpPr>
          <p:cNvPr id="6" name="object 6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spc="-5" dirty="0"/>
              <a:t>Pengolahan Citra </a:t>
            </a:r>
            <a:r>
              <a:rPr dirty="0"/>
              <a:t>- </a:t>
            </a:r>
            <a:r>
              <a:rPr spc="-5" dirty="0"/>
              <a:t>Color</a:t>
            </a:r>
            <a:r>
              <a:rPr spc="-40" dirty="0"/>
              <a:t> </a:t>
            </a:r>
            <a:r>
              <a:rPr spc="-5" dirty="0"/>
              <a:t>Theory</a:t>
            </a:r>
          </a:p>
        </p:txBody>
      </p:sp>
    </p:spTree>
    <p:extLst>
      <p:ext uri="{BB962C8B-B14F-4D97-AF65-F5344CB8AC3E}">
        <p14:creationId xmlns:p14="http://schemas.microsoft.com/office/powerpoint/2010/main" val="97996900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4645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35"/>
              </a:spcBef>
            </a:pPr>
            <a:r>
              <a:rPr sz="3600" spc="-10" dirty="0"/>
              <a:t>RGB</a:t>
            </a:r>
            <a:r>
              <a:rPr sz="3600" b="0" spc="-10" dirty="0">
                <a:latin typeface="Cambria Math"/>
                <a:cs typeface="Cambria Math"/>
              </a:rPr>
              <a:t>→</a:t>
            </a:r>
            <a:r>
              <a:rPr sz="3600" spc="-10" dirty="0"/>
              <a:t>HSI</a:t>
            </a:r>
            <a:endParaRPr sz="3600">
              <a:latin typeface="Cambria Math"/>
              <a:cs typeface="Cambria Math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07542" y="1802333"/>
            <a:ext cx="1273175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785" indent="-17272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10" dirty="0">
                <a:latin typeface="Calibri"/>
                <a:cs typeface="Calibri"/>
              </a:rPr>
              <a:t>Intensity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07542" y="2665603"/>
            <a:ext cx="148018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785" indent="-17272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15" dirty="0">
                <a:latin typeface="Calibri"/>
                <a:cs typeface="Calibri"/>
              </a:rPr>
              <a:t>Saturation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07542" y="3526917"/>
            <a:ext cx="69977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785" indent="-172720">
              <a:lnSpc>
                <a:spcPct val="100000"/>
              </a:lnSpc>
              <a:spcBef>
                <a:spcPts val="100"/>
              </a:spcBef>
              <a:buFont typeface="Arial"/>
              <a:buChar char="•"/>
              <a:tabLst>
                <a:tab pos="185420" algn="l"/>
              </a:tabLst>
            </a:pPr>
            <a:r>
              <a:rPr sz="2400" spc="-5" dirty="0">
                <a:latin typeface="Calibri"/>
                <a:cs typeface="Calibri"/>
              </a:rPr>
              <a:t>Hue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693911" y="54356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5" dirty="0">
                <a:latin typeface="Calibri"/>
                <a:cs typeface="Calibri"/>
              </a:rPr>
              <a:t>32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4032122" y="2145664"/>
            <a:ext cx="142240" cy="17145"/>
          </a:xfrm>
          <a:custGeom>
            <a:avLst/>
            <a:gdLst/>
            <a:ahLst/>
            <a:cxnLst/>
            <a:rect l="l" t="t" r="r" b="b"/>
            <a:pathLst>
              <a:path w="142239" h="17144">
                <a:moveTo>
                  <a:pt x="141732" y="0"/>
                </a:moveTo>
                <a:lnTo>
                  <a:pt x="0" y="0"/>
                </a:lnTo>
                <a:lnTo>
                  <a:pt x="0" y="16763"/>
                </a:lnTo>
                <a:lnTo>
                  <a:pt x="141732" y="16763"/>
                </a:lnTo>
                <a:lnTo>
                  <a:pt x="14173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4020058" y="1767586"/>
            <a:ext cx="16637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latin typeface="Cambria Math"/>
                <a:cs typeface="Cambria Math"/>
              </a:rPr>
              <a:t>1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020058" y="2130679"/>
            <a:ext cx="16637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latin typeface="Cambria Math"/>
                <a:cs typeface="Cambria Math"/>
              </a:rPr>
              <a:t>3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584194" y="1959305"/>
            <a:ext cx="1977389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632460" algn="l"/>
              </a:tabLst>
            </a:pPr>
            <a:r>
              <a:rPr sz="2000" dirty="0">
                <a:latin typeface="Cambria Math"/>
                <a:cs typeface="Cambria Math"/>
              </a:rPr>
              <a:t>𝐼</a:t>
            </a:r>
            <a:r>
              <a:rPr sz="2000" spc="17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=	(𝑅 + 𝐺 +</a:t>
            </a:r>
            <a:r>
              <a:rPr sz="2000" spc="75" dirty="0">
                <a:latin typeface="Cambria Math"/>
                <a:cs typeface="Cambria Math"/>
              </a:rPr>
              <a:t> </a:t>
            </a:r>
            <a:r>
              <a:rPr sz="2000" spc="20" dirty="0">
                <a:latin typeface="Cambria Math"/>
                <a:cs typeface="Cambria Math"/>
              </a:rPr>
              <a:t>𝐵)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806700" y="2954527"/>
            <a:ext cx="88519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latin typeface="Cambria Math"/>
                <a:cs typeface="Cambria Math"/>
              </a:rPr>
              <a:t>𝑆 = 1</a:t>
            </a:r>
            <a:r>
              <a:rPr sz="2000" spc="18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−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3734942" y="3140201"/>
            <a:ext cx="1332230" cy="17145"/>
          </a:xfrm>
          <a:custGeom>
            <a:avLst/>
            <a:gdLst/>
            <a:ahLst/>
            <a:cxnLst/>
            <a:rect l="l" t="t" r="r" b="b"/>
            <a:pathLst>
              <a:path w="1332229" h="17144">
                <a:moveTo>
                  <a:pt x="1331976" y="0"/>
                </a:moveTo>
                <a:lnTo>
                  <a:pt x="0" y="0"/>
                </a:lnTo>
                <a:lnTo>
                  <a:pt x="0" y="16763"/>
                </a:lnTo>
                <a:lnTo>
                  <a:pt x="1331976" y="16763"/>
                </a:lnTo>
                <a:lnTo>
                  <a:pt x="1331976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4317238" y="2762504"/>
            <a:ext cx="16637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latin typeface="Cambria Math"/>
                <a:cs typeface="Cambria Math"/>
              </a:rPr>
              <a:t>3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3757295" y="3201416"/>
            <a:ext cx="1287780" cy="236220"/>
          </a:xfrm>
          <a:custGeom>
            <a:avLst/>
            <a:gdLst/>
            <a:ahLst/>
            <a:cxnLst/>
            <a:rect l="l" t="t" r="r" b="b"/>
            <a:pathLst>
              <a:path w="1287779" h="236220">
                <a:moveTo>
                  <a:pt x="1212595" y="0"/>
                </a:moveTo>
                <a:lnTo>
                  <a:pt x="1209166" y="9525"/>
                </a:lnTo>
                <a:lnTo>
                  <a:pt x="1222807" y="15430"/>
                </a:lnTo>
                <a:lnTo>
                  <a:pt x="1234566" y="23622"/>
                </a:lnTo>
                <a:lnTo>
                  <a:pt x="1258421" y="61652"/>
                </a:lnTo>
                <a:lnTo>
                  <a:pt x="1266189" y="116712"/>
                </a:lnTo>
                <a:lnTo>
                  <a:pt x="1265328" y="137477"/>
                </a:lnTo>
                <a:lnTo>
                  <a:pt x="1252219" y="188341"/>
                </a:lnTo>
                <a:lnTo>
                  <a:pt x="1223002" y="220184"/>
                </a:lnTo>
                <a:lnTo>
                  <a:pt x="1209547" y="226187"/>
                </a:lnTo>
                <a:lnTo>
                  <a:pt x="1212595" y="235712"/>
                </a:lnTo>
                <a:lnTo>
                  <a:pt x="1257583" y="208994"/>
                </a:lnTo>
                <a:lnTo>
                  <a:pt x="1282922" y="159591"/>
                </a:lnTo>
                <a:lnTo>
                  <a:pt x="1287779" y="117856"/>
                </a:lnTo>
                <a:lnTo>
                  <a:pt x="1286563" y="96281"/>
                </a:lnTo>
                <a:lnTo>
                  <a:pt x="1276796" y="57991"/>
                </a:lnTo>
                <a:lnTo>
                  <a:pt x="1244600" y="15065"/>
                </a:lnTo>
                <a:lnTo>
                  <a:pt x="1229645" y="6145"/>
                </a:lnTo>
                <a:lnTo>
                  <a:pt x="1212595" y="0"/>
                </a:lnTo>
                <a:close/>
              </a:path>
              <a:path w="1287779" h="236220">
                <a:moveTo>
                  <a:pt x="75183" y="0"/>
                </a:moveTo>
                <a:lnTo>
                  <a:pt x="30214" y="26771"/>
                </a:lnTo>
                <a:lnTo>
                  <a:pt x="4857" y="76326"/>
                </a:lnTo>
                <a:lnTo>
                  <a:pt x="0" y="117856"/>
                </a:lnTo>
                <a:lnTo>
                  <a:pt x="1214" y="139574"/>
                </a:lnTo>
                <a:lnTo>
                  <a:pt x="10929" y="177917"/>
                </a:lnTo>
                <a:lnTo>
                  <a:pt x="43068" y="220662"/>
                </a:lnTo>
                <a:lnTo>
                  <a:pt x="75183" y="235712"/>
                </a:lnTo>
                <a:lnTo>
                  <a:pt x="78231" y="226187"/>
                </a:lnTo>
                <a:lnTo>
                  <a:pt x="64775" y="220184"/>
                </a:lnTo>
                <a:lnTo>
                  <a:pt x="53165" y="211883"/>
                </a:lnTo>
                <a:lnTo>
                  <a:pt x="29338" y="173291"/>
                </a:lnTo>
                <a:lnTo>
                  <a:pt x="21462" y="116712"/>
                </a:lnTo>
                <a:lnTo>
                  <a:pt x="22342" y="96565"/>
                </a:lnTo>
                <a:lnTo>
                  <a:pt x="35432" y="46862"/>
                </a:lnTo>
                <a:lnTo>
                  <a:pt x="64990" y="15430"/>
                </a:lnTo>
                <a:lnTo>
                  <a:pt x="78612" y="9525"/>
                </a:lnTo>
                <a:lnTo>
                  <a:pt x="7518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3828034" y="3125216"/>
            <a:ext cx="1140460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latin typeface="Cambria Math"/>
                <a:cs typeface="Cambria Math"/>
              </a:rPr>
              <a:t>𝑅 + 𝐺 +</a:t>
            </a:r>
            <a:r>
              <a:rPr sz="2000" spc="7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𝐵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5097526" y="2954527"/>
            <a:ext cx="1539875" cy="3308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latin typeface="Cambria Math"/>
                <a:cs typeface="Cambria Math"/>
              </a:rPr>
              <a:t>[min(𝑅, </a:t>
            </a:r>
            <a:r>
              <a:rPr sz="2000" spc="45" dirty="0">
                <a:latin typeface="Cambria Math"/>
                <a:cs typeface="Cambria Math"/>
              </a:rPr>
              <a:t>𝐺,</a:t>
            </a:r>
            <a:r>
              <a:rPr sz="2000" spc="-280" dirty="0">
                <a:latin typeface="Cambria Math"/>
                <a:cs typeface="Cambria Math"/>
              </a:rPr>
              <a:t> </a:t>
            </a:r>
            <a:r>
              <a:rPr sz="2000" spc="15" dirty="0">
                <a:latin typeface="Cambria Math"/>
                <a:cs typeface="Cambria Math"/>
              </a:rPr>
              <a:t>𝐵)]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2759455" y="4166361"/>
            <a:ext cx="38735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dirty="0">
                <a:latin typeface="Cambria Math"/>
                <a:cs typeface="Cambria Math"/>
              </a:rPr>
              <a:t>𝐻</a:t>
            </a:r>
            <a:r>
              <a:rPr sz="2000" spc="-55" dirty="0">
                <a:latin typeface="Cambria Math"/>
                <a:cs typeface="Cambria Math"/>
              </a:rPr>
              <a:t> </a:t>
            </a:r>
            <a:r>
              <a:rPr sz="2000" spc="555" dirty="0">
                <a:latin typeface="Cambria Math"/>
                <a:cs typeface="Cambria Math"/>
              </a:rPr>
              <a:t> 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483609" y="3997197"/>
            <a:ext cx="137922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415925" algn="l"/>
              </a:tabLst>
            </a:pPr>
            <a:r>
              <a:rPr sz="2000" dirty="0">
                <a:latin typeface="Cambria Math"/>
                <a:cs typeface="Cambria Math"/>
              </a:rPr>
              <a:t>𝜃	𝑖𝑓 𝐵 ≤</a:t>
            </a:r>
            <a:r>
              <a:rPr sz="2000" spc="25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𝐺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3120644" y="4312361"/>
            <a:ext cx="210693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1143635" algn="l"/>
              </a:tabLst>
            </a:pPr>
            <a:r>
              <a:rPr sz="2000" spc="-5" dirty="0">
                <a:latin typeface="Cambria Math"/>
                <a:cs typeface="Cambria Math"/>
              </a:rPr>
              <a:t>360</a:t>
            </a:r>
            <a:r>
              <a:rPr sz="2000" spc="20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−</a:t>
            </a:r>
            <a:r>
              <a:rPr sz="2000" spc="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𝜃	𝑖𝑓 𝐵 &gt;</a:t>
            </a:r>
            <a:r>
              <a:rPr sz="2000" spc="254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𝐺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2776727" y="5155819"/>
            <a:ext cx="116713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000" dirty="0">
                <a:latin typeface="Cambria Math"/>
                <a:cs typeface="Cambria Math"/>
              </a:rPr>
              <a:t>𝜃 =</a:t>
            </a:r>
            <a:r>
              <a:rPr sz="2000" spc="204" dirty="0">
                <a:latin typeface="Cambria Math"/>
                <a:cs typeface="Cambria Math"/>
              </a:rPr>
              <a:t> </a:t>
            </a:r>
            <a:r>
              <a:rPr sz="2000" spc="20" dirty="0">
                <a:latin typeface="Cambria Math"/>
                <a:cs typeface="Cambria Math"/>
              </a:rPr>
              <a:t>cos</a:t>
            </a:r>
            <a:r>
              <a:rPr sz="2175" spc="30" baseline="28735" dirty="0">
                <a:latin typeface="Cambria Math"/>
                <a:cs typeface="Cambria Math"/>
              </a:rPr>
              <a:t>−1</a:t>
            </a:r>
            <a:endParaRPr sz="2175" baseline="28735">
              <a:latin typeface="Cambria Math"/>
              <a:cs typeface="Cambria Math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3977004" y="4875910"/>
            <a:ext cx="3665854" cy="946150"/>
          </a:xfrm>
          <a:custGeom>
            <a:avLst/>
            <a:gdLst/>
            <a:ahLst/>
            <a:cxnLst/>
            <a:rect l="l" t="t" r="r" b="b"/>
            <a:pathLst>
              <a:path w="3665854" h="946150">
                <a:moveTo>
                  <a:pt x="3528060" y="0"/>
                </a:moveTo>
                <a:lnTo>
                  <a:pt x="3519678" y="8508"/>
                </a:lnTo>
                <a:lnTo>
                  <a:pt x="3546992" y="49016"/>
                </a:lnTo>
                <a:lnTo>
                  <a:pt x="3570843" y="95678"/>
                </a:lnTo>
                <a:lnTo>
                  <a:pt x="3591240" y="148508"/>
                </a:lnTo>
                <a:lnTo>
                  <a:pt x="3608197" y="207518"/>
                </a:lnTo>
                <a:lnTo>
                  <a:pt x="3619169" y="257903"/>
                </a:lnTo>
                <a:lnTo>
                  <a:pt x="3627704" y="309550"/>
                </a:lnTo>
                <a:lnTo>
                  <a:pt x="3633800" y="362472"/>
                </a:lnTo>
                <a:lnTo>
                  <a:pt x="3637457" y="416679"/>
                </a:lnTo>
                <a:lnTo>
                  <a:pt x="3638674" y="472313"/>
                </a:lnTo>
                <a:lnTo>
                  <a:pt x="3637457" y="526501"/>
                </a:lnTo>
                <a:lnTo>
                  <a:pt x="3633800" y="580025"/>
                </a:lnTo>
                <a:lnTo>
                  <a:pt x="3627704" y="632760"/>
                </a:lnTo>
                <a:lnTo>
                  <a:pt x="3619169" y="684705"/>
                </a:lnTo>
                <a:lnTo>
                  <a:pt x="3608197" y="735863"/>
                </a:lnTo>
                <a:lnTo>
                  <a:pt x="3591240" y="796028"/>
                </a:lnTo>
                <a:lnTo>
                  <a:pt x="3570843" y="849707"/>
                </a:lnTo>
                <a:lnTo>
                  <a:pt x="3546992" y="896903"/>
                </a:lnTo>
                <a:lnTo>
                  <a:pt x="3519678" y="937615"/>
                </a:lnTo>
                <a:lnTo>
                  <a:pt x="3528060" y="945934"/>
                </a:lnTo>
                <a:lnTo>
                  <a:pt x="3558041" y="906002"/>
                </a:lnTo>
                <a:lnTo>
                  <a:pt x="3584749" y="859150"/>
                </a:lnTo>
                <a:lnTo>
                  <a:pt x="3608195" y="805375"/>
                </a:lnTo>
                <a:lnTo>
                  <a:pt x="3628390" y="744677"/>
                </a:lnTo>
                <a:lnTo>
                  <a:pt x="3641818" y="692718"/>
                </a:lnTo>
                <a:lnTo>
                  <a:pt x="3652241" y="639500"/>
                </a:lnTo>
                <a:lnTo>
                  <a:pt x="3659671" y="585024"/>
                </a:lnTo>
                <a:lnTo>
                  <a:pt x="3664120" y="529294"/>
                </a:lnTo>
                <a:lnTo>
                  <a:pt x="3665597" y="472185"/>
                </a:lnTo>
                <a:lnTo>
                  <a:pt x="3664120" y="414263"/>
                </a:lnTo>
                <a:lnTo>
                  <a:pt x="3659671" y="357921"/>
                </a:lnTo>
                <a:lnTo>
                  <a:pt x="3652241" y="303286"/>
                </a:lnTo>
                <a:lnTo>
                  <a:pt x="3641818" y="250357"/>
                </a:lnTo>
                <a:lnTo>
                  <a:pt x="3628390" y="199136"/>
                </a:lnTo>
                <a:lnTo>
                  <a:pt x="3608195" y="139463"/>
                </a:lnTo>
                <a:lnTo>
                  <a:pt x="3584749" y="86375"/>
                </a:lnTo>
                <a:lnTo>
                  <a:pt x="3558041" y="39883"/>
                </a:lnTo>
                <a:lnTo>
                  <a:pt x="3528060" y="0"/>
                </a:lnTo>
                <a:close/>
              </a:path>
              <a:path w="3665854" h="946150">
                <a:moveTo>
                  <a:pt x="137541" y="0"/>
                </a:moveTo>
                <a:lnTo>
                  <a:pt x="107539" y="39883"/>
                </a:lnTo>
                <a:lnTo>
                  <a:pt x="80787" y="86375"/>
                </a:lnTo>
                <a:lnTo>
                  <a:pt x="57298" y="139463"/>
                </a:lnTo>
                <a:lnTo>
                  <a:pt x="37084" y="199136"/>
                </a:lnTo>
                <a:lnTo>
                  <a:pt x="23717" y="250357"/>
                </a:lnTo>
                <a:lnTo>
                  <a:pt x="13331" y="303286"/>
                </a:lnTo>
                <a:lnTo>
                  <a:pt x="5921" y="357921"/>
                </a:lnTo>
                <a:lnTo>
                  <a:pt x="1479" y="414263"/>
                </a:lnTo>
                <a:lnTo>
                  <a:pt x="0" y="472313"/>
                </a:lnTo>
                <a:lnTo>
                  <a:pt x="1479" y="529294"/>
                </a:lnTo>
                <a:lnTo>
                  <a:pt x="5921" y="585024"/>
                </a:lnTo>
                <a:lnTo>
                  <a:pt x="13331" y="639500"/>
                </a:lnTo>
                <a:lnTo>
                  <a:pt x="23717" y="692718"/>
                </a:lnTo>
                <a:lnTo>
                  <a:pt x="37084" y="744677"/>
                </a:lnTo>
                <a:lnTo>
                  <a:pt x="57298" y="805375"/>
                </a:lnTo>
                <a:lnTo>
                  <a:pt x="80787" y="859150"/>
                </a:lnTo>
                <a:lnTo>
                  <a:pt x="107539" y="906002"/>
                </a:lnTo>
                <a:lnTo>
                  <a:pt x="137541" y="945934"/>
                </a:lnTo>
                <a:lnTo>
                  <a:pt x="145796" y="937615"/>
                </a:lnTo>
                <a:lnTo>
                  <a:pt x="118481" y="896903"/>
                </a:lnTo>
                <a:lnTo>
                  <a:pt x="94630" y="849707"/>
                </a:lnTo>
                <a:lnTo>
                  <a:pt x="74233" y="796028"/>
                </a:lnTo>
                <a:lnTo>
                  <a:pt x="57277" y="735863"/>
                </a:lnTo>
                <a:lnTo>
                  <a:pt x="46366" y="684705"/>
                </a:lnTo>
                <a:lnTo>
                  <a:pt x="37869" y="632760"/>
                </a:lnTo>
                <a:lnTo>
                  <a:pt x="31792" y="580025"/>
                </a:lnTo>
                <a:lnTo>
                  <a:pt x="28142" y="526501"/>
                </a:lnTo>
                <a:lnTo>
                  <a:pt x="26924" y="472185"/>
                </a:lnTo>
                <a:lnTo>
                  <a:pt x="28143" y="416679"/>
                </a:lnTo>
                <a:lnTo>
                  <a:pt x="31800" y="362472"/>
                </a:lnTo>
                <a:lnTo>
                  <a:pt x="37896" y="309550"/>
                </a:lnTo>
                <a:lnTo>
                  <a:pt x="46431" y="257903"/>
                </a:lnTo>
                <a:lnTo>
                  <a:pt x="57404" y="207518"/>
                </a:lnTo>
                <a:lnTo>
                  <a:pt x="74358" y="148508"/>
                </a:lnTo>
                <a:lnTo>
                  <a:pt x="94742" y="95678"/>
                </a:lnTo>
                <a:lnTo>
                  <a:pt x="118554" y="49016"/>
                </a:lnTo>
                <a:lnTo>
                  <a:pt x="145796" y="8508"/>
                </a:lnTo>
                <a:lnTo>
                  <a:pt x="137541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4131183" y="5340984"/>
            <a:ext cx="3357879" cy="17145"/>
          </a:xfrm>
          <a:custGeom>
            <a:avLst/>
            <a:gdLst/>
            <a:ahLst/>
            <a:cxnLst/>
            <a:rect l="l" t="t" r="r" b="b"/>
            <a:pathLst>
              <a:path w="3357879" h="17145">
                <a:moveTo>
                  <a:pt x="3357371" y="0"/>
                </a:moveTo>
                <a:lnTo>
                  <a:pt x="0" y="0"/>
                </a:lnTo>
                <a:lnTo>
                  <a:pt x="0" y="16763"/>
                </a:lnTo>
                <a:lnTo>
                  <a:pt x="3357371" y="16763"/>
                </a:lnTo>
                <a:lnTo>
                  <a:pt x="3357371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4621910" y="5100192"/>
            <a:ext cx="142240" cy="17145"/>
          </a:xfrm>
          <a:custGeom>
            <a:avLst/>
            <a:gdLst/>
            <a:ahLst/>
            <a:cxnLst/>
            <a:rect l="l" t="t" r="r" b="b"/>
            <a:pathLst>
              <a:path w="142239" h="17145">
                <a:moveTo>
                  <a:pt x="141732" y="0"/>
                </a:moveTo>
                <a:lnTo>
                  <a:pt x="0" y="0"/>
                </a:lnTo>
                <a:lnTo>
                  <a:pt x="0" y="16763"/>
                </a:lnTo>
                <a:lnTo>
                  <a:pt x="141732" y="16763"/>
                </a:lnTo>
                <a:lnTo>
                  <a:pt x="14173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4609846" y="5043042"/>
            <a:ext cx="16637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dirty="0">
                <a:latin typeface="Cambria Math"/>
                <a:cs typeface="Cambria Math"/>
              </a:rPr>
              <a:t>2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4917059" y="4990719"/>
            <a:ext cx="809625" cy="236220"/>
          </a:xfrm>
          <a:custGeom>
            <a:avLst/>
            <a:gdLst/>
            <a:ahLst/>
            <a:cxnLst/>
            <a:rect l="l" t="t" r="r" b="b"/>
            <a:pathLst>
              <a:path w="809625" h="236220">
                <a:moveTo>
                  <a:pt x="734060" y="0"/>
                </a:moveTo>
                <a:lnTo>
                  <a:pt x="730630" y="9524"/>
                </a:lnTo>
                <a:lnTo>
                  <a:pt x="744271" y="15430"/>
                </a:lnTo>
                <a:lnTo>
                  <a:pt x="756030" y="23621"/>
                </a:lnTo>
                <a:lnTo>
                  <a:pt x="779885" y="61650"/>
                </a:lnTo>
                <a:lnTo>
                  <a:pt x="787653" y="116585"/>
                </a:lnTo>
                <a:lnTo>
                  <a:pt x="786792" y="137423"/>
                </a:lnTo>
                <a:lnTo>
                  <a:pt x="773683" y="188340"/>
                </a:lnTo>
                <a:lnTo>
                  <a:pt x="744466" y="220130"/>
                </a:lnTo>
                <a:lnTo>
                  <a:pt x="731012" y="226059"/>
                </a:lnTo>
                <a:lnTo>
                  <a:pt x="734060" y="235711"/>
                </a:lnTo>
                <a:lnTo>
                  <a:pt x="779047" y="208887"/>
                </a:lnTo>
                <a:lnTo>
                  <a:pt x="804386" y="159480"/>
                </a:lnTo>
                <a:lnTo>
                  <a:pt x="809243" y="117855"/>
                </a:lnTo>
                <a:lnTo>
                  <a:pt x="808027" y="96281"/>
                </a:lnTo>
                <a:lnTo>
                  <a:pt x="798260" y="57991"/>
                </a:lnTo>
                <a:lnTo>
                  <a:pt x="766063" y="15065"/>
                </a:lnTo>
                <a:lnTo>
                  <a:pt x="751109" y="6145"/>
                </a:lnTo>
                <a:lnTo>
                  <a:pt x="734060" y="0"/>
                </a:lnTo>
                <a:close/>
              </a:path>
              <a:path w="809625" h="236220">
                <a:moveTo>
                  <a:pt x="75183" y="0"/>
                </a:moveTo>
                <a:lnTo>
                  <a:pt x="30214" y="26771"/>
                </a:lnTo>
                <a:lnTo>
                  <a:pt x="4857" y="76326"/>
                </a:lnTo>
                <a:lnTo>
                  <a:pt x="0" y="117855"/>
                </a:lnTo>
                <a:lnTo>
                  <a:pt x="1214" y="139501"/>
                </a:lnTo>
                <a:lnTo>
                  <a:pt x="10929" y="177792"/>
                </a:lnTo>
                <a:lnTo>
                  <a:pt x="43068" y="220598"/>
                </a:lnTo>
                <a:lnTo>
                  <a:pt x="75183" y="235711"/>
                </a:lnTo>
                <a:lnTo>
                  <a:pt x="78231" y="226059"/>
                </a:lnTo>
                <a:lnTo>
                  <a:pt x="64775" y="220130"/>
                </a:lnTo>
                <a:lnTo>
                  <a:pt x="53165" y="211867"/>
                </a:lnTo>
                <a:lnTo>
                  <a:pt x="29338" y="173289"/>
                </a:lnTo>
                <a:lnTo>
                  <a:pt x="21462" y="116585"/>
                </a:lnTo>
                <a:lnTo>
                  <a:pt x="22342" y="96512"/>
                </a:lnTo>
                <a:lnTo>
                  <a:pt x="35432" y="46862"/>
                </a:lnTo>
                <a:lnTo>
                  <a:pt x="64990" y="15430"/>
                </a:lnTo>
                <a:lnTo>
                  <a:pt x="78612" y="9524"/>
                </a:lnTo>
                <a:lnTo>
                  <a:pt x="75183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 txBox="1"/>
          <p:nvPr/>
        </p:nvSpPr>
        <p:spPr>
          <a:xfrm>
            <a:off x="4571746" y="4915027"/>
            <a:ext cx="2464435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100"/>
              </a:spcBef>
              <a:tabLst>
                <a:tab pos="1235075" algn="l"/>
              </a:tabLst>
            </a:pPr>
            <a:r>
              <a:rPr sz="3000" baseline="33333" dirty="0">
                <a:latin typeface="Cambria Math"/>
                <a:cs typeface="Cambria Math"/>
              </a:rPr>
              <a:t>1 </a:t>
            </a:r>
            <a:r>
              <a:rPr sz="2000" dirty="0">
                <a:latin typeface="Cambria Math"/>
                <a:cs typeface="Cambria Math"/>
              </a:rPr>
              <a:t>[  𝑅</a:t>
            </a:r>
            <a:r>
              <a:rPr sz="2000" spc="-10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−</a:t>
            </a:r>
            <a:r>
              <a:rPr sz="2000" spc="5" dirty="0">
                <a:latin typeface="Cambria Math"/>
                <a:cs typeface="Cambria Math"/>
              </a:rPr>
              <a:t> </a:t>
            </a:r>
            <a:r>
              <a:rPr sz="2000" dirty="0">
                <a:latin typeface="Cambria Math"/>
                <a:cs typeface="Cambria Math"/>
              </a:rPr>
              <a:t>𝐺	+ </a:t>
            </a:r>
            <a:r>
              <a:rPr sz="2000" spc="-5" dirty="0">
                <a:latin typeface="Cambria Math"/>
                <a:cs typeface="Cambria Math"/>
              </a:rPr>
              <a:t>(𝑅 </a:t>
            </a:r>
            <a:r>
              <a:rPr sz="2000" dirty="0">
                <a:latin typeface="Cambria Math"/>
                <a:cs typeface="Cambria Math"/>
              </a:rPr>
              <a:t>−</a:t>
            </a:r>
            <a:r>
              <a:rPr sz="2000" spc="10" dirty="0">
                <a:latin typeface="Cambria Math"/>
                <a:cs typeface="Cambria Math"/>
              </a:rPr>
              <a:t> 𝐵)]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27" name="object 27"/>
          <p:cNvSpPr/>
          <p:nvPr/>
        </p:nvSpPr>
        <p:spPr>
          <a:xfrm>
            <a:off x="4135501" y="5406516"/>
            <a:ext cx="3353435" cy="316230"/>
          </a:xfrm>
          <a:custGeom>
            <a:avLst/>
            <a:gdLst/>
            <a:ahLst/>
            <a:cxnLst/>
            <a:rect l="l" t="t" r="r" b="b"/>
            <a:pathLst>
              <a:path w="3353434" h="316229">
                <a:moveTo>
                  <a:pt x="159258" y="127"/>
                </a:moveTo>
                <a:lnTo>
                  <a:pt x="83820" y="282829"/>
                </a:lnTo>
                <a:lnTo>
                  <a:pt x="40766" y="186893"/>
                </a:lnTo>
                <a:lnTo>
                  <a:pt x="0" y="205536"/>
                </a:lnTo>
                <a:lnTo>
                  <a:pt x="3937" y="214858"/>
                </a:lnTo>
                <a:lnTo>
                  <a:pt x="24891" y="205536"/>
                </a:lnTo>
                <a:lnTo>
                  <a:pt x="76326" y="316141"/>
                </a:lnTo>
                <a:lnTo>
                  <a:pt x="88391" y="316141"/>
                </a:lnTo>
                <a:lnTo>
                  <a:pt x="169163" y="16637"/>
                </a:lnTo>
                <a:lnTo>
                  <a:pt x="184658" y="16764"/>
                </a:lnTo>
                <a:lnTo>
                  <a:pt x="3353054" y="16764"/>
                </a:lnTo>
                <a:lnTo>
                  <a:pt x="335305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4430903" y="5458586"/>
            <a:ext cx="809625" cy="236220"/>
          </a:xfrm>
          <a:custGeom>
            <a:avLst/>
            <a:gdLst/>
            <a:ahLst/>
            <a:cxnLst/>
            <a:rect l="l" t="t" r="r" b="b"/>
            <a:pathLst>
              <a:path w="809625" h="236220">
                <a:moveTo>
                  <a:pt x="734060" y="0"/>
                </a:moveTo>
                <a:lnTo>
                  <a:pt x="730631" y="9525"/>
                </a:lnTo>
                <a:lnTo>
                  <a:pt x="744271" y="15430"/>
                </a:lnTo>
                <a:lnTo>
                  <a:pt x="756031" y="23621"/>
                </a:lnTo>
                <a:lnTo>
                  <a:pt x="779885" y="61650"/>
                </a:lnTo>
                <a:lnTo>
                  <a:pt x="787654" y="116585"/>
                </a:lnTo>
                <a:lnTo>
                  <a:pt x="786792" y="137406"/>
                </a:lnTo>
                <a:lnTo>
                  <a:pt x="773684" y="188340"/>
                </a:lnTo>
                <a:lnTo>
                  <a:pt x="744466" y="220169"/>
                </a:lnTo>
                <a:lnTo>
                  <a:pt x="731012" y="226123"/>
                </a:lnTo>
                <a:lnTo>
                  <a:pt x="734060" y="235686"/>
                </a:lnTo>
                <a:lnTo>
                  <a:pt x="779047" y="208927"/>
                </a:lnTo>
                <a:lnTo>
                  <a:pt x="804386" y="159519"/>
                </a:lnTo>
                <a:lnTo>
                  <a:pt x="809244" y="117856"/>
                </a:lnTo>
                <a:lnTo>
                  <a:pt x="808027" y="96281"/>
                </a:lnTo>
                <a:lnTo>
                  <a:pt x="798260" y="57991"/>
                </a:lnTo>
                <a:lnTo>
                  <a:pt x="766063" y="15065"/>
                </a:lnTo>
                <a:lnTo>
                  <a:pt x="751109" y="6145"/>
                </a:lnTo>
                <a:lnTo>
                  <a:pt x="734060" y="0"/>
                </a:lnTo>
                <a:close/>
              </a:path>
              <a:path w="809625" h="236220">
                <a:moveTo>
                  <a:pt x="75184" y="0"/>
                </a:moveTo>
                <a:lnTo>
                  <a:pt x="30214" y="26771"/>
                </a:lnTo>
                <a:lnTo>
                  <a:pt x="4857" y="76326"/>
                </a:lnTo>
                <a:lnTo>
                  <a:pt x="0" y="117856"/>
                </a:lnTo>
                <a:lnTo>
                  <a:pt x="1214" y="139525"/>
                </a:lnTo>
                <a:lnTo>
                  <a:pt x="10929" y="177840"/>
                </a:lnTo>
                <a:lnTo>
                  <a:pt x="43068" y="220606"/>
                </a:lnTo>
                <a:lnTo>
                  <a:pt x="75184" y="235686"/>
                </a:lnTo>
                <a:lnTo>
                  <a:pt x="78232" y="226123"/>
                </a:lnTo>
                <a:lnTo>
                  <a:pt x="64775" y="220169"/>
                </a:lnTo>
                <a:lnTo>
                  <a:pt x="53165" y="211889"/>
                </a:lnTo>
                <a:lnTo>
                  <a:pt x="29338" y="173278"/>
                </a:lnTo>
                <a:lnTo>
                  <a:pt x="21462" y="116585"/>
                </a:lnTo>
                <a:lnTo>
                  <a:pt x="22342" y="96512"/>
                </a:lnTo>
                <a:lnTo>
                  <a:pt x="35433" y="46862"/>
                </a:lnTo>
                <a:lnTo>
                  <a:pt x="64990" y="15430"/>
                </a:lnTo>
                <a:lnTo>
                  <a:pt x="78612" y="9525"/>
                </a:lnTo>
                <a:lnTo>
                  <a:pt x="7518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 txBox="1"/>
          <p:nvPr/>
        </p:nvSpPr>
        <p:spPr>
          <a:xfrm>
            <a:off x="4282694" y="5382869"/>
            <a:ext cx="324485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000" dirty="0">
                <a:latin typeface="Cambria Math"/>
                <a:cs typeface="Cambria Math"/>
              </a:rPr>
              <a:t>[ 𝑅 − 𝐺 </a:t>
            </a:r>
            <a:r>
              <a:rPr sz="2175" spc="60" baseline="22988" dirty="0">
                <a:latin typeface="Cambria Math"/>
                <a:cs typeface="Cambria Math"/>
              </a:rPr>
              <a:t>2 </a:t>
            </a:r>
            <a:r>
              <a:rPr sz="2000" dirty="0">
                <a:latin typeface="Cambria Math"/>
                <a:cs typeface="Cambria Math"/>
              </a:rPr>
              <a:t>+ </a:t>
            </a:r>
            <a:r>
              <a:rPr sz="2000" spc="-5" dirty="0">
                <a:latin typeface="Cambria Math"/>
                <a:cs typeface="Cambria Math"/>
              </a:rPr>
              <a:t>(𝑅 </a:t>
            </a:r>
            <a:r>
              <a:rPr sz="2000" dirty="0">
                <a:latin typeface="Cambria Math"/>
                <a:cs typeface="Cambria Math"/>
              </a:rPr>
              <a:t>− </a:t>
            </a:r>
            <a:r>
              <a:rPr sz="2000" spc="10" dirty="0">
                <a:latin typeface="Cambria Math"/>
                <a:cs typeface="Cambria Math"/>
              </a:rPr>
              <a:t>𝐵)(𝐺 </a:t>
            </a:r>
            <a:r>
              <a:rPr sz="2000" dirty="0">
                <a:latin typeface="Cambria Math"/>
                <a:cs typeface="Cambria Math"/>
              </a:rPr>
              <a:t>−</a:t>
            </a:r>
            <a:r>
              <a:rPr sz="2000" spc="-45" dirty="0">
                <a:latin typeface="Cambria Math"/>
                <a:cs typeface="Cambria Math"/>
              </a:rPr>
              <a:t> </a:t>
            </a:r>
            <a:r>
              <a:rPr sz="2000" spc="10" dirty="0">
                <a:latin typeface="Cambria Math"/>
                <a:cs typeface="Cambria Math"/>
              </a:rPr>
              <a:t>𝐵)]</a:t>
            </a:r>
            <a:endParaRPr sz="2000">
              <a:latin typeface="Cambria Math"/>
              <a:cs typeface="Cambria Math"/>
            </a:endParaRPr>
          </a:p>
        </p:txBody>
      </p:sp>
      <p:sp>
        <p:nvSpPr>
          <p:cNvPr id="30" name="object 30"/>
          <p:cNvSpPr txBox="1">
            <a:spLocks noGrp="1"/>
          </p:cNvSpPr>
          <p:nvPr>
            <p:ph type="ftr" sz="quarter" idx="5"/>
          </p:nvPr>
        </p:nvSpPr>
        <p:spPr>
          <a:xfrm>
            <a:off x="707542" y="6469557"/>
            <a:ext cx="1163955" cy="13343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lang="en-ID" spc="-5" dirty="0"/>
              <a:t>  </a:t>
            </a:r>
            <a:endParaRPr spc="-5" dirty="0"/>
          </a:p>
        </p:txBody>
      </p:sp>
      <p:sp>
        <p:nvSpPr>
          <p:cNvPr id="31" name="object 31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spc="-5" dirty="0"/>
              <a:t>Pengolahan Citra </a:t>
            </a:r>
            <a:r>
              <a:rPr dirty="0"/>
              <a:t>- </a:t>
            </a:r>
            <a:r>
              <a:rPr spc="-5" dirty="0"/>
              <a:t>Color</a:t>
            </a:r>
            <a:r>
              <a:rPr spc="-40" dirty="0"/>
              <a:t> </a:t>
            </a:r>
            <a:r>
              <a:rPr spc="-5" dirty="0"/>
              <a:t>Theory</a:t>
            </a:r>
          </a:p>
        </p:txBody>
      </p:sp>
    </p:spTree>
    <p:extLst>
      <p:ext uri="{BB962C8B-B14F-4D97-AF65-F5344CB8AC3E}">
        <p14:creationId xmlns:p14="http://schemas.microsoft.com/office/powerpoint/2010/main" val="29416105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xfrm>
            <a:off x="707542" y="6469557"/>
            <a:ext cx="1163955" cy="13343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lang="en-ID" spc="-5" dirty="0"/>
              <a:t>  </a:t>
            </a:r>
            <a:endParaRPr spc="-5" dirty="0"/>
          </a:p>
        </p:txBody>
      </p:sp>
      <p:sp>
        <p:nvSpPr>
          <p:cNvPr id="6" name="object 6"/>
          <p:cNvSpPr txBox="1">
            <a:spLocks noGrp="1"/>
          </p:cNvSpPr>
          <p:nvPr>
            <p:ph type="dt" sz="half" idx="6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55"/>
              </a:lnSpc>
            </a:pPr>
            <a:r>
              <a:rPr spc="-5" dirty="0"/>
              <a:t>Pengolahan Citra </a:t>
            </a:r>
            <a:r>
              <a:rPr dirty="0"/>
              <a:t>- </a:t>
            </a:r>
            <a:r>
              <a:rPr spc="-5" dirty="0"/>
              <a:t>Color</a:t>
            </a:r>
            <a:r>
              <a:rPr spc="-40" dirty="0"/>
              <a:t> </a:t>
            </a:r>
            <a:r>
              <a:rPr spc="-5" dirty="0"/>
              <a:t>Theory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0" y="365759"/>
            <a:ext cx="9144000" cy="1324610"/>
          </a:xfrm>
          <a:prstGeom prst="rect">
            <a:avLst/>
          </a:prstGeom>
          <a:solidFill>
            <a:srgbClr val="A4B592"/>
          </a:solidFill>
          <a:ln w="12192">
            <a:solidFill>
              <a:srgbClr val="78846A"/>
            </a:solidFill>
          </a:ln>
        </p:spPr>
        <p:txBody>
          <a:bodyPr vert="horz" wrap="square" lIns="0" tIns="331470" rIns="0" bIns="0" rtlCol="0">
            <a:spAutoFit/>
          </a:bodyPr>
          <a:lstStyle/>
          <a:p>
            <a:pPr marL="720090">
              <a:lnSpc>
                <a:spcPct val="100000"/>
              </a:lnSpc>
              <a:spcBef>
                <a:spcPts val="2610"/>
              </a:spcBef>
            </a:pPr>
            <a:r>
              <a:rPr sz="3600" dirty="0"/>
              <a:t>Look it up</a:t>
            </a:r>
            <a:r>
              <a:rPr sz="3600" spc="-5" dirty="0"/>
              <a:t> </a:t>
            </a:r>
            <a:r>
              <a:rPr sz="3600" spc="-20" dirty="0"/>
              <a:t>yourselves..</a:t>
            </a:r>
            <a:endParaRPr sz="3600"/>
          </a:p>
        </p:txBody>
      </p:sp>
      <p:sp>
        <p:nvSpPr>
          <p:cNvPr id="3" name="object 3"/>
          <p:cNvSpPr txBox="1"/>
          <p:nvPr/>
        </p:nvSpPr>
        <p:spPr>
          <a:xfrm>
            <a:off x="707542" y="1770781"/>
            <a:ext cx="4785995" cy="161861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84785" indent="-1727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85420" algn="l"/>
              </a:tabLst>
            </a:pPr>
            <a:r>
              <a:rPr sz="2800" b="1" spc="-10" dirty="0">
                <a:latin typeface="Calibri"/>
                <a:cs typeface="Calibri"/>
              </a:rPr>
              <a:t>Color</a:t>
            </a:r>
            <a:r>
              <a:rPr sz="2800" b="1" spc="15" dirty="0">
                <a:latin typeface="Calibri"/>
                <a:cs typeface="Calibri"/>
              </a:rPr>
              <a:t> </a:t>
            </a:r>
            <a:r>
              <a:rPr sz="2800" b="1" spc="-25" dirty="0">
                <a:latin typeface="Calibri"/>
                <a:cs typeface="Calibri"/>
              </a:rPr>
              <a:t>systems:</a:t>
            </a:r>
            <a:endParaRPr sz="2800">
              <a:latin typeface="Calibri"/>
              <a:cs typeface="Calibri"/>
            </a:endParaRPr>
          </a:p>
          <a:p>
            <a:pPr marL="527685" lvl="1" indent="-172720">
              <a:lnSpc>
                <a:spcPct val="100000"/>
              </a:lnSpc>
              <a:spcBef>
                <a:spcPts val="150"/>
              </a:spcBef>
              <a:buFont typeface="Arial"/>
              <a:buChar char="•"/>
              <a:tabLst>
                <a:tab pos="528320" algn="l"/>
              </a:tabLst>
            </a:pPr>
            <a:r>
              <a:rPr sz="2400" spc="-10" dirty="0">
                <a:latin typeface="Calibri"/>
                <a:cs typeface="Calibri"/>
              </a:rPr>
              <a:t>CIEXYZ, </a:t>
            </a:r>
            <a:r>
              <a:rPr sz="2400" spc="-5" dirty="0">
                <a:latin typeface="Calibri"/>
                <a:cs typeface="Calibri"/>
              </a:rPr>
              <a:t>CIELAB,</a:t>
            </a:r>
            <a:r>
              <a:rPr sz="2400" spc="-25" dirty="0">
                <a:latin typeface="Calibri"/>
                <a:cs typeface="Calibri"/>
              </a:rPr>
              <a:t> </a:t>
            </a:r>
            <a:r>
              <a:rPr sz="2400" spc="-35" dirty="0">
                <a:latin typeface="Calibri"/>
                <a:cs typeface="Calibri"/>
              </a:rPr>
              <a:t>CIELUV,…</a:t>
            </a:r>
            <a:endParaRPr sz="2400">
              <a:latin typeface="Calibri"/>
              <a:cs typeface="Calibri"/>
            </a:endParaRPr>
          </a:p>
          <a:p>
            <a:pPr marL="527685" lvl="1" indent="-172720">
              <a:lnSpc>
                <a:spcPct val="100000"/>
              </a:lnSpc>
              <a:spcBef>
                <a:spcPts val="105"/>
              </a:spcBef>
              <a:buFont typeface="Arial"/>
              <a:buChar char="•"/>
              <a:tabLst>
                <a:tab pos="528320" algn="l"/>
              </a:tabLst>
            </a:pPr>
            <a:r>
              <a:rPr sz="2400" spc="-10" dirty="0">
                <a:latin typeface="Calibri"/>
                <a:cs typeface="Calibri"/>
              </a:rPr>
              <a:t>RGB variants: </a:t>
            </a:r>
            <a:r>
              <a:rPr sz="2400" spc="-15" dirty="0">
                <a:latin typeface="Calibri"/>
                <a:cs typeface="Calibri"/>
              </a:rPr>
              <a:t>sRGB, </a:t>
            </a:r>
            <a:r>
              <a:rPr sz="2400" dirty="0">
                <a:latin typeface="Calibri"/>
                <a:cs typeface="Calibri"/>
              </a:rPr>
              <a:t>Adobe </a:t>
            </a:r>
            <a:r>
              <a:rPr sz="2400" spc="-15" dirty="0">
                <a:latin typeface="Calibri"/>
                <a:cs typeface="Calibri"/>
              </a:rPr>
              <a:t>RGB,</a:t>
            </a:r>
            <a:r>
              <a:rPr sz="2400" spc="-90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…</a:t>
            </a:r>
            <a:endParaRPr sz="2400">
              <a:latin typeface="Calibri"/>
              <a:cs typeface="Calibri"/>
            </a:endParaRPr>
          </a:p>
          <a:p>
            <a:pPr marL="527685" lvl="1" indent="-172720">
              <a:lnSpc>
                <a:spcPct val="100000"/>
              </a:lnSpc>
              <a:spcBef>
                <a:spcPts val="110"/>
              </a:spcBef>
              <a:buFont typeface="Arial"/>
              <a:buChar char="•"/>
              <a:tabLst>
                <a:tab pos="528320" algn="l"/>
              </a:tabLst>
            </a:pPr>
            <a:r>
              <a:rPr sz="2400" spc="25" dirty="0">
                <a:latin typeface="Calibri"/>
                <a:cs typeface="Calibri"/>
              </a:rPr>
              <a:t>YIQ, </a:t>
            </a:r>
            <a:r>
              <a:rPr sz="2400" spc="-55" dirty="0">
                <a:latin typeface="Calibri"/>
                <a:cs typeface="Calibri"/>
              </a:rPr>
              <a:t>YUV,</a:t>
            </a:r>
            <a:r>
              <a:rPr sz="2400" spc="-20" dirty="0">
                <a:latin typeface="Calibri"/>
                <a:cs typeface="Calibri"/>
              </a:rPr>
              <a:t> </a:t>
            </a:r>
            <a:r>
              <a:rPr sz="2400" spc="-45" dirty="0">
                <a:latin typeface="Calibri"/>
                <a:cs typeface="Calibri"/>
              </a:rPr>
              <a:t>YCbCr,…</a:t>
            </a:r>
            <a:endParaRPr sz="24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693911" y="54356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spc="-5" dirty="0">
                <a:latin typeface="Calibri"/>
                <a:cs typeface="Calibri"/>
              </a:rPr>
              <a:t>33</a:t>
            </a:r>
            <a:endParaRPr sz="140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883355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93</TotalTime>
  <Words>1952</Words>
  <Application>Microsoft Macintosh PowerPoint</Application>
  <PresentationFormat>On-screen Show (4:3)</PresentationFormat>
  <Paragraphs>414</Paragraphs>
  <Slides>53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62" baseType="lpstr">
      <vt:lpstr>Arial</vt:lpstr>
      <vt:lpstr>Calibri</vt:lpstr>
      <vt:lpstr>Cambria Math</vt:lpstr>
      <vt:lpstr>Carlito</vt:lpstr>
      <vt:lpstr>Tahoma</vt:lpstr>
      <vt:lpstr>Times New Roman</vt:lpstr>
      <vt:lpstr>Trebuchet MS</vt:lpstr>
      <vt:lpstr>Wingdings</vt:lpstr>
      <vt:lpstr>Office Theme</vt:lpstr>
      <vt:lpstr>Pengolahan Citra Pengantar Mata Kuliah  Semester Genap 2019/2020   M.Naufal Politeknik Harapan Bersama</vt:lpstr>
      <vt:lpstr>Citra Dijital</vt:lpstr>
      <vt:lpstr>Citra Dijital</vt:lpstr>
      <vt:lpstr>Informasi dari Citra Dijital</vt:lpstr>
      <vt:lpstr>Informasi dari Citra Dijital (2)</vt:lpstr>
      <vt:lpstr>Citra Dijital</vt:lpstr>
      <vt:lpstr>Citra Dijital</vt:lpstr>
      <vt:lpstr>Clustering Citra Dijital</vt:lpstr>
      <vt:lpstr>Clustering Citra Dijital (2)</vt:lpstr>
      <vt:lpstr>Klasifikasi Citra Dijital</vt:lpstr>
      <vt:lpstr>Real Research: Content-Based Image  Retrieval for Batik Patterns</vt:lpstr>
      <vt:lpstr>Real Research: Content-Based Image  Retrieval for Batik Patterns</vt:lpstr>
      <vt:lpstr>PowerPoint Presentation</vt:lpstr>
      <vt:lpstr>Computer Graphics</vt:lpstr>
      <vt:lpstr>Computer Graphics (2)</vt:lpstr>
      <vt:lpstr>Computer Vision</vt:lpstr>
      <vt:lpstr>Computer Vision (2)</vt:lpstr>
      <vt:lpstr>Pattern Recognition, Computer Vision,  and Artificial Intelligence</vt:lpstr>
      <vt:lpstr>Image Processing</vt:lpstr>
      <vt:lpstr>PowerPoint Presentation</vt:lpstr>
      <vt:lpstr>Image Acquisition</vt:lpstr>
      <vt:lpstr>Digital Images</vt:lpstr>
      <vt:lpstr>Citra Dijital</vt:lpstr>
      <vt:lpstr>Color Vision, Color Theory  and Color Models</vt:lpstr>
      <vt:lpstr>Color Vision</vt:lpstr>
      <vt:lpstr>Color Vision (2)</vt:lpstr>
      <vt:lpstr>Warna</vt:lpstr>
      <vt:lpstr>Relative Perceptual Attributes of Color</vt:lpstr>
      <vt:lpstr>Color Theory: Trichromatic Color Vision</vt:lpstr>
      <vt:lpstr>Young-Helmholtz Trichromatic Theory of  Color Vision</vt:lpstr>
      <vt:lpstr> Warna Primer vs Sekunder Pada Cahaya</vt:lpstr>
      <vt:lpstr>Three Sensitive Channels</vt:lpstr>
      <vt:lpstr>Color Theory: Opponent Color Theory</vt:lpstr>
      <vt:lpstr>The Opponent Theory of Color Vision</vt:lpstr>
      <vt:lpstr>PowerPoint Presentation</vt:lpstr>
      <vt:lpstr>PowerPoint Presentation</vt:lpstr>
      <vt:lpstr>Serba-Serbi Warna</vt:lpstr>
      <vt:lpstr>XYZ Tristimulus Values</vt:lpstr>
      <vt:lpstr>CIE Chromaticity Diagram</vt:lpstr>
      <vt:lpstr>What about digital monitors?</vt:lpstr>
      <vt:lpstr>Color Models for Hardware</vt:lpstr>
      <vt:lpstr>RGB Color Model</vt:lpstr>
      <vt:lpstr>RGB Channels</vt:lpstr>
      <vt:lpstr>RGB Colors</vt:lpstr>
      <vt:lpstr>Warna</vt:lpstr>
      <vt:lpstr> Warna Primer vs Sekunder Pada Pigmen</vt:lpstr>
      <vt:lpstr>Model CMY</vt:lpstr>
      <vt:lpstr>RGB ↔ CMY</vt:lpstr>
      <vt:lpstr>RGB and CMY in a Glance</vt:lpstr>
      <vt:lpstr>HSI (also known as HSV / HSL)</vt:lpstr>
      <vt:lpstr>HSV / HSL / HSI</vt:lpstr>
      <vt:lpstr>RGB→HSI</vt:lpstr>
      <vt:lpstr>Look it up yourselves..</vt:lpstr>
    </vt:vector>
  </TitlesOfParts>
  <LinksUpToDate>false</LinksUpToDate>
  <SharedDoc>false</SharedDoc>
  <HyperlinksChanged>false</HyperlinksChanged>
  <AppVersion>16.0014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Pengolahan Citra</dc:title>
  <dc:creator>Laksmitha</dc:creator>
  <cp:lastModifiedBy>Microsoft Office User</cp:lastModifiedBy>
  <cp:revision>5</cp:revision>
  <dcterms:created xsi:type="dcterms:W3CDTF">2020-03-07T06:43:12Z</dcterms:created>
  <dcterms:modified xsi:type="dcterms:W3CDTF">2020-03-30T13:45:53Z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2018-11-01T00:00:00Z</vt:filetime>
  </property>
  <property fmtid="{D5CDD505-2E9C-101B-9397-08002B2CF9AE}" pid="3" name="Creator">
    <vt:lpwstr>Microsoft® PowerPoint® 2013</vt:lpwstr>
  </property>
  <property fmtid="{D5CDD505-2E9C-101B-9397-08002B2CF9AE}" pid="4" name="LastSaved">
    <vt:filetime>2020-03-07T00:00:00Z</vt:filetime>
  </property>
</Properties>
</file>