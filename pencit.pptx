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8" r:id="rId12"/>
    <p:sldId id="279" r:id="rId13"/>
    <p:sldId id="257" r:id="rId14"/>
    <p:sldId id="258" r:id="rId15"/>
    <p:sldId id="259" r:id="rId16"/>
    <p:sldId id="262" r:id="rId17"/>
    <p:sldId id="263" r:id="rId18"/>
    <p:sldId id="265" r:id="rId19"/>
    <p:sldId id="266" r:id="rId20"/>
    <p:sldId id="267" r:id="rId21"/>
    <p:sldId id="280" r:id="rId22"/>
    <p:sldId id="286" r:id="rId23"/>
    <p:sldId id="288" r:id="rId24"/>
    <p:sldId id="290" r:id="rId25"/>
    <p:sldId id="292" r:id="rId26"/>
    <p:sldId id="293" r:id="rId27"/>
    <p:sldId id="260" r:id="rId28"/>
    <p:sldId id="261" r:id="rId29"/>
    <p:sldId id="294" r:id="rId30"/>
    <p:sldId id="295" r:id="rId31"/>
    <p:sldId id="264" r:id="rId32"/>
    <p:sldId id="296" r:id="rId33"/>
    <p:sldId id="297" r:id="rId34"/>
    <p:sldId id="298" r:id="rId35"/>
    <p:sldId id="299" r:id="rId36"/>
    <p:sldId id="300" r:id="rId37"/>
    <p:sldId id="301" r:id="rId38"/>
    <p:sldId id="304" r:id="rId39"/>
    <p:sldId id="305" r:id="rId40"/>
    <p:sldId id="306" r:id="rId41"/>
    <p:sldId id="307" r:id="rId42"/>
    <p:sldId id="277" r:id="rId43"/>
    <p:sldId id="308" r:id="rId44"/>
    <p:sldId id="309" r:id="rId45"/>
    <p:sldId id="310" r:id="rId46"/>
    <p:sldId id="281" r:id="rId47"/>
    <p:sldId id="282" r:id="rId48"/>
    <p:sldId id="283" r:id="rId49"/>
    <p:sldId id="284" r:id="rId50"/>
    <p:sldId id="285" r:id="rId51"/>
    <p:sldId id="311" r:id="rId52"/>
    <p:sldId id="287" r:id="rId53"/>
    <p:sldId id="312" r:id="rId54"/>
    <p:sldId id="314" r:id="rId55"/>
    <p:sldId id="315" r:id="rId56"/>
    <p:sldId id="317" r:id="rId57"/>
    <p:sldId id="318" r:id="rId58"/>
    <p:sldId id="322" r:id="rId59"/>
    <p:sldId id="325" r:id="rId60"/>
    <p:sldId id="337" r:id="rId61"/>
    <p:sldId id="338" r:id="rId62"/>
    <p:sldId id="339" r:id="rId63"/>
    <p:sldId id="340" r:id="rId64"/>
    <p:sldId id="341" r:id="rId6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/>
    <p:restoredTop sz="93475"/>
  </p:normalViewPr>
  <p:slideViewPr>
    <p:cSldViewPr>
      <p:cViewPr varScale="1">
        <p:scale>
          <a:sx n="120" d="100"/>
          <a:sy n="120" d="100"/>
        </p:scale>
        <p:origin x="1960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0242" y="437769"/>
            <a:ext cx="71253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7542" y="3245942"/>
            <a:ext cx="6545580" cy="2152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32403" y="6469557"/>
            <a:ext cx="1681479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12" Type="http://schemas.openxmlformats.org/officeDocument/2006/relationships/image" Target="../media/image18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12" Type="http://schemas.openxmlformats.org/officeDocument/2006/relationships/image" Target="../media/image18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1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13" Type="http://schemas.openxmlformats.org/officeDocument/2006/relationships/image" Target="../media/image19.jpg"/><Relationship Id="rId3" Type="http://schemas.openxmlformats.org/officeDocument/2006/relationships/image" Target="../media/image9.jpg"/><Relationship Id="rId7" Type="http://schemas.openxmlformats.org/officeDocument/2006/relationships/image" Target="../media/image13.jpg"/><Relationship Id="rId12" Type="http://schemas.openxmlformats.org/officeDocument/2006/relationships/image" Target="../media/image18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11" Type="http://schemas.openxmlformats.org/officeDocument/2006/relationships/image" Target="../media/image17.jpg"/><Relationship Id="rId5" Type="http://schemas.openxmlformats.org/officeDocument/2006/relationships/image" Target="../media/image11.jpg"/><Relationship Id="rId15" Type="http://schemas.openxmlformats.org/officeDocument/2006/relationships/image" Target="../media/image21.jpg"/><Relationship Id="rId10" Type="http://schemas.openxmlformats.org/officeDocument/2006/relationships/image" Target="../media/image16.jpg"/><Relationship Id="rId4" Type="http://schemas.openxmlformats.org/officeDocument/2006/relationships/image" Target="../media/image10.jpg"/><Relationship Id="rId9" Type="http://schemas.openxmlformats.org/officeDocument/2006/relationships/image" Target="../media/image15.jpg"/><Relationship Id="rId1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4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3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ight" TargetMode="Externa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Color_space" TargetMode="External"/><Relationship Id="rId5" Type="http://schemas.openxmlformats.org/officeDocument/2006/relationships/hyperlink" Target="https://en.wikipedia.org/wiki/Color" TargetMode="External"/><Relationship Id="rId4" Type="http://schemas.openxmlformats.org/officeDocument/2006/relationships/hyperlink" Target="https://en.wikipedia.org/wiki/Lighting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jp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jpg"/><Relationship Id="rId5" Type="http://schemas.openxmlformats.org/officeDocument/2006/relationships/image" Target="../media/image90.jpg"/><Relationship Id="rId4" Type="http://schemas.openxmlformats.org/officeDocument/2006/relationships/image" Target="../media/image8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359663"/>
            <a:ext cx="9156700" cy="1336675"/>
            <a:chOff x="-6095" y="359663"/>
            <a:chExt cx="9156700" cy="1336675"/>
          </a:xfrm>
        </p:grpSpPr>
        <p:sp>
          <p:nvSpPr>
            <p:cNvPr id="3" name="object 3"/>
            <p:cNvSpPr/>
            <p:nvPr/>
          </p:nvSpPr>
          <p:spPr>
            <a:xfrm>
              <a:off x="0" y="365759"/>
              <a:ext cx="9144000" cy="1324610"/>
            </a:xfrm>
            <a:custGeom>
              <a:avLst/>
              <a:gdLst/>
              <a:ahLst/>
              <a:cxnLst/>
              <a:rect l="l" t="t" r="r" b="b"/>
              <a:pathLst>
                <a:path w="9144000" h="1324610">
                  <a:moveTo>
                    <a:pt x="9144000" y="0"/>
                  </a:moveTo>
                  <a:lnTo>
                    <a:pt x="0" y="0"/>
                  </a:lnTo>
                  <a:lnTo>
                    <a:pt x="0" y="1324356"/>
                  </a:lnTo>
                  <a:lnTo>
                    <a:pt x="9144000" y="132435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4B5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65759"/>
              <a:ext cx="9144000" cy="1324610"/>
            </a:xfrm>
            <a:custGeom>
              <a:avLst/>
              <a:gdLst/>
              <a:ahLst/>
              <a:cxnLst/>
              <a:rect l="l" t="t" r="r" b="b"/>
              <a:pathLst>
                <a:path w="9144000" h="1324610">
                  <a:moveTo>
                    <a:pt x="0" y="1324356"/>
                  </a:moveTo>
                  <a:lnTo>
                    <a:pt x="9144000" y="132435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24356"/>
                  </a:lnTo>
                  <a:close/>
                </a:path>
              </a:pathLst>
            </a:custGeom>
            <a:ln w="12192">
              <a:solidFill>
                <a:srgbClr val="788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-6095" y="5018532"/>
            <a:ext cx="9156700" cy="1344295"/>
            <a:chOff x="-6095" y="5018532"/>
            <a:chExt cx="9156700" cy="1344295"/>
          </a:xfrm>
        </p:grpSpPr>
        <p:sp>
          <p:nvSpPr>
            <p:cNvPr id="6" name="object 6"/>
            <p:cNvSpPr/>
            <p:nvPr/>
          </p:nvSpPr>
          <p:spPr>
            <a:xfrm>
              <a:off x="0" y="5024628"/>
              <a:ext cx="9144000" cy="1332230"/>
            </a:xfrm>
            <a:custGeom>
              <a:avLst/>
              <a:gdLst/>
              <a:ahLst/>
              <a:cxnLst/>
              <a:rect l="l" t="t" r="r" b="b"/>
              <a:pathLst>
                <a:path w="9144000" h="1332229">
                  <a:moveTo>
                    <a:pt x="9144000" y="0"/>
                  </a:moveTo>
                  <a:lnTo>
                    <a:pt x="0" y="0"/>
                  </a:lnTo>
                  <a:lnTo>
                    <a:pt x="0" y="1331976"/>
                  </a:lnTo>
                  <a:lnTo>
                    <a:pt x="9144000" y="133197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A4B5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5024628"/>
              <a:ext cx="9144000" cy="1332230"/>
            </a:xfrm>
            <a:custGeom>
              <a:avLst/>
              <a:gdLst/>
              <a:ahLst/>
              <a:cxnLst/>
              <a:rect l="l" t="t" r="r" b="b"/>
              <a:pathLst>
                <a:path w="9144000" h="1332229">
                  <a:moveTo>
                    <a:pt x="0" y="1331976"/>
                  </a:moveTo>
                  <a:lnTo>
                    <a:pt x="9144000" y="133197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331976"/>
                  </a:lnTo>
                  <a:close/>
                </a:path>
              </a:pathLst>
            </a:custGeom>
            <a:ln w="12191">
              <a:solidFill>
                <a:srgbClr val="78846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618612" y="1962131"/>
            <a:ext cx="4467987" cy="2766783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25"/>
              </a:spcBef>
            </a:pPr>
            <a:r>
              <a:rPr lang="en-ID" sz="4500" spc="-200" dirty="0" err="1"/>
              <a:t>Pengolahan</a:t>
            </a:r>
            <a:r>
              <a:rPr lang="en-ID" sz="4500" spc="-430" dirty="0"/>
              <a:t> </a:t>
            </a:r>
            <a:r>
              <a:rPr lang="en-ID" sz="4500" spc="-290" dirty="0"/>
              <a:t>Citra</a:t>
            </a:r>
            <a:endParaRPr sz="4500" dirty="0"/>
          </a:p>
          <a:p>
            <a:pPr marL="562610" marR="554355" algn="ctr">
              <a:lnSpc>
                <a:spcPct val="123400"/>
              </a:lnSpc>
              <a:spcBef>
                <a:spcPts val="80"/>
              </a:spcBef>
            </a:pPr>
            <a:r>
              <a:rPr sz="2000" spc="-15" dirty="0" err="1">
                <a:latin typeface="Carlito"/>
                <a:cs typeface="Carlito"/>
              </a:rPr>
              <a:t>Pengantar</a:t>
            </a:r>
            <a:r>
              <a:rPr sz="2000" spc="-15" dirty="0">
                <a:latin typeface="Carlito"/>
                <a:cs typeface="Carlito"/>
              </a:rPr>
              <a:t> Mata </a:t>
            </a:r>
            <a:r>
              <a:rPr sz="2000" spc="-10" dirty="0" err="1">
                <a:latin typeface="Carlito"/>
                <a:cs typeface="Carlito"/>
              </a:rPr>
              <a:t>Kuliah</a:t>
            </a:r>
            <a:r>
              <a:rPr sz="2000" spc="-10" dirty="0">
                <a:latin typeface="Carlito"/>
                <a:cs typeface="Carlito"/>
              </a:rPr>
              <a:t>  Semester </a:t>
            </a:r>
            <a:r>
              <a:rPr lang="en-US" sz="2000" spc="-5" dirty="0" err="1">
                <a:latin typeface="Carlito"/>
                <a:cs typeface="Carlito"/>
              </a:rPr>
              <a:t>Genap</a:t>
            </a:r>
            <a:r>
              <a:rPr sz="2000" spc="-5" dirty="0">
                <a:latin typeface="Carlito"/>
                <a:cs typeface="Carlito"/>
              </a:rPr>
              <a:t> </a:t>
            </a:r>
            <a:r>
              <a:rPr sz="2000" dirty="0">
                <a:latin typeface="Carlito"/>
                <a:cs typeface="Carlito"/>
              </a:rPr>
              <a:t>20</a:t>
            </a:r>
            <a:r>
              <a:rPr lang="en-US" sz="2000" dirty="0">
                <a:latin typeface="Carlito"/>
                <a:cs typeface="Carlito"/>
              </a:rPr>
              <a:t>19</a:t>
            </a:r>
            <a:r>
              <a:rPr sz="2000" dirty="0">
                <a:latin typeface="Carlito"/>
                <a:cs typeface="Carlito"/>
              </a:rPr>
              <a:t>/20</a:t>
            </a:r>
            <a:r>
              <a:rPr lang="en-US" sz="2000" dirty="0">
                <a:latin typeface="Carlito"/>
                <a:cs typeface="Carlito"/>
              </a:rPr>
              <a:t>20</a:t>
            </a:r>
            <a:r>
              <a:rPr sz="2000" dirty="0">
                <a:latin typeface="Carlito"/>
                <a:cs typeface="Carlito"/>
              </a:rPr>
              <a:t> </a:t>
            </a:r>
            <a:br>
              <a:rPr lang="en-US" sz="2000" dirty="0">
                <a:latin typeface="Carlito"/>
                <a:cs typeface="Carlito"/>
              </a:rPr>
            </a:br>
            <a:r>
              <a:rPr sz="2000" dirty="0">
                <a:latin typeface="Carlito"/>
                <a:cs typeface="Carlito"/>
              </a:rPr>
              <a:t> </a:t>
            </a:r>
            <a:r>
              <a:rPr lang="en-US" sz="2000" spc="-10" dirty="0" err="1">
                <a:latin typeface="Carlito"/>
                <a:cs typeface="Carlito"/>
              </a:rPr>
              <a:t>M.Naufal</a:t>
            </a:r>
            <a:br>
              <a:rPr lang="en-US" sz="2000" spc="-10">
                <a:latin typeface="Carlito"/>
                <a:cs typeface="Carlito"/>
              </a:rPr>
            </a:br>
            <a:br>
              <a:rPr lang="en-US" sz="2000" spc="-10">
                <a:latin typeface="Carlito"/>
                <a:cs typeface="Carlito"/>
              </a:rPr>
            </a:br>
            <a:r>
              <a:rPr lang="en-US" sz="2000" spc="-10">
                <a:latin typeface="Carlito"/>
                <a:cs typeface="Carlito"/>
              </a:rPr>
              <a:t>Politeknik</a:t>
            </a:r>
            <a:r>
              <a:rPr lang="en-US" sz="2000" spc="-10" dirty="0">
                <a:latin typeface="Carlito"/>
                <a:cs typeface="Carlito"/>
              </a:rPr>
              <a:t> </a:t>
            </a:r>
            <a:r>
              <a:rPr lang="en-US" sz="2000" spc="-10" dirty="0" err="1">
                <a:latin typeface="Carlito"/>
                <a:cs typeface="Carlito"/>
              </a:rPr>
              <a:t>Harapan</a:t>
            </a:r>
            <a:r>
              <a:rPr lang="en-US" sz="2000" spc="-10" dirty="0">
                <a:latin typeface="Carlito"/>
                <a:cs typeface="Carlito"/>
              </a:rPr>
              <a:t> Bersama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229" dirty="0"/>
              <a:t>Citra</a:t>
            </a:r>
            <a:r>
              <a:rPr spc="-265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3" name="object 3"/>
          <p:cNvSpPr/>
          <p:nvPr/>
        </p:nvSpPr>
        <p:spPr>
          <a:xfrm>
            <a:off x="2770632" y="2199132"/>
            <a:ext cx="3602736" cy="3604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229" dirty="0"/>
              <a:t>Citra</a:t>
            </a:r>
            <a:r>
              <a:rPr spc="-265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6073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Apakah </a:t>
            </a:r>
            <a:r>
              <a:rPr sz="2400" dirty="0">
                <a:latin typeface="Carlito"/>
                <a:cs typeface="Carlito"/>
              </a:rPr>
              <a:t>anda </a:t>
            </a:r>
            <a:r>
              <a:rPr sz="2400" spc="-5" dirty="0">
                <a:latin typeface="Carlito"/>
                <a:cs typeface="Carlito"/>
              </a:rPr>
              <a:t>bisa melihat </a:t>
            </a:r>
            <a:r>
              <a:rPr sz="2400" spc="-10" dirty="0">
                <a:latin typeface="Carlito"/>
                <a:cs typeface="Carlito"/>
              </a:rPr>
              <a:t>sesuatu </a:t>
            </a:r>
            <a:r>
              <a:rPr sz="2400" spc="-5" dirty="0">
                <a:latin typeface="Carlito"/>
                <a:cs typeface="Carlito"/>
              </a:rPr>
              <a:t>dari </a:t>
            </a:r>
            <a:r>
              <a:rPr sz="2400" spc="-10" dirty="0">
                <a:latin typeface="Carlito"/>
                <a:cs typeface="Carlito"/>
              </a:rPr>
              <a:t>citra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ini?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14400" y="2323813"/>
            <a:ext cx="2578735" cy="4351020"/>
            <a:chOff x="1903476" y="2394204"/>
            <a:chExt cx="2578735" cy="4351020"/>
          </a:xfrm>
        </p:grpSpPr>
        <p:sp>
          <p:nvSpPr>
            <p:cNvPr id="5" name="object 5"/>
            <p:cNvSpPr/>
            <p:nvPr/>
          </p:nvSpPr>
          <p:spPr>
            <a:xfrm>
              <a:off x="2110740" y="2394204"/>
              <a:ext cx="2165604" cy="22226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03476" y="4594858"/>
              <a:ext cx="2578607" cy="21503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6096000" y="2267186"/>
            <a:ext cx="2193036" cy="22037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88542" y="4644509"/>
            <a:ext cx="2535936" cy="2060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165" dirty="0"/>
              <a:t>Informasi </a:t>
            </a:r>
            <a:r>
              <a:rPr spc="-185" dirty="0"/>
              <a:t>dari </a:t>
            </a:r>
            <a:r>
              <a:rPr spc="-229" dirty="0"/>
              <a:t>Citra</a:t>
            </a:r>
            <a:r>
              <a:rPr spc="-425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6675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Informasi </a:t>
            </a:r>
            <a:r>
              <a:rPr sz="2400" dirty="0">
                <a:latin typeface="Carlito"/>
                <a:cs typeface="Carlito"/>
              </a:rPr>
              <a:t>apa </a:t>
            </a:r>
            <a:r>
              <a:rPr sz="2400" spc="-10" dirty="0">
                <a:latin typeface="Carlito"/>
                <a:cs typeface="Carlito"/>
              </a:rPr>
              <a:t>yang </a:t>
            </a:r>
            <a:r>
              <a:rPr sz="2400" spc="-5" dirty="0">
                <a:latin typeface="Carlito"/>
                <a:cs typeface="Carlito"/>
              </a:rPr>
              <a:t>bisa </a:t>
            </a:r>
            <a:r>
              <a:rPr sz="2400" dirty="0">
                <a:latin typeface="Carlito"/>
                <a:cs typeface="Carlito"/>
              </a:rPr>
              <a:t>anda </a:t>
            </a:r>
            <a:r>
              <a:rPr sz="2400" spc="-10" dirty="0">
                <a:latin typeface="Carlito"/>
                <a:cs typeface="Carlito"/>
              </a:rPr>
              <a:t>dapatkan </a:t>
            </a:r>
            <a:r>
              <a:rPr sz="2400" spc="-5" dirty="0">
                <a:latin typeface="Carlito"/>
                <a:cs typeface="Carlito"/>
              </a:rPr>
              <a:t>dari </a:t>
            </a:r>
            <a:r>
              <a:rPr sz="2400" spc="-10" dirty="0">
                <a:latin typeface="Carlito"/>
                <a:cs typeface="Carlito"/>
              </a:rPr>
              <a:t>citra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ini?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5211" y="2342388"/>
            <a:ext cx="6513576" cy="4282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165" dirty="0"/>
              <a:t>Informasi </a:t>
            </a:r>
            <a:r>
              <a:rPr spc="-185" dirty="0"/>
              <a:t>dari </a:t>
            </a:r>
            <a:r>
              <a:rPr spc="-229" dirty="0"/>
              <a:t>Citra </a:t>
            </a:r>
            <a:r>
              <a:rPr spc="-250" dirty="0"/>
              <a:t>Dijital</a:t>
            </a:r>
            <a:r>
              <a:rPr spc="-445" dirty="0"/>
              <a:t> </a:t>
            </a:r>
            <a:r>
              <a:rPr spc="-185" dirty="0"/>
              <a:t>(2)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4650" y="1821179"/>
            <a:ext cx="6210935" cy="4052570"/>
            <a:chOff x="374650" y="1821179"/>
            <a:chExt cx="6210935" cy="4052570"/>
          </a:xfrm>
        </p:grpSpPr>
        <p:sp>
          <p:nvSpPr>
            <p:cNvPr id="5" name="object 5"/>
            <p:cNvSpPr/>
            <p:nvPr/>
          </p:nvSpPr>
          <p:spPr>
            <a:xfrm>
              <a:off x="445007" y="1821179"/>
              <a:ext cx="6140195" cy="40370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6626" y="2017013"/>
              <a:ext cx="5932805" cy="3841750"/>
            </a:xfrm>
            <a:custGeom>
              <a:avLst/>
              <a:gdLst/>
              <a:ahLst/>
              <a:cxnLst/>
              <a:rect l="l" t="t" r="r" b="b"/>
              <a:pathLst>
                <a:path w="5932805" h="3841750">
                  <a:moveTo>
                    <a:pt x="2642616" y="1002791"/>
                  </a:moveTo>
                  <a:lnTo>
                    <a:pt x="2593848" y="2308987"/>
                  </a:lnTo>
                </a:path>
                <a:path w="5932805" h="3841750">
                  <a:moveTo>
                    <a:pt x="3336036" y="1511808"/>
                  </a:moveTo>
                  <a:lnTo>
                    <a:pt x="3336036" y="2288159"/>
                  </a:lnTo>
                </a:path>
                <a:path w="5932805" h="3841750">
                  <a:moveTo>
                    <a:pt x="3360420" y="2313432"/>
                  </a:moveTo>
                  <a:lnTo>
                    <a:pt x="5932551" y="3841597"/>
                  </a:lnTo>
                </a:path>
                <a:path w="5932805" h="3841750">
                  <a:moveTo>
                    <a:pt x="2560193" y="2351532"/>
                  </a:moveTo>
                  <a:lnTo>
                    <a:pt x="0" y="3426333"/>
                  </a:lnTo>
                </a:path>
                <a:path w="5932805" h="3841750">
                  <a:moveTo>
                    <a:pt x="3335528" y="2331720"/>
                  </a:moveTo>
                  <a:lnTo>
                    <a:pt x="2552700" y="2352929"/>
                  </a:lnTo>
                </a:path>
                <a:path w="5932805" h="3841750">
                  <a:moveTo>
                    <a:pt x="3336036" y="1506347"/>
                  </a:moveTo>
                  <a:lnTo>
                    <a:pt x="3969385" y="336803"/>
                  </a:lnTo>
                </a:path>
                <a:path w="5932805" h="3841750">
                  <a:moveTo>
                    <a:pt x="2656586" y="1006856"/>
                  </a:moveTo>
                  <a:lnTo>
                    <a:pt x="2257044" y="0"/>
                  </a:lnTo>
                </a:path>
              </a:pathLst>
            </a:custGeom>
            <a:ln w="2895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" y="2546603"/>
              <a:ext cx="2670175" cy="760730"/>
            </a:xfrm>
            <a:custGeom>
              <a:avLst/>
              <a:gdLst/>
              <a:ahLst/>
              <a:cxnLst/>
              <a:rect l="l" t="t" r="r" b="b"/>
              <a:pathLst>
                <a:path w="2670175" h="760729">
                  <a:moveTo>
                    <a:pt x="2225040" y="603504"/>
                  </a:moveTo>
                  <a:lnTo>
                    <a:pt x="1557527" y="603504"/>
                  </a:lnTo>
                  <a:lnTo>
                    <a:pt x="2426335" y="760476"/>
                  </a:lnTo>
                  <a:lnTo>
                    <a:pt x="2225040" y="603504"/>
                  </a:lnTo>
                  <a:close/>
                </a:path>
                <a:path w="2670175" h="760729">
                  <a:moveTo>
                    <a:pt x="2569464" y="0"/>
                  </a:moveTo>
                  <a:lnTo>
                    <a:pt x="100584" y="0"/>
                  </a:lnTo>
                  <a:lnTo>
                    <a:pt x="61432" y="7911"/>
                  </a:lnTo>
                  <a:lnTo>
                    <a:pt x="29460" y="29479"/>
                  </a:lnTo>
                  <a:lnTo>
                    <a:pt x="7904" y="61454"/>
                  </a:lnTo>
                  <a:lnTo>
                    <a:pt x="0" y="100584"/>
                  </a:lnTo>
                  <a:lnTo>
                    <a:pt x="0" y="502920"/>
                  </a:lnTo>
                  <a:lnTo>
                    <a:pt x="7904" y="542049"/>
                  </a:lnTo>
                  <a:lnTo>
                    <a:pt x="29460" y="574024"/>
                  </a:lnTo>
                  <a:lnTo>
                    <a:pt x="61432" y="595592"/>
                  </a:lnTo>
                  <a:lnTo>
                    <a:pt x="100584" y="603504"/>
                  </a:lnTo>
                  <a:lnTo>
                    <a:pt x="2569464" y="603504"/>
                  </a:lnTo>
                  <a:lnTo>
                    <a:pt x="2608593" y="595592"/>
                  </a:lnTo>
                  <a:lnTo>
                    <a:pt x="2640568" y="574024"/>
                  </a:lnTo>
                  <a:lnTo>
                    <a:pt x="2662136" y="542049"/>
                  </a:lnTo>
                  <a:lnTo>
                    <a:pt x="2670048" y="502920"/>
                  </a:lnTo>
                  <a:lnTo>
                    <a:pt x="2670048" y="100584"/>
                  </a:lnTo>
                  <a:lnTo>
                    <a:pt x="2662136" y="61454"/>
                  </a:lnTo>
                  <a:lnTo>
                    <a:pt x="2640568" y="29479"/>
                  </a:lnTo>
                  <a:lnTo>
                    <a:pt x="2608593" y="7911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000" y="2546603"/>
              <a:ext cx="2670175" cy="760730"/>
            </a:xfrm>
            <a:custGeom>
              <a:avLst/>
              <a:gdLst/>
              <a:ahLst/>
              <a:cxnLst/>
              <a:rect l="l" t="t" r="r" b="b"/>
              <a:pathLst>
                <a:path w="2670175" h="760729">
                  <a:moveTo>
                    <a:pt x="0" y="100584"/>
                  </a:moveTo>
                  <a:lnTo>
                    <a:pt x="7904" y="61454"/>
                  </a:lnTo>
                  <a:lnTo>
                    <a:pt x="29460" y="29479"/>
                  </a:lnTo>
                  <a:lnTo>
                    <a:pt x="61432" y="7911"/>
                  </a:lnTo>
                  <a:lnTo>
                    <a:pt x="100584" y="0"/>
                  </a:lnTo>
                  <a:lnTo>
                    <a:pt x="1557527" y="0"/>
                  </a:lnTo>
                  <a:lnTo>
                    <a:pt x="2225040" y="0"/>
                  </a:lnTo>
                  <a:lnTo>
                    <a:pt x="2569464" y="0"/>
                  </a:lnTo>
                  <a:lnTo>
                    <a:pt x="2608593" y="7911"/>
                  </a:lnTo>
                  <a:lnTo>
                    <a:pt x="2640568" y="29479"/>
                  </a:lnTo>
                  <a:lnTo>
                    <a:pt x="2662136" y="61454"/>
                  </a:lnTo>
                  <a:lnTo>
                    <a:pt x="2670048" y="100584"/>
                  </a:lnTo>
                  <a:lnTo>
                    <a:pt x="2670048" y="352044"/>
                  </a:lnTo>
                  <a:lnTo>
                    <a:pt x="2670048" y="502920"/>
                  </a:lnTo>
                  <a:lnTo>
                    <a:pt x="2662136" y="542049"/>
                  </a:lnTo>
                  <a:lnTo>
                    <a:pt x="2640568" y="574024"/>
                  </a:lnTo>
                  <a:lnTo>
                    <a:pt x="2608593" y="595592"/>
                  </a:lnTo>
                  <a:lnTo>
                    <a:pt x="2569464" y="603504"/>
                  </a:lnTo>
                  <a:lnTo>
                    <a:pt x="2225040" y="603504"/>
                  </a:lnTo>
                  <a:lnTo>
                    <a:pt x="2426335" y="760476"/>
                  </a:lnTo>
                  <a:lnTo>
                    <a:pt x="1557527" y="603504"/>
                  </a:lnTo>
                  <a:lnTo>
                    <a:pt x="100584" y="603504"/>
                  </a:lnTo>
                  <a:lnTo>
                    <a:pt x="61432" y="595592"/>
                  </a:lnTo>
                  <a:lnTo>
                    <a:pt x="29460" y="574024"/>
                  </a:lnTo>
                  <a:lnTo>
                    <a:pt x="7904" y="542049"/>
                  </a:lnTo>
                  <a:lnTo>
                    <a:pt x="0" y="502920"/>
                  </a:lnTo>
                  <a:lnTo>
                    <a:pt x="0" y="352044"/>
                  </a:lnTo>
                  <a:lnTo>
                    <a:pt x="0" y="100584"/>
                  </a:lnTo>
                  <a:close/>
                </a:path>
              </a:pathLst>
            </a:custGeom>
            <a:ln w="12192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09029" y="1764918"/>
            <a:ext cx="2038985" cy="294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8770" marR="5080" indent="-306705">
              <a:lnSpc>
                <a:spcPct val="100000"/>
              </a:lnSpc>
              <a:spcBef>
                <a:spcPts val="95"/>
              </a:spcBef>
              <a:buSzPct val="90909"/>
              <a:buFont typeface="Arial"/>
              <a:buChar char=""/>
              <a:tabLst>
                <a:tab pos="318770" algn="l"/>
                <a:tab pos="319405" algn="l"/>
              </a:tabLst>
            </a:pPr>
            <a:r>
              <a:rPr sz="2200" spc="-5" dirty="0">
                <a:solidFill>
                  <a:srgbClr val="444D25"/>
                </a:solidFill>
                <a:latin typeface="Carlito"/>
                <a:cs typeface="Carlito"/>
              </a:rPr>
              <a:t>3D Scene  </a:t>
            </a:r>
            <a:r>
              <a:rPr sz="2200" spc="-45" dirty="0">
                <a:solidFill>
                  <a:srgbClr val="444D25"/>
                </a:solidFill>
                <a:latin typeface="Carlito"/>
                <a:cs typeface="Carlito"/>
              </a:rPr>
              <a:t>R</a:t>
            </a:r>
            <a:r>
              <a:rPr sz="2200" spc="-5" dirty="0">
                <a:solidFill>
                  <a:srgbClr val="444D25"/>
                </a:solidFill>
                <a:latin typeface="Carlito"/>
                <a:cs typeface="Carlito"/>
              </a:rPr>
              <a:t>e</a:t>
            </a:r>
            <a:r>
              <a:rPr sz="2200" spc="-35" dirty="0">
                <a:solidFill>
                  <a:srgbClr val="444D25"/>
                </a:solidFill>
                <a:latin typeface="Carlito"/>
                <a:cs typeface="Carlito"/>
              </a:rPr>
              <a:t>c</a:t>
            </a:r>
            <a:r>
              <a:rPr sz="2200" dirty="0">
                <a:solidFill>
                  <a:srgbClr val="444D25"/>
                </a:solidFill>
                <a:latin typeface="Carlito"/>
                <a:cs typeface="Carlito"/>
              </a:rPr>
              <a:t>o</a:t>
            </a:r>
            <a:r>
              <a:rPr sz="2200" spc="-10" dirty="0">
                <a:solidFill>
                  <a:srgbClr val="444D25"/>
                </a:solidFill>
                <a:latin typeface="Carlito"/>
                <a:cs typeface="Carlito"/>
              </a:rPr>
              <a:t>n</a:t>
            </a:r>
            <a:r>
              <a:rPr sz="2200" spc="-25" dirty="0">
                <a:solidFill>
                  <a:srgbClr val="444D25"/>
                </a:solidFill>
                <a:latin typeface="Carlito"/>
                <a:cs typeface="Carlito"/>
              </a:rPr>
              <a:t>s</a:t>
            </a:r>
            <a:r>
              <a:rPr sz="2200" spc="-5" dirty="0">
                <a:solidFill>
                  <a:srgbClr val="444D25"/>
                </a:solidFill>
                <a:latin typeface="Carlito"/>
                <a:cs typeface="Carlito"/>
              </a:rPr>
              <a:t>truc</a:t>
            </a:r>
            <a:r>
              <a:rPr sz="2200" spc="-15" dirty="0">
                <a:solidFill>
                  <a:srgbClr val="444D25"/>
                </a:solidFill>
                <a:latin typeface="Carlito"/>
                <a:cs typeface="Carlito"/>
              </a:rPr>
              <a:t>t</a:t>
            </a:r>
            <a:r>
              <a:rPr sz="2200" spc="-5" dirty="0">
                <a:solidFill>
                  <a:srgbClr val="444D25"/>
                </a:solidFill>
                <a:latin typeface="Carlito"/>
                <a:cs typeface="Carlito"/>
              </a:rPr>
              <a:t>i</a:t>
            </a:r>
            <a:r>
              <a:rPr sz="2200" dirty="0">
                <a:solidFill>
                  <a:srgbClr val="444D25"/>
                </a:solidFill>
                <a:latin typeface="Carlito"/>
                <a:cs typeface="Carlito"/>
              </a:rPr>
              <a:t>o</a:t>
            </a:r>
            <a:r>
              <a:rPr sz="2200" spc="-5" dirty="0">
                <a:solidFill>
                  <a:srgbClr val="444D25"/>
                </a:solidFill>
                <a:latin typeface="Carlito"/>
                <a:cs typeface="Carlito"/>
              </a:rPr>
              <a:t>n</a:t>
            </a:r>
            <a:endParaRPr sz="2200">
              <a:latin typeface="Carlito"/>
              <a:cs typeface="Carlito"/>
            </a:endParaRPr>
          </a:p>
          <a:p>
            <a:pPr marL="318770" indent="-306705">
              <a:lnSpc>
                <a:spcPct val="100000"/>
              </a:lnSpc>
              <a:spcBef>
                <a:spcPts val="1130"/>
              </a:spcBef>
              <a:buSzPct val="90909"/>
              <a:buFont typeface="Arial"/>
              <a:buChar char=""/>
              <a:tabLst>
                <a:tab pos="318770" algn="l"/>
                <a:tab pos="319405" algn="l"/>
              </a:tabLst>
            </a:pPr>
            <a:r>
              <a:rPr sz="2200" spc="-10" dirty="0">
                <a:solidFill>
                  <a:srgbClr val="444D25"/>
                </a:solidFill>
                <a:latin typeface="Carlito"/>
                <a:cs typeface="Carlito"/>
              </a:rPr>
              <a:t>Detection</a:t>
            </a:r>
            <a:endParaRPr sz="2200">
              <a:latin typeface="Carlito"/>
              <a:cs typeface="Carlito"/>
            </a:endParaRPr>
          </a:p>
          <a:p>
            <a:pPr marL="318770" indent="-306705">
              <a:lnSpc>
                <a:spcPct val="100000"/>
              </a:lnSpc>
              <a:spcBef>
                <a:spcPts val="1125"/>
              </a:spcBef>
              <a:buSzPct val="90909"/>
              <a:buFont typeface="Arial"/>
              <a:buChar char=""/>
              <a:tabLst>
                <a:tab pos="318770" algn="l"/>
                <a:tab pos="319405" algn="l"/>
              </a:tabLst>
            </a:pPr>
            <a:r>
              <a:rPr sz="2200" spc="-10" dirty="0">
                <a:solidFill>
                  <a:srgbClr val="444D25"/>
                </a:solidFill>
                <a:latin typeface="Carlito"/>
                <a:cs typeface="Carlito"/>
              </a:rPr>
              <a:t>Segmentation</a:t>
            </a:r>
            <a:endParaRPr sz="2200">
              <a:latin typeface="Carlito"/>
              <a:cs typeface="Carlito"/>
            </a:endParaRPr>
          </a:p>
          <a:p>
            <a:pPr marL="318770" indent="-306705">
              <a:lnSpc>
                <a:spcPct val="100000"/>
              </a:lnSpc>
              <a:spcBef>
                <a:spcPts val="1135"/>
              </a:spcBef>
              <a:buSzPct val="90909"/>
              <a:buFont typeface="Arial"/>
              <a:buChar char=""/>
              <a:tabLst>
                <a:tab pos="318770" algn="l"/>
                <a:tab pos="319405" algn="l"/>
              </a:tabLst>
            </a:pPr>
            <a:r>
              <a:rPr sz="2200" spc="-10" dirty="0">
                <a:solidFill>
                  <a:srgbClr val="444D25"/>
                </a:solidFill>
                <a:latin typeface="Carlito"/>
                <a:cs typeface="Carlito"/>
              </a:rPr>
              <a:t>Recognition</a:t>
            </a:r>
            <a:endParaRPr sz="2200">
              <a:latin typeface="Carlito"/>
              <a:cs typeface="Carlito"/>
            </a:endParaRPr>
          </a:p>
          <a:p>
            <a:pPr marL="318770" indent="-306705">
              <a:lnSpc>
                <a:spcPct val="100000"/>
              </a:lnSpc>
              <a:spcBef>
                <a:spcPts val="1125"/>
              </a:spcBef>
              <a:buSzPct val="90909"/>
              <a:buFont typeface="Arial"/>
              <a:buChar char=""/>
              <a:tabLst>
                <a:tab pos="318770" algn="l"/>
                <a:tab pos="319405" algn="l"/>
              </a:tabLst>
            </a:pPr>
            <a:r>
              <a:rPr sz="2200" spc="-5" dirty="0">
                <a:solidFill>
                  <a:srgbClr val="444D25"/>
                </a:solidFill>
                <a:latin typeface="Carlito"/>
                <a:cs typeface="Carlito"/>
              </a:rPr>
              <a:t>3D</a:t>
            </a:r>
            <a:r>
              <a:rPr sz="2200" spc="-75" dirty="0">
                <a:solidFill>
                  <a:srgbClr val="444D25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444D25"/>
                </a:solidFill>
                <a:latin typeface="Carlito"/>
                <a:cs typeface="Carlito"/>
              </a:rPr>
              <a:t>Distance</a:t>
            </a:r>
            <a:endParaRPr sz="2200">
              <a:latin typeface="Carlito"/>
              <a:cs typeface="Carlito"/>
            </a:endParaRPr>
          </a:p>
          <a:p>
            <a:pPr marL="318770">
              <a:lnSpc>
                <a:spcPct val="100000"/>
              </a:lnSpc>
            </a:pPr>
            <a:r>
              <a:rPr sz="2200" spc="-10" dirty="0">
                <a:solidFill>
                  <a:srgbClr val="444D25"/>
                </a:solidFill>
                <a:latin typeface="Carlito"/>
                <a:cs typeface="Carlito"/>
              </a:rPr>
              <a:t>Estimation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7840" y="2546350"/>
            <a:ext cx="2435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Apakah </a:t>
            </a:r>
            <a:r>
              <a:rPr sz="1800" dirty="0">
                <a:latin typeface="Carlito"/>
                <a:cs typeface="Carlito"/>
              </a:rPr>
              <a:t>ada </a:t>
            </a:r>
            <a:r>
              <a:rPr sz="1800" spc="-5" dirty="0">
                <a:latin typeface="Carlito"/>
                <a:cs typeface="Carlito"/>
              </a:rPr>
              <a:t>objek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penting</a:t>
            </a:r>
            <a:endParaRPr sz="1800">
              <a:latin typeface="Carlito"/>
              <a:cs typeface="Carlito"/>
            </a:endParaRPr>
          </a:p>
          <a:p>
            <a:pPr marL="1905" algn="ctr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di dalam </a:t>
            </a:r>
            <a:r>
              <a:rPr sz="1800" spc="-10" dirty="0">
                <a:latin typeface="Carlito"/>
                <a:cs typeface="Carlito"/>
              </a:rPr>
              <a:t>citra?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4650" y="1706626"/>
            <a:ext cx="2682875" cy="788670"/>
            <a:chOff x="374650" y="1706626"/>
            <a:chExt cx="2682875" cy="788670"/>
          </a:xfrm>
        </p:grpSpPr>
        <p:sp>
          <p:nvSpPr>
            <p:cNvPr id="12" name="object 12"/>
            <p:cNvSpPr/>
            <p:nvPr/>
          </p:nvSpPr>
          <p:spPr>
            <a:xfrm>
              <a:off x="381000" y="1712976"/>
              <a:ext cx="2670175" cy="775970"/>
            </a:xfrm>
            <a:custGeom>
              <a:avLst/>
              <a:gdLst/>
              <a:ahLst/>
              <a:cxnLst/>
              <a:rect l="l" t="t" r="r" b="b"/>
              <a:pathLst>
                <a:path w="2670175" h="775969">
                  <a:moveTo>
                    <a:pt x="2225040" y="603503"/>
                  </a:moveTo>
                  <a:lnTo>
                    <a:pt x="1557527" y="603503"/>
                  </a:lnTo>
                  <a:lnTo>
                    <a:pt x="2269871" y="775588"/>
                  </a:lnTo>
                  <a:lnTo>
                    <a:pt x="2225040" y="603503"/>
                  </a:lnTo>
                  <a:close/>
                </a:path>
                <a:path w="2670175" h="775969">
                  <a:moveTo>
                    <a:pt x="2569464" y="0"/>
                  </a:moveTo>
                  <a:lnTo>
                    <a:pt x="100584" y="0"/>
                  </a:lnTo>
                  <a:lnTo>
                    <a:pt x="61432" y="7911"/>
                  </a:lnTo>
                  <a:lnTo>
                    <a:pt x="29460" y="29479"/>
                  </a:lnTo>
                  <a:lnTo>
                    <a:pt x="7904" y="61454"/>
                  </a:lnTo>
                  <a:lnTo>
                    <a:pt x="0" y="100584"/>
                  </a:lnTo>
                  <a:lnTo>
                    <a:pt x="0" y="502920"/>
                  </a:lnTo>
                  <a:lnTo>
                    <a:pt x="7904" y="542049"/>
                  </a:lnTo>
                  <a:lnTo>
                    <a:pt x="29460" y="574024"/>
                  </a:lnTo>
                  <a:lnTo>
                    <a:pt x="61432" y="595592"/>
                  </a:lnTo>
                  <a:lnTo>
                    <a:pt x="100584" y="603503"/>
                  </a:lnTo>
                  <a:lnTo>
                    <a:pt x="2569464" y="603503"/>
                  </a:lnTo>
                  <a:lnTo>
                    <a:pt x="2608593" y="595592"/>
                  </a:lnTo>
                  <a:lnTo>
                    <a:pt x="2640568" y="574024"/>
                  </a:lnTo>
                  <a:lnTo>
                    <a:pt x="2662136" y="542049"/>
                  </a:lnTo>
                  <a:lnTo>
                    <a:pt x="2670048" y="502920"/>
                  </a:lnTo>
                  <a:lnTo>
                    <a:pt x="2670048" y="100584"/>
                  </a:lnTo>
                  <a:lnTo>
                    <a:pt x="2662136" y="61454"/>
                  </a:lnTo>
                  <a:lnTo>
                    <a:pt x="2640568" y="29479"/>
                  </a:lnTo>
                  <a:lnTo>
                    <a:pt x="2608593" y="7911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1000" y="1712976"/>
              <a:ext cx="2670175" cy="775970"/>
            </a:xfrm>
            <a:custGeom>
              <a:avLst/>
              <a:gdLst/>
              <a:ahLst/>
              <a:cxnLst/>
              <a:rect l="l" t="t" r="r" b="b"/>
              <a:pathLst>
                <a:path w="2670175" h="775969">
                  <a:moveTo>
                    <a:pt x="0" y="100584"/>
                  </a:moveTo>
                  <a:lnTo>
                    <a:pt x="7904" y="61454"/>
                  </a:lnTo>
                  <a:lnTo>
                    <a:pt x="29460" y="29479"/>
                  </a:lnTo>
                  <a:lnTo>
                    <a:pt x="61432" y="7911"/>
                  </a:lnTo>
                  <a:lnTo>
                    <a:pt x="100584" y="0"/>
                  </a:lnTo>
                  <a:lnTo>
                    <a:pt x="1557527" y="0"/>
                  </a:lnTo>
                  <a:lnTo>
                    <a:pt x="2225040" y="0"/>
                  </a:lnTo>
                  <a:lnTo>
                    <a:pt x="2569464" y="0"/>
                  </a:lnTo>
                  <a:lnTo>
                    <a:pt x="2608593" y="7911"/>
                  </a:lnTo>
                  <a:lnTo>
                    <a:pt x="2640568" y="29479"/>
                  </a:lnTo>
                  <a:lnTo>
                    <a:pt x="2662136" y="61454"/>
                  </a:lnTo>
                  <a:lnTo>
                    <a:pt x="2670048" y="100584"/>
                  </a:lnTo>
                  <a:lnTo>
                    <a:pt x="2670048" y="352044"/>
                  </a:lnTo>
                  <a:lnTo>
                    <a:pt x="2670048" y="502920"/>
                  </a:lnTo>
                  <a:lnTo>
                    <a:pt x="2662136" y="542049"/>
                  </a:lnTo>
                  <a:lnTo>
                    <a:pt x="2640568" y="574024"/>
                  </a:lnTo>
                  <a:lnTo>
                    <a:pt x="2608593" y="595592"/>
                  </a:lnTo>
                  <a:lnTo>
                    <a:pt x="2569464" y="603503"/>
                  </a:lnTo>
                  <a:lnTo>
                    <a:pt x="2225040" y="603503"/>
                  </a:lnTo>
                  <a:lnTo>
                    <a:pt x="2269871" y="775588"/>
                  </a:lnTo>
                  <a:lnTo>
                    <a:pt x="1557527" y="603503"/>
                  </a:lnTo>
                  <a:lnTo>
                    <a:pt x="100584" y="603503"/>
                  </a:lnTo>
                  <a:lnTo>
                    <a:pt x="61432" y="595592"/>
                  </a:lnTo>
                  <a:lnTo>
                    <a:pt x="29460" y="574024"/>
                  </a:lnTo>
                  <a:lnTo>
                    <a:pt x="7904" y="542049"/>
                  </a:lnTo>
                  <a:lnTo>
                    <a:pt x="0" y="502920"/>
                  </a:lnTo>
                  <a:lnTo>
                    <a:pt x="0" y="352044"/>
                  </a:lnTo>
                  <a:lnTo>
                    <a:pt x="0" y="100584"/>
                  </a:lnTo>
                  <a:close/>
                </a:path>
              </a:pathLst>
            </a:custGeom>
            <a:ln w="12192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7230" y="1850516"/>
            <a:ext cx="243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Bagaimana stuktur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i="1" spc="-5" dirty="0">
                <a:latin typeface="Carlito"/>
                <a:cs typeface="Carlito"/>
              </a:rPr>
              <a:t>scene</a:t>
            </a:r>
            <a:r>
              <a:rPr sz="1800" spc="-5" dirty="0">
                <a:latin typeface="Carlito"/>
                <a:cs typeface="Carlito"/>
              </a:rPr>
              <a:t>?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07591" y="1711198"/>
            <a:ext cx="5253990" cy="4166235"/>
            <a:chOff x="1307591" y="1711198"/>
            <a:chExt cx="5253990" cy="4166235"/>
          </a:xfrm>
        </p:grpSpPr>
        <p:sp>
          <p:nvSpPr>
            <p:cNvPr id="16" name="object 16"/>
            <p:cNvSpPr/>
            <p:nvPr/>
          </p:nvSpPr>
          <p:spPr>
            <a:xfrm>
              <a:off x="2798825" y="4923282"/>
              <a:ext cx="1270" cy="935355"/>
            </a:xfrm>
            <a:custGeom>
              <a:avLst/>
              <a:gdLst/>
              <a:ahLst/>
              <a:cxnLst/>
              <a:rect l="l" t="t" r="r" b="b"/>
              <a:pathLst>
                <a:path w="1269" h="935354">
                  <a:moveTo>
                    <a:pt x="888" y="0"/>
                  </a:moveTo>
                  <a:lnTo>
                    <a:pt x="0" y="934935"/>
                  </a:lnTo>
                </a:path>
              </a:pathLst>
            </a:custGeom>
            <a:ln w="381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26641" y="4254246"/>
              <a:ext cx="4250690" cy="394970"/>
            </a:xfrm>
            <a:custGeom>
              <a:avLst/>
              <a:gdLst/>
              <a:ahLst/>
              <a:cxnLst/>
              <a:rect l="l" t="t" r="r" b="b"/>
              <a:pathLst>
                <a:path w="4250690" h="394970">
                  <a:moveTo>
                    <a:pt x="0" y="394715"/>
                  </a:moveTo>
                  <a:lnTo>
                    <a:pt x="1001268" y="394715"/>
                  </a:lnTo>
                  <a:lnTo>
                    <a:pt x="1001268" y="129539"/>
                  </a:lnTo>
                  <a:lnTo>
                    <a:pt x="0" y="129539"/>
                  </a:lnTo>
                  <a:lnTo>
                    <a:pt x="0" y="394715"/>
                  </a:lnTo>
                  <a:close/>
                </a:path>
                <a:path w="4250690" h="394970">
                  <a:moveTo>
                    <a:pt x="2118360" y="236219"/>
                  </a:moveTo>
                  <a:lnTo>
                    <a:pt x="2346960" y="236219"/>
                  </a:lnTo>
                  <a:lnTo>
                    <a:pt x="2346960" y="51815"/>
                  </a:lnTo>
                  <a:lnTo>
                    <a:pt x="2118360" y="51815"/>
                  </a:lnTo>
                  <a:lnTo>
                    <a:pt x="2118360" y="236219"/>
                  </a:lnTo>
                  <a:close/>
                </a:path>
                <a:path w="4250690" h="394970">
                  <a:moveTo>
                    <a:pt x="1815084" y="240791"/>
                  </a:moveTo>
                  <a:lnTo>
                    <a:pt x="2043684" y="240791"/>
                  </a:lnTo>
                  <a:lnTo>
                    <a:pt x="2043684" y="54863"/>
                  </a:lnTo>
                  <a:lnTo>
                    <a:pt x="1815084" y="54863"/>
                  </a:lnTo>
                  <a:lnTo>
                    <a:pt x="1815084" y="240791"/>
                  </a:lnTo>
                  <a:close/>
                </a:path>
                <a:path w="4250690" h="394970">
                  <a:moveTo>
                    <a:pt x="3246120" y="364235"/>
                  </a:moveTo>
                  <a:lnTo>
                    <a:pt x="4250436" y="364235"/>
                  </a:lnTo>
                  <a:lnTo>
                    <a:pt x="4250436" y="0"/>
                  </a:lnTo>
                  <a:lnTo>
                    <a:pt x="3246120" y="0"/>
                  </a:lnTo>
                  <a:lnTo>
                    <a:pt x="3246120" y="364235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4675" y="1717548"/>
              <a:ext cx="2670175" cy="764540"/>
            </a:xfrm>
            <a:custGeom>
              <a:avLst/>
              <a:gdLst/>
              <a:ahLst/>
              <a:cxnLst/>
              <a:rect l="l" t="t" r="r" b="b"/>
              <a:pathLst>
                <a:path w="2670175" h="764539">
                  <a:moveTo>
                    <a:pt x="1112520" y="605027"/>
                  </a:moveTo>
                  <a:lnTo>
                    <a:pt x="445008" y="605027"/>
                  </a:lnTo>
                  <a:lnTo>
                    <a:pt x="319913" y="764031"/>
                  </a:lnTo>
                  <a:lnTo>
                    <a:pt x="1112520" y="605027"/>
                  </a:lnTo>
                  <a:close/>
                </a:path>
                <a:path w="2670175" h="764539">
                  <a:moveTo>
                    <a:pt x="2569210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89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7"/>
                  </a:lnTo>
                  <a:lnTo>
                    <a:pt x="2569210" y="605027"/>
                  </a:lnTo>
                  <a:lnTo>
                    <a:pt x="2608486" y="597112"/>
                  </a:lnTo>
                  <a:lnTo>
                    <a:pt x="2640536" y="575516"/>
                  </a:lnTo>
                  <a:lnTo>
                    <a:pt x="2662132" y="543466"/>
                  </a:lnTo>
                  <a:lnTo>
                    <a:pt x="2670048" y="504189"/>
                  </a:lnTo>
                  <a:lnTo>
                    <a:pt x="2670048" y="100837"/>
                  </a:lnTo>
                  <a:lnTo>
                    <a:pt x="2662132" y="61561"/>
                  </a:lnTo>
                  <a:lnTo>
                    <a:pt x="2640536" y="29511"/>
                  </a:lnTo>
                  <a:lnTo>
                    <a:pt x="2608486" y="7915"/>
                  </a:lnTo>
                  <a:lnTo>
                    <a:pt x="2569210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84675" y="1717548"/>
              <a:ext cx="2670175" cy="764540"/>
            </a:xfrm>
            <a:custGeom>
              <a:avLst/>
              <a:gdLst/>
              <a:ahLst/>
              <a:cxnLst/>
              <a:rect l="l" t="t" r="r" b="b"/>
              <a:pathLst>
                <a:path w="2670175" h="764539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445008" y="0"/>
                  </a:lnTo>
                  <a:lnTo>
                    <a:pt x="1112520" y="0"/>
                  </a:lnTo>
                  <a:lnTo>
                    <a:pt x="2569210" y="0"/>
                  </a:lnTo>
                  <a:lnTo>
                    <a:pt x="2608486" y="7915"/>
                  </a:lnTo>
                  <a:lnTo>
                    <a:pt x="2640536" y="29511"/>
                  </a:lnTo>
                  <a:lnTo>
                    <a:pt x="2662132" y="61561"/>
                  </a:lnTo>
                  <a:lnTo>
                    <a:pt x="2670048" y="100837"/>
                  </a:lnTo>
                  <a:lnTo>
                    <a:pt x="2670048" y="352932"/>
                  </a:lnTo>
                  <a:lnTo>
                    <a:pt x="2670048" y="504189"/>
                  </a:lnTo>
                  <a:lnTo>
                    <a:pt x="2662132" y="543466"/>
                  </a:lnTo>
                  <a:lnTo>
                    <a:pt x="2640536" y="575516"/>
                  </a:lnTo>
                  <a:lnTo>
                    <a:pt x="2608486" y="597112"/>
                  </a:lnTo>
                  <a:lnTo>
                    <a:pt x="2569210" y="605027"/>
                  </a:lnTo>
                  <a:lnTo>
                    <a:pt x="1112520" y="605027"/>
                  </a:lnTo>
                  <a:lnTo>
                    <a:pt x="319913" y="764031"/>
                  </a:lnTo>
                  <a:lnTo>
                    <a:pt x="445008" y="605027"/>
                  </a:lnTo>
                  <a:lnTo>
                    <a:pt x="100837" y="605027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89"/>
                  </a:lnTo>
                  <a:lnTo>
                    <a:pt x="0" y="352932"/>
                  </a:lnTo>
                  <a:lnTo>
                    <a:pt x="0" y="100837"/>
                  </a:lnTo>
                  <a:close/>
                </a:path>
              </a:pathLst>
            </a:custGeom>
            <a:ln w="12191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880360" y="5180076"/>
            <a:ext cx="302260" cy="36893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FF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sz="1800" dirty="0">
                <a:solidFill>
                  <a:srgbClr val="0000FF"/>
                </a:solidFill>
                <a:latin typeface="Carlito"/>
                <a:cs typeface="Carlito"/>
              </a:rPr>
              <a:t>d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85665" y="1717928"/>
            <a:ext cx="2068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Objek </a:t>
            </a:r>
            <a:r>
              <a:rPr sz="1800" dirty="0">
                <a:latin typeface="Carlito"/>
                <a:cs typeface="Carlito"/>
              </a:rPr>
              <a:t>apa </a:t>
            </a:r>
            <a:r>
              <a:rPr sz="1800" spc="-10" dirty="0">
                <a:latin typeface="Carlito"/>
                <a:cs typeface="Carlito"/>
              </a:rPr>
              <a:t>yang </a:t>
            </a:r>
            <a:r>
              <a:rPr sz="1800" dirty="0">
                <a:latin typeface="Carlito"/>
                <a:cs typeface="Carlito"/>
              </a:rPr>
              <a:t>ada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di</a:t>
            </a:r>
            <a:endParaRPr sz="1800">
              <a:latin typeface="Carlito"/>
              <a:cs typeface="Carlito"/>
            </a:endParaRPr>
          </a:p>
          <a:p>
            <a:pPr marL="635" algn="ctr">
              <a:lnSpc>
                <a:spcPct val="100000"/>
              </a:lnSpc>
            </a:pPr>
            <a:r>
              <a:rPr sz="1800" spc="-5" dirty="0">
                <a:latin typeface="Carlito"/>
                <a:cs typeface="Carlito"/>
              </a:rPr>
              <a:t>dalam</a:t>
            </a:r>
            <a:r>
              <a:rPr sz="1800" spc="-10" dirty="0">
                <a:latin typeface="Carlito"/>
                <a:cs typeface="Carlito"/>
              </a:rPr>
              <a:t> citra?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878326" y="2505201"/>
            <a:ext cx="2682875" cy="788670"/>
            <a:chOff x="3878326" y="2505201"/>
            <a:chExt cx="2682875" cy="788670"/>
          </a:xfrm>
        </p:grpSpPr>
        <p:sp>
          <p:nvSpPr>
            <p:cNvPr id="23" name="object 23"/>
            <p:cNvSpPr/>
            <p:nvPr/>
          </p:nvSpPr>
          <p:spPr>
            <a:xfrm>
              <a:off x="3884676" y="2511551"/>
              <a:ext cx="2670175" cy="775970"/>
            </a:xfrm>
            <a:custGeom>
              <a:avLst/>
              <a:gdLst/>
              <a:ahLst/>
              <a:cxnLst/>
              <a:rect l="l" t="t" r="r" b="b"/>
              <a:pathLst>
                <a:path w="2670175" h="775970">
                  <a:moveTo>
                    <a:pt x="1112520" y="603503"/>
                  </a:moveTo>
                  <a:lnTo>
                    <a:pt x="445008" y="603503"/>
                  </a:lnTo>
                  <a:lnTo>
                    <a:pt x="414020" y="775588"/>
                  </a:lnTo>
                  <a:lnTo>
                    <a:pt x="1112520" y="603503"/>
                  </a:lnTo>
                  <a:close/>
                </a:path>
                <a:path w="2670175" h="775970">
                  <a:moveTo>
                    <a:pt x="2569464" y="0"/>
                  </a:moveTo>
                  <a:lnTo>
                    <a:pt x="100584" y="0"/>
                  </a:lnTo>
                  <a:lnTo>
                    <a:pt x="61454" y="7911"/>
                  </a:lnTo>
                  <a:lnTo>
                    <a:pt x="29479" y="29479"/>
                  </a:lnTo>
                  <a:lnTo>
                    <a:pt x="7911" y="61454"/>
                  </a:lnTo>
                  <a:lnTo>
                    <a:pt x="0" y="100584"/>
                  </a:lnTo>
                  <a:lnTo>
                    <a:pt x="0" y="502920"/>
                  </a:lnTo>
                  <a:lnTo>
                    <a:pt x="7911" y="542049"/>
                  </a:lnTo>
                  <a:lnTo>
                    <a:pt x="29479" y="574024"/>
                  </a:lnTo>
                  <a:lnTo>
                    <a:pt x="61454" y="595592"/>
                  </a:lnTo>
                  <a:lnTo>
                    <a:pt x="100584" y="603503"/>
                  </a:lnTo>
                  <a:lnTo>
                    <a:pt x="2569464" y="603503"/>
                  </a:lnTo>
                  <a:lnTo>
                    <a:pt x="2608593" y="595592"/>
                  </a:lnTo>
                  <a:lnTo>
                    <a:pt x="2640568" y="574024"/>
                  </a:lnTo>
                  <a:lnTo>
                    <a:pt x="2662136" y="542049"/>
                  </a:lnTo>
                  <a:lnTo>
                    <a:pt x="2670048" y="502920"/>
                  </a:lnTo>
                  <a:lnTo>
                    <a:pt x="2670048" y="100584"/>
                  </a:lnTo>
                  <a:lnTo>
                    <a:pt x="2662136" y="61454"/>
                  </a:lnTo>
                  <a:lnTo>
                    <a:pt x="2640568" y="29479"/>
                  </a:lnTo>
                  <a:lnTo>
                    <a:pt x="2608593" y="7911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84676" y="2511551"/>
              <a:ext cx="2670175" cy="775970"/>
            </a:xfrm>
            <a:custGeom>
              <a:avLst/>
              <a:gdLst/>
              <a:ahLst/>
              <a:cxnLst/>
              <a:rect l="l" t="t" r="r" b="b"/>
              <a:pathLst>
                <a:path w="2670175" h="775970">
                  <a:moveTo>
                    <a:pt x="0" y="100584"/>
                  </a:moveTo>
                  <a:lnTo>
                    <a:pt x="7911" y="61454"/>
                  </a:lnTo>
                  <a:lnTo>
                    <a:pt x="29479" y="29479"/>
                  </a:lnTo>
                  <a:lnTo>
                    <a:pt x="61454" y="7911"/>
                  </a:lnTo>
                  <a:lnTo>
                    <a:pt x="100584" y="0"/>
                  </a:lnTo>
                  <a:lnTo>
                    <a:pt x="445008" y="0"/>
                  </a:lnTo>
                  <a:lnTo>
                    <a:pt x="1112520" y="0"/>
                  </a:lnTo>
                  <a:lnTo>
                    <a:pt x="2569464" y="0"/>
                  </a:lnTo>
                  <a:lnTo>
                    <a:pt x="2608593" y="7911"/>
                  </a:lnTo>
                  <a:lnTo>
                    <a:pt x="2640568" y="29479"/>
                  </a:lnTo>
                  <a:lnTo>
                    <a:pt x="2662136" y="61454"/>
                  </a:lnTo>
                  <a:lnTo>
                    <a:pt x="2670048" y="100584"/>
                  </a:lnTo>
                  <a:lnTo>
                    <a:pt x="2670048" y="352044"/>
                  </a:lnTo>
                  <a:lnTo>
                    <a:pt x="2670048" y="502920"/>
                  </a:lnTo>
                  <a:lnTo>
                    <a:pt x="2662136" y="542049"/>
                  </a:lnTo>
                  <a:lnTo>
                    <a:pt x="2640568" y="574024"/>
                  </a:lnTo>
                  <a:lnTo>
                    <a:pt x="2608593" y="595592"/>
                  </a:lnTo>
                  <a:lnTo>
                    <a:pt x="2569464" y="603503"/>
                  </a:lnTo>
                  <a:lnTo>
                    <a:pt x="1112520" y="603503"/>
                  </a:lnTo>
                  <a:lnTo>
                    <a:pt x="414020" y="775588"/>
                  </a:lnTo>
                  <a:lnTo>
                    <a:pt x="445008" y="603503"/>
                  </a:lnTo>
                  <a:lnTo>
                    <a:pt x="100584" y="603503"/>
                  </a:lnTo>
                  <a:lnTo>
                    <a:pt x="61454" y="595592"/>
                  </a:lnTo>
                  <a:lnTo>
                    <a:pt x="29479" y="574024"/>
                  </a:lnTo>
                  <a:lnTo>
                    <a:pt x="7911" y="542049"/>
                  </a:lnTo>
                  <a:lnTo>
                    <a:pt x="0" y="502920"/>
                  </a:lnTo>
                  <a:lnTo>
                    <a:pt x="0" y="352044"/>
                  </a:lnTo>
                  <a:lnTo>
                    <a:pt x="0" y="100584"/>
                  </a:lnTo>
                  <a:close/>
                </a:path>
              </a:pathLst>
            </a:custGeom>
            <a:ln w="12192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226814" y="2511933"/>
            <a:ext cx="19862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Di </a:t>
            </a:r>
            <a:r>
              <a:rPr sz="1800" dirty="0">
                <a:latin typeface="Carlito"/>
                <a:cs typeface="Carlito"/>
              </a:rPr>
              <a:t>mana </a:t>
            </a:r>
            <a:r>
              <a:rPr sz="1800" spc="-5" dirty="0">
                <a:latin typeface="Carlito"/>
                <a:cs typeface="Carlito"/>
              </a:rPr>
              <a:t>(sejauh </a:t>
            </a:r>
            <a:r>
              <a:rPr sz="1800" dirty="0">
                <a:latin typeface="Carlito"/>
                <a:cs typeface="Carlito"/>
              </a:rPr>
              <a:t>apa)  </a:t>
            </a:r>
            <a:r>
              <a:rPr sz="1800" spc="-10" dirty="0">
                <a:latin typeface="Carlito"/>
                <a:cs typeface="Carlito"/>
              </a:rPr>
              <a:t>letak </a:t>
            </a:r>
            <a:r>
              <a:rPr sz="1800" spc="-5" dirty="0">
                <a:latin typeface="Carlito"/>
                <a:cs typeface="Carlito"/>
              </a:rPr>
              <a:t>objek</a:t>
            </a:r>
            <a:r>
              <a:rPr sz="1800" spc="-45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tersebut?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99337" y="4226814"/>
            <a:ext cx="4998720" cy="782320"/>
          </a:xfrm>
          <a:custGeom>
            <a:avLst/>
            <a:gdLst/>
            <a:ahLst/>
            <a:cxnLst/>
            <a:rect l="l" t="t" r="r" b="b"/>
            <a:pathLst>
              <a:path w="4998720" h="782320">
                <a:moveTo>
                  <a:pt x="1894332" y="658368"/>
                </a:moveTo>
                <a:lnTo>
                  <a:pt x="2104644" y="658368"/>
                </a:lnTo>
                <a:lnTo>
                  <a:pt x="2104644" y="27431"/>
                </a:lnTo>
                <a:lnTo>
                  <a:pt x="1894332" y="27431"/>
                </a:lnTo>
                <a:lnTo>
                  <a:pt x="1894332" y="658368"/>
                </a:lnTo>
                <a:close/>
              </a:path>
              <a:path w="4998720" h="782320">
                <a:moveTo>
                  <a:pt x="4532376" y="554736"/>
                </a:moveTo>
                <a:lnTo>
                  <a:pt x="4674108" y="554736"/>
                </a:lnTo>
                <a:lnTo>
                  <a:pt x="4674108" y="0"/>
                </a:lnTo>
                <a:lnTo>
                  <a:pt x="4532376" y="0"/>
                </a:lnTo>
                <a:lnTo>
                  <a:pt x="4532376" y="554736"/>
                </a:lnTo>
                <a:close/>
              </a:path>
              <a:path w="4998720" h="782320">
                <a:moveTo>
                  <a:pt x="4786884" y="524256"/>
                </a:moveTo>
                <a:lnTo>
                  <a:pt x="4998720" y="524256"/>
                </a:lnTo>
                <a:lnTo>
                  <a:pt x="4998720" y="56387"/>
                </a:lnTo>
                <a:lnTo>
                  <a:pt x="4786884" y="56387"/>
                </a:lnTo>
                <a:lnTo>
                  <a:pt x="4786884" y="524256"/>
                </a:lnTo>
                <a:close/>
              </a:path>
              <a:path w="4998720" h="782320">
                <a:moveTo>
                  <a:pt x="0" y="781812"/>
                </a:moveTo>
                <a:lnTo>
                  <a:pt x="257556" y="781812"/>
                </a:lnTo>
                <a:lnTo>
                  <a:pt x="257556" y="38100"/>
                </a:lnTo>
                <a:lnTo>
                  <a:pt x="0" y="38100"/>
                </a:lnTo>
                <a:lnTo>
                  <a:pt x="0" y="781812"/>
                </a:lnTo>
                <a:close/>
              </a:path>
              <a:path w="4998720" h="782320">
                <a:moveTo>
                  <a:pt x="4283964" y="554736"/>
                </a:moveTo>
                <a:lnTo>
                  <a:pt x="4495800" y="554736"/>
                </a:lnTo>
                <a:lnTo>
                  <a:pt x="4495800" y="42672"/>
                </a:lnTo>
                <a:lnTo>
                  <a:pt x="4283964" y="42672"/>
                </a:lnTo>
                <a:lnTo>
                  <a:pt x="4283964" y="554736"/>
                </a:lnTo>
                <a:close/>
              </a:path>
            </a:pathLst>
          </a:custGeom>
          <a:ln w="38100">
            <a:solidFill>
              <a:srgbClr val="00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202436" y="5939028"/>
            <a:ext cx="6741159" cy="706120"/>
            <a:chOff x="1202436" y="5939028"/>
            <a:chExt cx="6741159" cy="706120"/>
          </a:xfrm>
        </p:grpSpPr>
        <p:sp>
          <p:nvSpPr>
            <p:cNvPr id="28" name="object 28"/>
            <p:cNvSpPr/>
            <p:nvPr/>
          </p:nvSpPr>
          <p:spPr>
            <a:xfrm>
              <a:off x="1208532" y="5945124"/>
              <a:ext cx="6728459" cy="693420"/>
            </a:xfrm>
            <a:custGeom>
              <a:avLst/>
              <a:gdLst/>
              <a:ahLst/>
              <a:cxnLst/>
              <a:rect l="l" t="t" r="r" b="b"/>
              <a:pathLst>
                <a:path w="6728459" h="693420">
                  <a:moveTo>
                    <a:pt x="6612890" y="0"/>
                  </a:moveTo>
                  <a:lnTo>
                    <a:pt x="115570" y="0"/>
                  </a:lnTo>
                  <a:lnTo>
                    <a:pt x="70583" y="9081"/>
                  </a:lnTo>
                  <a:lnTo>
                    <a:pt x="33848" y="33848"/>
                  </a:lnTo>
                  <a:lnTo>
                    <a:pt x="9081" y="70583"/>
                  </a:lnTo>
                  <a:lnTo>
                    <a:pt x="0" y="115569"/>
                  </a:lnTo>
                  <a:lnTo>
                    <a:pt x="0" y="577850"/>
                  </a:lnTo>
                  <a:lnTo>
                    <a:pt x="9081" y="622836"/>
                  </a:lnTo>
                  <a:lnTo>
                    <a:pt x="33848" y="659571"/>
                  </a:lnTo>
                  <a:lnTo>
                    <a:pt x="70583" y="684338"/>
                  </a:lnTo>
                  <a:lnTo>
                    <a:pt x="115570" y="693419"/>
                  </a:lnTo>
                  <a:lnTo>
                    <a:pt x="6612890" y="693419"/>
                  </a:lnTo>
                  <a:lnTo>
                    <a:pt x="6657897" y="684338"/>
                  </a:lnTo>
                  <a:lnTo>
                    <a:pt x="6694630" y="659571"/>
                  </a:lnTo>
                  <a:lnTo>
                    <a:pt x="6719385" y="622836"/>
                  </a:lnTo>
                  <a:lnTo>
                    <a:pt x="6728460" y="577850"/>
                  </a:lnTo>
                  <a:lnTo>
                    <a:pt x="6728460" y="115569"/>
                  </a:lnTo>
                  <a:lnTo>
                    <a:pt x="6719385" y="70583"/>
                  </a:lnTo>
                  <a:lnTo>
                    <a:pt x="6694630" y="33848"/>
                  </a:lnTo>
                  <a:lnTo>
                    <a:pt x="6657897" y="9081"/>
                  </a:lnTo>
                  <a:lnTo>
                    <a:pt x="6612890" y="0"/>
                  </a:lnTo>
                  <a:close/>
                </a:path>
              </a:pathLst>
            </a:custGeom>
            <a:solidFill>
              <a:srgbClr val="9C8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08532" y="5945124"/>
              <a:ext cx="6728459" cy="693420"/>
            </a:xfrm>
            <a:custGeom>
              <a:avLst/>
              <a:gdLst/>
              <a:ahLst/>
              <a:cxnLst/>
              <a:rect l="l" t="t" r="r" b="b"/>
              <a:pathLst>
                <a:path w="6728459" h="693420">
                  <a:moveTo>
                    <a:pt x="0" y="115569"/>
                  </a:moveTo>
                  <a:lnTo>
                    <a:pt x="9081" y="70583"/>
                  </a:lnTo>
                  <a:lnTo>
                    <a:pt x="33848" y="33848"/>
                  </a:lnTo>
                  <a:lnTo>
                    <a:pt x="70583" y="9081"/>
                  </a:lnTo>
                  <a:lnTo>
                    <a:pt x="115570" y="0"/>
                  </a:lnTo>
                  <a:lnTo>
                    <a:pt x="6612890" y="0"/>
                  </a:lnTo>
                  <a:lnTo>
                    <a:pt x="6657897" y="9081"/>
                  </a:lnTo>
                  <a:lnTo>
                    <a:pt x="6694630" y="33848"/>
                  </a:lnTo>
                  <a:lnTo>
                    <a:pt x="6719385" y="70583"/>
                  </a:lnTo>
                  <a:lnTo>
                    <a:pt x="6728460" y="115569"/>
                  </a:lnTo>
                  <a:lnTo>
                    <a:pt x="6728460" y="577850"/>
                  </a:lnTo>
                  <a:lnTo>
                    <a:pt x="6719385" y="622836"/>
                  </a:lnTo>
                  <a:lnTo>
                    <a:pt x="6694630" y="659571"/>
                  </a:lnTo>
                  <a:lnTo>
                    <a:pt x="6657897" y="684338"/>
                  </a:lnTo>
                  <a:lnTo>
                    <a:pt x="6612890" y="693419"/>
                  </a:lnTo>
                  <a:lnTo>
                    <a:pt x="115570" y="693419"/>
                  </a:lnTo>
                  <a:lnTo>
                    <a:pt x="70583" y="684338"/>
                  </a:lnTo>
                  <a:lnTo>
                    <a:pt x="33848" y="659571"/>
                  </a:lnTo>
                  <a:lnTo>
                    <a:pt x="9081" y="622836"/>
                  </a:lnTo>
                  <a:lnTo>
                    <a:pt x="0" y="577850"/>
                  </a:lnTo>
                  <a:lnTo>
                    <a:pt x="0" y="115569"/>
                  </a:lnTo>
                  <a:close/>
                </a:path>
              </a:pathLst>
            </a:custGeom>
            <a:ln w="12192">
              <a:solidFill>
                <a:srgbClr val="70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11092" y="6112865"/>
            <a:ext cx="2325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latin typeface="Carlito"/>
                <a:cs typeface="Carlito"/>
              </a:rPr>
              <a:t>DATA</a:t>
            </a:r>
            <a:r>
              <a:rPr sz="2000" spc="-35" dirty="0">
                <a:latin typeface="Wingdings"/>
                <a:cs typeface="Wingdings"/>
              </a:rPr>
              <a:t></a:t>
            </a:r>
            <a:r>
              <a:rPr sz="2000" spc="-35" dirty="0">
                <a:latin typeface="Carlito"/>
                <a:cs typeface="Carlito"/>
              </a:rPr>
              <a:t>INFORMATION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5471159" y="4808220"/>
            <a:ext cx="902335" cy="368935"/>
          </a:xfrm>
          <a:prstGeom prst="rect">
            <a:avLst/>
          </a:prstGeom>
          <a:solidFill>
            <a:srgbClr val="FFFFFF"/>
          </a:solidFill>
          <a:ln w="9144">
            <a:solidFill>
              <a:srgbClr val="00FF00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5565">
              <a:lnSpc>
                <a:spcPct val="100000"/>
              </a:lnSpc>
              <a:spcBef>
                <a:spcPts val="250"/>
              </a:spcBef>
            </a:pPr>
            <a:r>
              <a:rPr sz="1800" b="1" spc="-10" dirty="0">
                <a:solidFill>
                  <a:srgbClr val="00FF00"/>
                </a:solidFill>
                <a:latin typeface="Carlito"/>
                <a:cs typeface="Carlito"/>
              </a:rPr>
              <a:t>Person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02663" y="4759452"/>
            <a:ext cx="588645" cy="368935"/>
          </a:xfrm>
          <a:prstGeom prst="rect">
            <a:avLst/>
          </a:prstGeom>
          <a:solidFill>
            <a:srgbClr val="FFFFFF"/>
          </a:solidFill>
          <a:ln w="9144">
            <a:solidFill>
              <a:srgbClr val="FF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5"/>
              </a:spcBef>
            </a:pPr>
            <a:r>
              <a:rPr sz="1800" b="1" spc="-5" dirty="0">
                <a:solidFill>
                  <a:srgbClr val="FF0000"/>
                </a:solidFill>
                <a:latin typeface="Carlito"/>
                <a:cs typeface="Carlito"/>
              </a:rPr>
              <a:t>Car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5211" y="2342388"/>
            <a:ext cx="6513576" cy="4282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229" dirty="0"/>
              <a:t>Citra</a:t>
            </a:r>
            <a:r>
              <a:rPr spc="-265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07542" y="1802333"/>
            <a:ext cx="3346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45" dirty="0">
                <a:latin typeface="Carlito"/>
                <a:cs typeface="Carlito"/>
              </a:rPr>
              <a:t>Yang </a:t>
            </a:r>
            <a:r>
              <a:rPr sz="2400" spc="-10" dirty="0">
                <a:latin typeface="Carlito"/>
                <a:cs typeface="Carlito"/>
              </a:rPr>
              <a:t>dilihat </a:t>
            </a:r>
            <a:r>
              <a:rPr sz="2400" spc="-5" dirty="0">
                <a:latin typeface="Carlito"/>
                <a:cs typeface="Carlito"/>
              </a:rPr>
              <a:t>oleh</a:t>
            </a:r>
            <a:r>
              <a:rPr sz="2400" spc="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manusia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229" dirty="0"/>
              <a:t>Citra</a:t>
            </a:r>
            <a:r>
              <a:rPr spc="-265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35096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45" dirty="0">
                <a:latin typeface="Carlito"/>
                <a:cs typeface="Carlito"/>
              </a:rPr>
              <a:t>Yang </a:t>
            </a:r>
            <a:r>
              <a:rPr sz="2400" spc="-10" dirty="0">
                <a:latin typeface="Carlito"/>
                <a:cs typeface="Carlito"/>
              </a:rPr>
              <a:t>dilihat </a:t>
            </a:r>
            <a:r>
              <a:rPr sz="2400" spc="-5" dirty="0">
                <a:latin typeface="Carlito"/>
                <a:cs typeface="Carlito"/>
              </a:rPr>
              <a:t>oleh</a:t>
            </a:r>
            <a:r>
              <a:rPr sz="2400" spc="3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komputer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36547" y="2453639"/>
            <a:ext cx="6471023" cy="33866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200911" y="6077711"/>
            <a:ext cx="6742430" cy="704215"/>
            <a:chOff x="1200911" y="6077711"/>
            <a:chExt cx="6742430" cy="704215"/>
          </a:xfrm>
        </p:grpSpPr>
        <p:sp>
          <p:nvSpPr>
            <p:cNvPr id="6" name="object 6"/>
            <p:cNvSpPr/>
            <p:nvPr/>
          </p:nvSpPr>
          <p:spPr>
            <a:xfrm>
              <a:off x="1207007" y="6083807"/>
              <a:ext cx="6730365" cy="692150"/>
            </a:xfrm>
            <a:custGeom>
              <a:avLst/>
              <a:gdLst/>
              <a:ahLst/>
              <a:cxnLst/>
              <a:rect l="l" t="t" r="r" b="b"/>
              <a:pathLst>
                <a:path w="6730365" h="692150">
                  <a:moveTo>
                    <a:pt x="6614668" y="0"/>
                  </a:moveTo>
                  <a:lnTo>
                    <a:pt x="115315" y="0"/>
                  </a:lnTo>
                  <a:lnTo>
                    <a:pt x="70428" y="9061"/>
                  </a:lnTo>
                  <a:lnTo>
                    <a:pt x="33774" y="33774"/>
                  </a:lnTo>
                  <a:lnTo>
                    <a:pt x="9061" y="70428"/>
                  </a:lnTo>
                  <a:lnTo>
                    <a:pt x="0" y="115315"/>
                  </a:lnTo>
                  <a:lnTo>
                    <a:pt x="0" y="576579"/>
                  </a:lnTo>
                  <a:lnTo>
                    <a:pt x="9061" y="621467"/>
                  </a:lnTo>
                  <a:lnTo>
                    <a:pt x="33774" y="658121"/>
                  </a:lnTo>
                  <a:lnTo>
                    <a:pt x="70428" y="682834"/>
                  </a:lnTo>
                  <a:lnTo>
                    <a:pt x="115315" y="691895"/>
                  </a:lnTo>
                  <a:lnTo>
                    <a:pt x="6614668" y="691895"/>
                  </a:lnTo>
                  <a:lnTo>
                    <a:pt x="6659528" y="682834"/>
                  </a:lnTo>
                  <a:lnTo>
                    <a:pt x="6696186" y="658121"/>
                  </a:lnTo>
                  <a:lnTo>
                    <a:pt x="6720913" y="621467"/>
                  </a:lnTo>
                  <a:lnTo>
                    <a:pt x="6729984" y="576579"/>
                  </a:lnTo>
                  <a:lnTo>
                    <a:pt x="6729984" y="115315"/>
                  </a:lnTo>
                  <a:lnTo>
                    <a:pt x="6720913" y="70428"/>
                  </a:lnTo>
                  <a:lnTo>
                    <a:pt x="6696186" y="33774"/>
                  </a:lnTo>
                  <a:lnTo>
                    <a:pt x="6659528" y="9061"/>
                  </a:lnTo>
                  <a:lnTo>
                    <a:pt x="6614668" y="0"/>
                  </a:lnTo>
                  <a:close/>
                </a:path>
              </a:pathLst>
            </a:custGeom>
            <a:solidFill>
              <a:srgbClr val="9C8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07007" y="6083807"/>
              <a:ext cx="6730365" cy="692150"/>
            </a:xfrm>
            <a:custGeom>
              <a:avLst/>
              <a:gdLst/>
              <a:ahLst/>
              <a:cxnLst/>
              <a:rect l="l" t="t" r="r" b="b"/>
              <a:pathLst>
                <a:path w="6730365" h="692150">
                  <a:moveTo>
                    <a:pt x="0" y="115315"/>
                  </a:moveTo>
                  <a:lnTo>
                    <a:pt x="9061" y="70428"/>
                  </a:lnTo>
                  <a:lnTo>
                    <a:pt x="33774" y="33774"/>
                  </a:lnTo>
                  <a:lnTo>
                    <a:pt x="70428" y="9061"/>
                  </a:lnTo>
                  <a:lnTo>
                    <a:pt x="115315" y="0"/>
                  </a:lnTo>
                  <a:lnTo>
                    <a:pt x="6614668" y="0"/>
                  </a:lnTo>
                  <a:lnTo>
                    <a:pt x="6659528" y="9061"/>
                  </a:lnTo>
                  <a:lnTo>
                    <a:pt x="6696186" y="33774"/>
                  </a:lnTo>
                  <a:lnTo>
                    <a:pt x="6720913" y="70428"/>
                  </a:lnTo>
                  <a:lnTo>
                    <a:pt x="6729984" y="115315"/>
                  </a:lnTo>
                  <a:lnTo>
                    <a:pt x="6729984" y="576579"/>
                  </a:lnTo>
                  <a:lnTo>
                    <a:pt x="6720913" y="621467"/>
                  </a:lnTo>
                  <a:lnTo>
                    <a:pt x="6696186" y="658121"/>
                  </a:lnTo>
                  <a:lnTo>
                    <a:pt x="6659528" y="682834"/>
                  </a:lnTo>
                  <a:lnTo>
                    <a:pt x="6614668" y="691895"/>
                  </a:lnTo>
                  <a:lnTo>
                    <a:pt x="115315" y="691895"/>
                  </a:lnTo>
                  <a:lnTo>
                    <a:pt x="70428" y="682834"/>
                  </a:lnTo>
                  <a:lnTo>
                    <a:pt x="33774" y="658121"/>
                  </a:lnTo>
                  <a:lnTo>
                    <a:pt x="9061" y="621467"/>
                  </a:lnTo>
                  <a:lnTo>
                    <a:pt x="0" y="576579"/>
                  </a:lnTo>
                  <a:lnTo>
                    <a:pt x="0" y="115315"/>
                  </a:lnTo>
                  <a:close/>
                </a:path>
              </a:pathLst>
            </a:custGeom>
            <a:ln w="12192">
              <a:solidFill>
                <a:srgbClr val="70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914523" y="6249111"/>
            <a:ext cx="331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rlito"/>
                <a:cs typeface="Carlito"/>
              </a:rPr>
              <a:t>How </a:t>
            </a:r>
            <a:r>
              <a:rPr sz="2000" spc="-10" dirty="0">
                <a:latin typeface="Carlito"/>
                <a:cs typeface="Carlito"/>
              </a:rPr>
              <a:t>to 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2000" spc="-340" dirty="0">
                <a:latin typeface="Carlito"/>
                <a:cs typeface="Carlito"/>
              </a:rPr>
              <a:t>p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en</a:t>
            </a:r>
            <a:r>
              <a:rPr sz="2000" spc="-340" dirty="0">
                <a:latin typeface="Carlito"/>
                <a:cs typeface="Carlito"/>
              </a:rPr>
              <a:t>r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g</a:t>
            </a:r>
            <a:r>
              <a:rPr sz="2000" spc="-340" dirty="0">
                <a:latin typeface="Carlito"/>
                <a:cs typeface="Carlito"/>
              </a:rPr>
              <a:t>o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ol</a:t>
            </a:r>
            <a:r>
              <a:rPr sz="2000" spc="-340" dirty="0">
                <a:latin typeface="Carlito"/>
                <a:cs typeface="Carlito"/>
              </a:rPr>
              <a:t>s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ah</a:t>
            </a:r>
            <a:r>
              <a:rPr sz="2000" spc="-340" dirty="0">
                <a:latin typeface="Carlito"/>
                <a:cs typeface="Carlito"/>
              </a:rPr>
              <a:t>e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2000" spc="-340" dirty="0">
                <a:latin typeface="Carlito"/>
                <a:cs typeface="Carlito"/>
              </a:rPr>
              <a:t>s</a:t>
            </a:r>
            <a:r>
              <a:rPr sz="1650" spc="-509" baseline="-27777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1650" spc="-52" baseline="-27777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C</a:t>
            </a:r>
            <a:r>
              <a:rPr sz="2000" spc="-245" dirty="0">
                <a:latin typeface="Carlito"/>
                <a:cs typeface="Carlito"/>
              </a:rPr>
              <a:t>t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it</a:t>
            </a:r>
            <a:r>
              <a:rPr sz="2000" spc="-245" dirty="0">
                <a:latin typeface="Carlito"/>
                <a:cs typeface="Carlito"/>
              </a:rPr>
              <a:t>h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ra</a:t>
            </a:r>
            <a:r>
              <a:rPr sz="2000" spc="-245" dirty="0">
                <a:latin typeface="Carlito"/>
                <a:cs typeface="Carlito"/>
              </a:rPr>
              <a:t>i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2000" spc="-245" dirty="0">
                <a:latin typeface="Carlito"/>
                <a:cs typeface="Carlito"/>
              </a:rPr>
              <a:t>s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Pe</a:t>
            </a:r>
            <a:r>
              <a:rPr sz="2000" spc="-245" dirty="0">
                <a:latin typeface="Carlito"/>
                <a:cs typeface="Carlito"/>
              </a:rPr>
              <a:t>d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ng</a:t>
            </a:r>
            <a:r>
              <a:rPr sz="2000" spc="-245" dirty="0">
                <a:latin typeface="Carlito"/>
                <a:cs typeface="Carlito"/>
              </a:rPr>
              <a:t>i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2000" spc="-245" dirty="0">
                <a:latin typeface="Carlito"/>
                <a:cs typeface="Carlito"/>
              </a:rPr>
              <a:t>g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2000" spc="-245" dirty="0">
                <a:latin typeface="Carlito"/>
                <a:cs typeface="Carlito"/>
              </a:rPr>
              <a:t>i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ta</a:t>
            </a:r>
            <a:r>
              <a:rPr sz="2000" spc="-245" dirty="0">
                <a:latin typeface="Carlito"/>
                <a:cs typeface="Carlito"/>
              </a:rPr>
              <a:t>t</a:t>
            </a:r>
            <a:r>
              <a:rPr sz="1650" spc="-367" baseline="-27777" dirty="0">
                <a:solidFill>
                  <a:srgbClr val="888888"/>
                </a:solidFill>
                <a:latin typeface="Carlito"/>
                <a:cs typeface="Carlito"/>
              </a:rPr>
              <a:t>r</a:t>
            </a:r>
            <a:r>
              <a:rPr sz="2000" spc="-245" dirty="0">
                <a:latin typeface="Carlito"/>
                <a:cs typeface="Carlito"/>
              </a:rPr>
              <a:t>al  </a:t>
            </a:r>
            <a:r>
              <a:rPr sz="2000" spc="-10" dirty="0">
                <a:latin typeface="Carlito"/>
                <a:cs typeface="Carlito"/>
              </a:rPr>
              <a:t>data?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i="1" spc="-250" dirty="0">
                <a:latin typeface="Trebuchet MS"/>
                <a:cs typeface="Trebuchet MS"/>
              </a:rPr>
              <a:t>Clustering </a:t>
            </a:r>
            <a:r>
              <a:rPr spc="-229" dirty="0"/>
              <a:t>Citra</a:t>
            </a:r>
            <a:r>
              <a:rPr spc="-90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3" name="object 3"/>
          <p:cNvSpPr/>
          <p:nvPr/>
        </p:nvSpPr>
        <p:spPr>
          <a:xfrm>
            <a:off x="4770120" y="4378452"/>
            <a:ext cx="1427988" cy="952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3427" y="3153155"/>
            <a:ext cx="1429512" cy="952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96811" y="1943100"/>
            <a:ext cx="1427988" cy="952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8260" y="1943100"/>
            <a:ext cx="1427988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95288" y="3153155"/>
            <a:ext cx="1429512" cy="952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3427" y="4379976"/>
            <a:ext cx="1429512" cy="952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0120" y="3153155"/>
            <a:ext cx="1427988" cy="9525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3427" y="1981200"/>
            <a:ext cx="1429512" cy="9525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95288" y="4378452"/>
            <a:ext cx="1429512" cy="9525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18260" y="3153155"/>
            <a:ext cx="1427988" cy="9525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70120" y="1943100"/>
            <a:ext cx="1427988" cy="9525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8260" y="4378452"/>
            <a:ext cx="1427988" cy="9525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i="1" spc="-250" dirty="0">
                <a:latin typeface="Trebuchet MS"/>
                <a:cs typeface="Trebuchet MS"/>
              </a:rPr>
              <a:t>Clustering </a:t>
            </a:r>
            <a:r>
              <a:rPr spc="-229" dirty="0"/>
              <a:t>Citra </a:t>
            </a:r>
            <a:r>
              <a:rPr spc="-250" dirty="0"/>
              <a:t>Dijital</a:t>
            </a:r>
            <a:r>
              <a:rPr spc="-110" dirty="0"/>
              <a:t> </a:t>
            </a:r>
            <a:r>
              <a:rPr spc="-185" dirty="0"/>
              <a:t>(2)</a:t>
            </a:r>
          </a:p>
        </p:txBody>
      </p:sp>
      <p:sp>
        <p:nvSpPr>
          <p:cNvPr id="3" name="object 3"/>
          <p:cNvSpPr/>
          <p:nvPr/>
        </p:nvSpPr>
        <p:spPr>
          <a:xfrm>
            <a:off x="4770120" y="1943100"/>
            <a:ext cx="1427988" cy="952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3427" y="1943100"/>
            <a:ext cx="1429512" cy="952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96811" y="1943100"/>
            <a:ext cx="1427988" cy="952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8260" y="1943100"/>
            <a:ext cx="1427988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95288" y="3153155"/>
            <a:ext cx="1429512" cy="952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28927" y="3147060"/>
            <a:ext cx="1429511" cy="952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0120" y="3153155"/>
            <a:ext cx="1427988" cy="9525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3427" y="3147060"/>
            <a:ext cx="1429512" cy="9525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95288" y="4378452"/>
            <a:ext cx="1429512" cy="9525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3427" y="4352544"/>
            <a:ext cx="1429512" cy="9525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70120" y="4352544"/>
            <a:ext cx="1427988" cy="9525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8260" y="4378452"/>
            <a:ext cx="1427988" cy="9525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1202436" y="5939028"/>
            <a:ext cx="6741159" cy="706120"/>
            <a:chOff x="1202436" y="5939028"/>
            <a:chExt cx="6741159" cy="706120"/>
          </a:xfrm>
        </p:grpSpPr>
        <p:sp>
          <p:nvSpPr>
            <p:cNvPr id="16" name="object 16"/>
            <p:cNvSpPr/>
            <p:nvPr/>
          </p:nvSpPr>
          <p:spPr>
            <a:xfrm>
              <a:off x="1208532" y="5945124"/>
              <a:ext cx="6728459" cy="693420"/>
            </a:xfrm>
            <a:custGeom>
              <a:avLst/>
              <a:gdLst/>
              <a:ahLst/>
              <a:cxnLst/>
              <a:rect l="l" t="t" r="r" b="b"/>
              <a:pathLst>
                <a:path w="6728459" h="693420">
                  <a:moveTo>
                    <a:pt x="6612890" y="0"/>
                  </a:moveTo>
                  <a:lnTo>
                    <a:pt x="115570" y="0"/>
                  </a:lnTo>
                  <a:lnTo>
                    <a:pt x="70583" y="9081"/>
                  </a:lnTo>
                  <a:lnTo>
                    <a:pt x="33848" y="33848"/>
                  </a:lnTo>
                  <a:lnTo>
                    <a:pt x="9081" y="70583"/>
                  </a:lnTo>
                  <a:lnTo>
                    <a:pt x="0" y="115569"/>
                  </a:lnTo>
                  <a:lnTo>
                    <a:pt x="0" y="577850"/>
                  </a:lnTo>
                  <a:lnTo>
                    <a:pt x="9081" y="622836"/>
                  </a:lnTo>
                  <a:lnTo>
                    <a:pt x="33848" y="659571"/>
                  </a:lnTo>
                  <a:lnTo>
                    <a:pt x="70583" y="684338"/>
                  </a:lnTo>
                  <a:lnTo>
                    <a:pt x="115570" y="693419"/>
                  </a:lnTo>
                  <a:lnTo>
                    <a:pt x="6612890" y="693419"/>
                  </a:lnTo>
                  <a:lnTo>
                    <a:pt x="6657897" y="684338"/>
                  </a:lnTo>
                  <a:lnTo>
                    <a:pt x="6694630" y="659571"/>
                  </a:lnTo>
                  <a:lnTo>
                    <a:pt x="6719385" y="622836"/>
                  </a:lnTo>
                  <a:lnTo>
                    <a:pt x="6728460" y="577850"/>
                  </a:lnTo>
                  <a:lnTo>
                    <a:pt x="6728460" y="115569"/>
                  </a:lnTo>
                  <a:lnTo>
                    <a:pt x="6719385" y="70583"/>
                  </a:lnTo>
                  <a:lnTo>
                    <a:pt x="6694630" y="33848"/>
                  </a:lnTo>
                  <a:lnTo>
                    <a:pt x="6657897" y="9081"/>
                  </a:lnTo>
                  <a:lnTo>
                    <a:pt x="6612890" y="0"/>
                  </a:lnTo>
                  <a:close/>
                </a:path>
              </a:pathLst>
            </a:custGeom>
            <a:solidFill>
              <a:srgbClr val="9C85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8532" y="5945124"/>
              <a:ext cx="6728459" cy="693420"/>
            </a:xfrm>
            <a:custGeom>
              <a:avLst/>
              <a:gdLst/>
              <a:ahLst/>
              <a:cxnLst/>
              <a:rect l="l" t="t" r="r" b="b"/>
              <a:pathLst>
                <a:path w="6728459" h="693420">
                  <a:moveTo>
                    <a:pt x="0" y="115569"/>
                  </a:moveTo>
                  <a:lnTo>
                    <a:pt x="9081" y="70583"/>
                  </a:lnTo>
                  <a:lnTo>
                    <a:pt x="33848" y="33848"/>
                  </a:lnTo>
                  <a:lnTo>
                    <a:pt x="70583" y="9081"/>
                  </a:lnTo>
                  <a:lnTo>
                    <a:pt x="115570" y="0"/>
                  </a:lnTo>
                  <a:lnTo>
                    <a:pt x="6612890" y="0"/>
                  </a:lnTo>
                  <a:lnTo>
                    <a:pt x="6657897" y="9081"/>
                  </a:lnTo>
                  <a:lnTo>
                    <a:pt x="6694630" y="33848"/>
                  </a:lnTo>
                  <a:lnTo>
                    <a:pt x="6719385" y="70583"/>
                  </a:lnTo>
                  <a:lnTo>
                    <a:pt x="6728460" y="115569"/>
                  </a:lnTo>
                  <a:lnTo>
                    <a:pt x="6728460" y="577850"/>
                  </a:lnTo>
                  <a:lnTo>
                    <a:pt x="6719385" y="622836"/>
                  </a:lnTo>
                  <a:lnTo>
                    <a:pt x="6694630" y="659571"/>
                  </a:lnTo>
                  <a:lnTo>
                    <a:pt x="6657897" y="684338"/>
                  </a:lnTo>
                  <a:lnTo>
                    <a:pt x="6612890" y="693419"/>
                  </a:lnTo>
                  <a:lnTo>
                    <a:pt x="115570" y="693419"/>
                  </a:lnTo>
                  <a:lnTo>
                    <a:pt x="70583" y="684338"/>
                  </a:lnTo>
                  <a:lnTo>
                    <a:pt x="33848" y="659571"/>
                  </a:lnTo>
                  <a:lnTo>
                    <a:pt x="9081" y="622836"/>
                  </a:lnTo>
                  <a:lnTo>
                    <a:pt x="0" y="577850"/>
                  </a:lnTo>
                  <a:lnTo>
                    <a:pt x="0" y="115569"/>
                  </a:lnTo>
                  <a:close/>
                </a:path>
              </a:pathLst>
            </a:custGeom>
            <a:ln w="12192">
              <a:solidFill>
                <a:srgbClr val="705F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53765" y="6111341"/>
            <a:ext cx="22364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rlito"/>
                <a:cs typeface="Carlito"/>
              </a:rPr>
              <a:t>How did </a:t>
            </a:r>
            <a:r>
              <a:rPr sz="2000" spc="-10" dirty="0">
                <a:latin typeface="Carlito"/>
                <a:cs typeface="Carlito"/>
              </a:rPr>
              <a:t>you </a:t>
            </a:r>
            <a:r>
              <a:rPr sz="2000" spc="-5" dirty="0">
                <a:latin typeface="Carlito"/>
                <a:cs typeface="Carlito"/>
              </a:rPr>
              <a:t>do</a:t>
            </a:r>
            <a:r>
              <a:rPr sz="2000" spc="-95" dirty="0">
                <a:latin typeface="Carlito"/>
                <a:cs typeface="Carlito"/>
              </a:rPr>
              <a:t> </a:t>
            </a:r>
            <a:r>
              <a:rPr sz="2000" spc="-5" dirty="0">
                <a:latin typeface="Carlito"/>
                <a:cs typeface="Carlito"/>
              </a:rPr>
              <a:t>that?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pc="-215" dirty="0"/>
              <a:t>Klasifikasi </a:t>
            </a:r>
            <a:r>
              <a:rPr spc="-229" dirty="0"/>
              <a:t>Citra</a:t>
            </a:r>
            <a:r>
              <a:rPr spc="-285" dirty="0"/>
              <a:t> </a:t>
            </a:r>
            <a:r>
              <a:rPr spc="-250" dirty="0"/>
              <a:t>Dijital</a:t>
            </a:r>
          </a:p>
        </p:txBody>
      </p:sp>
      <p:sp>
        <p:nvSpPr>
          <p:cNvPr id="3" name="object 3"/>
          <p:cNvSpPr/>
          <p:nvPr/>
        </p:nvSpPr>
        <p:spPr>
          <a:xfrm>
            <a:off x="4770120" y="1943100"/>
            <a:ext cx="1427988" cy="952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43427" y="1943100"/>
            <a:ext cx="1429512" cy="952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96811" y="1943100"/>
            <a:ext cx="1427988" cy="952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8260" y="1943100"/>
            <a:ext cx="1427988" cy="952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95288" y="3153155"/>
            <a:ext cx="1429512" cy="952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28927" y="3147060"/>
            <a:ext cx="1429511" cy="952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70120" y="3153155"/>
            <a:ext cx="1427988" cy="9525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43427" y="3147060"/>
            <a:ext cx="1429512" cy="9525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95288" y="4378452"/>
            <a:ext cx="1429512" cy="9525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43427" y="4352544"/>
            <a:ext cx="1429512" cy="9525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770120" y="4352544"/>
            <a:ext cx="1427988" cy="9525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8260" y="4378452"/>
            <a:ext cx="1427988" cy="9525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54095" y="5766815"/>
            <a:ext cx="1429511" cy="9525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80788" y="5766815"/>
            <a:ext cx="1427988" cy="9525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241038" y="5380431"/>
            <a:ext cx="661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rlito"/>
                <a:cs typeface="Carlito"/>
              </a:rPr>
              <a:t>Query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720090" marR="1711960">
              <a:lnSpc>
                <a:spcPts val="3890"/>
              </a:lnSpc>
              <a:spcBef>
                <a:spcPts val="1155"/>
              </a:spcBef>
            </a:pPr>
            <a:r>
              <a:rPr spc="-229" dirty="0"/>
              <a:t>Real </a:t>
            </a:r>
            <a:r>
              <a:rPr spc="-210" dirty="0"/>
              <a:t>Research: </a:t>
            </a:r>
            <a:r>
              <a:rPr spc="-170" dirty="0"/>
              <a:t>Content-Based</a:t>
            </a:r>
            <a:r>
              <a:rPr spc="-409" dirty="0"/>
              <a:t> </a:t>
            </a:r>
            <a:r>
              <a:rPr spc="-165" dirty="0"/>
              <a:t>Image  </a:t>
            </a:r>
            <a:r>
              <a:rPr spc="-225" dirty="0"/>
              <a:t>Retrieval </a:t>
            </a:r>
            <a:r>
              <a:rPr spc="-190" dirty="0"/>
              <a:t>for </a:t>
            </a:r>
            <a:r>
              <a:rPr spc="-215" dirty="0"/>
              <a:t>Batik</a:t>
            </a:r>
            <a:r>
              <a:rPr spc="-420" dirty="0"/>
              <a:t> </a:t>
            </a:r>
            <a:r>
              <a:rPr spc="-200" dirty="0"/>
              <a:t>Patterns</a:t>
            </a:r>
          </a:p>
        </p:txBody>
      </p:sp>
      <p:sp>
        <p:nvSpPr>
          <p:cNvPr id="3" name="object 3"/>
          <p:cNvSpPr/>
          <p:nvPr/>
        </p:nvSpPr>
        <p:spPr>
          <a:xfrm>
            <a:off x="629412" y="1872995"/>
            <a:ext cx="8106673" cy="43432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720090" marR="1711960">
              <a:lnSpc>
                <a:spcPts val="3890"/>
              </a:lnSpc>
              <a:spcBef>
                <a:spcPts val="1155"/>
              </a:spcBef>
            </a:pPr>
            <a:r>
              <a:rPr spc="-229" dirty="0"/>
              <a:t>Real </a:t>
            </a:r>
            <a:r>
              <a:rPr spc="-210" dirty="0"/>
              <a:t>Research: </a:t>
            </a:r>
            <a:r>
              <a:rPr spc="-170" dirty="0"/>
              <a:t>Content-Based</a:t>
            </a:r>
            <a:r>
              <a:rPr spc="-409" dirty="0"/>
              <a:t> </a:t>
            </a:r>
            <a:r>
              <a:rPr spc="-165" dirty="0"/>
              <a:t>Image  </a:t>
            </a:r>
            <a:r>
              <a:rPr spc="-225" dirty="0"/>
              <a:t>Retrieval </a:t>
            </a:r>
            <a:r>
              <a:rPr spc="-190" dirty="0"/>
              <a:t>for </a:t>
            </a:r>
            <a:r>
              <a:rPr spc="-215" dirty="0"/>
              <a:t>Batik</a:t>
            </a:r>
            <a:r>
              <a:rPr spc="-420" dirty="0"/>
              <a:t> </a:t>
            </a:r>
            <a:r>
              <a:rPr spc="-200" dirty="0"/>
              <a:t>Patterns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56916" y="2570988"/>
            <a:ext cx="1795780" cy="896619"/>
            <a:chOff x="2756916" y="2570988"/>
            <a:chExt cx="1795780" cy="896619"/>
          </a:xfrm>
        </p:grpSpPr>
        <p:sp>
          <p:nvSpPr>
            <p:cNvPr id="5" name="object 5"/>
            <p:cNvSpPr/>
            <p:nvPr/>
          </p:nvSpPr>
          <p:spPr>
            <a:xfrm>
              <a:off x="2756916" y="2570988"/>
              <a:ext cx="896111" cy="8961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95700" y="2570988"/>
              <a:ext cx="856488" cy="8564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67155" y="2570988"/>
            <a:ext cx="1824355" cy="896619"/>
            <a:chOff x="867155" y="2570988"/>
            <a:chExt cx="1824355" cy="896619"/>
          </a:xfrm>
        </p:grpSpPr>
        <p:sp>
          <p:nvSpPr>
            <p:cNvPr id="8" name="object 8"/>
            <p:cNvSpPr/>
            <p:nvPr/>
          </p:nvSpPr>
          <p:spPr>
            <a:xfrm>
              <a:off x="867155" y="2570988"/>
              <a:ext cx="896112" cy="89611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95272" y="2570988"/>
              <a:ext cx="896112" cy="8961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848867" y="3579876"/>
            <a:ext cx="856488" cy="8564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763267" y="3569208"/>
            <a:ext cx="851916" cy="8534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706367" y="3279647"/>
            <a:ext cx="3722370" cy="1143000"/>
            <a:chOff x="3706367" y="3279647"/>
            <a:chExt cx="3722370" cy="1143000"/>
          </a:xfrm>
        </p:grpSpPr>
        <p:sp>
          <p:nvSpPr>
            <p:cNvPr id="13" name="object 13"/>
            <p:cNvSpPr/>
            <p:nvPr/>
          </p:nvSpPr>
          <p:spPr>
            <a:xfrm>
              <a:off x="3706367" y="3569207"/>
              <a:ext cx="853439" cy="85343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59808" y="3285743"/>
              <a:ext cx="2868930" cy="1089660"/>
            </a:xfrm>
            <a:custGeom>
              <a:avLst/>
              <a:gdLst/>
              <a:ahLst/>
              <a:cxnLst/>
              <a:rect l="l" t="t" r="r" b="b"/>
              <a:pathLst>
                <a:path w="2868929" h="1089660">
                  <a:moveTo>
                    <a:pt x="2868422" y="530352"/>
                  </a:moveTo>
                  <a:lnTo>
                    <a:pt x="2855925" y="524129"/>
                  </a:lnTo>
                  <a:lnTo>
                    <a:pt x="2792222" y="492379"/>
                  </a:lnTo>
                  <a:lnTo>
                    <a:pt x="2792272" y="524154"/>
                  </a:lnTo>
                  <a:lnTo>
                    <a:pt x="2145792" y="525068"/>
                  </a:lnTo>
                  <a:lnTo>
                    <a:pt x="2145792" y="181610"/>
                  </a:lnTo>
                  <a:lnTo>
                    <a:pt x="2139302" y="133324"/>
                  </a:lnTo>
                  <a:lnTo>
                    <a:pt x="2121001" y="89941"/>
                  </a:lnTo>
                  <a:lnTo>
                    <a:pt x="2092604" y="53187"/>
                  </a:lnTo>
                  <a:lnTo>
                    <a:pt x="2055850" y="24790"/>
                  </a:lnTo>
                  <a:lnTo>
                    <a:pt x="2012467" y="6489"/>
                  </a:lnTo>
                  <a:lnTo>
                    <a:pt x="1964182" y="0"/>
                  </a:lnTo>
                  <a:lnTo>
                    <a:pt x="795782" y="0"/>
                  </a:lnTo>
                  <a:lnTo>
                    <a:pt x="747483" y="6489"/>
                  </a:lnTo>
                  <a:lnTo>
                    <a:pt x="704100" y="24790"/>
                  </a:lnTo>
                  <a:lnTo>
                    <a:pt x="667346" y="53187"/>
                  </a:lnTo>
                  <a:lnTo>
                    <a:pt x="638949" y="89941"/>
                  </a:lnTo>
                  <a:lnTo>
                    <a:pt x="620649" y="133324"/>
                  </a:lnTo>
                  <a:lnTo>
                    <a:pt x="614172" y="181610"/>
                  </a:lnTo>
                  <a:lnTo>
                    <a:pt x="614172" y="527215"/>
                  </a:lnTo>
                  <a:lnTo>
                    <a:pt x="0" y="528066"/>
                  </a:lnTo>
                  <a:lnTo>
                    <a:pt x="0" y="540766"/>
                  </a:lnTo>
                  <a:lnTo>
                    <a:pt x="614172" y="539915"/>
                  </a:lnTo>
                  <a:lnTo>
                    <a:pt x="614172" y="908050"/>
                  </a:lnTo>
                  <a:lnTo>
                    <a:pt x="620649" y="956348"/>
                  </a:lnTo>
                  <a:lnTo>
                    <a:pt x="638949" y="999731"/>
                  </a:lnTo>
                  <a:lnTo>
                    <a:pt x="667346" y="1036485"/>
                  </a:lnTo>
                  <a:lnTo>
                    <a:pt x="704100" y="1064882"/>
                  </a:lnTo>
                  <a:lnTo>
                    <a:pt x="747483" y="1083183"/>
                  </a:lnTo>
                  <a:lnTo>
                    <a:pt x="795782" y="1089660"/>
                  </a:lnTo>
                  <a:lnTo>
                    <a:pt x="1964182" y="1089660"/>
                  </a:lnTo>
                  <a:lnTo>
                    <a:pt x="2012467" y="1083183"/>
                  </a:lnTo>
                  <a:lnTo>
                    <a:pt x="2055850" y="1064882"/>
                  </a:lnTo>
                  <a:lnTo>
                    <a:pt x="2092604" y="1036485"/>
                  </a:lnTo>
                  <a:lnTo>
                    <a:pt x="2121001" y="999731"/>
                  </a:lnTo>
                  <a:lnTo>
                    <a:pt x="2139302" y="956348"/>
                  </a:lnTo>
                  <a:lnTo>
                    <a:pt x="2145792" y="908050"/>
                  </a:lnTo>
                  <a:lnTo>
                    <a:pt x="2145792" y="537768"/>
                  </a:lnTo>
                  <a:lnTo>
                    <a:pt x="2792285" y="536854"/>
                  </a:lnTo>
                  <a:lnTo>
                    <a:pt x="2792349" y="568579"/>
                  </a:lnTo>
                  <a:lnTo>
                    <a:pt x="2868422" y="530352"/>
                  </a:lnTo>
                  <a:close/>
                </a:path>
              </a:pathLst>
            </a:custGeom>
            <a:solidFill>
              <a:srgbClr val="D092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73979" y="3285743"/>
              <a:ext cx="1531620" cy="1089660"/>
            </a:xfrm>
            <a:custGeom>
              <a:avLst/>
              <a:gdLst/>
              <a:ahLst/>
              <a:cxnLst/>
              <a:rect l="l" t="t" r="r" b="b"/>
              <a:pathLst>
                <a:path w="1531620" h="1089660">
                  <a:moveTo>
                    <a:pt x="0" y="181609"/>
                  </a:moveTo>
                  <a:lnTo>
                    <a:pt x="6485" y="133320"/>
                  </a:lnTo>
                  <a:lnTo>
                    <a:pt x="24788" y="89934"/>
                  </a:lnTo>
                  <a:lnTo>
                    <a:pt x="53181" y="53181"/>
                  </a:lnTo>
                  <a:lnTo>
                    <a:pt x="89934" y="24788"/>
                  </a:lnTo>
                  <a:lnTo>
                    <a:pt x="133320" y="6485"/>
                  </a:lnTo>
                  <a:lnTo>
                    <a:pt x="181610" y="0"/>
                  </a:lnTo>
                  <a:lnTo>
                    <a:pt x="1350010" y="0"/>
                  </a:lnTo>
                  <a:lnTo>
                    <a:pt x="1398299" y="6485"/>
                  </a:lnTo>
                  <a:lnTo>
                    <a:pt x="1441685" y="24788"/>
                  </a:lnTo>
                  <a:lnTo>
                    <a:pt x="1478438" y="53181"/>
                  </a:lnTo>
                  <a:lnTo>
                    <a:pt x="1506831" y="89934"/>
                  </a:lnTo>
                  <a:lnTo>
                    <a:pt x="1525134" y="133320"/>
                  </a:lnTo>
                  <a:lnTo>
                    <a:pt x="1531620" y="181609"/>
                  </a:lnTo>
                  <a:lnTo>
                    <a:pt x="1531620" y="908049"/>
                  </a:lnTo>
                  <a:lnTo>
                    <a:pt x="1525134" y="956339"/>
                  </a:lnTo>
                  <a:lnTo>
                    <a:pt x="1506831" y="999725"/>
                  </a:lnTo>
                  <a:lnTo>
                    <a:pt x="1478438" y="1036478"/>
                  </a:lnTo>
                  <a:lnTo>
                    <a:pt x="1441685" y="1064871"/>
                  </a:lnTo>
                  <a:lnTo>
                    <a:pt x="1398299" y="1083174"/>
                  </a:lnTo>
                  <a:lnTo>
                    <a:pt x="1350010" y="1089659"/>
                  </a:lnTo>
                  <a:lnTo>
                    <a:pt x="181610" y="1089659"/>
                  </a:lnTo>
                  <a:lnTo>
                    <a:pt x="133320" y="1083174"/>
                  </a:lnTo>
                  <a:lnTo>
                    <a:pt x="89934" y="1064871"/>
                  </a:lnTo>
                  <a:lnTo>
                    <a:pt x="53181" y="1036478"/>
                  </a:lnTo>
                  <a:lnTo>
                    <a:pt x="24788" y="999725"/>
                  </a:lnTo>
                  <a:lnTo>
                    <a:pt x="6485" y="956339"/>
                  </a:lnTo>
                  <a:lnTo>
                    <a:pt x="0" y="908049"/>
                  </a:lnTo>
                  <a:lnTo>
                    <a:pt x="0" y="181609"/>
                  </a:lnTo>
                  <a:close/>
                </a:path>
              </a:pathLst>
            </a:custGeom>
            <a:ln w="12192">
              <a:solidFill>
                <a:srgbClr val="976A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735579" y="3569208"/>
            <a:ext cx="851916" cy="853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48867" y="4533900"/>
            <a:ext cx="851916" cy="85344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776983" y="4533900"/>
            <a:ext cx="853440" cy="8534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44723" y="4533900"/>
            <a:ext cx="851915" cy="8534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81984" y="4533900"/>
            <a:ext cx="877824" cy="8778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07605" y="3171825"/>
            <a:ext cx="96202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latin typeface="Carlito"/>
                <a:cs typeface="Carlito"/>
              </a:rPr>
              <a:t>K</a:t>
            </a:r>
            <a:r>
              <a:rPr sz="2000" spc="-15" dirty="0">
                <a:latin typeface="Carlito"/>
                <a:cs typeface="Carlito"/>
              </a:rPr>
              <a:t>a</a:t>
            </a:r>
            <a:r>
              <a:rPr sz="2000" dirty="0">
                <a:latin typeface="Carlito"/>
                <a:cs typeface="Carlito"/>
              </a:rPr>
              <a:t>wun</a:t>
            </a:r>
            <a:r>
              <a:rPr sz="2000" spc="5" dirty="0">
                <a:latin typeface="Carlito"/>
                <a:cs typeface="Carlito"/>
              </a:rPr>
              <a:t>g</a:t>
            </a:r>
            <a:r>
              <a:rPr sz="2000" dirty="0">
                <a:latin typeface="Carlito"/>
                <a:cs typeface="Carlito"/>
              </a:rPr>
              <a:t>?  </a:t>
            </a:r>
            <a:r>
              <a:rPr sz="2000" spc="-15" dirty="0">
                <a:latin typeface="Carlito"/>
                <a:cs typeface="Carlito"/>
              </a:rPr>
              <a:t>Parang?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Carlito"/>
                <a:cs typeface="Carlito"/>
              </a:rPr>
              <a:t>..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2000" spc="-15" dirty="0">
                <a:latin typeface="Carlito"/>
                <a:cs typeface="Carlito"/>
              </a:rPr>
              <a:t>etc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50"/>
              </a:lnSpc>
            </a:pPr>
            <a:r>
              <a:rPr spc="-5" dirty="0"/>
              <a:t>Pengolahan </a:t>
            </a:r>
            <a:r>
              <a:rPr dirty="0"/>
              <a:t>Citra -</a:t>
            </a:r>
            <a:r>
              <a:rPr spc="-90" dirty="0"/>
              <a:t> </a:t>
            </a:r>
            <a:r>
              <a:rPr dirty="0"/>
              <a:t>Pengantar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5315203" y="3497326"/>
            <a:ext cx="125031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5" dirty="0">
                <a:latin typeface="Carlito"/>
                <a:cs typeface="Carlito"/>
              </a:rPr>
              <a:t>R</a:t>
            </a:r>
            <a:r>
              <a:rPr sz="2000" dirty="0">
                <a:latin typeface="Carlito"/>
                <a:cs typeface="Carlito"/>
              </a:rPr>
              <a:t>e</a:t>
            </a:r>
            <a:r>
              <a:rPr sz="2000" spc="-10" dirty="0">
                <a:latin typeface="Carlito"/>
                <a:cs typeface="Carlito"/>
              </a:rPr>
              <a:t>c</a:t>
            </a:r>
            <a:r>
              <a:rPr sz="2000" spc="-5" dirty="0">
                <a:latin typeface="Carlito"/>
                <a:cs typeface="Carlito"/>
              </a:rPr>
              <a:t>og</a:t>
            </a:r>
            <a:r>
              <a:rPr sz="2000" spc="5" dirty="0">
                <a:latin typeface="Carlito"/>
                <a:cs typeface="Carlito"/>
              </a:rPr>
              <a:t>n</a:t>
            </a:r>
            <a:r>
              <a:rPr sz="2000" dirty="0">
                <a:latin typeface="Carlito"/>
                <a:cs typeface="Carlito"/>
              </a:rPr>
              <a:t>it</a:t>
            </a:r>
            <a:r>
              <a:rPr sz="2000" spc="-10" dirty="0">
                <a:latin typeface="Carlito"/>
                <a:cs typeface="Carlito"/>
              </a:rPr>
              <a:t>i</a:t>
            </a:r>
            <a:r>
              <a:rPr sz="2000" spc="-5" dirty="0">
                <a:latin typeface="Carlito"/>
                <a:cs typeface="Carlito"/>
              </a:rPr>
              <a:t>on</a:t>
            </a:r>
            <a:endParaRPr sz="2000">
              <a:latin typeface="Carlito"/>
              <a:cs typeface="Carlito"/>
            </a:endParaRPr>
          </a:p>
          <a:p>
            <a:pPr marL="30480">
              <a:lnSpc>
                <a:spcPct val="100000"/>
              </a:lnSpc>
            </a:pPr>
            <a:r>
              <a:rPr sz="2000" dirty="0">
                <a:latin typeface="Carlito"/>
                <a:cs typeface="Carlito"/>
              </a:rPr>
              <a:t>/</a:t>
            </a:r>
            <a:r>
              <a:rPr sz="2000" spc="-80" dirty="0">
                <a:latin typeface="Carlito"/>
                <a:cs typeface="Carlito"/>
              </a:rPr>
              <a:t> </a:t>
            </a:r>
            <a:r>
              <a:rPr sz="2000" spc="-10" dirty="0">
                <a:latin typeface="Carlito"/>
                <a:cs typeface="Carlito"/>
              </a:rPr>
              <a:t>Clustering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96817" y="5612079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Description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69850" rIns="0" bIns="0" rtlCol="0">
            <a:spAutoFit/>
          </a:bodyPr>
          <a:lstStyle/>
          <a:p>
            <a:pPr marL="1609725" marR="1677670" algn="ctr">
              <a:lnSpc>
                <a:spcPts val="3070"/>
              </a:lnSpc>
              <a:spcBef>
                <a:spcPts val="550"/>
              </a:spcBef>
            </a:pPr>
            <a:r>
              <a:rPr sz="3200" spc="-5" dirty="0">
                <a:latin typeface="Tahoma"/>
                <a:cs typeface="Tahoma"/>
              </a:rPr>
              <a:t>Areas </a:t>
            </a:r>
            <a:r>
              <a:rPr sz="3200" dirty="0">
                <a:latin typeface="Tahoma"/>
                <a:cs typeface="Tahoma"/>
              </a:rPr>
              <a:t>of </a:t>
            </a:r>
            <a:r>
              <a:rPr sz="3200" spc="-5" dirty="0">
                <a:latin typeface="Tahoma"/>
                <a:cs typeface="Tahoma"/>
              </a:rPr>
              <a:t>Study </a:t>
            </a:r>
            <a:r>
              <a:rPr sz="3200" spc="-10" dirty="0">
                <a:latin typeface="Tahoma"/>
                <a:cs typeface="Tahoma"/>
              </a:rPr>
              <a:t>Related </a:t>
            </a:r>
            <a:r>
              <a:rPr sz="3200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Image  Processing</a:t>
            </a:r>
            <a:endParaRPr sz="3200">
              <a:latin typeface="Tahoma"/>
              <a:cs typeface="Tahoma"/>
            </a:endParaRPr>
          </a:p>
          <a:p>
            <a:pPr marR="69215" algn="ctr">
              <a:lnSpc>
                <a:spcPct val="100000"/>
              </a:lnSpc>
              <a:spcBef>
                <a:spcPts val="710"/>
              </a:spcBef>
            </a:pPr>
            <a:r>
              <a:rPr sz="2000" dirty="0">
                <a:latin typeface="Arial"/>
                <a:cs typeface="Arial"/>
              </a:rPr>
              <a:t>(Source: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Pavlidis,1986)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0503" y="3173095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I</a:t>
            </a:r>
            <a:r>
              <a:rPr sz="2400" spc="5" dirty="0">
                <a:latin typeface="Arial"/>
                <a:cs typeface="Arial"/>
              </a:rPr>
              <a:t>m</a:t>
            </a:r>
            <a:r>
              <a:rPr sz="2400" spc="-5" dirty="0">
                <a:latin typeface="Arial"/>
                <a:cs typeface="Arial"/>
              </a:rPr>
              <a:t>age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2172" y="4240477"/>
            <a:ext cx="1677035" cy="61087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800" b="1" spc="-5" dirty="0">
                <a:latin typeface="Arial"/>
                <a:cs typeface="Arial"/>
              </a:rPr>
              <a:t>1970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Computer</a:t>
            </a:r>
            <a:endParaRPr sz="1800">
              <a:latin typeface="Arial"/>
              <a:cs typeface="Arial"/>
            </a:endParaRPr>
          </a:p>
          <a:p>
            <a:pPr marL="584200">
              <a:lnSpc>
                <a:spcPct val="100000"/>
              </a:lnSpc>
              <a:spcBef>
                <a:spcPts val="145"/>
              </a:spcBef>
            </a:pPr>
            <a:r>
              <a:rPr sz="1800" b="1" dirty="0">
                <a:latin typeface="Arial"/>
                <a:cs typeface="Arial"/>
              </a:rPr>
              <a:t>Graphics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82036" y="2500248"/>
            <a:ext cx="3525901" cy="36338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099428" y="3485723"/>
            <a:ext cx="2543810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185"/>
              </a:spcBef>
            </a:pPr>
            <a:r>
              <a:rPr sz="1800" b="1" dirty="0">
                <a:latin typeface="Arial"/>
                <a:cs typeface="Arial"/>
              </a:rPr>
              <a:t>Machine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1970 </a:t>
            </a:r>
            <a:r>
              <a:rPr sz="1800" b="1" dirty="0">
                <a:latin typeface="Arial"/>
                <a:cs typeface="Arial"/>
              </a:rPr>
              <a:t>Computer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Vision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9428" y="4720289"/>
            <a:ext cx="2825115" cy="8496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R="60960" algn="r">
              <a:lnSpc>
                <a:spcPct val="100000"/>
              </a:lnSpc>
              <a:spcBef>
                <a:spcPts val="1185"/>
              </a:spcBef>
            </a:pPr>
            <a:r>
              <a:rPr sz="1800" b="1" spc="-10" dirty="0">
                <a:latin typeface="Arial"/>
                <a:cs typeface="Arial"/>
              </a:rPr>
              <a:t>1960 </a:t>
            </a:r>
            <a:r>
              <a:rPr sz="1800" b="1" spc="-5" dirty="0">
                <a:latin typeface="Arial"/>
                <a:cs typeface="Arial"/>
              </a:rPr>
              <a:t>Pattern Recognition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085"/>
              </a:spcBef>
            </a:pPr>
            <a:r>
              <a:rPr sz="1800" b="1" spc="-10" dirty="0">
                <a:latin typeface="Arial"/>
                <a:cs typeface="Arial"/>
              </a:rPr>
              <a:t>Artificial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Intelligence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3789" y="2166873"/>
            <a:ext cx="2552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1950 </a:t>
            </a:r>
            <a:r>
              <a:rPr sz="1800" b="1" spc="-5" dirty="0">
                <a:solidFill>
                  <a:srgbClr val="FF0033"/>
                </a:solidFill>
                <a:latin typeface="Arial"/>
                <a:cs typeface="Arial"/>
              </a:rPr>
              <a:t>Image</a:t>
            </a:r>
            <a:r>
              <a:rPr sz="1800" b="1" spc="-30" dirty="0">
                <a:solidFill>
                  <a:srgbClr val="FF0033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0033"/>
                </a:solidFill>
                <a:latin typeface="Arial"/>
                <a:cs typeface="Arial"/>
              </a:rPr>
              <a:t>Processing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21167" y="6408521"/>
            <a:ext cx="1162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rlito"/>
                <a:cs typeface="Carlito"/>
              </a:rPr>
              <a:t>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93363" y="6451193"/>
            <a:ext cx="15582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Pengolahan Citra </a:t>
            </a:r>
            <a:r>
              <a:rPr sz="90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900" spc="-5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Fundamentals</a:t>
            </a:r>
            <a:endParaRPr sz="9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884366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9932" y="2415501"/>
            <a:ext cx="3122915" cy="30645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61915" y="2400371"/>
            <a:ext cx="3846681" cy="3113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18082" y="5470652"/>
            <a:ext cx="22504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180">
              <a:lnSpc>
                <a:spcPct val="125000"/>
              </a:lnSpc>
              <a:spcBef>
                <a:spcPts val="100"/>
              </a:spcBef>
            </a:pPr>
            <a:r>
              <a:rPr sz="1600" spc="-5" dirty="0">
                <a:latin typeface="Arial"/>
                <a:cs typeface="Arial"/>
              </a:rPr>
              <a:t>Wire Frame </a:t>
            </a:r>
            <a:r>
              <a:rPr sz="1600" spc="-10" dirty="0">
                <a:latin typeface="Arial"/>
                <a:cs typeface="Arial"/>
              </a:rPr>
              <a:t>Drawing  </a:t>
            </a:r>
            <a:r>
              <a:rPr sz="1600" spc="-5" dirty="0">
                <a:latin typeface="Arial"/>
                <a:cs typeface="Arial"/>
              </a:rPr>
              <a:t>(Hearn and </a:t>
            </a:r>
            <a:r>
              <a:rPr sz="1600" spc="-20" dirty="0">
                <a:latin typeface="Arial"/>
                <a:cs typeface="Arial"/>
              </a:rPr>
              <a:t>Baker, </a:t>
            </a:r>
            <a:r>
              <a:rPr sz="1600" spc="-5" dirty="0">
                <a:latin typeface="Arial"/>
                <a:cs typeface="Arial"/>
              </a:rPr>
              <a:t>1986)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</a:t>
            </a:r>
            <a:r>
              <a:rPr spc="-50" dirty="0"/>
              <a:t> </a:t>
            </a:r>
            <a:r>
              <a:rPr spc="-5" dirty="0"/>
              <a:t>Fundamentals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51905" y="5532221"/>
            <a:ext cx="1557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Realism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Drawing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60" dirty="0"/>
              <a:t>Computer</a:t>
            </a:r>
            <a:r>
              <a:rPr sz="3600" spc="-195" dirty="0"/>
              <a:t> </a:t>
            </a:r>
            <a:r>
              <a:rPr sz="3600" spc="-235" dirty="0"/>
              <a:t>Graphics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707542" y="1802333"/>
            <a:ext cx="2765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Description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8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Image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16085" y="51053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3</a:t>
            </a:r>
            <a:endParaRPr sz="1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209419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</a:t>
            </a:r>
            <a:r>
              <a:rPr spc="-50" dirty="0"/>
              <a:t> </a:t>
            </a:r>
            <a:r>
              <a:rPr spc="-5" dirty="0"/>
              <a:t>Fundamentals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823594">
              <a:lnSpc>
                <a:spcPct val="100000"/>
              </a:lnSpc>
              <a:spcBef>
                <a:spcPts val="2610"/>
              </a:spcBef>
            </a:pPr>
            <a:r>
              <a:rPr sz="3600" spc="-160" dirty="0"/>
              <a:t>Computer </a:t>
            </a:r>
            <a:r>
              <a:rPr sz="3600" spc="-235" dirty="0"/>
              <a:t>Graphics</a:t>
            </a:r>
            <a:r>
              <a:rPr sz="3600" spc="-210" dirty="0"/>
              <a:t> </a:t>
            </a:r>
            <a:r>
              <a:rPr sz="3600" spc="-140" dirty="0"/>
              <a:t>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7660640" cy="290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Membuat </a:t>
            </a:r>
            <a:r>
              <a:rPr sz="2400" spc="-10" dirty="0">
                <a:latin typeface="Carlito"/>
                <a:cs typeface="Carlito"/>
              </a:rPr>
              <a:t>citra </a:t>
            </a:r>
            <a:r>
              <a:rPr sz="2400" spc="-5" dirty="0">
                <a:latin typeface="Carlito"/>
                <a:cs typeface="Carlito"/>
              </a:rPr>
              <a:t>dan </a:t>
            </a:r>
            <a:r>
              <a:rPr sz="2400" spc="-10" dirty="0">
                <a:latin typeface="Carlito"/>
                <a:cs typeface="Carlito"/>
              </a:rPr>
              <a:t>menganimasikan obyek </a:t>
            </a:r>
            <a:r>
              <a:rPr sz="2400" spc="-15" dirty="0">
                <a:latin typeface="Carlito"/>
                <a:cs typeface="Carlito"/>
              </a:rPr>
              <a:t>secara</a:t>
            </a:r>
            <a:r>
              <a:rPr sz="2400" spc="-4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dijital</a:t>
            </a:r>
            <a:endParaRPr sz="2400">
              <a:latin typeface="Carlito"/>
              <a:cs typeface="Carlito"/>
            </a:endParaRPr>
          </a:p>
          <a:p>
            <a:pPr marL="184785">
              <a:lnSpc>
                <a:spcPts val="2740"/>
              </a:lnSpc>
            </a:pPr>
            <a:r>
              <a:rPr sz="2400" spc="-5" dirty="0">
                <a:latin typeface="Carlito"/>
                <a:cs typeface="Carlito"/>
              </a:rPr>
              <a:t>pada </a:t>
            </a:r>
            <a:r>
              <a:rPr sz="2400" spc="-45" dirty="0">
                <a:latin typeface="Carlito"/>
                <a:cs typeface="Carlito"/>
              </a:rPr>
              <a:t>komputer.</a:t>
            </a:r>
            <a:endParaRPr sz="2400">
              <a:latin typeface="Carlito"/>
              <a:cs typeface="Carlito"/>
            </a:endParaRPr>
          </a:p>
          <a:p>
            <a:pPr marL="184785" marR="546100" indent="-172720">
              <a:lnSpc>
                <a:spcPts val="2590"/>
              </a:lnSpc>
              <a:spcBef>
                <a:spcPts val="844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Proses, </a:t>
            </a:r>
            <a:r>
              <a:rPr sz="2400" spc="-5" dirty="0">
                <a:latin typeface="Carlito"/>
                <a:cs typeface="Carlito"/>
              </a:rPr>
              <a:t>teknik, dan </a:t>
            </a:r>
            <a:r>
              <a:rPr sz="2400" spc="-10" dirty="0">
                <a:latin typeface="Carlito"/>
                <a:cs typeface="Carlito"/>
              </a:rPr>
              <a:t>metode untuk </a:t>
            </a:r>
            <a:r>
              <a:rPr sz="2400" spc="-5" dirty="0">
                <a:latin typeface="Carlito"/>
                <a:cs typeface="Carlito"/>
              </a:rPr>
              <a:t>menghasilkan </a:t>
            </a:r>
            <a:r>
              <a:rPr sz="2400" spc="-10" dirty="0">
                <a:latin typeface="Carlito"/>
                <a:cs typeface="Carlito"/>
              </a:rPr>
              <a:t>gambar  berdasarkan </a:t>
            </a:r>
            <a:r>
              <a:rPr sz="2400" spc="-5" dirty="0">
                <a:latin typeface="Carlito"/>
                <a:cs typeface="Carlito"/>
              </a:rPr>
              <a:t>deskripsi </a:t>
            </a:r>
            <a:r>
              <a:rPr sz="2400" spc="-15" dirty="0">
                <a:latin typeface="Carlito"/>
                <a:cs typeface="Carlito"/>
              </a:rPr>
              <a:t>abstrak </a:t>
            </a:r>
            <a:r>
              <a:rPr sz="2400" spc="-10" dirty="0">
                <a:latin typeface="Carlito"/>
                <a:cs typeface="Carlito"/>
              </a:rPr>
              <a:t>obyek </a:t>
            </a:r>
            <a:r>
              <a:rPr sz="2400" spc="-5" dirty="0">
                <a:latin typeface="Carlito"/>
                <a:cs typeface="Carlito"/>
              </a:rPr>
              <a:t>dan </a:t>
            </a:r>
            <a:r>
              <a:rPr sz="2400" spc="-15" dirty="0">
                <a:latin typeface="Carlito"/>
                <a:cs typeface="Carlito"/>
              </a:rPr>
              <a:t>lingkungan </a:t>
            </a:r>
            <a:r>
              <a:rPr sz="2400" spc="-5" dirty="0">
                <a:latin typeface="Carlito"/>
                <a:cs typeface="Carlito"/>
              </a:rPr>
              <a:t>di  </a:t>
            </a:r>
            <a:r>
              <a:rPr sz="2400" spc="-10" dirty="0">
                <a:latin typeface="Carlito"/>
                <a:cs typeface="Carlito"/>
              </a:rPr>
              <a:t>sekitar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obyek.</a:t>
            </a:r>
            <a:endParaRPr sz="2400">
              <a:latin typeface="Carlito"/>
              <a:cs typeface="Carlito"/>
            </a:endParaRPr>
          </a:p>
          <a:p>
            <a:pPr marL="184785" marR="5080" indent="-172720">
              <a:lnSpc>
                <a:spcPts val="2590"/>
              </a:lnSpc>
              <a:spcBef>
                <a:spcPts val="81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Proses, </a:t>
            </a:r>
            <a:r>
              <a:rPr sz="2400" spc="-5" dirty="0">
                <a:latin typeface="Carlito"/>
                <a:cs typeface="Carlito"/>
              </a:rPr>
              <a:t>teknik, dan </a:t>
            </a:r>
            <a:r>
              <a:rPr sz="2400" spc="-10" dirty="0">
                <a:latin typeface="Carlito"/>
                <a:cs typeface="Carlito"/>
              </a:rPr>
              <a:t>metode untuk </a:t>
            </a:r>
            <a:r>
              <a:rPr sz="2400" spc="-5" dirty="0">
                <a:latin typeface="Carlito"/>
                <a:cs typeface="Carlito"/>
              </a:rPr>
              <a:t>membuat </a:t>
            </a:r>
            <a:r>
              <a:rPr sz="2400" spc="-25" dirty="0">
                <a:latin typeface="Carlito"/>
                <a:cs typeface="Carlito"/>
              </a:rPr>
              <a:t>efek </a:t>
            </a:r>
            <a:r>
              <a:rPr sz="2400" dirty="0">
                <a:latin typeface="Carlito"/>
                <a:cs typeface="Carlito"/>
              </a:rPr>
              <a:t>riil </a:t>
            </a:r>
            <a:r>
              <a:rPr sz="2400" i="1" dirty="0">
                <a:latin typeface="Carlito"/>
                <a:cs typeface="Carlito"/>
              </a:rPr>
              <a:t>(realism  </a:t>
            </a:r>
            <a:r>
              <a:rPr sz="2400" i="1" spc="-10" dirty="0">
                <a:latin typeface="Carlito"/>
                <a:cs typeface="Carlito"/>
              </a:rPr>
              <a:t>effect</a:t>
            </a:r>
            <a:r>
              <a:rPr sz="2400" spc="-10" dirty="0">
                <a:latin typeface="Carlito"/>
                <a:cs typeface="Carlito"/>
              </a:rPr>
              <a:t>) </a:t>
            </a:r>
            <a:r>
              <a:rPr sz="2400" spc="-5" dirty="0">
                <a:latin typeface="Carlito"/>
                <a:cs typeface="Carlito"/>
              </a:rPr>
              <a:t>pada </a:t>
            </a:r>
            <a:r>
              <a:rPr sz="2400" spc="-10" dirty="0">
                <a:latin typeface="Carlito"/>
                <a:cs typeface="Carlito"/>
              </a:rPr>
              <a:t>obyek </a:t>
            </a:r>
            <a:r>
              <a:rPr sz="2400" spc="-5" dirty="0">
                <a:latin typeface="Carlito"/>
                <a:cs typeface="Carlito"/>
              </a:rPr>
              <a:t>dan </a:t>
            </a:r>
            <a:r>
              <a:rPr sz="2400" spc="-10" dirty="0">
                <a:latin typeface="Carlito"/>
                <a:cs typeface="Carlito"/>
              </a:rPr>
              <a:t>lingkungan sekitar obyek </a:t>
            </a:r>
            <a:r>
              <a:rPr sz="2400" spc="-5" dirty="0">
                <a:latin typeface="Carlito"/>
                <a:cs typeface="Carlito"/>
              </a:rPr>
              <a:t>di dalam  </a:t>
            </a:r>
            <a:r>
              <a:rPr sz="2400" spc="-10" dirty="0">
                <a:latin typeface="Carlito"/>
                <a:cs typeface="Carlito"/>
              </a:rPr>
              <a:t>citra.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16085" y="51053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4</a:t>
            </a:r>
            <a:endParaRPr sz="1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717851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60" dirty="0"/>
              <a:t>Computer</a:t>
            </a:r>
            <a:r>
              <a:rPr sz="3600" spc="-195" dirty="0"/>
              <a:t> </a:t>
            </a:r>
            <a:r>
              <a:rPr sz="3600" spc="-185" dirty="0"/>
              <a:t>Vision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2766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Image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7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Description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98422" y="2426207"/>
            <a:ext cx="6210935" cy="4037329"/>
            <a:chOff x="1598422" y="2426207"/>
            <a:chExt cx="6210935" cy="4037329"/>
          </a:xfrm>
        </p:grpSpPr>
        <p:sp>
          <p:nvSpPr>
            <p:cNvPr id="5" name="object 5"/>
            <p:cNvSpPr/>
            <p:nvPr/>
          </p:nvSpPr>
          <p:spPr>
            <a:xfrm>
              <a:off x="1668780" y="2426207"/>
              <a:ext cx="6140196" cy="40370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04772" y="3151631"/>
              <a:ext cx="2670175" cy="760730"/>
            </a:xfrm>
            <a:custGeom>
              <a:avLst/>
              <a:gdLst/>
              <a:ahLst/>
              <a:cxnLst/>
              <a:rect l="l" t="t" r="r" b="b"/>
              <a:pathLst>
                <a:path w="2670175" h="760729">
                  <a:moveTo>
                    <a:pt x="2225040" y="603503"/>
                  </a:moveTo>
                  <a:lnTo>
                    <a:pt x="1557528" y="603503"/>
                  </a:lnTo>
                  <a:lnTo>
                    <a:pt x="2426335" y="760475"/>
                  </a:lnTo>
                  <a:lnTo>
                    <a:pt x="2225040" y="603503"/>
                  </a:lnTo>
                  <a:close/>
                </a:path>
                <a:path w="2670175" h="760729">
                  <a:moveTo>
                    <a:pt x="2569464" y="0"/>
                  </a:moveTo>
                  <a:lnTo>
                    <a:pt x="100584" y="0"/>
                  </a:lnTo>
                  <a:lnTo>
                    <a:pt x="61454" y="7911"/>
                  </a:lnTo>
                  <a:lnTo>
                    <a:pt x="29479" y="29479"/>
                  </a:lnTo>
                  <a:lnTo>
                    <a:pt x="7911" y="61454"/>
                  </a:lnTo>
                  <a:lnTo>
                    <a:pt x="0" y="100583"/>
                  </a:lnTo>
                  <a:lnTo>
                    <a:pt x="0" y="502919"/>
                  </a:lnTo>
                  <a:lnTo>
                    <a:pt x="7911" y="542049"/>
                  </a:lnTo>
                  <a:lnTo>
                    <a:pt x="29479" y="574024"/>
                  </a:lnTo>
                  <a:lnTo>
                    <a:pt x="61454" y="595592"/>
                  </a:lnTo>
                  <a:lnTo>
                    <a:pt x="100584" y="603503"/>
                  </a:lnTo>
                  <a:lnTo>
                    <a:pt x="2569464" y="603503"/>
                  </a:lnTo>
                  <a:lnTo>
                    <a:pt x="2608593" y="595592"/>
                  </a:lnTo>
                  <a:lnTo>
                    <a:pt x="2640568" y="574024"/>
                  </a:lnTo>
                  <a:lnTo>
                    <a:pt x="2662136" y="542049"/>
                  </a:lnTo>
                  <a:lnTo>
                    <a:pt x="2670048" y="502919"/>
                  </a:lnTo>
                  <a:lnTo>
                    <a:pt x="2670048" y="100583"/>
                  </a:lnTo>
                  <a:lnTo>
                    <a:pt x="2662136" y="61454"/>
                  </a:lnTo>
                  <a:lnTo>
                    <a:pt x="2640568" y="29479"/>
                  </a:lnTo>
                  <a:lnTo>
                    <a:pt x="2608593" y="7911"/>
                  </a:lnTo>
                  <a:lnTo>
                    <a:pt x="2569464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04772" y="3151631"/>
              <a:ext cx="2670175" cy="760730"/>
            </a:xfrm>
            <a:custGeom>
              <a:avLst/>
              <a:gdLst/>
              <a:ahLst/>
              <a:cxnLst/>
              <a:rect l="l" t="t" r="r" b="b"/>
              <a:pathLst>
                <a:path w="2670175" h="760729">
                  <a:moveTo>
                    <a:pt x="0" y="100583"/>
                  </a:moveTo>
                  <a:lnTo>
                    <a:pt x="7911" y="61454"/>
                  </a:lnTo>
                  <a:lnTo>
                    <a:pt x="29479" y="29479"/>
                  </a:lnTo>
                  <a:lnTo>
                    <a:pt x="61454" y="7911"/>
                  </a:lnTo>
                  <a:lnTo>
                    <a:pt x="100584" y="0"/>
                  </a:lnTo>
                  <a:lnTo>
                    <a:pt x="1557528" y="0"/>
                  </a:lnTo>
                  <a:lnTo>
                    <a:pt x="2225040" y="0"/>
                  </a:lnTo>
                  <a:lnTo>
                    <a:pt x="2569464" y="0"/>
                  </a:lnTo>
                  <a:lnTo>
                    <a:pt x="2608593" y="7911"/>
                  </a:lnTo>
                  <a:lnTo>
                    <a:pt x="2640568" y="29479"/>
                  </a:lnTo>
                  <a:lnTo>
                    <a:pt x="2662136" y="61454"/>
                  </a:lnTo>
                  <a:lnTo>
                    <a:pt x="2670048" y="100583"/>
                  </a:lnTo>
                  <a:lnTo>
                    <a:pt x="2670048" y="352043"/>
                  </a:lnTo>
                  <a:lnTo>
                    <a:pt x="2670048" y="502919"/>
                  </a:lnTo>
                  <a:lnTo>
                    <a:pt x="2662136" y="542049"/>
                  </a:lnTo>
                  <a:lnTo>
                    <a:pt x="2640568" y="574024"/>
                  </a:lnTo>
                  <a:lnTo>
                    <a:pt x="2608593" y="595592"/>
                  </a:lnTo>
                  <a:lnTo>
                    <a:pt x="2569464" y="603503"/>
                  </a:lnTo>
                  <a:lnTo>
                    <a:pt x="2225040" y="603503"/>
                  </a:lnTo>
                  <a:lnTo>
                    <a:pt x="2426335" y="760475"/>
                  </a:lnTo>
                  <a:lnTo>
                    <a:pt x="1557528" y="603503"/>
                  </a:lnTo>
                  <a:lnTo>
                    <a:pt x="100584" y="603503"/>
                  </a:lnTo>
                  <a:lnTo>
                    <a:pt x="61454" y="595592"/>
                  </a:lnTo>
                  <a:lnTo>
                    <a:pt x="29479" y="574024"/>
                  </a:lnTo>
                  <a:lnTo>
                    <a:pt x="7911" y="542049"/>
                  </a:lnTo>
                  <a:lnTo>
                    <a:pt x="0" y="502919"/>
                  </a:lnTo>
                  <a:lnTo>
                    <a:pt x="0" y="352043"/>
                  </a:lnTo>
                  <a:lnTo>
                    <a:pt x="0" y="100583"/>
                  </a:lnTo>
                  <a:close/>
                </a:path>
              </a:pathLst>
            </a:custGeom>
            <a:ln w="12192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90192" y="3152013"/>
            <a:ext cx="2300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1540" marR="5080" indent="-8794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rlito"/>
                <a:cs typeface="Carlito"/>
              </a:rPr>
              <a:t>Apakah </a:t>
            </a:r>
            <a:r>
              <a:rPr sz="1800" dirty="0">
                <a:latin typeface="Carlito"/>
                <a:cs typeface="Carlito"/>
              </a:rPr>
              <a:t>ada </a:t>
            </a:r>
            <a:r>
              <a:rPr sz="1800" spc="-5" dirty="0">
                <a:latin typeface="Carlito"/>
                <a:cs typeface="Carlito"/>
              </a:rPr>
              <a:t>objek dalam  </a:t>
            </a:r>
            <a:r>
              <a:rPr sz="1800" spc="-10" dirty="0">
                <a:latin typeface="Carlito"/>
                <a:cs typeface="Carlito"/>
              </a:rPr>
              <a:t>citra?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98422" y="2311654"/>
            <a:ext cx="2682875" cy="790575"/>
            <a:chOff x="1598422" y="2311654"/>
            <a:chExt cx="2682875" cy="790575"/>
          </a:xfrm>
        </p:grpSpPr>
        <p:sp>
          <p:nvSpPr>
            <p:cNvPr id="10" name="object 10"/>
            <p:cNvSpPr/>
            <p:nvPr/>
          </p:nvSpPr>
          <p:spPr>
            <a:xfrm>
              <a:off x="1604772" y="2318004"/>
              <a:ext cx="2670175" cy="777875"/>
            </a:xfrm>
            <a:custGeom>
              <a:avLst/>
              <a:gdLst/>
              <a:ahLst/>
              <a:cxnLst/>
              <a:rect l="l" t="t" r="r" b="b"/>
              <a:pathLst>
                <a:path w="2670175" h="777875">
                  <a:moveTo>
                    <a:pt x="2225040" y="605028"/>
                  </a:moveTo>
                  <a:lnTo>
                    <a:pt x="1557528" y="605028"/>
                  </a:lnTo>
                  <a:lnTo>
                    <a:pt x="2269870" y="777494"/>
                  </a:lnTo>
                  <a:lnTo>
                    <a:pt x="2225040" y="605028"/>
                  </a:lnTo>
                  <a:close/>
                </a:path>
                <a:path w="2670175" h="777875">
                  <a:moveTo>
                    <a:pt x="2569210" y="0"/>
                  </a:moveTo>
                  <a:lnTo>
                    <a:pt x="100838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90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8" y="605028"/>
                  </a:lnTo>
                  <a:lnTo>
                    <a:pt x="2569210" y="605028"/>
                  </a:lnTo>
                  <a:lnTo>
                    <a:pt x="2608486" y="597112"/>
                  </a:lnTo>
                  <a:lnTo>
                    <a:pt x="2640536" y="575516"/>
                  </a:lnTo>
                  <a:lnTo>
                    <a:pt x="2662132" y="543466"/>
                  </a:lnTo>
                  <a:lnTo>
                    <a:pt x="2670048" y="504190"/>
                  </a:lnTo>
                  <a:lnTo>
                    <a:pt x="2670048" y="100837"/>
                  </a:lnTo>
                  <a:lnTo>
                    <a:pt x="2662132" y="61561"/>
                  </a:lnTo>
                  <a:lnTo>
                    <a:pt x="2640536" y="29511"/>
                  </a:lnTo>
                  <a:lnTo>
                    <a:pt x="2608486" y="7915"/>
                  </a:lnTo>
                  <a:lnTo>
                    <a:pt x="2569210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04772" y="2318004"/>
              <a:ext cx="2670175" cy="777875"/>
            </a:xfrm>
            <a:custGeom>
              <a:avLst/>
              <a:gdLst/>
              <a:ahLst/>
              <a:cxnLst/>
              <a:rect l="l" t="t" r="r" b="b"/>
              <a:pathLst>
                <a:path w="2670175" h="777875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8" y="0"/>
                  </a:lnTo>
                  <a:lnTo>
                    <a:pt x="1557528" y="0"/>
                  </a:lnTo>
                  <a:lnTo>
                    <a:pt x="2225040" y="0"/>
                  </a:lnTo>
                  <a:lnTo>
                    <a:pt x="2569210" y="0"/>
                  </a:lnTo>
                  <a:lnTo>
                    <a:pt x="2608486" y="7915"/>
                  </a:lnTo>
                  <a:lnTo>
                    <a:pt x="2640536" y="29511"/>
                  </a:lnTo>
                  <a:lnTo>
                    <a:pt x="2662132" y="61561"/>
                  </a:lnTo>
                  <a:lnTo>
                    <a:pt x="2670048" y="100837"/>
                  </a:lnTo>
                  <a:lnTo>
                    <a:pt x="2670048" y="352933"/>
                  </a:lnTo>
                  <a:lnTo>
                    <a:pt x="2670048" y="504190"/>
                  </a:lnTo>
                  <a:lnTo>
                    <a:pt x="2662132" y="543466"/>
                  </a:lnTo>
                  <a:lnTo>
                    <a:pt x="2640536" y="575516"/>
                  </a:lnTo>
                  <a:lnTo>
                    <a:pt x="2608486" y="597112"/>
                  </a:lnTo>
                  <a:lnTo>
                    <a:pt x="2569210" y="605028"/>
                  </a:lnTo>
                  <a:lnTo>
                    <a:pt x="2225040" y="605028"/>
                  </a:lnTo>
                  <a:lnTo>
                    <a:pt x="2269870" y="777494"/>
                  </a:lnTo>
                  <a:lnTo>
                    <a:pt x="1557528" y="605028"/>
                  </a:lnTo>
                  <a:lnTo>
                    <a:pt x="100838" y="605028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90"/>
                  </a:lnTo>
                  <a:lnTo>
                    <a:pt x="0" y="352933"/>
                  </a:lnTo>
                  <a:lnTo>
                    <a:pt x="0" y="100837"/>
                  </a:lnTo>
                  <a:close/>
                </a:path>
              </a:pathLst>
            </a:custGeom>
            <a:ln w="12192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20976" y="2455926"/>
            <a:ext cx="2437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Bagaimana stuktur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i="1" spc="-5" dirty="0">
                <a:latin typeface="Carlito"/>
                <a:cs typeface="Carlito"/>
              </a:rPr>
              <a:t>scene</a:t>
            </a:r>
            <a:r>
              <a:rPr sz="1800" spc="-5" dirty="0">
                <a:latin typeface="Carlito"/>
                <a:cs typeface="Carlito"/>
              </a:rPr>
              <a:t>?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02097" y="2316226"/>
            <a:ext cx="2681605" cy="777240"/>
            <a:chOff x="5102097" y="2316226"/>
            <a:chExt cx="2681605" cy="777240"/>
          </a:xfrm>
        </p:grpSpPr>
        <p:sp>
          <p:nvSpPr>
            <p:cNvPr id="14" name="object 14"/>
            <p:cNvSpPr/>
            <p:nvPr/>
          </p:nvSpPr>
          <p:spPr>
            <a:xfrm>
              <a:off x="5108447" y="2322576"/>
              <a:ext cx="2668905" cy="764540"/>
            </a:xfrm>
            <a:custGeom>
              <a:avLst/>
              <a:gdLst/>
              <a:ahLst/>
              <a:cxnLst/>
              <a:rect l="l" t="t" r="r" b="b"/>
              <a:pathLst>
                <a:path w="2668904" h="764539">
                  <a:moveTo>
                    <a:pt x="1111885" y="605027"/>
                  </a:moveTo>
                  <a:lnTo>
                    <a:pt x="444753" y="605027"/>
                  </a:lnTo>
                  <a:lnTo>
                    <a:pt x="319659" y="764032"/>
                  </a:lnTo>
                  <a:lnTo>
                    <a:pt x="1111885" y="605027"/>
                  </a:lnTo>
                  <a:close/>
                </a:path>
                <a:path w="2668904" h="764539">
                  <a:moveTo>
                    <a:pt x="2567685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89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7"/>
                  </a:lnTo>
                  <a:lnTo>
                    <a:pt x="2567685" y="605027"/>
                  </a:lnTo>
                  <a:lnTo>
                    <a:pt x="2606962" y="597112"/>
                  </a:lnTo>
                  <a:lnTo>
                    <a:pt x="2639012" y="575516"/>
                  </a:lnTo>
                  <a:lnTo>
                    <a:pt x="2660608" y="543466"/>
                  </a:lnTo>
                  <a:lnTo>
                    <a:pt x="2668524" y="504189"/>
                  </a:lnTo>
                  <a:lnTo>
                    <a:pt x="2668524" y="100837"/>
                  </a:lnTo>
                  <a:lnTo>
                    <a:pt x="2660608" y="61561"/>
                  </a:lnTo>
                  <a:lnTo>
                    <a:pt x="2639012" y="29511"/>
                  </a:lnTo>
                  <a:lnTo>
                    <a:pt x="2606962" y="7915"/>
                  </a:lnTo>
                  <a:lnTo>
                    <a:pt x="2567685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08447" y="2322576"/>
              <a:ext cx="2668905" cy="764540"/>
            </a:xfrm>
            <a:custGeom>
              <a:avLst/>
              <a:gdLst/>
              <a:ahLst/>
              <a:cxnLst/>
              <a:rect l="l" t="t" r="r" b="b"/>
              <a:pathLst>
                <a:path w="2668904" h="764539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444753" y="0"/>
                  </a:lnTo>
                  <a:lnTo>
                    <a:pt x="1111885" y="0"/>
                  </a:lnTo>
                  <a:lnTo>
                    <a:pt x="2567685" y="0"/>
                  </a:lnTo>
                  <a:lnTo>
                    <a:pt x="2606962" y="7915"/>
                  </a:lnTo>
                  <a:lnTo>
                    <a:pt x="2639012" y="29511"/>
                  </a:lnTo>
                  <a:lnTo>
                    <a:pt x="2660608" y="61561"/>
                  </a:lnTo>
                  <a:lnTo>
                    <a:pt x="2668524" y="100837"/>
                  </a:lnTo>
                  <a:lnTo>
                    <a:pt x="2668524" y="352933"/>
                  </a:lnTo>
                  <a:lnTo>
                    <a:pt x="2668524" y="504189"/>
                  </a:lnTo>
                  <a:lnTo>
                    <a:pt x="2660608" y="543466"/>
                  </a:lnTo>
                  <a:lnTo>
                    <a:pt x="2639012" y="575516"/>
                  </a:lnTo>
                  <a:lnTo>
                    <a:pt x="2606962" y="597112"/>
                  </a:lnTo>
                  <a:lnTo>
                    <a:pt x="2567685" y="605027"/>
                  </a:lnTo>
                  <a:lnTo>
                    <a:pt x="1111885" y="605027"/>
                  </a:lnTo>
                  <a:lnTo>
                    <a:pt x="319659" y="764032"/>
                  </a:lnTo>
                  <a:lnTo>
                    <a:pt x="444753" y="605027"/>
                  </a:lnTo>
                  <a:lnTo>
                    <a:pt x="100837" y="605027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89"/>
                  </a:lnTo>
                  <a:lnTo>
                    <a:pt x="0" y="352933"/>
                  </a:lnTo>
                  <a:lnTo>
                    <a:pt x="0" y="100837"/>
                  </a:lnTo>
                  <a:close/>
                </a:path>
              </a:pathLst>
            </a:custGeom>
            <a:ln w="12191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09057" y="2323591"/>
            <a:ext cx="20681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" marR="5080" indent="-451484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Objek </a:t>
            </a:r>
            <a:r>
              <a:rPr sz="1800" dirty="0">
                <a:latin typeface="Carlito"/>
                <a:cs typeface="Carlito"/>
              </a:rPr>
              <a:t>apa </a:t>
            </a:r>
            <a:r>
              <a:rPr sz="1800" spc="-10" dirty="0">
                <a:latin typeface="Carlito"/>
                <a:cs typeface="Carlito"/>
              </a:rPr>
              <a:t>yang </a:t>
            </a:r>
            <a:r>
              <a:rPr sz="1800" dirty="0">
                <a:latin typeface="Carlito"/>
                <a:cs typeface="Carlito"/>
              </a:rPr>
              <a:t>ada </a:t>
            </a:r>
            <a:r>
              <a:rPr sz="1800" spc="-5" dirty="0">
                <a:latin typeface="Carlito"/>
                <a:cs typeface="Carlito"/>
              </a:rPr>
              <a:t>di  dalam </a:t>
            </a:r>
            <a:r>
              <a:rPr sz="1800" spc="-10" dirty="0">
                <a:latin typeface="Carlito"/>
                <a:cs typeface="Carlito"/>
              </a:rPr>
              <a:t>citra?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02352" y="3110483"/>
            <a:ext cx="2680970" cy="789940"/>
            <a:chOff x="5102352" y="3110483"/>
            <a:chExt cx="2680970" cy="789940"/>
          </a:xfrm>
        </p:grpSpPr>
        <p:sp>
          <p:nvSpPr>
            <p:cNvPr id="18" name="object 18"/>
            <p:cNvSpPr/>
            <p:nvPr/>
          </p:nvSpPr>
          <p:spPr>
            <a:xfrm>
              <a:off x="5108448" y="3116579"/>
              <a:ext cx="2668905" cy="777875"/>
            </a:xfrm>
            <a:custGeom>
              <a:avLst/>
              <a:gdLst/>
              <a:ahLst/>
              <a:cxnLst/>
              <a:rect l="l" t="t" r="r" b="b"/>
              <a:pathLst>
                <a:path w="2668904" h="777875">
                  <a:moveTo>
                    <a:pt x="1111885" y="605028"/>
                  </a:moveTo>
                  <a:lnTo>
                    <a:pt x="444753" y="605028"/>
                  </a:lnTo>
                  <a:lnTo>
                    <a:pt x="413765" y="777494"/>
                  </a:lnTo>
                  <a:lnTo>
                    <a:pt x="1111885" y="605028"/>
                  </a:lnTo>
                  <a:close/>
                </a:path>
                <a:path w="2668904" h="777875">
                  <a:moveTo>
                    <a:pt x="2567685" y="0"/>
                  </a:moveTo>
                  <a:lnTo>
                    <a:pt x="100837" y="0"/>
                  </a:lnTo>
                  <a:lnTo>
                    <a:pt x="61561" y="7915"/>
                  </a:lnTo>
                  <a:lnTo>
                    <a:pt x="29511" y="29511"/>
                  </a:lnTo>
                  <a:lnTo>
                    <a:pt x="7915" y="61561"/>
                  </a:lnTo>
                  <a:lnTo>
                    <a:pt x="0" y="100837"/>
                  </a:lnTo>
                  <a:lnTo>
                    <a:pt x="0" y="504190"/>
                  </a:lnTo>
                  <a:lnTo>
                    <a:pt x="7915" y="543466"/>
                  </a:lnTo>
                  <a:lnTo>
                    <a:pt x="29511" y="575516"/>
                  </a:lnTo>
                  <a:lnTo>
                    <a:pt x="61561" y="597112"/>
                  </a:lnTo>
                  <a:lnTo>
                    <a:pt x="100837" y="605028"/>
                  </a:lnTo>
                  <a:lnTo>
                    <a:pt x="2567685" y="605028"/>
                  </a:lnTo>
                  <a:lnTo>
                    <a:pt x="2606962" y="597112"/>
                  </a:lnTo>
                  <a:lnTo>
                    <a:pt x="2639012" y="575516"/>
                  </a:lnTo>
                  <a:lnTo>
                    <a:pt x="2660608" y="543466"/>
                  </a:lnTo>
                  <a:lnTo>
                    <a:pt x="2668524" y="504190"/>
                  </a:lnTo>
                  <a:lnTo>
                    <a:pt x="2668524" y="100837"/>
                  </a:lnTo>
                  <a:lnTo>
                    <a:pt x="2660608" y="61561"/>
                  </a:lnTo>
                  <a:lnTo>
                    <a:pt x="2639012" y="29511"/>
                  </a:lnTo>
                  <a:lnTo>
                    <a:pt x="2606962" y="7915"/>
                  </a:lnTo>
                  <a:lnTo>
                    <a:pt x="2567685" y="0"/>
                  </a:lnTo>
                  <a:close/>
                </a:path>
              </a:pathLst>
            </a:custGeom>
            <a:solidFill>
              <a:srgbClr val="F9D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08448" y="3116579"/>
              <a:ext cx="2668905" cy="777875"/>
            </a:xfrm>
            <a:custGeom>
              <a:avLst/>
              <a:gdLst/>
              <a:ahLst/>
              <a:cxnLst/>
              <a:rect l="l" t="t" r="r" b="b"/>
              <a:pathLst>
                <a:path w="2668904" h="777875">
                  <a:moveTo>
                    <a:pt x="0" y="100837"/>
                  </a:moveTo>
                  <a:lnTo>
                    <a:pt x="7915" y="61561"/>
                  </a:lnTo>
                  <a:lnTo>
                    <a:pt x="29511" y="29511"/>
                  </a:lnTo>
                  <a:lnTo>
                    <a:pt x="61561" y="7915"/>
                  </a:lnTo>
                  <a:lnTo>
                    <a:pt x="100837" y="0"/>
                  </a:lnTo>
                  <a:lnTo>
                    <a:pt x="444753" y="0"/>
                  </a:lnTo>
                  <a:lnTo>
                    <a:pt x="1111885" y="0"/>
                  </a:lnTo>
                  <a:lnTo>
                    <a:pt x="2567685" y="0"/>
                  </a:lnTo>
                  <a:lnTo>
                    <a:pt x="2606962" y="7915"/>
                  </a:lnTo>
                  <a:lnTo>
                    <a:pt x="2639012" y="29511"/>
                  </a:lnTo>
                  <a:lnTo>
                    <a:pt x="2660608" y="61561"/>
                  </a:lnTo>
                  <a:lnTo>
                    <a:pt x="2668524" y="100837"/>
                  </a:lnTo>
                  <a:lnTo>
                    <a:pt x="2668524" y="352933"/>
                  </a:lnTo>
                  <a:lnTo>
                    <a:pt x="2668524" y="504190"/>
                  </a:lnTo>
                  <a:lnTo>
                    <a:pt x="2660608" y="543466"/>
                  </a:lnTo>
                  <a:lnTo>
                    <a:pt x="2639012" y="575516"/>
                  </a:lnTo>
                  <a:lnTo>
                    <a:pt x="2606962" y="597112"/>
                  </a:lnTo>
                  <a:lnTo>
                    <a:pt x="2567685" y="605028"/>
                  </a:lnTo>
                  <a:lnTo>
                    <a:pt x="1111885" y="605028"/>
                  </a:lnTo>
                  <a:lnTo>
                    <a:pt x="413765" y="777494"/>
                  </a:lnTo>
                  <a:lnTo>
                    <a:pt x="444753" y="605028"/>
                  </a:lnTo>
                  <a:lnTo>
                    <a:pt x="100837" y="605028"/>
                  </a:lnTo>
                  <a:lnTo>
                    <a:pt x="61561" y="597112"/>
                  </a:lnTo>
                  <a:lnTo>
                    <a:pt x="29511" y="575516"/>
                  </a:lnTo>
                  <a:lnTo>
                    <a:pt x="7915" y="543466"/>
                  </a:lnTo>
                  <a:lnTo>
                    <a:pt x="0" y="504190"/>
                  </a:lnTo>
                  <a:lnTo>
                    <a:pt x="0" y="352933"/>
                  </a:lnTo>
                  <a:lnTo>
                    <a:pt x="0" y="100837"/>
                  </a:lnTo>
                  <a:close/>
                </a:path>
              </a:pathLst>
            </a:custGeom>
            <a:ln w="12192">
              <a:solidFill>
                <a:srgbClr val="F3A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450204" y="3117596"/>
            <a:ext cx="198691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Di </a:t>
            </a:r>
            <a:r>
              <a:rPr sz="1800" dirty="0">
                <a:latin typeface="Carlito"/>
                <a:cs typeface="Carlito"/>
              </a:rPr>
              <a:t>mana </a:t>
            </a:r>
            <a:r>
              <a:rPr sz="1800" spc="-5" dirty="0">
                <a:latin typeface="Carlito"/>
                <a:cs typeface="Carlito"/>
              </a:rPr>
              <a:t>(sejauh </a:t>
            </a:r>
            <a:r>
              <a:rPr sz="1800" dirty="0">
                <a:latin typeface="Carlito"/>
                <a:cs typeface="Carlito"/>
              </a:rPr>
              <a:t>apa)  </a:t>
            </a:r>
            <a:r>
              <a:rPr sz="1800" spc="-10" dirty="0">
                <a:latin typeface="Carlito"/>
                <a:cs typeface="Carlito"/>
              </a:rPr>
              <a:t>letak </a:t>
            </a:r>
            <a:r>
              <a:rPr sz="1800" spc="-5" dirty="0">
                <a:latin typeface="Carlito"/>
                <a:cs typeface="Carlito"/>
              </a:rPr>
              <a:t>objek</a:t>
            </a:r>
            <a:r>
              <a:rPr sz="1800" spc="-40" dirty="0">
                <a:latin typeface="Carlito"/>
                <a:cs typeface="Carlito"/>
              </a:rPr>
              <a:t> </a:t>
            </a:r>
            <a:r>
              <a:rPr sz="1800" spc="-10" dirty="0">
                <a:latin typeface="Carlito"/>
                <a:cs typeface="Carlito"/>
              </a:rPr>
              <a:t>tersebut?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816085" y="51053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7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93363" y="6451193"/>
            <a:ext cx="15582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Pengolahan Citra </a:t>
            </a:r>
            <a:r>
              <a:rPr sz="90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900" spc="-5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Fundamentals</a:t>
            </a:r>
            <a:endParaRPr sz="9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56874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60" dirty="0"/>
              <a:t>Computer </a:t>
            </a:r>
            <a:r>
              <a:rPr sz="3600" spc="-185" dirty="0"/>
              <a:t>Vision</a:t>
            </a:r>
            <a:r>
              <a:rPr sz="3600" spc="-200" dirty="0"/>
              <a:t> </a:t>
            </a:r>
            <a:r>
              <a:rPr sz="3600" spc="-145" dirty="0"/>
              <a:t>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64540" y="1786508"/>
            <a:ext cx="7879080" cy="12172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1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Segmentasi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citra</a:t>
            </a:r>
            <a:endParaRPr sz="2400">
              <a:latin typeface="Carlito"/>
              <a:cs typeface="Carlito"/>
            </a:endParaRPr>
          </a:p>
          <a:p>
            <a:pPr marL="184785" marR="5080" indent="-172720">
              <a:lnSpc>
                <a:spcPts val="2590"/>
              </a:lnSpc>
              <a:spcBef>
                <a:spcPts val="844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rlito"/>
                <a:cs typeface="Carlito"/>
              </a:rPr>
              <a:t>Pemberian </a:t>
            </a:r>
            <a:r>
              <a:rPr sz="2400" dirty="0">
                <a:latin typeface="Carlito"/>
                <a:cs typeface="Carlito"/>
              </a:rPr>
              <a:t>label </a:t>
            </a:r>
            <a:r>
              <a:rPr sz="2400" spc="-5" dirty="0">
                <a:latin typeface="Carlito"/>
                <a:cs typeface="Carlito"/>
              </a:rPr>
              <a:t>setiap </a:t>
            </a:r>
            <a:r>
              <a:rPr sz="2400" spc="-10" dirty="0">
                <a:latin typeface="Carlito"/>
                <a:cs typeface="Carlito"/>
              </a:rPr>
              <a:t>segment </a:t>
            </a:r>
            <a:r>
              <a:rPr sz="2400" spc="-15" dirty="0">
                <a:latin typeface="Carlito"/>
                <a:cs typeface="Carlito"/>
              </a:rPr>
              <a:t>dengan </a:t>
            </a:r>
            <a:r>
              <a:rPr sz="2400" spc="-10" dirty="0">
                <a:latin typeface="Carlito"/>
                <a:cs typeface="Carlito"/>
              </a:rPr>
              <a:t>mengamati </a:t>
            </a:r>
            <a:r>
              <a:rPr sz="2400" spc="-25" dirty="0">
                <a:latin typeface="Carlito"/>
                <a:cs typeface="Carlito"/>
              </a:rPr>
              <a:t>gray </a:t>
            </a:r>
            <a:r>
              <a:rPr sz="2400" spc="-10" dirty="0">
                <a:latin typeface="Carlito"/>
                <a:cs typeface="Carlito"/>
              </a:rPr>
              <a:t>scale  ataupun </a:t>
            </a:r>
            <a:r>
              <a:rPr sz="2400" spc="-15" dirty="0">
                <a:latin typeface="Carlito"/>
                <a:cs typeface="Carlito"/>
              </a:rPr>
              <a:t>texture </a:t>
            </a:r>
            <a:r>
              <a:rPr sz="2400" spc="-5" dirty="0">
                <a:latin typeface="Carlito"/>
                <a:cs typeface="Carlito"/>
              </a:rPr>
              <a:t>setiap </a:t>
            </a:r>
            <a:r>
              <a:rPr sz="2400" spc="-10" dirty="0">
                <a:latin typeface="Carlito"/>
                <a:cs typeface="Carlito"/>
              </a:rPr>
              <a:t>segment ataupun </a:t>
            </a:r>
            <a:r>
              <a:rPr sz="2400" spc="-5" dirty="0">
                <a:latin typeface="Carlito"/>
                <a:cs typeface="Carlito"/>
              </a:rPr>
              <a:t>bentuk</a:t>
            </a:r>
            <a:r>
              <a:rPr sz="2400" spc="-10" dirty="0">
                <a:latin typeface="Carlito"/>
                <a:cs typeface="Carlito"/>
              </a:rPr>
              <a:t> segment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1595" y="3051048"/>
            <a:ext cx="5398008" cy="3026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48507" y="6106159"/>
            <a:ext cx="2600960" cy="53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989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Laki-laki dan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Perempuan</a:t>
            </a:r>
            <a:endParaRPr sz="1800">
              <a:latin typeface="Arial"/>
              <a:cs typeface="Arial"/>
            </a:endParaRPr>
          </a:p>
          <a:p>
            <a:pPr marL="38100">
              <a:lnSpc>
                <a:spcPts val="1989"/>
              </a:lnSpc>
            </a:pPr>
            <a:r>
              <a:rPr sz="2700" spc="-412" baseline="-10802" dirty="0">
                <a:latin typeface="Arial"/>
                <a:cs typeface="Arial"/>
              </a:rPr>
              <a:t>(S</a:t>
            </a:r>
            <a:r>
              <a:rPr sz="900" spc="-275" dirty="0">
                <a:solidFill>
                  <a:srgbClr val="888888"/>
                </a:solidFill>
                <a:latin typeface="Carlito"/>
                <a:cs typeface="Carlito"/>
              </a:rPr>
              <a:t>P</a:t>
            </a:r>
            <a:r>
              <a:rPr sz="2700" spc="-412" baseline="-10802" dirty="0">
                <a:latin typeface="Arial"/>
                <a:cs typeface="Arial"/>
              </a:rPr>
              <a:t>o</a:t>
            </a:r>
            <a:r>
              <a:rPr sz="900" spc="-275" dirty="0">
                <a:solidFill>
                  <a:srgbClr val="888888"/>
                </a:solidFill>
                <a:latin typeface="Carlito"/>
                <a:cs typeface="Carlito"/>
              </a:rPr>
              <a:t>en</a:t>
            </a:r>
            <a:r>
              <a:rPr sz="2700" spc="-412" baseline="-10802" dirty="0">
                <a:latin typeface="Arial"/>
                <a:cs typeface="Arial"/>
              </a:rPr>
              <a:t>u</a:t>
            </a:r>
            <a:r>
              <a:rPr sz="900" spc="-275" dirty="0">
                <a:solidFill>
                  <a:srgbClr val="888888"/>
                </a:solidFill>
                <a:latin typeface="Carlito"/>
                <a:cs typeface="Carlito"/>
              </a:rPr>
              <a:t>go</a:t>
            </a:r>
            <a:r>
              <a:rPr sz="2700" spc="-412" baseline="-10802" dirty="0">
                <a:latin typeface="Arial"/>
                <a:cs typeface="Arial"/>
              </a:rPr>
              <a:t>r</a:t>
            </a:r>
            <a:r>
              <a:rPr sz="900" spc="-275" dirty="0">
                <a:solidFill>
                  <a:srgbClr val="888888"/>
                </a:solidFill>
                <a:latin typeface="Carlito"/>
                <a:cs typeface="Carlito"/>
              </a:rPr>
              <a:t>la</a:t>
            </a:r>
            <a:r>
              <a:rPr sz="2700" spc="-412" baseline="-10802" dirty="0">
                <a:latin typeface="Arial"/>
                <a:cs typeface="Arial"/>
              </a:rPr>
              <a:t>c</a:t>
            </a:r>
            <a:r>
              <a:rPr sz="900" spc="-275" dirty="0">
                <a:solidFill>
                  <a:srgbClr val="888888"/>
                </a:solidFill>
                <a:latin typeface="Carlito"/>
                <a:cs typeface="Carlito"/>
              </a:rPr>
              <a:t>ha</a:t>
            </a:r>
            <a:r>
              <a:rPr sz="2700" spc="-412" baseline="-10802" dirty="0">
                <a:latin typeface="Arial"/>
                <a:cs typeface="Arial"/>
              </a:rPr>
              <a:t>e</a:t>
            </a:r>
            <a:r>
              <a:rPr sz="900" spc="-275" dirty="0">
                <a:solidFill>
                  <a:srgbClr val="888888"/>
                </a:solidFill>
                <a:latin typeface="Carlito"/>
                <a:cs typeface="Carlito"/>
              </a:rPr>
              <a:t>n</a:t>
            </a:r>
            <a:r>
              <a:rPr sz="90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C</a:t>
            </a:r>
            <a:r>
              <a:rPr sz="2700" spc="-390" baseline="-10802" dirty="0">
                <a:latin typeface="Arial"/>
                <a:cs typeface="Arial"/>
              </a:rPr>
              <a:t>: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itr</a:t>
            </a:r>
            <a:r>
              <a:rPr sz="2700" spc="-390" baseline="-10802" dirty="0">
                <a:latin typeface="Arial"/>
                <a:cs typeface="Arial"/>
              </a:rPr>
              <a:t>D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900" spc="-1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90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900" spc="-3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2700" spc="-300" baseline="-10802" dirty="0">
                <a:latin typeface="Arial"/>
                <a:cs typeface="Arial"/>
              </a:rPr>
              <a:t>i</a:t>
            </a:r>
            <a:r>
              <a:rPr sz="900" spc="-200" dirty="0">
                <a:solidFill>
                  <a:srgbClr val="888888"/>
                </a:solidFill>
                <a:latin typeface="Carlito"/>
                <a:cs typeface="Carlito"/>
              </a:rPr>
              <a:t>F</a:t>
            </a:r>
            <a:r>
              <a:rPr sz="2700" spc="-300" baseline="-10802" dirty="0">
                <a:latin typeface="Arial"/>
                <a:cs typeface="Arial"/>
              </a:rPr>
              <a:t>n</a:t>
            </a:r>
            <a:r>
              <a:rPr sz="900" spc="-200" dirty="0">
                <a:solidFill>
                  <a:srgbClr val="888888"/>
                </a:solidFill>
                <a:latin typeface="Carlito"/>
                <a:cs typeface="Carlito"/>
              </a:rPr>
              <a:t>und</a:t>
            </a:r>
            <a:r>
              <a:rPr sz="2700" spc="-300" baseline="-10802" dirty="0">
                <a:latin typeface="Arial"/>
                <a:cs typeface="Arial"/>
              </a:rPr>
              <a:t>a</a:t>
            </a:r>
            <a:r>
              <a:rPr sz="900" spc="-200" dirty="0">
                <a:solidFill>
                  <a:srgbClr val="888888"/>
                </a:solidFill>
                <a:latin typeface="Carlito"/>
                <a:cs typeface="Carlito"/>
              </a:rPr>
              <a:t>am</a:t>
            </a:r>
            <a:r>
              <a:rPr sz="2700" spc="-300" baseline="-10802" dirty="0">
                <a:latin typeface="Arial"/>
                <a:cs typeface="Arial"/>
              </a:rPr>
              <a:t>C</a:t>
            </a:r>
            <a:r>
              <a:rPr sz="900" spc="-200" dirty="0">
                <a:solidFill>
                  <a:srgbClr val="888888"/>
                </a:solidFill>
                <a:latin typeface="Carlito"/>
                <a:cs typeface="Carlito"/>
              </a:rPr>
              <a:t>ent</a:t>
            </a:r>
            <a:r>
              <a:rPr sz="2700" spc="-300" baseline="-10802" dirty="0">
                <a:latin typeface="Arial"/>
                <a:cs typeface="Arial"/>
              </a:rPr>
              <a:t>h</a:t>
            </a:r>
            <a:r>
              <a:rPr sz="900" spc="-200" dirty="0">
                <a:solidFill>
                  <a:srgbClr val="888888"/>
                </a:solidFill>
                <a:latin typeface="Carlito"/>
                <a:cs typeface="Carlito"/>
              </a:rPr>
              <a:t>als</a:t>
            </a:r>
            <a:r>
              <a:rPr sz="2700" spc="-300" baseline="-10802" dirty="0">
                <a:latin typeface="Arial"/>
                <a:cs typeface="Arial"/>
              </a:rPr>
              <a:t>ahyati)</a:t>
            </a:r>
            <a:endParaRPr sz="2700" baseline="-10802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6085" y="51053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rlito"/>
                <a:cs typeface="Carlito"/>
              </a:rPr>
              <a:t>8</a:t>
            </a:r>
            <a:endParaRPr sz="1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92324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720090" marR="1417320">
              <a:lnSpc>
                <a:spcPts val="3890"/>
              </a:lnSpc>
              <a:spcBef>
                <a:spcPts val="1155"/>
              </a:spcBef>
            </a:pPr>
            <a:r>
              <a:rPr sz="3600" spc="-150" dirty="0"/>
              <a:t>Pattern </a:t>
            </a:r>
            <a:r>
              <a:rPr sz="3600" spc="-175" dirty="0"/>
              <a:t>Recognition, </a:t>
            </a:r>
            <a:r>
              <a:rPr sz="3600" spc="-160" dirty="0"/>
              <a:t>Computer</a:t>
            </a:r>
            <a:r>
              <a:rPr sz="3600" spc="-345" dirty="0"/>
              <a:t> </a:t>
            </a:r>
            <a:r>
              <a:rPr sz="3600" spc="-175" dirty="0"/>
              <a:t>Vision,  </a:t>
            </a:r>
            <a:r>
              <a:rPr sz="3600" spc="-195" dirty="0"/>
              <a:t>and </a:t>
            </a:r>
            <a:r>
              <a:rPr sz="3600" spc="-75" dirty="0"/>
              <a:t>Artificial</a:t>
            </a:r>
            <a:r>
              <a:rPr sz="3600" spc="-175" dirty="0"/>
              <a:t> </a:t>
            </a:r>
            <a:r>
              <a:rPr sz="3600" spc="-140" dirty="0"/>
              <a:t>Intelligence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59661"/>
            <a:ext cx="7452995" cy="4148454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84785" marR="1523365" indent="-17272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i="1" spc="-15" dirty="0">
                <a:latin typeface="Carlito"/>
                <a:cs typeface="Carlito"/>
              </a:rPr>
              <a:t>Pattern </a:t>
            </a:r>
            <a:r>
              <a:rPr sz="2800" b="1" i="1" spc="-10" dirty="0">
                <a:latin typeface="Carlito"/>
                <a:cs typeface="Carlito"/>
              </a:rPr>
              <a:t>Recognition</a:t>
            </a:r>
            <a:r>
              <a:rPr sz="2800" i="1" spc="-10" dirty="0">
                <a:latin typeface="Carlito"/>
                <a:cs typeface="Carlito"/>
              </a:rPr>
              <a:t>: </a:t>
            </a:r>
            <a:r>
              <a:rPr sz="2800" spc="-15" dirty="0">
                <a:latin typeface="Carlito"/>
                <a:cs typeface="Carlito"/>
              </a:rPr>
              <a:t>Segmentation </a:t>
            </a:r>
            <a:r>
              <a:rPr sz="2800" spc="-5" dirty="0">
                <a:latin typeface="Carlito"/>
                <a:cs typeface="Carlito"/>
              </a:rPr>
              <a:t>and  </a:t>
            </a:r>
            <a:r>
              <a:rPr sz="2800" spc="-10" dirty="0">
                <a:latin typeface="Carlito"/>
                <a:cs typeface="Carlito"/>
              </a:rPr>
              <a:t>Classification</a:t>
            </a:r>
            <a:endParaRPr sz="2800">
              <a:latin typeface="Carlito"/>
              <a:cs typeface="Carlito"/>
            </a:endParaRPr>
          </a:p>
          <a:p>
            <a:pPr marL="527685" marR="313055" lvl="1" indent="-172720">
              <a:lnSpc>
                <a:spcPct val="80000"/>
              </a:lnSpc>
              <a:spcBef>
                <a:spcPts val="425"/>
              </a:spcBef>
              <a:buFont typeface="Arial"/>
              <a:buChar char="•"/>
              <a:tabLst>
                <a:tab pos="528320" algn="l"/>
              </a:tabLst>
            </a:pPr>
            <a:r>
              <a:rPr sz="2600" b="1" spc="-5" dirty="0">
                <a:solidFill>
                  <a:srgbClr val="006FC0"/>
                </a:solidFill>
                <a:latin typeface="Carlito"/>
                <a:cs typeface="Carlito"/>
              </a:rPr>
              <a:t>Image Classification </a:t>
            </a:r>
            <a:r>
              <a:rPr sz="2600" spc="-25" dirty="0">
                <a:solidFill>
                  <a:srgbClr val="444D25"/>
                </a:solidFill>
                <a:latin typeface="Carlito"/>
                <a:cs typeface="Carlito"/>
              </a:rPr>
              <a:t>(Termasuk </a:t>
            </a:r>
            <a:r>
              <a:rPr sz="2600" spc="-15" dirty="0">
                <a:solidFill>
                  <a:srgbClr val="444D25"/>
                </a:solidFill>
                <a:latin typeface="Carlito"/>
                <a:cs typeface="Carlito"/>
              </a:rPr>
              <a:t>kelompok </a:t>
            </a:r>
            <a:r>
              <a:rPr sz="2600" spc="-10" dirty="0">
                <a:solidFill>
                  <a:srgbClr val="444D25"/>
                </a:solidFill>
                <a:latin typeface="Carlito"/>
                <a:cs typeface="Carlito"/>
              </a:rPr>
              <a:t>apakah  citra</a:t>
            </a:r>
            <a:r>
              <a:rPr sz="2600" spc="-15" dirty="0">
                <a:solidFill>
                  <a:srgbClr val="444D25"/>
                </a:solidFill>
                <a:latin typeface="Carlito"/>
                <a:cs typeface="Carlito"/>
              </a:rPr>
              <a:t> </a:t>
            </a:r>
            <a:r>
              <a:rPr sz="2600" dirty="0">
                <a:solidFill>
                  <a:srgbClr val="444D25"/>
                </a:solidFill>
                <a:latin typeface="Carlito"/>
                <a:cs typeface="Carlito"/>
              </a:rPr>
              <a:t>ini?)</a:t>
            </a:r>
            <a:endParaRPr sz="2600">
              <a:latin typeface="Carlito"/>
              <a:cs typeface="Carlito"/>
            </a:endParaRPr>
          </a:p>
          <a:p>
            <a:pPr marL="184785" marR="1285875" indent="-172720">
              <a:lnSpc>
                <a:spcPts val="2690"/>
              </a:lnSpc>
              <a:spcBef>
                <a:spcPts val="775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i="1" spc="-10" dirty="0">
                <a:latin typeface="Carlito"/>
                <a:cs typeface="Carlito"/>
              </a:rPr>
              <a:t>Computer </a:t>
            </a:r>
            <a:r>
              <a:rPr sz="2800" b="1" i="1" spc="-5" dirty="0">
                <a:latin typeface="Carlito"/>
                <a:cs typeface="Carlito"/>
              </a:rPr>
              <a:t>Vision</a:t>
            </a:r>
            <a:r>
              <a:rPr sz="2800" i="1" spc="-5" dirty="0">
                <a:latin typeface="Carlito"/>
                <a:cs typeface="Carlito"/>
              </a:rPr>
              <a:t>: </a:t>
            </a:r>
            <a:r>
              <a:rPr sz="2800" spc="-10" dirty="0">
                <a:latin typeface="Carlito"/>
                <a:cs typeface="Carlito"/>
              </a:rPr>
              <a:t>Object </a:t>
            </a:r>
            <a:r>
              <a:rPr sz="2800" spc="-15" dirty="0">
                <a:latin typeface="Carlito"/>
                <a:cs typeface="Carlito"/>
              </a:rPr>
              <a:t>Recognition </a:t>
            </a:r>
            <a:r>
              <a:rPr sz="2800" spc="-5" dirty="0">
                <a:latin typeface="Carlito"/>
                <a:cs typeface="Carlito"/>
              </a:rPr>
              <a:t>and  </a:t>
            </a:r>
            <a:r>
              <a:rPr sz="2800" spc="-10" dirty="0">
                <a:latin typeface="Carlito"/>
                <a:cs typeface="Carlito"/>
              </a:rPr>
              <a:t>Description (Object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Structure)</a:t>
            </a:r>
            <a:endParaRPr sz="2800">
              <a:latin typeface="Carlito"/>
              <a:cs typeface="Carlito"/>
            </a:endParaRPr>
          </a:p>
          <a:p>
            <a:pPr marL="527685" marR="5080" lvl="1" indent="-172720">
              <a:lnSpc>
                <a:spcPct val="80000"/>
              </a:lnSpc>
              <a:spcBef>
                <a:spcPts val="425"/>
              </a:spcBef>
              <a:buFont typeface="Arial"/>
              <a:buChar char="•"/>
              <a:tabLst>
                <a:tab pos="528320" algn="l"/>
              </a:tabLst>
            </a:pPr>
            <a:r>
              <a:rPr sz="2600" b="1" spc="-5" dirty="0">
                <a:solidFill>
                  <a:srgbClr val="006FC0"/>
                </a:solidFill>
                <a:latin typeface="Carlito"/>
                <a:cs typeface="Carlito"/>
              </a:rPr>
              <a:t>Object </a:t>
            </a:r>
            <a:r>
              <a:rPr sz="2600" b="1" spc="-10" dirty="0">
                <a:solidFill>
                  <a:srgbClr val="006FC0"/>
                </a:solidFill>
                <a:latin typeface="Carlito"/>
                <a:cs typeface="Carlito"/>
              </a:rPr>
              <a:t>Detection </a:t>
            </a:r>
            <a:r>
              <a:rPr sz="2600" b="1" spc="-5" dirty="0">
                <a:solidFill>
                  <a:srgbClr val="006FC0"/>
                </a:solidFill>
                <a:latin typeface="Carlito"/>
                <a:cs typeface="Carlito"/>
              </a:rPr>
              <a:t>and Recognition </a:t>
            </a:r>
            <a:r>
              <a:rPr sz="2600" spc="-10" dirty="0">
                <a:solidFill>
                  <a:srgbClr val="444D25"/>
                </a:solidFill>
                <a:latin typeface="Carlito"/>
                <a:cs typeface="Carlito"/>
              </a:rPr>
              <a:t>(Obyek </a:t>
            </a:r>
            <a:r>
              <a:rPr sz="2600" dirty="0">
                <a:solidFill>
                  <a:srgbClr val="444D25"/>
                </a:solidFill>
                <a:latin typeface="Carlito"/>
                <a:cs typeface="Carlito"/>
              </a:rPr>
              <a:t>apa </a:t>
            </a:r>
            <a:r>
              <a:rPr sz="2600" spc="-10" dirty="0">
                <a:solidFill>
                  <a:srgbClr val="444D25"/>
                </a:solidFill>
                <a:latin typeface="Carlito"/>
                <a:cs typeface="Carlito"/>
              </a:rPr>
              <a:t>yang  </a:t>
            </a:r>
            <a:r>
              <a:rPr sz="2600" spc="-5" dirty="0">
                <a:solidFill>
                  <a:srgbClr val="444D25"/>
                </a:solidFill>
                <a:latin typeface="Carlito"/>
                <a:cs typeface="Carlito"/>
              </a:rPr>
              <a:t>ada di dalam</a:t>
            </a:r>
            <a:r>
              <a:rPr sz="2600" spc="-15" dirty="0">
                <a:solidFill>
                  <a:srgbClr val="444D25"/>
                </a:solidFill>
                <a:latin typeface="Carlito"/>
                <a:cs typeface="Carlito"/>
              </a:rPr>
              <a:t> </a:t>
            </a:r>
            <a:r>
              <a:rPr sz="2600" spc="-5" dirty="0">
                <a:solidFill>
                  <a:srgbClr val="444D25"/>
                </a:solidFill>
                <a:latin typeface="Carlito"/>
                <a:cs typeface="Carlito"/>
              </a:rPr>
              <a:t>citra?)</a:t>
            </a:r>
            <a:endParaRPr sz="2600">
              <a:latin typeface="Carlito"/>
              <a:cs typeface="Carlito"/>
            </a:endParaRPr>
          </a:p>
          <a:p>
            <a:pPr marL="184785" indent="-17272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i="1" spc="-5" dirty="0">
                <a:latin typeface="Carlito"/>
                <a:cs typeface="Carlito"/>
              </a:rPr>
              <a:t>Artificial </a:t>
            </a:r>
            <a:r>
              <a:rPr sz="2800" b="1" i="1" spc="-10" dirty="0">
                <a:latin typeface="Carlito"/>
                <a:cs typeface="Carlito"/>
              </a:rPr>
              <a:t>Intelligence</a:t>
            </a:r>
            <a:r>
              <a:rPr sz="2800" i="1" spc="-10" dirty="0">
                <a:latin typeface="Carlito"/>
                <a:cs typeface="Carlito"/>
              </a:rPr>
              <a:t>: </a:t>
            </a:r>
            <a:r>
              <a:rPr sz="2800" spc="-10" dirty="0">
                <a:latin typeface="Carlito"/>
                <a:cs typeface="Carlito"/>
              </a:rPr>
              <a:t>Higher-level</a:t>
            </a:r>
            <a:r>
              <a:rPr sz="2800" spc="55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understanding</a:t>
            </a:r>
            <a:endParaRPr sz="2800">
              <a:latin typeface="Carlito"/>
              <a:cs typeface="Carlito"/>
            </a:endParaRPr>
          </a:p>
          <a:p>
            <a:pPr marL="527685" marR="594995" lvl="1" indent="-172720">
              <a:lnSpc>
                <a:spcPts val="2810"/>
              </a:lnSpc>
              <a:spcBef>
                <a:spcPts val="385"/>
              </a:spcBef>
              <a:buFont typeface="Arial"/>
              <a:buChar char="•"/>
              <a:tabLst>
                <a:tab pos="528320" algn="l"/>
              </a:tabLst>
            </a:pPr>
            <a:r>
              <a:rPr sz="2600" b="1" spc="-5" dirty="0">
                <a:solidFill>
                  <a:srgbClr val="006FC0"/>
                </a:solidFill>
                <a:latin typeface="Carlito"/>
                <a:cs typeface="Carlito"/>
              </a:rPr>
              <a:t>Image </a:t>
            </a:r>
            <a:r>
              <a:rPr sz="2600" b="1" spc="-10" dirty="0">
                <a:solidFill>
                  <a:srgbClr val="006FC0"/>
                </a:solidFill>
                <a:latin typeface="Carlito"/>
                <a:cs typeface="Carlito"/>
              </a:rPr>
              <a:t>Understanding </a:t>
            </a:r>
            <a:r>
              <a:rPr sz="2600" dirty="0">
                <a:solidFill>
                  <a:srgbClr val="444D25"/>
                </a:solidFill>
                <a:latin typeface="Carlito"/>
                <a:cs typeface="Carlito"/>
              </a:rPr>
              <a:t>(Apa </a:t>
            </a:r>
            <a:r>
              <a:rPr sz="2600" spc="-10" dirty="0">
                <a:solidFill>
                  <a:srgbClr val="444D25"/>
                </a:solidFill>
                <a:latin typeface="Carlito"/>
                <a:cs typeface="Carlito"/>
              </a:rPr>
              <a:t>yang </a:t>
            </a:r>
            <a:r>
              <a:rPr sz="2600" spc="-5" dirty="0">
                <a:solidFill>
                  <a:srgbClr val="444D25"/>
                </a:solidFill>
                <a:latin typeface="Carlito"/>
                <a:cs typeface="Carlito"/>
              </a:rPr>
              <a:t>sedang terjadi  dalam citra?)</a:t>
            </a:r>
            <a:endParaRPr sz="26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10930" y="61722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ahoma"/>
                <a:cs typeface="Tahoma"/>
              </a:rPr>
              <a:t>10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93363" y="6451193"/>
            <a:ext cx="155829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Pengolahan Citra </a:t>
            </a:r>
            <a:r>
              <a:rPr sz="90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900" spc="-5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Fundamentals</a:t>
            </a:r>
            <a:endParaRPr sz="9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464418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235" dirty="0"/>
              <a:t>Image</a:t>
            </a:r>
            <a:r>
              <a:rPr sz="3600" spc="-195" dirty="0"/>
              <a:t> </a:t>
            </a:r>
            <a:r>
              <a:rPr sz="3600" spc="-260" dirty="0"/>
              <a:t>Processing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21094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Image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Image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07207" y="2304288"/>
            <a:ext cx="3657600" cy="1790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11371" y="4064889"/>
            <a:ext cx="1931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Image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Enhancement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980944" y="4415028"/>
            <a:ext cx="3311652" cy="1958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96334" y="6337198"/>
            <a:ext cx="17646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390" baseline="-13888" dirty="0">
                <a:latin typeface="Carlito"/>
                <a:cs typeface="Carlito"/>
              </a:rPr>
              <a:t>Im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Pen</a:t>
            </a:r>
            <a:r>
              <a:rPr sz="2700" spc="-390" baseline="-13888" dirty="0">
                <a:latin typeface="Carlito"/>
                <a:cs typeface="Carlito"/>
              </a:rPr>
              <a:t>a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go</a:t>
            </a:r>
            <a:r>
              <a:rPr sz="2700" spc="-390" baseline="-13888" dirty="0">
                <a:latin typeface="Carlito"/>
                <a:cs typeface="Carlito"/>
              </a:rPr>
              <a:t>g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lah</a:t>
            </a:r>
            <a:r>
              <a:rPr sz="2700" spc="-390" baseline="-13888" dirty="0">
                <a:latin typeface="Carlito"/>
                <a:cs typeface="Carlito"/>
              </a:rPr>
              <a:t>e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an</a:t>
            </a:r>
            <a:r>
              <a:rPr sz="2700" spc="-390" baseline="-13888" dirty="0">
                <a:latin typeface="Carlito"/>
                <a:cs typeface="Carlito"/>
              </a:rPr>
              <a:t>R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Cit</a:t>
            </a:r>
            <a:r>
              <a:rPr sz="2700" spc="-390" baseline="-13888" dirty="0">
                <a:latin typeface="Carlito"/>
                <a:cs typeface="Carlito"/>
              </a:rPr>
              <a:t>e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ra</a:t>
            </a:r>
            <a:r>
              <a:rPr sz="2700" spc="-390" baseline="-13888" dirty="0">
                <a:latin typeface="Carlito"/>
                <a:cs typeface="Carlito"/>
              </a:rPr>
              <a:t>s</a:t>
            </a:r>
            <a:r>
              <a:rPr sz="900" spc="-26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900" spc="-40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2700" spc="-405" baseline="-13888" dirty="0">
                <a:latin typeface="Carlito"/>
                <a:cs typeface="Carlito"/>
              </a:rPr>
              <a:t>t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Fu</a:t>
            </a:r>
            <a:r>
              <a:rPr sz="2700" spc="-405" baseline="-13888" dirty="0">
                <a:latin typeface="Carlito"/>
                <a:cs typeface="Carlito"/>
              </a:rPr>
              <a:t>o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nd</a:t>
            </a:r>
            <a:r>
              <a:rPr sz="2700" spc="-405" baseline="-13888" dirty="0">
                <a:latin typeface="Carlito"/>
                <a:cs typeface="Carlito"/>
              </a:rPr>
              <a:t>r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a</a:t>
            </a:r>
            <a:r>
              <a:rPr sz="2700" spc="-405" baseline="-13888" dirty="0">
                <a:latin typeface="Carlito"/>
                <a:cs typeface="Carlito"/>
              </a:rPr>
              <a:t>a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m</a:t>
            </a:r>
            <a:r>
              <a:rPr sz="2700" spc="-405" baseline="-13888" dirty="0">
                <a:latin typeface="Carlito"/>
                <a:cs typeface="Carlito"/>
              </a:rPr>
              <a:t>t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en</a:t>
            </a:r>
            <a:r>
              <a:rPr sz="2700" spc="-405" baseline="-13888" dirty="0">
                <a:latin typeface="Carlito"/>
                <a:cs typeface="Carlito"/>
              </a:rPr>
              <a:t>i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t</a:t>
            </a:r>
            <a:r>
              <a:rPr sz="2700" spc="-405" baseline="-13888" dirty="0">
                <a:latin typeface="Carlito"/>
                <a:cs typeface="Carlito"/>
              </a:rPr>
              <a:t>o</a:t>
            </a:r>
            <a:r>
              <a:rPr sz="900" spc="-270" dirty="0">
                <a:solidFill>
                  <a:srgbClr val="888888"/>
                </a:solidFill>
                <a:latin typeface="Carlito"/>
                <a:cs typeface="Carlito"/>
              </a:rPr>
              <a:t>als</a:t>
            </a:r>
            <a:r>
              <a:rPr sz="2700" spc="-405" baseline="-13888" dirty="0">
                <a:latin typeface="Carlito"/>
                <a:cs typeface="Carlito"/>
              </a:rPr>
              <a:t>n</a:t>
            </a:r>
            <a:endParaRPr sz="2700" baseline="-13888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26169" y="51053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11</a:t>
            </a:r>
            <a:endParaRPr sz="1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81806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294005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315"/>
              </a:spcBef>
            </a:pPr>
            <a:r>
              <a:rPr sz="4000" spc="-265" dirty="0">
                <a:latin typeface="Arial"/>
                <a:cs typeface="Arial"/>
              </a:rPr>
              <a:t>Image </a:t>
            </a:r>
            <a:r>
              <a:rPr sz="4000" spc="-285" dirty="0">
                <a:latin typeface="Arial"/>
                <a:cs typeface="Arial"/>
              </a:rPr>
              <a:t>Processing</a:t>
            </a:r>
            <a:r>
              <a:rPr sz="4000" spc="-160" dirty="0">
                <a:latin typeface="Arial"/>
                <a:cs typeface="Arial"/>
              </a:rPr>
              <a:t> (2)</a:t>
            </a:r>
            <a:endParaRPr sz="4000">
              <a:latin typeface="Arial"/>
              <a:cs typeface="Arial"/>
            </a:endParaRPr>
          </a:p>
          <a:p>
            <a:pPr marR="109855" algn="r">
              <a:lnSpc>
                <a:spcPct val="100000"/>
              </a:lnSpc>
              <a:spcBef>
                <a:spcPts val="650"/>
              </a:spcBef>
            </a:pPr>
            <a:r>
              <a:rPr sz="1800" spc="-5" dirty="0">
                <a:latin typeface="Carlito"/>
                <a:cs typeface="Carlito"/>
              </a:rPr>
              <a:t>*) </a:t>
            </a:r>
            <a:r>
              <a:rPr sz="1800" spc="-10" dirty="0">
                <a:latin typeface="Carlito"/>
                <a:cs typeface="Carlito"/>
              </a:rPr>
              <a:t>Source: </a:t>
            </a:r>
            <a:r>
              <a:rPr sz="1800" spc="-35" dirty="0">
                <a:latin typeface="Carlito"/>
                <a:cs typeface="Carlito"/>
              </a:rPr>
              <a:t>Prof. </a:t>
            </a:r>
            <a:r>
              <a:rPr sz="1800" spc="-5" dirty="0">
                <a:latin typeface="Carlito"/>
                <a:cs typeface="Carlito"/>
              </a:rPr>
              <a:t>Aniati</a:t>
            </a:r>
            <a:r>
              <a:rPr sz="1800" spc="4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Murni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2505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Image</a:t>
            </a:r>
            <a:r>
              <a:rPr sz="2400" spc="-4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Registration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09359" y="1844039"/>
            <a:ext cx="1915667" cy="17846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09359" y="4056888"/>
            <a:ext cx="1982724" cy="17297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19500" y="1842516"/>
            <a:ext cx="1912620" cy="17846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19500" y="4099559"/>
            <a:ext cx="1912620" cy="17846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07638" y="3695446"/>
            <a:ext cx="19773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Optical Sensor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Image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06210" y="3695446"/>
            <a:ext cx="30156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Registered Optical Sensor Image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554" y="5814805"/>
            <a:ext cx="8801735" cy="71628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89020">
              <a:lnSpc>
                <a:spcPct val="100000"/>
              </a:lnSpc>
              <a:spcBef>
                <a:spcPts val="735"/>
              </a:spcBef>
              <a:tabLst>
                <a:tab pos="6012180" algn="l"/>
              </a:tabLst>
            </a:pPr>
            <a:r>
              <a:rPr sz="1600" spc="-5" dirty="0">
                <a:latin typeface="Arial"/>
                <a:cs typeface="Arial"/>
              </a:rPr>
              <a:t>SAR Sensor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Image	Registered SAR Sensor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Image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spc="-10" dirty="0">
                <a:latin typeface="Carlito"/>
                <a:cs typeface="Carlito"/>
              </a:rPr>
              <a:t>(Source: </a:t>
            </a:r>
            <a:r>
              <a:rPr sz="1800" spc="-5" dirty="0">
                <a:latin typeface="Carlito"/>
                <a:cs typeface="Carlito"/>
              </a:rPr>
              <a:t>Original Image of </a:t>
            </a:r>
            <a:r>
              <a:rPr sz="1800" spc="-10" dirty="0">
                <a:latin typeface="Carlito"/>
                <a:cs typeface="Carlito"/>
              </a:rPr>
              <a:t>Muara </a:t>
            </a:r>
            <a:r>
              <a:rPr sz="1800" spc="-5" dirty="0">
                <a:latin typeface="Carlito"/>
                <a:cs typeface="Carlito"/>
              </a:rPr>
              <a:t>Sekampung, </a:t>
            </a:r>
            <a:r>
              <a:rPr sz="1800" spc="-25" dirty="0">
                <a:latin typeface="Carlito"/>
                <a:cs typeface="Carlito"/>
              </a:rPr>
              <a:t>BAKOSURTANAL </a:t>
            </a:r>
            <a:r>
              <a:rPr sz="1800" dirty="0">
                <a:latin typeface="Carlito"/>
                <a:cs typeface="Carlito"/>
              </a:rPr>
              <a:t>RI; </a:t>
            </a:r>
            <a:r>
              <a:rPr sz="1800" spc="-10" dirty="0">
                <a:latin typeface="Carlito"/>
                <a:cs typeface="Carlito"/>
              </a:rPr>
              <a:t>Processed </a:t>
            </a:r>
            <a:r>
              <a:rPr sz="1800" spc="-5" dirty="0">
                <a:latin typeface="Carlito"/>
                <a:cs typeface="Carlito"/>
              </a:rPr>
              <a:t>Images, </a:t>
            </a:r>
            <a:r>
              <a:rPr sz="1800" spc="5" dirty="0">
                <a:latin typeface="Carlito"/>
                <a:cs typeface="Carlito"/>
              </a:rPr>
              <a:t>A.</a:t>
            </a:r>
            <a:r>
              <a:rPr sz="1800" spc="18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Murni,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554" y="6505447"/>
            <a:ext cx="558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1996)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26169" y="51053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12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7542" y="6451193"/>
            <a:ext cx="464375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98165" algn="l"/>
              </a:tabLst>
            </a:pP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	Pengolahan Citra </a:t>
            </a:r>
            <a:r>
              <a:rPr sz="900" dirty="0">
                <a:solidFill>
                  <a:srgbClr val="888888"/>
                </a:solidFill>
                <a:latin typeface="Carlito"/>
                <a:cs typeface="Carlito"/>
              </a:rPr>
              <a:t>-</a:t>
            </a:r>
            <a:r>
              <a:rPr sz="900" spc="-45" dirty="0">
                <a:solidFill>
                  <a:srgbClr val="888888"/>
                </a:solidFill>
                <a:latin typeface="Carlito"/>
                <a:cs typeface="Carlito"/>
              </a:rPr>
              <a:t> </a:t>
            </a:r>
            <a:r>
              <a:rPr sz="900" spc="-5" dirty="0">
                <a:solidFill>
                  <a:srgbClr val="888888"/>
                </a:solidFill>
                <a:latin typeface="Carlito"/>
                <a:cs typeface="Carlito"/>
              </a:rPr>
              <a:t>Fundamentals</a:t>
            </a:r>
            <a:endParaRPr sz="900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133934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235" dirty="0"/>
              <a:t>Image</a:t>
            </a:r>
            <a:r>
              <a:rPr sz="3600" spc="-195" dirty="0"/>
              <a:t> </a:t>
            </a:r>
            <a:r>
              <a:rPr sz="3600" spc="-135" dirty="0"/>
              <a:t>Acquisition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6164580" cy="14744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rlito"/>
                <a:cs typeface="Carlito"/>
              </a:rPr>
              <a:t>Proses akuisisi citra </a:t>
            </a:r>
            <a:r>
              <a:rPr sz="2400" spc="-5" dirty="0">
                <a:latin typeface="Carlito"/>
                <a:cs typeface="Carlito"/>
              </a:rPr>
              <a:t>membutuhkan </a:t>
            </a:r>
            <a:r>
              <a:rPr sz="2400" dirty="0">
                <a:latin typeface="Carlito"/>
                <a:cs typeface="Carlito"/>
              </a:rPr>
              <a:t>3</a:t>
            </a:r>
            <a:r>
              <a:rPr sz="2400" spc="-5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komponen:</a:t>
            </a:r>
            <a:endParaRPr sz="2400">
              <a:latin typeface="Carlito"/>
              <a:cs typeface="Carlito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i="1" spc="-10" dirty="0">
                <a:latin typeface="Carlito"/>
                <a:cs typeface="Carlito"/>
              </a:rPr>
              <a:t>Scene</a:t>
            </a:r>
            <a:endParaRPr sz="2200">
              <a:latin typeface="Carlito"/>
              <a:cs typeface="Carlito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rlito"/>
                <a:cs typeface="Carlito"/>
              </a:rPr>
              <a:t>Light</a:t>
            </a:r>
            <a:r>
              <a:rPr sz="2200" spc="-10" dirty="0">
                <a:latin typeface="Carlito"/>
                <a:cs typeface="Carlito"/>
              </a:rPr>
              <a:t> source</a:t>
            </a:r>
            <a:endParaRPr sz="2200">
              <a:latin typeface="Carlito"/>
              <a:cs typeface="Carlito"/>
            </a:endParaRPr>
          </a:p>
          <a:p>
            <a:pPr marL="527685" lvl="1" indent="-17272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rlito"/>
                <a:cs typeface="Carlito"/>
              </a:rPr>
              <a:t>Sensor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36388" y="3681442"/>
            <a:ext cx="2171306" cy="2441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94284" y="2758439"/>
            <a:ext cx="1434209" cy="12832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513576" y="3898391"/>
            <a:ext cx="1703831" cy="11338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67855" y="5076969"/>
            <a:ext cx="1744937" cy="11627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26169" y="51053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15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</a:t>
            </a:r>
            <a:r>
              <a:rPr spc="-50" dirty="0"/>
              <a:t> </a:t>
            </a:r>
            <a:r>
              <a:rPr spc="-5" dirty="0"/>
              <a:t>Fundamentals</a:t>
            </a:r>
          </a:p>
        </p:txBody>
      </p:sp>
    </p:spTree>
    <p:extLst>
      <p:ext uri="{BB962C8B-B14F-4D97-AF65-F5344CB8AC3E}">
        <p14:creationId xmlns:p14="http://schemas.microsoft.com/office/powerpoint/2010/main" val="33590387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10839" y="1690116"/>
            <a:ext cx="6233159" cy="4233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0" dirty="0"/>
              <a:t>Digital</a:t>
            </a:r>
            <a:r>
              <a:rPr sz="3600" spc="10" dirty="0"/>
              <a:t> </a:t>
            </a:r>
            <a:r>
              <a:rPr sz="3600" spc="-10" dirty="0"/>
              <a:t>Images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31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1333" y="2686671"/>
            <a:ext cx="1622681" cy="18285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85516" y="1866900"/>
            <a:ext cx="1575816" cy="11064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</a:t>
            </a:r>
            <a:r>
              <a:rPr spc="-30" dirty="0"/>
              <a:t> </a:t>
            </a:r>
            <a:r>
              <a:rPr spc="-5" dirty="0"/>
              <a:t>Acquisition</a:t>
            </a:r>
          </a:p>
        </p:txBody>
      </p:sp>
    </p:spTree>
    <p:extLst>
      <p:ext uri="{BB962C8B-B14F-4D97-AF65-F5344CB8AC3E}">
        <p14:creationId xmlns:p14="http://schemas.microsoft.com/office/powerpoint/2010/main" val="3040329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144000" cy="1324610"/>
          </a:xfrm>
          <a:custGeom>
            <a:avLst/>
            <a:gdLst/>
            <a:ahLst/>
            <a:cxnLst/>
            <a:rect l="l" t="t" r="r" b="b"/>
            <a:pathLst>
              <a:path w="9144000" h="1324610">
                <a:moveTo>
                  <a:pt x="0" y="1324356"/>
                </a:moveTo>
                <a:lnTo>
                  <a:pt x="9144000" y="1324356"/>
                </a:lnTo>
                <a:lnTo>
                  <a:pt x="9144000" y="0"/>
                </a:lnTo>
                <a:lnTo>
                  <a:pt x="0" y="0"/>
                </a:lnTo>
                <a:lnTo>
                  <a:pt x="0" y="1324356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375704"/>
            <a:ext cx="9144000" cy="1324610"/>
          </a:xfrm>
          <a:prstGeom prst="rect">
            <a:avLst/>
          </a:prstGeom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20" dirty="0"/>
              <a:t>Citra</a:t>
            </a:r>
            <a:r>
              <a:rPr sz="3600" spc="10" dirty="0"/>
              <a:t> </a:t>
            </a:r>
            <a:r>
              <a:rPr sz="3600" spc="-10" dirty="0"/>
              <a:t>Dijital</a:t>
            </a:r>
            <a:endParaRPr sz="3600" dirty="0"/>
          </a:p>
        </p:txBody>
      </p:sp>
      <p:sp>
        <p:nvSpPr>
          <p:cNvPr id="5" name="object 5"/>
          <p:cNvSpPr/>
          <p:nvPr/>
        </p:nvSpPr>
        <p:spPr>
          <a:xfrm>
            <a:off x="301313" y="2147290"/>
            <a:ext cx="3574676" cy="1588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176063" y="2286000"/>
            <a:ext cx="3023742" cy="13873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37180" y="4308159"/>
            <a:ext cx="3308010" cy="1611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15048" y="4324567"/>
            <a:ext cx="4132612" cy="14772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52600" y="2895600"/>
            <a:ext cx="762000" cy="304800"/>
          </a:xfrm>
          <a:prstGeom prst="rect">
            <a:avLst/>
          </a:prstGeom>
          <a:solidFill>
            <a:srgbClr val="FFFFFF"/>
          </a:solidFill>
          <a:ln w="12191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30"/>
              </a:spcBef>
            </a:pPr>
            <a:r>
              <a:rPr sz="1200" spc="-5" dirty="0">
                <a:latin typeface="Arial"/>
                <a:cs typeface="Arial"/>
              </a:rPr>
              <a:t>Sampler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5128" y="3755263"/>
            <a:ext cx="1278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Citra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kontinue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8963" y="3755263"/>
            <a:ext cx="974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Citra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dijital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8828" y="3755263"/>
            <a:ext cx="32321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Matriks citra dengan </a:t>
            </a:r>
            <a:r>
              <a:rPr sz="1600" spc="-10" dirty="0">
                <a:latin typeface="Arial"/>
                <a:cs typeface="Arial"/>
              </a:rPr>
              <a:t>obyek </a:t>
            </a:r>
            <a:r>
              <a:rPr sz="1600" spc="-5" dirty="0">
                <a:latin typeface="Arial"/>
                <a:cs typeface="Arial"/>
              </a:rPr>
              <a:t>angka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379" y="5844946"/>
            <a:ext cx="1736089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212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Resolusi spasial </a:t>
            </a:r>
            <a:r>
              <a:rPr sz="1600" spc="-5" dirty="0">
                <a:latin typeface="Arial"/>
                <a:cs typeface="Arial"/>
              </a:rPr>
              <a:t>:  </a:t>
            </a:r>
            <a:r>
              <a:rPr sz="1600" spc="-15" dirty="0">
                <a:latin typeface="Arial"/>
                <a:cs typeface="Arial"/>
              </a:rPr>
              <a:t>Tinggi </a:t>
            </a:r>
            <a:r>
              <a:rPr sz="1600" spc="-5" dirty="0">
                <a:latin typeface="Arial"/>
                <a:cs typeface="Arial"/>
              </a:rPr>
              <a:t>(16 x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16)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8020" y="6193027"/>
            <a:ext cx="1369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Rendah (8 x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8)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1375" y="5844946"/>
            <a:ext cx="1991995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 marR="5080" indent="-454659">
              <a:lnSpc>
                <a:spcPct val="121200"/>
              </a:lnSpc>
              <a:spcBef>
                <a:spcPts val="100"/>
              </a:spcBef>
            </a:pPr>
            <a:r>
              <a:rPr sz="1600" b="1" spc="-5" dirty="0">
                <a:solidFill>
                  <a:srgbClr val="006FC0"/>
                </a:solidFill>
                <a:latin typeface="Arial"/>
                <a:cs typeface="Arial"/>
              </a:rPr>
              <a:t>Resolusi intensitas </a:t>
            </a:r>
            <a:r>
              <a:rPr sz="1600" spc="-5" dirty="0">
                <a:latin typeface="Arial"/>
                <a:cs typeface="Arial"/>
              </a:rPr>
              <a:t>:  </a:t>
            </a:r>
            <a:r>
              <a:rPr sz="1600" spc="-15" dirty="0">
                <a:latin typeface="Arial"/>
                <a:cs typeface="Arial"/>
              </a:rPr>
              <a:t>Tinggi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(4)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1597" y="6193027"/>
            <a:ext cx="10414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Rendah</a:t>
            </a:r>
            <a:r>
              <a:rPr sz="1600" spc="-5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(2)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371600" y="571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371600" y="571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228600" y="228600"/>
                </a:lnTo>
                <a:lnTo>
                  <a:pt x="2286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05200" y="57150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228600"/>
                </a:moveTo>
                <a:lnTo>
                  <a:pt x="381000" y="228600"/>
                </a:lnTo>
                <a:lnTo>
                  <a:pt x="381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05200" y="5715000"/>
            <a:ext cx="381000" cy="228600"/>
          </a:xfrm>
          <a:custGeom>
            <a:avLst/>
            <a:gdLst/>
            <a:ahLst/>
            <a:cxnLst/>
            <a:rect l="l" t="t" r="r" b="b"/>
            <a:pathLst>
              <a:path w="381000" h="228600">
                <a:moveTo>
                  <a:pt x="0" y="228600"/>
                </a:moveTo>
                <a:lnTo>
                  <a:pt x="381000" y="228600"/>
                </a:lnTo>
                <a:lnTo>
                  <a:pt x="3810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096000" y="5562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0" y="304800"/>
                </a:moveTo>
                <a:lnTo>
                  <a:pt x="381000" y="304800"/>
                </a:lnTo>
                <a:lnTo>
                  <a:pt x="3810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82000" y="55626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304800"/>
                </a:moveTo>
                <a:lnTo>
                  <a:pt x="457200" y="304800"/>
                </a:lnTo>
                <a:lnTo>
                  <a:pt x="457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82000" y="55626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304800"/>
                </a:moveTo>
                <a:lnTo>
                  <a:pt x="457200" y="304800"/>
                </a:lnTo>
                <a:lnTo>
                  <a:pt x="457200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219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33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</a:t>
            </a:r>
            <a:r>
              <a:rPr spc="-30" dirty="0"/>
              <a:t> </a:t>
            </a:r>
            <a:r>
              <a:rPr spc="-5" dirty="0"/>
              <a:t>Acquisition</a:t>
            </a:r>
          </a:p>
        </p:txBody>
      </p:sp>
    </p:spTree>
    <p:extLst>
      <p:ext uri="{BB962C8B-B14F-4D97-AF65-F5344CB8AC3E}">
        <p14:creationId xmlns:p14="http://schemas.microsoft.com/office/powerpoint/2010/main" val="3168996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65759"/>
            <a:ext cx="9144000" cy="1324610"/>
          </a:xfrm>
          <a:custGeom>
            <a:avLst/>
            <a:gdLst/>
            <a:ahLst/>
            <a:cxnLst/>
            <a:rect l="l" t="t" r="r" b="b"/>
            <a:pathLst>
              <a:path w="9144000" h="1324610">
                <a:moveTo>
                  <a:pt x="9144000" y="0"/>
                </a:moveTo>
                <a:lnTo>
                  <a:pt x="0" y="0"/>
                </a:lnTo>
                <a:lnTo>
                  <a:pt x="0" y="1324356"/>
                </a:lnTo>
                <a:lnTo>
                  <a:pt x="9144000" y="1324356"/>
                </a:lnTo>
                <a:lnTo>
                  <a:pt x="9144000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65759"/>
            <a:ext cx="9144000" cy="1324610"/>
          </a:xfrm>
          <a:custGeom>
            <a:avLst/>
            <a:gdLst/>
            <a:ahLst/>
            <a:cxnLst/>
            <a:rect l="l" t="t" r="r" b="b"/>
            <a:pathLst>
              <a:path w="9144000" h="1324610">
                <a:moveTo>
                  <a:pt x="0" y="1324356"/>
                </a:moveTo>
                <a:lnTo>
                  <a:pt x="9144000" y="1324356"/>
                </a:lnTo>
                <a:lnTo>
                  <a:pt x="9144000" y="0"/>
                </a:lnTo>
                <a:lnTo>
                  <a:pt x="0" y="0"/>
                </a:lnTo>
                <a:lnTo>
                  <a:pt x="0" y="1324356"/>
                </a:lnTo>
                <a:close/>
              </a:path>
            </a:pathLst>
          </a:custGeom>
          <a:ln w="12192">
            <a:solidFill>
              <a:srgbClr val="7884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5024628"/>
            <a:ext cx="9144000" cy="1332230"/>
          </a:xfrm>
          <a:custGeom>
            <a:avLst/>
            <a:gdLst/>
            <a:ahLst/>
            <a:cxnLst/>
            <a:rect l="l" t="t" r="r" b="b"/>
            <a:pathLst>
              <a:path w="9144000" h="1332229">
                <a:moveTo>
                  <a:pt x="9144000" y="0"/>
                </a:moveTo>
                <a:lnTo>
                  <a:pt x="0" y="0"/>
                </a:lnTo>
                <a:lnTo>
                  <a:pt x="0" y="1331976"/>
                </a:lnTo>
                <a:lnTo>
                  <a:pt x="9144000" y="1331976"/>
                </a:lnTo>
                <a:lnTo>
                  <a:pt x="9144000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5024628"/>
            <a:ext cx="9144000" cy="1332230"/>
          </a:xfrm>
          <a:custGeom>
            <a:avLst/>
            <a:gdLst/>
            <a:ahLst/>
            <a:cxnLst/>
            <a:rect l="l" t="t" r="r" b="b"/>
            <a:pathLst>
              <a:path w="9144000" h="1332229">
                <a:moveTo>
                  <a:pt x="0" y="1331976"/>
                </a:moveTo>
                <a:lnTo>
                  <a:pt x="9144000" y="1331976"/>
                </a:lnTo>
                <a:lnTo>
                  <a:pt x="9144000" y="0"/>
                </a:lnTo>
                <a:lnTo>
                  <a:pt x="0" y="0"/>
                </a:lnTo>
                <a:lnTo>
                  <a:pt x="0" y="1331976"/>
                </a:lnTo>
                <a:close/>
              </a:path>
            </a:pathLst>
          </a:custGeom>
          <a:ln w="12191">
            <a:solidFill>
              <a:srgbClr val="7884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0242" y="437769"/>
            <a:ext cx="7125334" cy="1296702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5080" marR="5080" algn="ctr">
              <a:lnSpc>
                <a:spcPts val="4860"/>
              </a:lnSpc>
              <a:spcBef>
                <a:spcPts val="710"/>
              </a:spcBef>
            </a:pPr>
            <a:r>
              <a:rPr spc="-5" dirty="0"/>
              <a:t>Color Vision, Color</a:t>
            </a:r>
            <a:r>
              <a:rPr spc="-90" dirty="0"/>
              <a:t> </a:t>
            </a:r>
            <a:r>
              <a:rPr spc="-5" dirty="0"/>
              <a:t>Theory  </a:t>
            </a:r>
            <a:r>
              <a:rPr dirty="0"/>
              <a:t>and </a:t>
            </a:r>
            <a:r>
              <a:rPr spc="-5" dirty="0"/>
              <a:t>Color</a:t>
            </a:r>
            <a:r>
              <a:rPr spc="-45" dirty="0"/>
              <a:t> </a:t>
            </a:r>
            <a:r>
              <a:rPr dirty="0"/>
              <a:t>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62502E-BDC9-5445-95B1-C55EB244C6F2}"/>
              </a:ext>
            </a:extLst>
          </p:cNvPr>
          <p:cNvSpPr/>
          <p:nvPr/>
        </p:nvSpPr>
        <p:spPr>
          <a:xfrm>
            <a:off x="2895600" y="2971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ID" spc="-15">
                <a:latin typeface="Carlito"/>
                <a:cs typeface="Carlito"/>
              </a:rPr>
              <a:t>Pengantar Mata </a:t>
            </a:r>
            <a:r>
              <a:rPr lang="en-ID" spc="-10">
                <a:latin typeface="Carlito"/>
                <a:cs typeface="Carlito"/>
              </a:rPr>
              <a:t>Kuliah  Semester </a:t>
            </a:r>
            <a:r>
              <a:rPr lang="en-ID" spc="-5">
                <a:latin typeface="Carlito"/>
                <a:cs typeface="Carlito"/>
              </a:rPr>
              <a:t>Genap </a:t>
            </a:r>
            <a:r>
              <a:rPr lang="en-ID">
                <a:latin typeface="Carlito"/>
                <a:cs typeface="Carlito"/>
              </a:rPr>
              <a:t>2019/2020 </a:t>
            </a:r>
            <a:br>
              <a:rPr lang="en-ID">
                <a:latin typeface="Carlito"/>
                <a:cs typeface="Carlito"/>
              </a:rPr>
            </a:br>
            <a:r>
              <a:rPr lang="en-ID">
                <a:latin typeface="Carlito"/>
                <a:cs typeface="Carlito"/>
              </a:rPr>
              <a:t> </a:t>
            </a:r>
            <a:r>
              <a:rPr lang="en-ID" spc="-10">
                <a:latin typeface="Carlito"/>
                <a:cs typeface="Carlito"/>
              </a:rPr>
              <a:t>M.Naufal</a:t>
            </a:r>
            <a:br>
              <a:rPr lang="en-ID" spc="-10">
                <a:latin typeface="Carlito"/>
                <a:cs typeface="Carlito"/>
              </a:rPr>
            </a:br>
            <a:r>
              <a:rPr lang="en-ID" spc="-10">
                <a:latin typeface="Carlito"/>
                <a:cs typeface="Carlito"/>
              </a:rPr>
              <a:t>Politeknik Harapan Bersama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212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Color</a:t>
            </a:r>
            <a:r>
              <a:rPr sz="3600" spc="-20" dirty="0"/>
              <a:t> </a:t>
            </a:r>
            <a:r>
              <a:rPr sz="3600" spc="-10" dirty="0"/>
              <a:t>Vision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3157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Recall </a:t>
            </a:r>
            <a:r>
              <a:rPr sz="2400" spc="-5" dirty="0">
                <a:latin typeface="Calibri"/>
                <a:cs typeface="Calibri"/>
              </a:rPr>
              <a:t>image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acquisition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5250941"/>
            <a:ext cx="6240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Bagaimana </a:t>
            </a:r>
            <a:r>
              <a:rPr sz="2400" spc="-20" dirty="0">
                <a:latin typeface="Calibri"/>
                <a:cs typeface="Calibri"/>
              </a:rPr>
              <a:t>sifat cahaya </a:t>
            </a:r>
            <a:r>
              <a:rPr sz="2400" dirty="0">
                <a:latin typeface="Calibri"/>
                <a:cs typeface="Calibri"/>
              </a:rPr>
              <a:t>asal </a:t>
            </a:r>
            <a:r>
              <a:rPr sz="2400" spc="-5" dirty="0">
                <a:latin typeface="Calibri"/>
                <a:cs typeface="Calibri"/>
              </a:rPr>
              <a:t>dari sumber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cahaya?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67968" y="2301239"/>
            <a:ext cx="1435403" cy="1284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16396" y="3442715"/>
            <a:ext cx="1703831" cy="1132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17319" y="3043427"/>
            <a:ext cx="1737360" cy="18790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55442" y="2870707"/>
            <a:ext cx="868680" cy="1113790"/>
          </a:xfrm>
          <a:custGeom>
            <a:avLst/>
            <a:gdLst/>
            <a:ahLst/>
            <a:cxnLst/>
            <a:rect l="l" t="t" r="r" b="b"/>
            <a:pathLst>
              <a:path w="868679" h="1113789">
                <a:moveTo>
                  <a:pt x="18922" y="1018158"/>
                </a:moveTo>
                <a:lnTo>
                  <a:pt x="0" y="1113408"/>
                </a:lnTo>
                <a:lnTo>
                  <a:pt x="87630" y="1071371"/>
                </a:lnTo>
                <a:lnTo>
                  <a:pt x="79595" y="1065148"/>
                </a:lnTo>
                <a:lnTo>
                  <a:pt x="55880" y="1065148"/>
                </a:lnTo>
                <a:lnTo>
                  <a:pt x="32893" y="1047368"/>
                </a:lnTo>
                <a:lnTo>
                  <a:pt x="41807" y="1035883"/>
                </a:lnTo>
                <a:lnTo>
                  <a:pt x="18922" y="1018158"/>
                </a:lnTo>
                <a:close/>
              </a:path>
              <a:path w="868679" h="1113789">
                <a:moveTo>
                  <a:pt x="41807" y="1035883"/>
                </a:moveTo>
                <a:lnTo>
                  <a:pt x="32893" y="1047368"/>
                </a:lnTo>
                <a:lnTo>
                  <a:pt x="55880" y="1065148"/>
                </a:lnTo>
                <a:lnTo>
                  <a:pt x="64782" y="1053676"/>
                </a:lnTo>
                <a:lnTo>
                  <a:pt x="41807" y="1035883"/>
                </a:lnTo>
                <a:close/>
              </a:path>
              <a:path w="868679" h="1113789">
                <a:moveTo>
                  <a:pt x="64782" y="1053676"/>
                </a:moveTo>
                <a:lnTo>
                  <a:pt x="55880" y="1065148"/>
                </a:lnTo>
                <a:lnTo>
                  <a:pt x="79595" y="1065148"/>
                </a:lnTo>
                <a:lnTo>
                  <a:pt x="64782" y="1053676"/>
                </a:lnTo>
                <a:close/>
              </a:path>
              <a:path w="868679" h="1113789">
                <a:moveTo>
                  <a:pt x="845819" y="0"/>
                </a:moveTo>
                <a:lnTo>
                  <a:pt x="41807" y="1035883"/>
                </a:lnTo>
                <a:lnTo>
                  <a:pt x="64782" y="1053676"/>
                </a:lnTo>
                <a:lnTo>
                  <a:pt x="868680" y="17779"/>
                </a:lnTo>
                <a:lnTo>
                  <a:pt x="845819" y="0"/>
                </a:lnTo>
                <a:close/>
              </a:path>
            </a:pathLst>
          </a:custGeom>
          <a:solidFill>
            <a:srgbClr val="212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314" y="3965702"/>
            <a:ext cx="3061970" cy="86995"/>
          </a:xfrm>
          <a:custGeom>
            <a:avLst/>
            <a:gdLst/>
            <a:ahLst/>
            <a:cxnLst/>
            <a:rect l="l" t="t" r="r" b="b"/>
            <a:pathLst>
              <a:path w="3061970" h="86995">
                <a:moveTo>
                  <a:pt x="2975356" y="0"/>
                </a:moveTo>
                <a:lnTo>
                  <a:pt x="2975144" y="28963"/>
                </a:lnTo>
                <a:lnTo>
                  <a:pt x="2989580" y="29083"/>
                </a:lnTo>
                <a:lnTo>
                  <a:pt x="2989453" y="58039"/>
                </a:lnTo>
                <a:lnTo>
                  <a:pt x="2974931" y="58039"/>
                </a:lnTo>
                <a:lnTo>
                  <a:pt x="2974721" y="86868"/>
                </a:lnTo>
                <a:lnTo>
                  <a:pt x="3033580" y="58039"/>
                </a:lnTo>
                <a:lnTo>
                  <a:pt x="2989453" y="58039"/>
                </a:lnTo>
                <a:lnTo>
                  <a:pt x="3033825" y="57918"/>
                </a:lnTo>
                <a:lnTo>
                  <a:pt x="3061843" y="44196"/>
                </a:lnTo>
                <a:lnTo>
                  <a:pt x="2975356" y="0"/>
                </a:lnTo>
                <a:close/>
              </a:path>
              <a:path w="3061970" h="86995">
                <a:moveTo>
                  <a:pt x="2975144" y="28963"/>
                </a:moveTo>
                <a:lnTo>
                  <a:pt x="2974932" y="57918"/>
                </a:lnTo>
                <a:lnTo>
                  <a:pt x="2989453" y="58039"/>
                </a:lnTo>
                <a:lnTo>
                  <a:pt x="2989580" y="29083"/>
                </a:lnTo>
                <a:lnTo>
                  <a:pt x="2975144" y="28963"/>
                </a:lnTo>
                <a:close/>
              </a:path>
              <a:path w="3061970" h="86995">
                <a:moveTo>
                  <a:pt x="254" y="4318"/>
                </a:moveTo>
                <a:lnTo>
                  <a:pt x="0" y="33274"/>
                </a:lnTo>
                <a:lnTo>
                  <a:pt x="2974932" y="57918"/>
                </a:lnTo>
                <a:lnTo>
                  <a:pt x="2975144" y="28963"/>
                </a:lnTo>
                <a:lnTo>
                  <a:pt x="254" y="4318"/>
                </a:lnTo>
                <a:close/>
              </a:path>
            </a:pathLst>
          </a:custGeom>
          <a:solidFill>
            <a:srgbClr val="212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98402" y="2741818"/>
            <a:ext cx="1148715" cy="916305"/>
          </a:xfrm>
          <a:custGeom>
            <a:avLst/>
            <a:gdLst/>
            <a:ahLst/>
            <a:cxnLst/>
            <a:rect l="l" t="t" r="r" b="b"/>
            <a:pathLst>
              <a:path w="1148715" h="916304">
                <a:moveTo>
                  <a:pt x="707620" y="0"/>
                </a:moveTo>
                <a:lnTo>
                  <a:pt x="663529" y="6270"/>
                </a:lnTo>
                <a:lnTo>
                  <a:pt x="624843" y="30067"/>
                </a:lnTo>
                <a:lnTo>
                  <a:pt x="596552" y="69580"/>
                </a:lnTo>
                <a:lnTo>
                  <a:pt x="588984" y="62061"/>
                </a:lnTo>
                <a:lnTo>
                  <a:pt x="520722" y="27402"/>
                </a:lnTo>
                <a:lnTo>
                  <a:pt x="476925" y="26888"/>
                </a:lnTo>
                <a:lnTo>
                  <a:pt x="435433" y="40694"/>
                </a:lnTo>
                <a:lnTo>
                  <a:pt x="399409" y="67764"/>
                </a:lnTo>
                <a:lnTo>
                  <a:pt x="372016" y="107045"/>
                </a:lnTo>
                <a:lnTo>
                  <a:pt x="345094" y="93065"/>
                </a:lnTo>
                <a:lnTo>
                  <a:pt x="316565" y="84169"/>
                </a:lnTo>
                <a:lnTo>
                  <a:pt x="287059" y="80488"/>
                </a:lnTo>
                <a:lnTo>
                  <a:pt x="257208" y="82153"/>
                </a:lnTo>
                <a:lnTo>
                  <a:pt x="210821" y="96018"/>
                </a:lnTo>
                <a:lnTo>
                  <a:pt x="170806" y="121744"/>
                </a:lnTo>
                <a:lnTo>
                  <a:pt x="138622" y="157241"/>
                </a:lnTo>
                <a:lnTo>
                  <a:pt x="115730" y="200423"/>
                </a:lnTo>
                <a:lnTo>
                  <a:pt x="103591" y="249199"/>
                </a:lnTo>
                <a:lnTo>
                  <a:pt x="103665" y="301482"/>
                </a:lnTo>
                <a:lnTo>
                  <a:pt x="102649" y="304276"/>
                </a:lnTo>
                <a:lnTo>
                  <a:pt x="52008" y="323707"/>
                </a:lnTo>
                <a:lnTo>
                  <a:pt x="14892" y="365998"/>
                </a:lnTo>
                <a:lnTo>
                  <a:pt x="0" y="413341"/>
                </a:lnTo>
                <a:lnTo>
                  <a:pt x="2811" y="461565"/>
                </a:lnTo>
                <a:lnTo>
                  <a:pt x="21982" y="505122"/>
                </a:lnTo>
                <a:lnTo>
                  <a:pt x="56167" y="538464"/>
                </a:lnTo>
                <a:lnTo>
                  <a:pt x="41046" y="560355"/>
                </a:lnTo>
                <a:lnTo>
                  <a:pt x="30735" y="585009"/>
                </a:lnTo>
                <a:lnTo>
                  <a:pt x="25521" y="611473"/>
                </a:lnTo>
                <a:lnTo>
                  <a:pt x="25687" y="638794"/>
                </a:lnTo>
                <a:lnTo>
                  <a:pt x="40001" y="686163"/>
                </a:lnTo>
                <a:lnTo>
                  <a:pt x="68947" y="722661"/>
                </a:lnTo>
                <a:lnTo>
                  <a:pt x="108394" y="744753"/>
                </a:lnTo>
                <a:lnTo>
                  <a:pt x="154211" y="748903"/>
                </a:lnTo>
                <a:lnTo>
                  <a:pt x="155608" y="751570"/>
                </a:lnTo>
                <a:lnTo>
                  <a:pt x="185263" y="793724"/>
                </a:lnTo>
                <a:lnTo>
                  <a:pt x="220740" y="825391"/>
                </a:lnTo>
                <a:lnTo>
                  <a:pt x="261113" y="847379"/>
                </a:lnTo>
                <a:lnTo>
                  <a:pt x="304694" y="859225"/>
                </a:lnTo>
                <a:lnTo>
                  <a:pt x="349795" y="860467"/>
                </a:lnTo>
                <a:lnTo>
                  <a:pt x="394727" y="850644"/>
                </a:lnTo>
                <a:lnTo>
                  <a:pt x="437802" y="829294"/>
                </a:lnTo>
                <a:lnTo>
                  <a:pt x="457144" y="855557"/>
                </a:lnTo>
                <a:lnTo>
                  <a:pt x="480141" y="877665"/>
                </a:lnTo>
                <a:lnTo>
                  <a:pt x="506257" y="895177"/>
                </a:lnTo>
                <a:lnTo>
                  <a:pt x="534957" y="907653"/>
                </a:lnTo>
                <a:lnTo>
                  <a:pt x="582471" y="916063"/>
                </a:lnTo>
                <a:lnTo>
                  <a:pt x="628726" y="910757"/>
                </a:lnTo>
                <a:lnTo>
                  <a:pt x="671593" y="892984"/>
                </a:lnTo>
                <a:lnTo>
                  <a:pt x="708947" y="863993"/>
                </a:lnTo>
                <a:lnTo>
                  <a:pt x="738660" y="825032"/>
                </a:lnTo>
                <a:lnTo>
                  <a:pt x="758604" y="777351"/>
                </a:lnTo>
                <a:lnTo>
                  <a:pt x="777269" y="788122"/>
                </a:lnTo>
                <a:lnTo>
                  <a:pt x="797053" y="795988"/>
                </a:lnTo>
                <a:lnTo>
                  <a:pt x="817647" y="800854"/>
                </a:lnTo>
                <a:lnTo>
                  <a:pt x="838741" y="802624"/>
                </a:lnTo>
                <a:lnTo>
                  <a:pt x="887359" y="794558"/>
                </a:lnTo>
                <a:lnTo>
                  <a:pt x="929710" y="771258"/>
                </a:lnTo>
                <a:lnTo>
                  <a:pt x="963246" y="735443"/>
                </a:lnTo>
                <a:lnTo>
                  <a:pt x="985419" y="689831"/>
                </a:lnTo>
                <a:lnTo>
                  <a:pt x="993681" y="637143"/>
                </a:lnTo>
                <a:lnTo>
                  <a:pt x="1016283" y="632023"/>
                </a:lnTo>
                <a:lnTo>
                  <a:pt x="1058582" y="612640"/>
                </a:lnTo>
                <a:lnTo>
                  <a:pt x="1107603" y="567258"/>
                </a:lnTo>
                <a:lnTo>
                  <a:pt x="1129414" y="530532"/>
                </a:lnTo>
                <a:lnTo>
                  <a:pt x="1142986" y="490127"/>
                </a:lnTo>
                <a:lnTo>
                  <a:pt x="1148121" y="447686"/>
                </a:lnTo>
                <a:lnTo>
                  <a:pt x="1144619" y="404855"/>
                </a:lnTo>
                <a:lnTo>
                  <a:pt x="1132279" y="363277"/>
                </a:lnTo>
                <a:lnTo>
                  <a:pt x="1110902" y="324596"/>
                </a:lnTo>
                <a:lnTo>
                  <a:pt x="1113442" y="317992"/>
                </a:lnTo>
                <a:lnTo>
                  <a:pt x="1115601" y="311261"/>
                </a:lnTo>
                <a:lnTo>
                  <a:pt x="1117379" y="304276"/>
                </a:lnTo>
                <a:lnTo>
                  <a:pt x="1122180" y="255189"/>
                </a:lnTo>
                <a:lnTo>
                  <a:pt x="1112990" y="208607"/>
                </a:lnTo>
                <a:lnTo>
                  <a:pt x="1091456" y="167646"/>
                </a:lnTo>
                <a:lnTo>
                  <a:pt x="1059223" y="135420"/>
                </a:lnTo>
                <a:lnTo>
                  <a:pt x="1017938" y="115046"/>
                </a:lnTo>
                <a:lnTo>
                  <a:pt x="1012096" y="91692"/>
                </a:lnTo>
                <a:lnTo>
                  <a:pt x="990078" y="50270"/>
                </a:lnTo>
                <a:lnTo>
                  <a:pt x="939016" y="9998"/>
                </a:lnTo>
                <a:lnTo>
                  <a:pt x="900156" y="320"/>
                </a:lnTo>
                <a:lnTo>
                  <a:pt x="860790" y="3833"/>
                </a:lnTo>
                <a:lnTo>
                  <a:pt x="823912" y="20276"/>
                </a:lnTo>
                <a:lnTo>
                  <a:pt x="792513" y="49387"/>
                </a:lnTo>
                <a:lnTo>
                  <a:pt x="783863" y="38496"/>
                </a:lnTo>
                <a:lnTo>
                  <a:pt x="774178" y="28749"/>
                </a:lnTo>
                <a:lnTo>
                  <a:pt x="763563" y="20240"/>
                </a:lnTo>
                <a:lnTo>
                  <a:pt x="752127" y="13065"/>
                </a:lnTo>
                <a:lnTo>
                  <a:pt x="707620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94981" y="3585083"/>
            <a:ext cx="159512" cy="2094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298402" y="2741818"/>
            <a:ext cx="1148715" cy="916305"/>
          </a:xfrm>
          <a:custGeom>
            <a:avLst/>
            <a:gdLst/>
            <a:ahLst/>
            <a:cxnLst/>
            <a:rect l="l" t="t" r="r" b="b"/>
            <a:pathLst>
              <a:path w="1148715" h="916304">
                <a:moveTo>
                  <a:pt x="103665" y="301482"/>
                </a:moveTo>
                <a:lnTo>
                  <a:pt x="103591" y="249199"/>
                </a:lnTo>
                <a:lnTo>
                  <a:pt x="115730" y="200423"/>
                </a:lnTo>
                <a:lnTo>
                  <a:pt x="138622" y="157241"/>
                </a:lnTo>
                <a:lnTo>
                  <a:pt x="170806" y="121744"/>
                </a:lnTo>
                <a:lnTo>
                  <a:pt x="210821" y="96018"/>
                </a:lnTo>
                <a:lnTo>
                  <a:pt x="257208" y="82153"/>
                </a:lnTo>
                <a:lnTo>
                  <a:pt x="287059" y="80488"/>
                </a:lnTo>
                <a:lnTo>
                  <a:pt x="316565" y="84169"/>
                </a:lnTo>
                <a:lnTo>
                  <a:pt x="345094" y="93065"/>
                </a:lnTo>
                <a:lnTo>
                  <a:pt x="372016" y="107045"/>
                </a:lnTo>
                <a:lnTo>
                  <a:pt x="399409" y="67764"/>
                </a:lnTo>
                <a:lnTo>
                  <a:pt x="435433" y="40694"/>
                </a:lnTo>
                <a:lnTo>
                  <a:pt x="476925" y="26888"/>
                </a:lnTo>
                <a:lnTo>
                  <a:pt x="520722" y="27402"/>
                </a:lnTo>
                <a:lnTo>
                  <a:pt x="563659" y="43291"/>
                </a:lnTo>
                <a:lnTo>
                  <a:pt x="596552" y="69580"/>
                </a:lnTo>
                <a:lnTo>
                  <a:pt x="624843" y="30067"/>
                </a:lnTo>
                <a:lnTo>
                  <a:pt x="663529" y="6270"/>
                </a:lnTo>
                <a:lnTo>
                  <a:pt x="707620" y="0"/>
                </a:lnTo>
                <a:lnTo>
                  <a:pt x="752127" y="13065"/>
                </a:lnTo>
                <a:lnTo>
                  <a:pt x="763563" y="20240"/>
                </a:lnTo>
                <a:lnTo>
                  <a:pt x="774178" y="28749"/>
                </a:lnTo>
                <a:lnTo>
                  <a:pt x="783863" y="38496"/>
                </a:lnTo>
                <a:lnTo>
                  <a:pt x="792513" y="49387"/>
                </a:lnTo>
                <a:lnTo>
                  <a:pt x="823912" y="20276"/>
                </a:lnTo>
                <a:lnTo>
                  <a:pt x="860790" y="3833"/>
                </a:lnTo>
                <a:lnTo>
                  <a:pt x="900156" y="320"/>
                </a:lnTo>
                <a:lnTo>
                  <a:pt x="939016" y="9998"/>
                </a:lnTo>
                <a:lnTo>
                  <a:pt x="974377" y="33131"/>
                </a:lnTo>
                <a:lnTo>
                  <a:pt x="1002730" y="69945"/>
                </a:lnTo>
                <a:lnTo>
                  <a:pt x="1017938" y="115046"/>
                </a:lnTo>
                <a:lnTo>
                  <a:pt x="1059223" y="135420"/>
                </a:lnTo>
                <a:lnTo>
                  <a:pt x="1091456" y="167646"/>
                </a:lnTo>
                <a:lnTo>
                  <a:pt x="1112990" y="208607"/>
                </a:lnTo>
                <a:lnTo>
                  <a:pt x="1122180" y="255189"/>
                </a:lnTo>
                <a:lnTo>
                  <a:pt x="1117379" y="304276"/>
                </a:lnTo>
                <a:lnTo>
                  <a:pt x="1115601" y="311261"/>
                </a:lnTo>
                <a:lnTo>
                  <a:pt x="1113442" y="317992"/>
                </a:lnTo>
                <a:lnTo>
                  <a:pt x="1110902" y="324596"/>
                </a:lnTo>
                <a:lnTo>
                  <a:pt x="1132279" y="363277"/>
                </a:lnTo>
                <a:lnTo>
                  <a:pt x="1144619" y="404855"/>
                </a:lnTo>
                <a:lnTo>
                  <a:pt x="1148121" y="447686"/>
                </a:lnTo>
                <a:lnTo>
                  <a:pt x="1142986" y="490127"/>
                </a:lnTo>
                <a:lnTo>
                  <a:pt x="1129414" y="530532"/>
                </a:lnTo>
                <a:lnTo>
                  <a:pt x="1107603" y="567258"/>
                </a:lnTo>
                <a:lnTo>
                  <a:pt x="1077755" y="598662"/>
                </a:lnTo>
                <a:lnTo>
                  <a:pt x="1038004" y="623808"/>
                </a:lnTo>
                <a:lnTo>
                  <a:pt x="993681" y="637143"/>
                </a:lnTo>
                <a:lnTo>
                  <a:pt x="985419" y="689831"/>
                </a:lnTo>
                <a:lnTo>
                  <a:pt x="963246" y="735443"/>
                </a:lnTo>
                <a:lnTo>
                  <a:pt x="929710" y="771258"/>
                </a:lnTo>
                <a:lnTo>
                  <a:pt x="887359" y="794558"/>
                </a:lnTo>
                <a:lnTo>
                  <a:pt x="838741" y="802624"/>
                </a:lnTo>
                <a:lnTo>
                  <a:pt x="817647" y="800854"/>
                </a:lnTo>
                <a:lnTo>
                  <a:pt x="797053" y="795988"/>
                </a:lnTo>
                <a:lnTo>
                  <a:pt x="777269" y="788122"/>
                </a:lnTo>
                <a:lnTo>
                  <a:pt x="758604" y="777351"/>
                </a:lnTo>
                <a:lnTo>
                  <a:pt x="738660" y="825032"/>
                </a:lnTo>
                <a:lnTo>
                  <a:pt x="708947" y="863993"/>
                </a:lnTo>
                <a:lnTo>
                  <a:pt x="671593" y="892984"/>
                </a:lnTo>
                <a:lnTo>
                  <a:pt x="628726" y="910757"/>
                </a:lnTo>
                <a:lnTo>
                  <a:pt x="582471" y="916063"/>
                </a:lnTo>
                <a:lnTo>
                  <a:pt x="534957" y="907653"/>
                </a:lnTo>
                <a:lnTo>
                  <a:pt x="506257" y="895177"/>
                </a:lnTo>
                <a:lnTo>
                  <a:pt x="480141" y="877665"/>
                </a:lnTo>
                <a:lnTo>
                  <a:pt x="457144" y="855557"/>
                </a:lnTo>
                <a:lnTo>
                  <a:pt x="437802" y="829294"/>
                </a:lnTo>
                <a:lnTo>
                  <a:pt x="394727" y="850644"/>
                </a:lnTo>
                <a:lnTo>
                  <a:pt x="349795" y="860467"/>
                </a:lnTo>
                <a:lnTo>
                  <a:pt x="304694" y="859225"/>
                </a:lnTo>
                <a:lnTo>
                  <a:pt x="261113" y="847379"/>
                </a:lnTo>
                <a:lnTo>
                  <a:pt x="220740" y="825391"/>
                </a:lnTo>
                <a:lnTo>
                  <a:pt x="185263" y="793724"/>
                </a:lnTo>
                <a:lnTo>
                  <a:pt x="156370" y="752840"/>
                </a:lnTo>
                <a:lnTo>
                  <a:pt x="154973" y="750173"/>
                </a:lnTo>
                <a:lnTo>
                  <a:pt x="154211" y="748903"/>
                </a:lnTo>
                <a:lnTo>
                  <a:pt x="108394" y="744753"/>
                </a:lnTo>
                <a:lnTo>
                  <a:pt x="68947" y="722661"/>
                </a:lnTo>
                <a:lnTo>
                  <a:pt x="40001" y="686163"/>
                </a:lnTo>
                <a:lnTo>
                  <a:pt x="25687" y="638794"/>
                </a:lnTo>
                <a:lnTo>
                  <a:pt x="25521" y="611473"/>
                </a:lnTo>
                <a:lnTo>
                  <a:pt x="30735" y="585009"/>
                </a:lnTo>
                <a:lnTo>
                  <a:pt x="41046" y="560355"/>
                </a:lnTo>
                <a:lnTo>
                  <a:pt x="56167" y="538464"/>
                </a:lnTo>
                <a:lnTo>
                  <a:pt x="21982" y="505122"/>
                </a:lnTo>
                <a:lnTo>
                  <a:pt x="2811" y="461565"/>
                </a:lnTo>
                <a:lnTo>
                  <a:pt x="0" y="413341"/>
                </a:lnTo>
                <a:lnTo>
                  <a:pt x="14892" y="365998"/>
                </a:lnTo>
                <a:lnTo>
                  <a:pt x="31283" y="342316"/>
                </a:lnTo>
                <a:lnTo>
                  <a:pt x="52008" y="323707"/>
                </a:lnTo>
                <a:lnTo>
                  <a:pt x="76114" y="310812"/>
                </a:lnTo>
                <a:lnTo>
                  <a:pt x="102649" y="304276"/>
                </a:lnTo>
                <a:lnTo>
                  <a:pt x="103665" y="301482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07681" y="3743578"/>
            <a:ext cx="51435" cy="51435"/>
          </a:xfrm>
          <a:custGeom>
            <a:avLst/>
            <a:gdLst/>
            <a:ahLst/>
            <a:cxnLst/>
            <a:rect l="l" t="t" r="r" b="b"/>
            <a:pathLst>
              <a:path w="51434" h="51435">
                <a:moveTo>
                  <a:pt x="50926" y="25400"/>
                </a:moveTo>
                <a:lnTo>
                  <a:pt x="48922" y="35335"/>
                </a:lnTo>
                <a:lnTo>
                  <a:pt x="43465" y="43449"/>
                </a:lnTo>
                <a:lnTo>
                  <a:pt x="35389" y="48920"/>
                </a:lnTo>
                <a:lnTo>
                  <a:pt x="25526" y="50927"/>
                </a:lnTo>
                <a:lnTo>
                  <a:pt x="15591" y="48920"/>
                </a:lnTo>
                <a:lnTo>
                  <a:pt x="7477" y="43449"/>
                </a:lnTo>
                <a:lnTo>
                  <a:pt x="2006" y="35335"/>
                </a:lnTo>
                <a:lnTo>
                  <a:pt x="0" y="25400"/>
                </a:lnTo>
                <a:lnTo>
                  <a:pt x="2006" y="15537"/>
                </a:lnTo>
                <a:lnTo>
                  <a:pt x="7477" y="7461"/>
                </a:lnTo>
                <a:lnTo>
                  <a:pt x="15591" y="2004"/>
                </a:lnTo>
                <a:lnTo>
                  <a:pt x="25526" y="0"/>
                </a:lnTo>
                <a:lnTo>
                  <a:pt x="35389" y="2004"/>
                </a:lnTo>
                <a:lnTo>
                  <a:pt x="43465" y="7461"/>
                </a:lnTo>
                <a:lnTo>
                  <a:pt x="48922" y="15537"/>
                </a:lnTo>
                <a:lnTo>
                  <a:pt x="50926" y="25400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594981" y="3687826"/>
            <a:ext cx="102235" cy="102235"/>
          </a:xfrm>
          <a:custGeom>
            <a:avLst/>
            <a:gdLst/>
            <a:ahLst/>
            <a:cxnLst/>
            <a:rect l="l" t="t" r="r" b="b"/>
            <a:pathLst>
              <a:path w="102234" h="102235">
                <a:moveTo>
                  <a:pt x="101726" y="50926"/>
                </a:moveTo>
                <a:lnTo>
                  <a:pt x="97734" y="70705"/>
                </a:lnTo>
                <a:lnTo>
                  <a:pt x="86836" y="86852"/>
                </a:lnTo>
                <a:lnTo>
                  <a:pt x="70651" y="97736"/>
                </a:lnTo>
                <a:lnTo>
                  <a:pt x="50800" y="101726"/>
                </a:lnTo>
                <a:lnTo>
                  <a:pt x="31021" y="97736"/>
                </a:lnTo>
                <a:lnTo>
                  <a:pt x="14874" y="86852"/>
                </a:lnTo>
                <a:lnTo>
                  <a:pt x="3990" y="70705"/>
                </a:lnTo>
                <a:lnTo>
                  <a:pt x="0" y="50926"/>
                </a:lnTo>
                <a:lnTo>
                  <a:pt x="3990" y="31075"/>
                </a:lnTo>
                <a:lnTo>
                  <a:pt x="14874" y="14890"/>
                </a:lnTo>
                <a:lnTo>
                  <a:pt x="31021" y="3992"/>
                </a:lnTo>
                <a:lnTo>
                  <a:pt x="50800" y="0"/>
                </a:lnTo>
                <a:lnTo>
                  <a:pt x="70651" y="3992"/>
                </a:lnTo>
                <a:lnTo>
                  <a:pt x="86836" y="14890"/>
                </a:lnTo>
                <a:lnTo>
                  <a:pt x="97734" y="31075"/>
                </a:lnTo>
                <a:lnTo>
                  <a:pt x="101726" y="50926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601839" y="3585083"/>
            <a:ext cx="153035" cy="153035"/>
          </a:xfrm>
          <a:custGeom>
            <a:avLst/>
            <a:gdLst/>
            <a:ahLst/>
            <a:cxnLst/>
            <a:rect l="l" t="t" r="r" b="b"/>
            <a:pathLst>
              <a:path w="153034" h="153035">
                <a:moveTo>
                  <a:pt x="152653" y="76326"/>
                </a:moveTo>
                <a:lnTo>
                  <a:pt x="146639" y="106041"/>
                </a:lnTo>
                <a:lnTo>
                  <a:pt x="130254" y="130301"/>
                </a:lnTo>
                <a:lnTo>
                  <a:pt x="105987" y="146657"/>
                </a:lnTo>
                <a:lnTo>
                  <a:pt x="76326" y="152653"/>
                </a:lnTo>
                <a:lnTo>
                  <a:pt x="46612" y="146657"/>
                </a:lnTo>
                <a:lnTo>
                  <a:pt x="22351" y="130301"/>
                </a:lnTo>
                <a:lnTo>
                  <a:pt x="5996" y="106041"/>
                </a:lnTo>
                <a:lnTo>
                  <a:pt x="0" y="76326"/>
                </a:lnTo>
                <a:lnTo>
                  <a:pt x="5996" y="46612"/>
                </a:lnTo>
                <a:lnTo>
                  <a:pt x="22351" y="22351"/>
                </a:lnTo>
                <a:lnTo>
                  <a:pt x="46612" y="5996"/>
                </a:lnTo>
                <a:lnTo>
                  <a:pt x="76326" y="0"/>
                </a:lnTo>
                <a:lnTo>
                  <a:pt x="105987" y="5996"/>
                </a:lnTo>
                <a:lnTo>
                  <a:pt x="130254" y="22352"/>
                </a:lnTo>
                <a:lnTo>
                  <a:pt x="146639" y="46612"/>
                </a:lnTo>
                <a:lnTo>
                  <a:pt x="152653" y="76326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55840" y="3276727"/>
            <a:ext cx="67310" cy="17145"/>
          </a:xfrm>
          <a:custGeom>
            <a:avLst/>
            <a:gdLst/>
            <a:ahLst/>
            <a:cxnLst/>
            <a:rect l="l" t="t" r="r" b="b"/>
            <a:pathLst>
              <a:path w="67309" h="17145">
                <a:moveTo>
                  <a:pt x="67309" y="16890"/>
                </a:moveTo>
                <a:lnTo>
                  <a:pt x="49738" y="16930"/>
                </a:lnTo>
                <a:lnTo>
                  <a:pt x="32464" y="14065"/>
                </a:lnTo>
                <a:lnTo>
                  <a:pt x="15785" y="8389"/>
                </a:lnTo>
                <a:lnTo>
                  <a:pt x="0" y="0"/>
                </a:lnTo>
              </a:path>
            </a:pathLst>
          </a:custGeom>
          <a:ln w="12191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52994" y="3478529"/>
            <a:ext cx="29845" cy="8255"/>
          </a:xfrm>
          <a:custGeom>
            <a:avLst/>
            <a:gdLst/>
            <a:ahLst/>
            <a:cxnLst/>
            <a:rect l="l" t="t" r="r" b="b"/>
            <a:pathLst>
              <a:path w="29845" h="8254">
                <a:moveTo>
                  <a:pt x="29463" y="0"/>
                </a:moveTo>
                <a:lnTo>
                  <a:pt x="22324" y="2805"/>
                </a:lnTo>
                <a:lnTo>
                  <a:pt x="15017" y="5111"/>
                </a:lnTo>
                <a:lnTo>
                  <a:pt x="7568" y="6893"/>
                </a:lnTo>
                <a:lnTo>
                  <a:pt x="0" y="8128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18425" y="3530472"/>
            <a:ext cx="17780" cy="37465"/>
          </a:xfrm>
          <a:custGeom>
            <a:avLst/>
            <a:gdLst/>
            <a:ahLst/>
            <a:cxnLst/>
            <a:rect l="l" t="t" r="r" b="b"/>
            <a:pathLst>
              <a:path w="17779" h="37464">
                <a:moveTo>
                  <a:pt x="17779" y="36956"/>
                </a:moveTo>
                <a:lnTo>
                  <a:pt x="12662" y="28128"/>
                </a:lnTo>
                <a:lnTo>
                  <a:pt x="7985" y="19002"/>
                </a:lnTo>
                <a:lnTo>
                  <a:pt x="3760" y="9614"/>
                </a:lnTo>
                <a:lnTo>
                  <a:pt x="0" y="0"/>
                </a:lnTo>
              </a:path>
            </a:pathLst>
          </a:custGeom>
          <a:ln w="12191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57133" y="3475354"/>
            <a:ext cx="7620" cy="40640"/>
          </a:xfrm>
          <a:custGeom>
            <a:avLst/>
            <a:gdLst/>
            <a:ahLst/>
            <a:cxnLst/>
            <a:rect l="l" t="t" r="r" b="b"/>
            <a:pathLst>
              <a:path w="7620" h="40639">
                <a:moveTo>
                  <a:pt x="7112" y="0"/>
                </a:moveTo>
                <a:lnTo>
                  <a:pt x="6036" y="10312"/>
                </a:lnTo>
                <a:lnTo>
                  <a:pt x="4508" y="20494"/>
                </a:lnTo>
                <a:lnTo>
                  <a:pt x="2504" y="30557"/>
                </a:lnTo>
                <a:lnTo>
                  <a:pt x="0" y="40512"/>
                </a:lnTo>
              </a:path>
            </a:pathLst>
          </a:custGeom>
          <a:ln w="12191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205089" y="3225292"/>
            <a:ext cx="86360" cy="151765"/>
          </a:xfrm>
          <a:custGeom>
            <a:avLst/>
            <a:gdLst/>
            <a:ahLst/>
            <a:cxnLst/>
            <a:rect l="l" t="t" r="r" b="b"/>
            <a:pathLst>
              <a:path w="86359" h="151764">
                <a:moveTo>
                  <a:pt x="0" y="0"/>
                </a:moveTo>
                <a:lnTo>
                  <a:pt x="35996" y="26491"/>
                </a:lnTo>
                <a:lnTo>
                  <a:pt x="63277" y="62102"/>
                </a:lnTo>
                <a:lnTo>
                  <a:pt x="80510" y="104477"/>
                </a:lnTo>
                <a:lnTo>
                  <a:pt x="86359" y="151257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370316" y="3064129"/>
            <a:ext cx="38735" cy="57150"/>
          </a:xfrm>
          <a:custGeom>
            <a:avLst/>
            <a:gdLst/>
            <a:ahLst/>
            <a:cxnLst/>
            <a:rect l="l" t="t" r="r" b="b"/>
            <a:pathLst>
              <a:path w="38734" h="57150">
                <a:moveTo>
                  <a:pt x="38480" y="0"/>
                </a:moveTo>
                <a:lnTo>
                  <a:pt x="31164" y="15978"/>
                </a:lnTo>
                <a:lnTo>
                  <a:pt x="22240" y="30861"/>
                </a:lnTo>
                <a:lnTo>
                  <a:pt x="11816" y="44505"/>
                </a:lnTo>
                <a:lnTo>
                  <a:pt x="0" y="56769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316468" y="2853689"/>
            <a:ext cx="2540" cy="27305"/>
          </a:xfrm>
          <a:custGeom>
            <a:avLst/>
            <a:gdLst/>
            <a:ahLst/>
            <a:cxnLst/>
            <a:rect l="l" t="t" r="r" b="b"/>
            <a:pathLst>
              <a:path w="2540" h="27305">
                <a:moveTo>
                  <a:pt x="0" y="0"/>
                </a:moveTo>
                <a:lnTo>
                  <a:pt x="978" y="6615"/>
                </a:lnTo>
                <a:lnTo>
                  <a:pt x="1635" y="13303"/>
                </a:lnTo>
                <a:lnTo>
                  <a:pt x="1982" y="20038"/>
                </a:lnTo>
                <a:lnTo>
                  <a:pt x="2031" y="26797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70850" y="2788285"/>
            <a:ext cx="19685" cy="34290"/>
          </a:xfrm>
          <a:custGeom>
            <a:avLst/>
            <a:gdLst/>
            <a:ahLst/>
            <a:cxnLst/>
            <a:rect l="l" t="t" r="r" b="b"/>
            <a:pathLst>
              <a:path w="19684" h="34289">
                <a:moveTo>
                  <a:pt x="0" y="34162"/>
                </a:moveTo>
                <a:lnTo>
                  <a:pt x="4093" y="25020"/>
                </a:lnTo>
                <a:lnTo>
                  <a:pt x="8747" y="16271"/>
                </a:lnTo>
                <a:lnTo>
                  <a:pt x="13948" y="7927"/>
                </a:lnTo>
                <a:lnTo>
                  <a:pt x="19684" y="0"/>
                </a:lnTo>
              </a:path>
            </a:pathLst>
          </a:custGeom>
          <a:ln w="12191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886572" y="2809239"/>
            <a:ext cx="9525" cy="29845"/>
          </a:xfrm>
          <a:custGeom>
            <a:avLst/>
            <a:gdLst/>
            <a:ahLst/>
            <a:cxnLst/>
            <a:rect l="l" t="t" r="r" b="b"/>
            <a:pathLst>
              <a:path w="9525" h="29844">
                <a:moveTo>
                  <a:pt x="0" y="29463"/>
                </a:moveTo>
                <a:lnTo>
                  <a:pt x="1738" y="21895"/>
                </a:lnTo>
                <a:lnTo>
                  <a:pt x="3905" y="14446"/>
                </a:lnTo>
                <a:lnTo>
                  <a:pt x="6500" y="7139"/>
                </a:lnTo>
                <a:lnTo>
                  <a:pt x="9525" y="0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670292" y="2848736"/>
            <a:ext cx="34925" cy="28575"/>
          </a:xfrm>
          <a:custGeom>
            <a:avLst/>
            <a:gdLst/>
            <a:ahLst/>
            <a:cxnLst/>
            <a:rect l="l" t="t" r="r" b="b"/>
            <a:pathLst>
              <a:path w="34925" h="28575">
                <a:moveTo>
                  <a:pt x="0" y="0"/>
                </a:moveTo>
                <a:lnTo>
                  <a:pt x="9237" y="6286"/>
                </a:lnTo>
                <a:lnTo>
                  <a:pt x="18081" y="13144"/>
                </a:lnTo>
                <a:lnTo>
                  <a:pt x="26521" y="20574"/>
                </a:lnTo>
                <a:lnTo>
                  <a:pt x="34543" y="28575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402068" y="3043301"/>
            <a:ext cx="6350" cy="30480"/>
          </a:xfrm>
          <a:custGeom>
            <a:avLst/>
            <a:gdLst/>
            <a:ahLst/>
            <a:cxnLst/>
            <a:rect l="l" t="t" r="r" b="b"/>
            <a:pathLst>
              <a:path w="6350" h="30480">
                <a:moveTo>
                  <a:pt x="5968" y="30099"/>
                </a:moveTo>
                <a:lnTo>
                  <a:pt x="4089" y="22645"/>
                </a:lnTo>
                <a:lnTo>
                  <a:pt x="2460" y="15144"/>
                </a:lnTo>
                <a:lnTo>
                  <a:pt x="1093" y="7596"/>
                </a:lnTo>
                <a:lnTo>
                  <a:pt x="0" y="0"/>
                </a:lnTo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614031" y="3010915"/>
            <a:ext cx="436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Blue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02864" y="5876544"/>
            <a:ext cx="2938780" cy="584200"/>
          </a:xfrm>
          <a:custGeom>
            <a:avLst/>
            <a:gdLst/>
            <a:ahLst/>
            <a:cxnLst/>
            <a:rect l="l" t="t" r="r" b="b"/>
            <a:pathLst>
              <a:path w="2938779" h="584200">
                <a:moveTo>
                  <a:pt x="2840990" y="0"/>
                </a:moveTo>
                <a:lnTo>
                  <a:pt x="97281" y="0"/>
                </a:lnTo>
                <a:lnTo>
                  <a:pt x="59418" y="7645"/>
                </a:lnTo>
                <a:lnTo>
                  <a:pt x="28495" y="28495"/>
                </a:lnTo>
                <a:lnTo>
                  <a:pt x="7645" y="59418"/>
                </a:lnTo>
                <a:lnTo>
                  <a:pt x="0" y="97281"/>
                </a:lnTo>
                <a:lnTo>
                  <a:pt x="0" y="486409"/>
                </a:lnTo>
                <a:lnTo>
                  <a:pt x="7645" y="524273"/>
                </a:lnTo>
                <a:lnTo>
                  <a:pt x="28495" y="555196"/>
                </a:lnTo>
                <a:lnTo>
                  <a:pt x="59418" y="576046"/>
                </a:lnTo>
                <a:lnTo>
                  <a:pt x="97281" y="583691"/>
                </a:lnTo>
                <a:lnTo>
                  <a:pt x="2840990" y="583691"/>
                </a:lnTo>
                <a:lnTo>
                  <a:pt x="2878853" y="576046"/>
                </a:lnTo>
                <a:lnTo>
                  <a:pt x="2909776" y="555196"/>
                </a:lnTo>
                <a:lnTo>
                  <a:pt x="2930626" y="524273"/>
                </a:lnTo>
                <a:lnTo>
                  <a:pt x="2938272" y="486409"/>
                </a:lnTo>
                <a:lnTo>
                  <a:pt x="2938272" y="97281"/>
                </a:lnTo>
                <a:lnTo>
                  <a:pt x="2930626" y="59418"/>
                </a:lnTo>
                <a:lnTo>
                  <a:pt x="2909776" y="28495"/>
                </a:lnTo>
                <a:lnTo>
                  <a:pt x="2878853" y="7645"/>
                </a:lnTo>
                <a:lnTo>
                  <a:pt x="2840990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02864" y="5876544"/>
            <a:ext cx="2938780" cy="584200"/>
          </a:xfrm>
          <a:custGeom>
            <a:avLst/>
            <a:gdLst/>
            <a:ahLst/>
            <a:cxnLst/>
            <a:rect l="l" t="t" r="r" b="b"/>
            <a:pathLst>
              <a:path w="2938779" h="584200">
                <a:moveTo>
                  <a:pt x="0" y="97281"/>
                </a:moveTo>
                <a:lnTo>
                  <a:pt x="7645" y="59418"/>
                </a:lnTo>
                <a:lnTo>
                  <a:pt x="28495" y="28495"/>
                </a:lnTo>
                <a:lnTo>
                  <a:pt x="59418" y="7645"/>
                </a:lnTo>
                <a:lnTo>
                  <a:pt x="97281" y="0"/>
                </a:lnTo>
                <a:lnTo>
                  <a:pt x="2840990" y="0"/>
                </a:lnTo>
                <a:lnTo>
                  <a:pt x="2878853" y="7645"/>
                </a:lnTo>
                <a:lnTo>
                  <a:pt x="2909776" y="28495"/>
                </a:lnTo>
                <a:lnTo>
                  <a:pt x="2930626" y="59418"/>
                </a:lnTo>
                <a:lnTo>
                  <a:pt x="2938272" y="97281"/>
                </a:lnTo>
                <a:lnTo>
                  <a:pt x="2938272" y="486409"/>
                </a:lnTo>
                <a:lnTo>
                  <a:pt x="2930626" y="524273"/>
                </a:lnTo>
                <a:lnTo>
                  <a:pt x="2909776" y="555196"/>
                </a:lnTo>
                <a:lnTo>
                  <a:pt x="2878853" y="576046"/>
                </a:lnTo>
                <a:lnTo>
                  <a:pt x="2840990" y="583691"/>
                </a:lnTo>
                <a:lnTo>
                  <a:pt x="97281" y="583691"/>
                </a:lnTo>
                <a:lnTo>
                  <a:pt x="59418" y="576046"/>
                </a:lnTo>
                <a:lnTo>
                  <a:pt x="28495" y="555196"/>
                </a:lnTo>
                <a:lnTo>
                  <a:pt x="7645" y="524273"/>
                </a:lnTo>
                <a:lnTo>
                  <a:pt x="0" y="486409"/>
                </a:lnTo>
                <a:lnTo>
                  <a:pt x="0" y="97281"/>
                </a:lnTo>
                <a:close/>
              </a:path>
            </a:pathLst>
          </a:custGeom>
          <a:ln w="12191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025900" y="6004661"/>
            <a:ext cx="1094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White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Light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181969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Color Vision </a:t>
            </a:r>
            <a:r>
              <a:rPr sz="3600" dirty="0"/>
              <a:t>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97557"/>
            <a:ext cx="57219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15" dirty="0">
                <a:latin typeface="Calibri"/>
                <a:cs typeface="Calibri"/>
              </a:rPr>
              <a:t>Obyek </a:t>
            </a:r>
            <a:r>
              <a:rPr sz="2200" spc="-10" dirty="0">
                <a:latin typeface="Calibri"/>
                <a:cs typeface="Calibri"/>
              </a:rPr>
              <a:t>berwarna </a:t>
            </a:r>
            <a:r>
              <a:rPr sz="2200" spc="-5" dirty="0">
                <a:latin typeface="Calibri"/>
                <a:cs typeface="Calibri"/>
              </a:rPr>
              <a:t>memiliki </a:t>
            </a:r>
            <a:r>
              <a:rPr sz="2200" i="1" spc="-10" dirty="0">
                <a:latin typeface="Calibri"/>
                <a:cs typeface="Calibri"/>
              </a:rPr>
              <a:t>reflectance</a:t>
            </a:r>
            <a:r>
              <a:rPr sz="2200" i="1" spc="5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coefficient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4095369"/>
            <a:ext cx="7171690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661160" algn="ctr">
              <a:lnSpc>
                <a:spcPct val="100000"/>
              </a:lnSpc>
              <a:spcBef>
                <a:spcPts val="100"/>
              </a:spcBef>
            </a:pPr>
            <a:r>
              <a:rPr sz="2400" spc="15" dirty="0">
                <a:latin typeface="Cambria Math"/>
                <a:cs typeface="Cambria Math"/>
              </a:rPr>
              <a:t>𝜌(𝜆)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400">
              <a:latin typeface="Cambria Math"/>
              <a:cs typeface="Cambria Math"/>
            </a:endParaRPr>
          </a:p>
          <a:p>
            <a:pPr marL="184785" marR="5080" indent="-172720">
              <a:lnSpc>
                <a:spcPct val="88500"/>
              </a:lnSpc>
              <a:spcBef>
                <a:spcPts val="1920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15" dirty="0">
                <a:latin typeface="Calibri"/>
                <a:cs typeface="Calibri"/>
              </a:rPr>
              <a:t>Obyek yang </a:t>
            </a:r>
            <a:r>
              <a:rPr sz="2200" spc="-10" dirty="0">
                <a:latin typeface="Calibri"/>
                <a:cs typeface="Calibri"/>
              </a:rPr>
              <a:t>disinari </a:t>
            </a:r>
            <a:r>
              <a:rPr sz="2200" i="1" spc="-10" dirty="0">
                <a:latin typeface="Calibri"/>
                <a:cs typeface="Calibri"/>
              </a:rPr>
              <a:t>white light </a:t>
            </a:r>
            <a:r>
              <a:rPr sz="2200" spc="-15" dirty="0">
                <a:latin typeface="Calibri"/>
                <a:cs typeface="Calibri"/>
              </a:rPr>
              <a:t>akan </a:t>
            </a:r>
            <a:r>
              <a:rPr sz="2200" spc="-10" dirty="0">
                <a:latin typeface="Calibri"/>
                <a:cs typeface="Calibri"/>
              </a:rPr>
              <a:t>memantulkan </a:t>
            </a:r>
            <a:r>
              <a:rPr sz="2200" spc="-15" dirty="0">
                <a:latin typeface="Calibri"/>
                <a:cs typeface="Calibri"/>
              </a:rPr>
              <a:t>komponen  </a:t>
            </a:r>
            <a:r>
              <a:rPr sz="2200" spc="-20" dirty="0">
                <a:latin typeface="Calibri"/>
                <a:cs typeface="Calibri"/>
              </a:rPr>
              <a:t>cahaya </a:t>
            </a:r>
            <a:r>
              <a:rPr sz="2200" spc="-10" dirty="0">
                <a:latin typeface="Calibri"/>
                <a:cs typeface="Calibri"/>
              </a:rPr>
              <a:t>pada </a:t>
            </a:r>
            <a:r>
              <a:rPr sz="2200" spc="-5" dirty="0">
                <a:latin typeface="Calibri"/>
                <a:cs typeface="Calibri"/>
              </a:rPr>
              <a:t>panjang </a:t>
            </a:r>
            <a:r>
              <a:rPr sz="2200" spc="-10" dirty="0">
                <a:latin typeface="Calibri"/>
                <a:cs typeface="Calibri"/>
              </a:rPr>
              <a:t>gelombang </a:t>
            </a:r>
            <a:r>
              <a:rPr sz="2200" spc="-15" dirty="0">
                <a:latin typeface="Calibri"/>
                <a:cs typeface="Calibri"/>
              </a:rPr>
              <a:t>tertentu </a:t>
            </a:r>
            <a:r>
              <a:rPr sz="2200" spc="-5" dirty="0">
                <a:latin typeface="Calibri"/>
                <a:cs typeface="Calibri"/>
              </a:rPr>
              <a:t>sesuai </a:t>
            </a:r>
            <a:r>
              <a:rPr sz="2200" spc="-15" dirty="0">
                <a:latin typeface="Calibri"/>
                <a:cs typeface="Calibri"/>
              </a:rPr>
              <a:t>dengan  </a:t>
            </a:r>
            <a:r>
              <a:rPr sz="2200" i="1" spc="-10" dirty="0">
                <a:latin typeface="Calibri"/>
                <a:cs typeface="Calibri"/>
              </a:rPr>
              <a:t>reflectance </a:t>
            </a:r>
            <a:r>
              <a:rPr sz="2200" i="1" spc="-20" dirty="0">
                <a:latin typeface="Calibri"/>
                <a:cs typeface="Calibri"/>
              </a:rPr>
              <a:t>coefficient</a:t>
            </a:r>
            <a:r>
              <a:rPr sz="2300" i="1" spc="-20" dirty="0">
                <a:latin typeface="Wingdings"/>
                <a:cs typeface="Wingdings"/>
              </a:rPr>
              <a:t></a:t>
            </a:r>
            <a:r>
              <a:rPr sz="2300" i="1" spc="-2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Calibri"/>
                <a:cs typeface="Calibri"/>
              </a:rPr>
              <a:t>Mata </a:t>
            </a:r>
            <a:r>
              <a:rPr sz="2200" spc="-5" dirty="0">
                <a:latin typeface="Calibri"/>
                <a:cs typeface="Calibri"/>
              </a:rPr>
              <a:t>manusia </a:t>
            </a:r>
            <a:r>
              <a:rPr sz="2200" spc="-10" dirty="0">
                <a:latin typeface="Calibri"/>
                <a:cs typeface="Calibri"/>
              </a:rPr>
              <a:t>melihat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warna.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67968" y="2301239"/>
            <a:ext cx="1435403" cy="12847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16396" y="3442715"/>
            <a:ext cx="1703831" cy="11323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17319" y="3043427"/>
            <a:ext cx="1737360" cy="18790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55442" y="2870707"/>
            <a:ext cx="868680" cy="1113790"/>
          </a:xfrm>
          <a:custGeom>
            <a:avLst/>
            <a:gdLst/>
            <a:ahLst/>
            <a:cxnLst/>
            <a:rect l="l" t="t" r="r" b="b"/>
            <a:pathLst>
              <a:path w="868679" h="1113789">
                <a:moveTo>
                  <a:pt x="18922" y="1018158"/>
                </a:moveTo>
                <a:lnTo>
                  <a:pt x="0" y="1113408"/>
                </a:lnTo>
                <a:lnTo>
                  <a:pt x="87630" y="1071371"/>
                </a:lnTo>
                <a:lnTo>
                  <a:pt x="79595" y="1065148"/>
                </a:lnTo>
                <a:lnTo>
                  <a:pt x="55880" y="1065148"/>
                </a:lnTo>
                <a:lnTo>
                  <a:pt x="32893" y="1047368"/>
                </a:lnTo>
                <a:lnTo>
                  <a:pt x="41807" y="1035883"/>
                </a:lnTo>
                <a:lnTo>
                  <a:pt x="18922" y="1018158"/>
                </a:lnTo>
                <a:close/>
              </a:path>
              <a:path w="868679" h="1113789">
                <a:moveTo>
                  <a:pt x="41807" y="1035883"/>
                </a:moveTo>
                <a:lnTo>
                  <a:pt x="32893" y="1047368"/>
                </a:lnTo>
                <a:lnTo>
                  <a:pt x="55880" y="1065148"/>
                </a:lnTo>
                <a:lnTo>
                  <a:pt x="64782" y="1053676"/>
                </a:lnTo>
                <a:lnTo>
                  <a:pt x="41807" y="1035883"/>
                </a:lnTo>
                <a:close/>
              </a:path>
              <a:path w="868679" h="1113789">
                <a:moveTo>
                  <a:pt x="64782" y="1053676"/>
                </a:moveTo>
                <a:lnTo>
                  <a:pt x="55880" y="1065148"/>
                </a:lnTo>
                <a:lnTo>
                  <a:pt x="79595" y="1065148"/>
                </a:lnTo>
                <a:lnTo>
                  <a:pt x="64782" y="1053676"/>
                </a:lnTo>
                <a:close/>
              </a:path>
              <a:path w="868679" h="1113789">
                <a:moveTo>
                  <a:pt x="845819" y="0"/>
                </a:moveTo>
                <a:lnTo>
                  <a:pt x="41807" y="1035883"/>
                </a:lnTo>
                <a:lnTo>
                  <a:pt x="64782" y="1053676"/>
                </a:lnTo>
                <a:lnTo>
                  <a:pt x="868680" y="17779"/>
                </a:lnTo>
                <a:lnTo>
                  <a:pt x="845819" y="0"/>
                </a:lnTo>
                <a:close/>
              </a:path>
            </a:pathLst>
          </a:custGeom>
          <a:solidFill>
            <a:srgbClr val="212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55314" y="3965702"/>
            <a:ext cx="3061970" cy="86995"/>
          </a:xfrm>
          <a:custGeom>
            <a:avLst/>
            <a:gdLst/>
            <a:ahLst/>
            <a:cxnLst/>
            <a:rect l="l" t="t" r="r" b="b"/>
            <a:pathLst>
              <a:path w="3061970" h="86995">
                <a:moveTo>
                  <a:pt x="2975356" y="0"/>
                </a:moveTo>
                <a:lnTo>
                  <a:pt x="2975144" y="28963"/>
                </a:lnTo>
                <a:lnTo>
                  <a:pt x="2989580" y="29083"/>
                </a:lnTo>
                <a:lnTo>
                  <a:pt x="2989453" y="58039"/>
                </a:lnTo>
                <a:lnTo>
                  <a:pt x="2974931" y="58039"/>
                </a:lnTo>
                <a:lnTo>
                  <a:pt x="2974721" y="86868"/>
                </a:lnTo>
                <a:lnTo>
                  <a:pt x="3033580" y="58039"/>
                </a:lnTo>
                <a:lnTo>
                  <a:pt x="2989453" y="58039"/>
                </a:lnTo>
                <a:lnTo>
                  <a:pt x="3033825" y="57918"/>
                </a:lnTo>
                <a:lnTo>
                  <a:pt x="3061843" y="44196"/>
                </a:lnTo>
                <a:lnTo>
                  <a:pt x="2975356" y="0"/>
                </a:lnTo>
                <a:close/>
              </a:path>
              <a:path w="3061970" h="86995">
                <a:moveTo>
                  <a:pt x="2975144" y="28963"/>
                </a:moveTo>
                <a:lnTo>
                  <a:pt x="2974932" y="57918"/>
                </a:lnTo>
                <a:lnTo>
                  <a:pt x="2989453" y="58039"/>
                </a:lnTo>
                <a:lnTo>
                  <a:pt x="2989580" y="29083"/>
                </a:lnTo>
                <a:lnTo>
                  <a:pt x="2975144" y="28963"/>
                </a:lnTo>
                <a:close/>
              </a:path>
              <a:path w="3061970" h="86995">
                <a:moveTo>
                  <a:pt x="254" y="4318"/>
                </a:moveTo>
                <a:lnTo>
                  <a:pt x="0" y="33274"/>
                </a:lnTo>
                <a:lnTo>
                  <a:pt x="2974932" y="57918"/>
                </a:lnTo>
                <a:lnTo>
                  <a:pt x="2975144" y="28963"/>
                </a:lnTo>
                <a:lnTo>
                  <a:pt x="254" y="4318"/>
                </a:lnTo>
                <a:close/>
              </a:path>
            </a:pathLst>
          </a:custGeom>
          <a:solidFill>
            <a:srgbClr val="212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48583" y="2877820"/>
            <a:ext cx="880110" cy="1122680"/>
          </a:xfrm>
          <a:custGeom>
            <a:avLst/>
            <a:gdLst/>
            <a:ahLst/>
            <a:cxnLst/>
            <a:rect l="l" t="t" r="r" b="b"/>
            <a:pathLst>
              <a:path w="880110" h="1122679">
                <a:moveTo>
                  <a:pt x="37846" y="931798"/>
                </a:moveTo>
                <a:lnTo>
                  <a:pt x="0" y="1122298"/>
                </a:lnTo>
                <a:lnTo>
                  <a:pt x="175132" y="1038351"/>
                </a:lnTo>
                <a:lnTo>
                  <a:pt x="158769" y="1025651"/>
                </a:lnTo>
                <a:lnTo>
                  <a:pt x="111632" y="1025651"/>
                </a:lnTo>
                <a:lnTo>
                  <a:pt x="65913" y="990218"/>
                </a:lnTo>
                <a:lnTo>
                  <a:pt x="83657" y="967354"/>
                </a:lnTo>
                <a:lnTo>
                  <a:pt x="37846" y="931798"/>
                </a:lnTo>
                <a:close/>
              </a:path>
              <a:path w="880110" h="1122679">
                <a:moveTo>
                  <a:pt x="83657" y="967354"/>
                </a:moveTo>
                <a:lnTo>
                  <a:pt x="65913" y="990218"/>
                </a:lnTo>
                <a:lnTo>
                  <a:pt x="111632" y="1025651"/>
                </a:lnTo>
                <a:lnTo>
                  <a:pt x="129353" y="1002821"/>
                </a:lnTo>
                <a:lnTo>
                  <a:pt x="83657" y="967354"/>
                </a:lnTo>
                <a:close/>
              </a:path>
              <a:path w="880110" h="1122679">
                <a:moveTo>
                  <a:pt x="129353" y="1002821"/>
                </a:moveTo>
                <a:lnTo>
                  <a:pt x="111632" y="1025651"/>
                </a:lnTo>
                <a:lnTo>
                  <a:pt x="158769" y="1025651"/>
                </a:lnTo>
                <a:lnTo>
                  <a:pt x="129353" y="1002821"/>
                </a:lnTo>
                <a:close/>
              </a:path>
              <a:path w="880110" h="1122679">
                <a:moveTo>
                  <a:pt x="834390" y="0"/>
                </a:moveTo>
                <a:lnTo>
                  <a:pt x="83657" y="967354"/>
                </a:lnTo>
                <a:lnTo>
                  <a:pt x="129353" y="1002821"/>
                </a:lnTo>
                <a:lnTo>
                  <a:pt x="880110" y="35559"/>
                </a:lnTo>
                <a:lnTo>
                  <a:pt x="8343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54426" y="3937634"/>
            <a:ext cx="3061970" cy="173990"/>
          </a:xfrm>
          <a:custGeom>
            <a:avLst/>
            <a:gdLst/>
            <a:ahLst/>
            <a:cxnLst/>
            <a:rect l="l" t="t" r="r" b="b"/>
            <a:pathLst>
              <a:path w="3061970" h="173989">
                <a:moveTo>
                  <a:pt x="2888996" y="0"/>
                </a:moveTo>
                <a:lnTo>
                  <a:pt x="2888530" y="57925"/>
                </a:lnTo>
                <a:lnTo>
                  <a:pt x="2917444" y="58165"/>
                </a:lnTo>
                <a:lnTo>
                  <a:pt x="2917063" y="116077"/>
                </a:lnTo>
                <a:lnTo>
                  <a:pt x="2888062" y="116077"/>
                </a:lnTo>
                <a:lnTo>
                  <a:pt x="2887599" y="173735"/>
                </a:lnTo>
                <a:lnTo>
                  <a:pt x="3005228" y="116077"/>
                </a:lnTo>
                <a:lnTo>
                  <a:pt x="2917063" y="116077"/>
                </a:lnTo>
                <a:lnTo>
                  <a:pt x="3005720" y="115836"/>
                </a:lnTo>
                <a:lnTo>
                  <a:pt x="3061970" y="88264"/>
                </a:lnTo>
                <a:lnTo>
                  <a:pt x="2888996" y="0"/>
                </a:lnTo>
                <a:close/>
              </a:path>
              <a:path w="3061970" h="173989">
                <a:moveTo>
                  <a:pt x="2888530" y="57925"/>
                </a:moveTo>
                <a:lnTo>
                  <a:pt x="2888064" y="115836"/>
                </a:lnTo>
                <a:lnTo>
                  <a:pt x="2917063" y="116077"/>
                </a:lnTo>
                <a:lnTo>
                  <a:pt x="2917444" y="58165"/>
                </a:lnTo>
                <a:lnTo>
                  <a:pt x="2888530" y="57925"/>
                </a:lnTo>
                <a:close/>
              </a:path>
              <a:path w="3061970" h="173989">
                <a:moveTo>
                  <a:pt x="507" y="33908"/>
                </a:moveTo>
                <a:lnTo>
                  <a:pt x="0" y="91820"/>
                </a:lnTo>
                <a:lnTo>
                  <a:pt x="2888064" y="115836"/>
                </a:lnTo>
                <a:lnTo>
                  <a:pt x="2888530" y="57925"/>
                </a:lnTo>
                <a:lnTo>
                  <a:pt x="507" y="3390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186077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30" dirty="0"/>
              <a:t>Warna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36415"/>
            <a:ext cx="4219575" cy="8896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 </a:t>
            </a:r>
            <a:r>
              <a:rPr sz="2400" dirty="0">
                <a:latin typeface="Calibri"/>
                <a:cs typeface="Calibri"/>
              </a:rPr>
              <a:t>adalah </a:t>
            </a:r>
            <a:r>
              <a:rPr sz="2400" i="1" spc="-5" dirty="0">
                <a:latin typeface="Calibri"/>
                <a:cs typeface="Calibri"/>
              </a:rPr>
              <a:t>persepsi </a:t>
            </a:r>
            <a:r>
              <a:rPr sz="2400" i="1" dirty="0">
                <a:latin typeface="Calibri"/>
                <a:cs typeface="Calibri"/>
              </a:rPr>
              <a:t>/</a:t>
            </a:r>
            <a:r>
              <a:rPr sz="2400" i="1" spc="-3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sensasi.</a:t>
            </a:r>
            <a:endParaRPr sz="24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5420" algn="l"/>
              </a:tabLst>
            </a:pPr>
            <a:r>
              <a:rPr sz="2400" i="1" spc="-5" dirty="0">
                <a:latin typeface="Calibri"/>
                <a:cs typeface="Calibri"/>
              </a:rPr>
              <a:t>Stimulus </a:t>
            </a:r>
            <a:r>
              <a:rPr sz="2400" spc="-5" dirty="0">
                <a:latin typeface="Calibri"/>
                <a:cs typeface="Calibri"/>
              </a:rPr>
              <a:t>warna </a:t>
            </a:r>
            <a:r>
              <a:rPr sz="2400" dirty="0">
                <a:latin typeface="Calibri"/>
                <a:cs typeface="Calibri"/>
              </a:rPr>
              <a:t>adalah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cahaya.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75944" y="2758439"/>
            <a:ext cx="6992111" cy="3956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141282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25" dirty="0"/>
              <a:t>Relative </a:t>
            </a:r>
            <a:r>
              <a:rPr sz="3600" spc="-20" dirty="0"/>
              <a:t>Perceptual Attributes </a:t>
            </a:r>
            <a:r>
              <a:rPr sz="3600" spc="-5" dirty="0"/>
              <a:t>of</a:t>
            </a:r>
            <a:r>
              <a:rPr sz="3600" spc="75" dirty="0"/>
              <a:t> </a:t>
            </a:r>
            <a:r>
              <a:rPr sz="3600" spc="-5" dirty="0"/>
              <a:t>Color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7517130" cy="359346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b="1" i="1" spc="-10" dirty="0">
                <a:latin typeface="Calibri"/>
                <a:cs typeface="Calibri"/>
              </a:rPr>
              <a:t>Brightness/Lightness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527685" marR="150495" lvl="1" indent="-172720">
              <a:lnSpc>
                <a:spcPts val="2380"/>
              </a:lnSpc>
              <a:spcBef>
                <a:spcPts val="4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intensitas </a:t>
            </a:r>
            <a:r>
              <a:rPr sz="2200" spc="-10" dirty="0">
                <a:latin typeface="Calibri"/>
                <a:cs typeface="Calibri"/>
              </a:rPr>
              <a:t>(sering disebut </a:t>
            </a:r>
            <a:r>
              <a:rPr sz="2200" spc="-25" dirty="0">
                <a:latin typeface="Calibri"/>
                <a:cs typeface="Calibri"/>
              </a:rPr>
              <a:t>gray </a:t>
            </a:r>
            <a:r>
              <a:rPr sz="2200" spc="-10" dirty="0">
                <a:latin typeface="Calibri"/>
                <a:cs typeface="Calibri"/>
              </a:rPr>
              <a:t>levels pada </a:t>
            </a:r>
            <a:r>
              <a:rPr sz="2200" spc="-15" dirty="0">
                <a:latin typeface="Calibri"/>
                <a:cs typeface="Calibri"/>
              </a:rPr>
              <a:t>citra, </a:t>
            </a:r>
            <a:r>
              <a:rPr sz="2200" spc="-10" dirty="0">
                <a:latin typeface="Calibri"/>
                <a:cs typeface="Calibri"/>
              </a:rPr>
              <a:t>dapat </a:t>
            </a:r>
            <a:r>
              <a:rPr sz="2200" spc="-15" dirty="0">
                <a:latin typeface="Calibri"/>
                <a:cs typeface="Calibri"/>
              </a:rPr>
              <a:t>diukur  dengan </a:t>
            </a:r>
            <a:r>
              <a:rPr sz="2200" spc="-10" dirty="0">
                <a:latin typeface="Calibri"/>
                <a:cs typeface="Calibri"/>
              </a:rPr>
              <a:t>radiance </a:t>
            </a:r>
            <a:r>
              <a:rPr sz="2200" spc="-15" dirty="0">
                <a:latin typeface="Calibri"/>
                <a:cs typeface="Calibri"/>
              </a:rPr>
              <a:t>atau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luminance)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185420" algn="l"/>
              </a:tabLst>
            </a:pPr>
            <a:r>
              <a:rPr sz="2400" b="1" i="1" spc="-5" dirty="0">
                <a:latin typeface="Calibri"/>
                <a:cs typeface="Calibri"/>
              </a:rPr>
              <a:t>Hue/Chroma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panjang gelombang </a:t>
            </a:r>
            <a:r>
              <a:rPr sz="2200" spc="-10" dirty="0">
                <a:latin typeface="Calibri"/>
                <a:cs typeface="Calibri"/>
              </a:rPr>
              <a:t>dominan </a:t>
            </a:r>
            <a:r>
              <a:rPr sz="2200" spc="-5" dirty="0">
                <a:latin typeface="Calibri"/>
                <a:cs typeface="Calibri"/>
              </a:rPr>
              <a:t>dalam </a:t>
            </a:r>
            <a:r>
              <a:rPr sz="2200" spc="-15" dirty="0">
                <a:latin typeface="Calibri"/>
                <a:cs typeface="Calibri"/>
              </a:rPr>
              <a:t>campuran</a:t>
            </a:r>
            <a:r>
              <a:rPr sz="2200" spc="-5" dirty="0">
                <a:latin typeface="Calibri"/>
                <a:cs typeface="Calibri"/>
              </a:rPr>
              <a:t> gelombang</a:t>
            </a:r>
            <a:endParaRPr sz="2200">
              <a:latin typeface="Calibri"/>
              <a:cs typeface="Calibri"/>
            </a:endParaRPr>
          </a:p>
          <a:p>
            <a:pPr marL="527685" marR="5080" lvl="1" indent="-172720">
              <a:lnSpc>
                <a:spcPts val="2350"/>
              </a:lnSpc>
              <a:spcBef>
                <a:spcPts val="47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Kita </a:t>
            </a:r>
            <a:r>
              <a:rPr sz="2200" spc="-15" dirty="0">
                <a:latin typeface="Calibri"/>
                <a:cs typeface="Calibri"/>
              </a:rPr>
              <a:t>menyebut </a:t>
            </a:r>
            <a:r>
              <a:rPr sz="2200" spc="-10" dirty="0">
                <a:latin typeface="Calibri"/>
                <a:cs typeface="Calibri"/>
              </a:rPr>
              <a:t>suatu benda ‘merah’ </a:t>
            </a:r>
            <a:r>
              <a:rPr sz="2200" spc="-15" dirty="0">
                <a:latin typeface="Calibri"/>
                <a:cs typeface="Calibri"/>
              </a:rPr>
              <a:t>atau </a:t>
            </a:r>
            <a:r>
              <a:rPr sz="2200" spc="-5" dirty="0">
                <a:latin typeface="Calibri"/>
                <a:cs typeface="Calibri"/>
              </a:rPr>
              <a:t>‘biru’ </a:t>
            </a:r>
            <a:r>
              <a:rPr sz="2200" spc="-5" dirty="0">
                <a:latin typeface="Wingdings"/>
                <a:cs typeface="Wingdings"/>
              </a:rPr>
              <a:t>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Calibri"/>
                <a:cs typeface="Calibri"/>
              </a:rPr>
              <a:t>berarti kita  menyebutkan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hue</a:t>
            </a:r>
            <a:r>
              <a:rPr sz="2200" spc="-20" dirty="0">
                <a:latin typeface="Calibri"/>
                <a:cs typeface="Calibri"/>
              </a:rPr>
              <a:t>-nya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185420" algn="l"/>
              </a:tabLst>
            </a:pPr>
            <a:r>
              <a:rPr sz="2400" b="1" i="1" spc="-5" dirty="0">
                <a:latin typeface="Calibri"/>
                <a:cs typeface="Calibri"/>
              </a:rPr>
              <a:t>Saturation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527685" marR="829944" lvl="1" indent="-172720">
              <a:lnSpc>
                <a:spcPts val="2380"/>
              </a:lnSpc>
              <a:spcBef>
                <a:spcPts val="44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kemurnian </a:t>
            </a:r>
            <a:r>
              <a:rPr sz="2200" spc="-10" dirty="0">
                <a:latin typeface="Calibri"/>
                <a:cs typeface="Calibri"/>
              </a:rPr>
              <a:t>relatif </a:t>
            </a:r>
            <a:r>
              <a:rPr sz="2200" spc="-15" dirty="0">
                <a:latin typeface="Calibri"/>
                <a:cs typeface="Calibri"/>
              </a:rPr>
              <a:t>atau derajat </a:t>
            </a:r>
            <a:r>
              <a:rPr sz="2200" spc="-20" dirty="0">
                <a:latin typeface="Calibri"/>
                <a:cs typeface="Calibri"/>
              </a:rPr>
              <a:t>banyaknya </a:t>
            </a:r>
            <a:r>
              <a:rPr sz="2200" spc="-10" dirty="0">
                <a:latin typeface="Calibri"/>
                <a:cs typeface="Calibri"/>
              </a:rPr>
              <a:t>warna </a:t>
            </a:r>
            <a:r>
              <a:rPr sz="2200" spc="-5" dirty="0">
                <a:latin typeface="Calibri"/>
                <a:cs typeface="Calibri"/>
              </a:rPr>
              <a:t>murni  </a:t>
            </a:r>
            <a:r>
              <a:rPr sz="2200" spc="-10" dirty="0">
                <a:latin typeface="Calibri"/>
                <a:cs typeface="Calibri"/>
              </a:rPr>
              <a:t>dibandingkan </a:t>
            </a:r>
            <a:r>
              <a:rPr sz="2200" spc="-15" dirty="0">
                <a:latin typeface="Calibri"/>
                <a:cs typeface="Calibri"/>
              </a:rPr>
              <a:t>dengan </a:t>
            </a:r>
            <a:r>
              <a:rPr sz="2200" spc="-10" dirty="0">
                <a:latin typeface="Calibri"/>
                <a:cs typeface="Calibri"/>
              </a:rPr>
              <a:t>warna putih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murni.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6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6338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Color Theory: </a:t>
            </a:r>
            <a:r>
              <a:rPr sz="3600" spc="-35" dirty="0"/>
              <a:t>Trichromatic </a:t>
            </a:r>
            <a:r>
              <a:rPr sz="3600" spc="-5" dirty="0"/>
              <a:t>Color</a:t>
            </a:r>
            <a:r>
              <a:rPr sz="3600" spc="20" dirty="0"/>
              <a:t> </a:t>
            </a:r>
            <a:r>
              <a:rPr sz="3600" spc="-10" dirty="0"/>
              <a:t>Vision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6047" y="5658611"/>
            <a:ext cx="6852284" cy="654050"/>
          </a:xfrm>
          <a:custGeom>
            <a:avLst/>
            <a:gdLst/>
            <a:ahLst/>
            <a:cxnLst/>
            <a:rect l="l" t="t" r="r" b="b"/>
            <a:pathLst>
              <a:path w="6852284" h="654050">
                <a:moveTo>
                  <a:pt x="6742937" y="0"/>
                </a:moveTo>
                <a:lnTo>
                  <a:pt x="108965" y="0"/>
                </a:lnTo>
                <a:lnTo>
                  <a:pt x="66549" y="8562"/>
                </a:lnTo>
                <a:lnTo>
                  <a:pt x="31913" y="31913"/>
                </a:lnTo>
                <a:lnTo>
                  <a:pt x="8562" y="66549"/>
                </a:lnTo>
                <a:lnTo>
                  <a:pt x="0" y="108965"/>
                </a:lnTo>
                <a:lnTo>
                  <a:pt x="0" y="544830"/>
                </a:lnTo>
                <a:lnTo>
                  <a:pt x="8562" y="587241"/>
                </a:lnTo>
                <a:lnTo>
                  <a:pt x="31913" y="621877"/>
                </a:lnTo>
                <a:lnTo>
                  <a:pt x="66549" y="645231"/>
                </a:lnTo>
                <a:lnTo>
                  <a:pt x="108965" y="653796"/>
                </a:lnTo>
                <a:lnTo>
                  <a:pt x="6742937" y="653796"/>
                </a:lnTo>
                <a:lnTo>
                  <a:pt x="6785359" y="645231"/>
                </a:lnTo>
                <a:lnTo>
                  <a:pt x="6819995" y="621877"/>
                </a:lnTo>
                <a:lnTo>
                  <a:pt x="6843343" y="587241"/>
                </a:lnTo>
                <a:lnTo>
                  <a:pt x="6851904" y="544830"/>
                </a:lnTo>
                <a:lnTo>
                  <a:pt x="6851904" y="108965"/>
                </a:lnTo>
                <a:lnTo>
                  <a:pt x="6843343" y="66549"/>
                </a:lnTo>
                <a:lnTo>
                  <a:pt x="6819995" y="31913"/>
                </a:lnTo>
                <a:lnTo>
                  <a:pt x="6785359" y="8562"/>
                </a:lnTo>
                <a:lnTo>
                  <a:pt x="6742937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46047" y="5658611"/>
            <a:ext cx="6852284" cy="654050"/>
          </a:xfrm>
          <a:custGeom>
            <a:avLst/>
            <a:gdLst/>
            <a:ahLst/>
            <a:cxnLst/>
            <a:rect l="l" t="t" r="r" b="b"/>
            <a:pathLst>
              <a:path w="6852284" h="654050">
                <a:moveTo>
                  <a:pt x="0" y="108965"/>
                </a:moveTo>
                <a:lnTo>
                  <a:pt x="8562" y="66549"/>
                </a:lnTo>
                <a:lnTo>
                  <a:pt x="31913" y="31913"/>
                </a:lnTo>
                <a:lnTo>
                  <a:pt x="66549" y="8562"/>
                </a:lnTo>
                <a:lnTo>
                  <a:pt x="108965" y="0"/>
                </a:lnTo>
                <a:lnTo>
                  <a:pt x="6742937" y="0"/>
                </a:lnTo>
                <a:lnTo>
                  <a:pt x="6785359" y="8562"/>
                </a:lnTo>
                <a:lnTo>
                  <a:pt x="6819995" y="31913"/>
                </a:lnTo>
                <a:lnTo>
                  <a:pt x="6843343" y="66549"/>
                </a:lnTo>
                <a:lnTo>
                  <a:pt x="6851904" y="108965"/>
                </a:lnTo>
                <a:lnTo>
                  <a:pt x="6851904" y="544830"/>
                </a:lnTo>
                <a:lnTo>
                  <a:pt x="6843343" y="587241"/>
                </a:lnTo>
                <a:lnTo>
                  <a:pt x="6819995" y="621877"/>
                </a:lnTo>
                <a:lnTo>
                  <a:pt x="6785359" y="645231"/>
                </a:lnTo>
                <a:lnTo>
                  <a:pt x="6742937" y="653796"/>
                </a:lnTo>
                <a:lnTo>
                  <a:pt x="108965" y="653796"/>
                </a:lnTo>
                <a:lnTo>
                  <a:pt x="66549" y="645231"/>
                </a:lnTo>
                <a:lnTo>
                  <a:pt x="31913" y="621877"/>
                </a:lnTo>
                <a:lnTo>
                  <a:pt x="8562" y="587241"/>
                </a:lnTo>
                <a:lnTo>
                  <a:pt x="0" y="544830"/>
                </a:lnTo>
                <a:lnTo>
                  <a:pt x="0" y="108965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7542" y="1802333"/>
            <a:ext cx="7703820" cy="436054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39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Thomas </a:t>
            </a:r>
            <a:r>
              <a:rPr sz="2400" spc="-45" dirty="0">
                <a:latin typeface="Calibri"/>
                <a:cs typeface="Calibri"/>
              </a:rPr>
              <a:t>Young </a:t>
            </a:r>
            <a:r>
              <a:rPr sz="2400" spc="-5" dirty="0">
                <a:latin typeface="Calibri"/>
                <a:cs typeface="Calibri"/>
              </a:rPr>
              <a:t>(1802) </a:t>
            </a:r>
            <a:r>
              <a:rPr sz="2400" spc="-10" dirty="0">
                <a:latin typeface="Calibri"/>
                <a:cs typeface="Calibri"/>
              </a:rPr>
              <a:t>proposed that there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three </a:t>
            </a:r>
            <a:r>
              <a:rPr sz="2400" dirty="0">
                <a:latin typeface="Calibri"/>
                <a:cs typeface="Calibri"/>
              </a:rPr>
              <a:t>types </a:t>
            </a:r>
            <a:r>
              <a:rPr sz="2400" spc="-5" dirty="0">
                <a:latin typeface="Calibri"/>
                <a:cs typeface="Calibri"/>
              </a:rPr>
              <a:t>of  </a:t>
            </a:r>
            <a:r>
              <a:rPr sz="2400" spc="-15" dirty="0">
                <a:latin typeface="Calibri"/>
                <a:cs typeface="Calibri"/>
              </a:rPr>
              <a:t>photoreceptors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eye. </a:t>
            </a:r>
            <a:r>
              <a:rPr sz="2400" spc="-45" dirty="0">
                <a:latin typeface="Calibri"/>
                <a:cs typeface="Calibri"/>
              </a:rPr>
              <a:t>Young </a:t>
            </a:r>
            <a:r>
              <a:rPr sz="2400" spc="-10" dirty="0">
                <a:latin typeface="Calibri"/>
                <a:cs typeface="Calibri"/>
              </a:rPr>
              <a:t>believed that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three  variables </a:t>
            </a:r>
            <a:r>
              <a:rPr sz="2400" spc="-5" dirty="0">
                <a:latin typeface="Calibri"/>
                <a:cs typeface="Calibri"/>
              </a:rPr>
              <a:t>responsible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our color </a:t>
            </a:r>
            <a:r>
              <a:rPr sz="2400" spc="-5" dirty="0">
                <a:latin typeface="Calibri"/>
                <a:cs typeface="Calibri"/>
              </a:rPr>
              <a:t>vision </a:t>
            </a:r>
            <a:r>
              <a:rPr sz="2400" spc="-15" dirty="0">
                <a:latin typeface="Calibri"/>
                <a:cs typeface="Calibri"/>
              </a:rPr>
              <a:t>were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eye </a:t>
            </a:r>
            <a:r>
              <a:rPr sz="2400" dirty="0">
                <a:latin typeface="Calibri"/>
                <a:cs typeface="Calibri"/>
              </a:rPr>
              <a:t>and 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light.</a:t>
            </a:r>
            <a:endParaRPr sz="2400">
              <a:latin typeface="Calibri"/>
              <a:cs typeface="Calibri"/>
            </a:endParaRPr>
          </a:p>
          <a:p>
            <a:pPr marL="184785" indent="-172720">
              <a:lnSpc>
                <a:spcPts val="2735"/>
              </a:lnSpc>
              <a:spcBef>
                <a:spcPts val="515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James </a:t>
            </a:r>
            <a:r>
              <a:rPr sz="2400" spc="-5" dirty="0">
                <a:latin typeface="Calibri"/>
                <a:cs typeface="Calibri"/>
              </a:rPr>
              <a:t>Clerk </a:t>
            </a:r>
            <a:r>
              <a:rPr sz="2400" spc="-10" dirty="0">
                <a:latin typeface="Calibri"/>
                <a:cs typeface="Calibri"/>
              </a:rPr>
              <a:t>Maxwell </a:t>
            </a:r>
            <a:r>
              <a:rPr sz="2400" spc="-5" dirty="0">
                <a:latin typeface="Calibri"/>
                <a:cs typeface="Calibri"/>
              </a:rPr>
              <a:t>(1855) </a:t>
            </a:r>
            <a:r>
              <a:rPr sz="2400" spc="-15" dirty="0">
                <a:latin typeface="Calibri"/>
                <a:cs typeface="Calibri"/>
              </a:rPr>
              <a:t>demonstrated </a:t>
            </a:r>
            <a:r>
              <a:rPr sz="2400" spc="-10" dirty="0">
                <a:latin typeface="Calibri"/>
                <a:cs typeface="Calibri"/>
              </a:rPr>
              <a:t>that most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colors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matched by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mixture of </a:t>
            </a:r>
            <a:r>
              <a:rPr sz="2400" dirty="0">
                <a:latin typeface="Calibri"/>
                <a:cs typeface="Calibri"/>
              </a:rPr>
              <a:t>3 </a:t>
            </a:r>
            <a:r>
              <a:rPr sz="2400" spc="-15" dirty="0">
                <a:latin typeface="Calibri"/>
                <a:cs typeface="Calibri"/>
              </a:rPr>
              <a:t>colors </a:t>
            </a:r>
            <a:r>
              <a:rPr sz="2400" spc="-5" dirty="0">
                <a:latin typeface="Calibri"/>
                <a:cs typeface="Calibri"/>
              </a:rPr>
              <a:t>(3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primaries).</a:t>
            </a:r>
            <a:endParaRPr sz="2400">
              <a:latin typeface="Calibri"/>
              <a:cs typeface="Calibri"/>
            </a:endParaRPr>
          </a:p>
          <a:p>
            <a:pPr marL="184785" marR="151130" indent="-172720" algn="just">
              <a:lnSpc>
                <a:spcPct val="90100"/>
              </a:lnSpc>
              <a:spcBef>
                <a:spcPts val="8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Hermann </a:t>
            </a:r>
            <a:r>
              <a:rPr sz="2400" spc="-15" dirty="0">
                <a:latin typeface="Calibri"/>
                <a:cs typeface="Calibri"/>
              </a:rPr>
              <a:t>von </a:t>
            </a:r>
            <a:r>
              <a:rPr sz="2400" spc="-5" dirty="0">
                <a:latin typeface="Calibri"/>
                <a:cs typeface="Calibri"/>
              </a:rPr>
              <a:t>Helmholtz </a:t>
            </a:r>
            <a:r>
              <a:rPr sz="2400" spc="-10" dirty="0">
                <a:latin typeface="Calibri"/>
                <a:cs typeface="Calibri"/>
              </a:rPr>
              <a:t>supported </a:t>
            </a:r>
            <a:r>
              <a:rPr sz="2400" spc="-25" dirty="0">
                <a:latin typeface="Calibri"/>
                <a:cs typeface="Calibri"/>
              </a:rPr>
              <a:t>Maxwell’s </a:t>
            </a:r>
            <a:r>
              <a:rPr sz="2400" spc="-10" dirty="0">
                <a:latin typeface="Calibri"/>
                <a:cs typeface="Calibri"/>
              </a:rPr>
              <a:t>experimental 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by proposing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hypothesis of </a:t>
            </a:r>
            <a:r>
              <a:rPr sz="2400" dirty="0">
                <a:latin typeface="Calibri"/>
                <a:cs typeface="Calibri"/>
              </a:rPr>
              <a:t>3 channels with </a:t>
            </a:r>
            <a:r>
              <a:rPr sz="2400" spc="-20" dirty="0">
                <a:latin typeface="Calibri"/>
                <a:cs typeface="Calibri"/>
              </a:rPr>
              <a:t>different  </a:t>
            </a:r>
            <a:r>
              <a:rPr sz="2400" spc="-10" dirty="0">
                <a:latin typeface="Calibri"/>
                <a:cs typeface="Calibri"/>
              </a:rPr>
              <a:t>spectral </a:t>
            </a:r>
            <a:r>
              <a:rPr sz="2400" spc="-5" dirty="0">
                <a:latin typeface="Calibri"/>
                <a:cs typeface="Calibri"/>
              </a:rPr>
              <a:t>sensitivities.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Calibri"/>
              <a:cs typeface="Calibri"/>
            </a:endParaRPr>
          </a:p>
          <a:p>
            <a:pPr marL="598805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latin typeface="Calibri"/>
                <a:cs typeface="Calibri"/>
              </a:rPr>
              <a:t>Young-Helmholtz </a:t>
            </a:r>
            <a:r>
              <a:rPr sz="2400" spc="-20" dirty="0">
                <a:latin typeface="Calibri"/>
                <a:cs typeface="Calibri"/>
              </a:rPr>
              <a:t>Trichromatic </a:t>
            </a:r>
            <a:r>
              <a:rPr sz="2400" spc="-5" dirty="0">
                <a:latin typeface="Calibri"/>
                <a:cs typeface="Calibri"/>
              </a:rPr>
              <a:t>Theory of Color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Vision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197524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720090" marR="1035685">
              <a:lnSpc>
                <a:spcPts val="3890"/>
              </a:lnSpc>
              <a:spcBef>
                <a:spcPts val="1155"/>
              </a:spcBef>
            </a:pPr>
            <a:r>
              <a:rPr sz="3600" spc="-25" dirty="0"/>
              <a:t>Young-Helmholtz </a:t>
            </a:r>
            <a:r>
              <a:rPr sz="3600" spc="-35" dirty="0"/>
              <a:t>Trichromatic </a:t>
            </a:r>
            <a:r>
              <a:rPr sz="3600" spc="-5" dirty="0"/>
              <a:t>Theory of  Color</a:t>
            </a:r>
            <a:r>
              <a:rPr sz="3600" spc="-20" dirty="0"/>
              <a:t> </a:t>
            </a:r>
            <a:r>
              <a:rPr sz="3600" spc="-10" dirty="0"/>
              <a:t>Vision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7644130" cy="213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There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three </a:t>
            </a:r>
            <a:r>
              <a:rPr sz="2400" spc="-15" dirty="0">
                <a:latin typeface="Calibri"/>
                <a:cs typeface="Calibri"/>
              </a:rPr>
              <a:t>receptors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retina that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responsible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ts val="2740"/>
              </a:lnSpc>
            </a:pP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perception of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color.</a:t>
            </a:r>
            <a:endParaRPr sz="2400">
              <a:latin typeface="Calibri"/>
              <a:cs typeface="Calibri"/>
            </a:endParaRPr>
          </a:p>
          <a:p>
            <a:pPr marL="527685" marR="442595" lvl="1" indent="-172720">
              <a:lnSpc>
                <a:spcPts val="2380"/>
              </a:lnSpc>
              <a:spcBef>
                <a:spcPts val="4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One </a:t>
            </a:r>
            <a:r>
              <a:rPr sz="2200" spc="-15" dirty="0">
                <a:latin typeface="Calibri"/>
                <a:cs typeface="Calibri"/>
              </a:rPr>
              <a:t>receptor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10" dirty="0">
                <a:latin typeface="Calibri"/>
                <a:cs typeface="Calibri"/>
              </a:rPr>
              <a:t>sensitive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color green, </a:t>
            </a:r>
            <a:r>
              <a:rPr sz="2200" spc="-5" dirty="0">
                <a:latin typeface="Calibri"/>
                <a:cs typeface="Calibri"/>
              </a:rPr>
              <a:t>another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 </a:t>
            </a:r>
            <a:r>
              <a:rPr sz="2200" spc="-10" dirty="0">
                <a:latin typeface="Calibri"/>
                <a:cs typeface="Calibri"/>
              </a:rPr>
              <a:t>color blue </a:t>
            </a:r>
            <a:r>
              <a:rPr sz="2200" spc="-5" dirty="0">
                <a:latin typeface="Calibri"/>
                <a:cs typeface="Calibri"/>
              </a:rPr>
              <a:t>and a </a:t>
            </a:r>
            <a:r>
              <a:rPr sz="2200" spc="-15" dirty="0">
                <a:latin typeface="Calibri"/>
                <a:cs typeface="Calibri"/>
              </a:rPr>
              <a:t>third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color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red.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ts val="2735"/>
              </a:lnSpc>
              <a:spcBef>
                <a:spcPts val="45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These </a:t>
            </a:r>
            <a:r>
              <a:rPr sz="2400" spc="-10" dirty="0">
                <a:latin typeface="Calibri"/>
                <a:cs typeface="Calibri"/>
              </a:rPr>
              <a:t>three </a:t>
            </a:r>
            <a:r>
              <a:rPr sz="2400" spc="-15" dirty="0">
                <a:latin typeface="Calibri"/>
                <a:cs typeface="Calibri"/>
              </a:rPr>
              <a:t>colors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dirty="0">
                <a:latin typeface="Calibri"/>
                <a:cs typeface="Calibri"/>
              </a:rPr>
              <a:t>then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combined </a:t>
            </a:r>
            <a:r>
              <a:rPr sz="2400" spc="-15" dirty="0">
                <a:latin typeface="Calibri"/>
                <a:cs typeface="Calibri"/>
              </a:rPr>
              <a:t>to form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visible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color </a:t>
            </a:r>
            <a:r>
              <a:rPr sz="2400" dirty="0">
                <a:latin typeface="Calibri"/>
                <a:cs typeface="Calibri"/>
              </a:rPr>
              <a:t>in 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spectrum.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1611" y="4518659"/>
            <a:ext cx="3162300" cy="1808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625025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</a:pPr>
            <a:r>
              <a:rPr sz="3200" spc="-20" dirty="0"/>
              <a:t>Warna </a:t>
            </a:r>
            <a:r>
              <a:rPr sz="3200" spc="-5" dirty="0"/>
              <a:t>Primer </a:t>
            </a:r>
            <a:r>
              <a:rPr sz="3200" dirty="0"/>
              <a:t>vs </a:t>
            </a:r>
            <a:r>
              <a:rPr sz="3200" spc="-5" dirty="0"/>
              <a:t>Sekunder </a:t>
            </a:r>
            <a:r>
              <a:rPr sz="3200" spc="-35" dirty="0"/>
              <a:t>Pada</a:t>
            </a:r>
            <a:r>
              <a:rPr sz="3200" spc="-110" dirty="0"/>
              <a:t> </a:t>
            </a:r>
            <a:r>
              <a:rPr sz="3200" spc="-40" dirty="0"/>
              <a:t>Cahaya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29412" y="5658611"/>
            <a:ext cx="3627120" cy="654050"/>
          </a:xfrm>
          <a:custGeom>
            <a:avLst/>
            <a:gdLst/>
            <a:ahLst/>
            <a:cxnLst/>
            <a:rect l="l" t="t" r="r" b="b"/>
            <a:pathLst>
              <a:path w="3627120" h="654050">
                <a:moveTo>
                  <a:pt x="3518154" y="0"/>
                </a:moveTo>
                <a:lnTo>
                  <a:pt x="108965" y="0"/>
                </a:lnTo>
                <a:lnTo>
                  <a:pt x="66549" y="8562"/>
                </a:lnTo>
                <a:lnTo>
                  <a:pt x="31913" y="31913"/>
                </a:lnTo>
                <a:lnTo>
                  <a:pt x="8562" y="66549"/>
                </a:lnTo>
                <a:lnTo>
                  <a:pt x="0" y="108965"/>
                </a:lnTo>
                <a:lnTo>
                  <a:pt x="0" y="544830"/>
                </a:lnTo>
                <a:lnTo>
                  <a:pt x="8562" y="587241"/>
                </a:lnTo>
                <a:lnTo>
                  <a:pt x="31913" y="621877"/>
                </a:lnTo>
                <a:lnTo>
                  <a:pt x="66549" y="645231"/>
                </a:lnTo>
                <a:lnTo>
                  <a:pt x="108965" y="653796"/>
                </a:lnTo>
                <a:lnTo>
                  <a:pt x="3518154" y="653796"/>
                </a:lnTo>
                <a:lnTo>
                  <a:pt x="3560575" y="645231"/>
                </a:lnTo>
                <a:lnTo>
                  <a:pt x="3595211" y="621877"/>
                </a:lnTo>
                <a:lnTo>
                  <a:pt x="3618559" y="587241"/>
                </a:lnTo>
                <a:lnTo>
                  <a:pt x="3627120" y="544830"/>
                </a:lnTo>
                <a:lnTo>
                  <a:pt x="3627120" y="108965"/>
                </a:lnTo>
                <a:lnTo>
                  <a:pt x="3618559" y="66549"/>
                </a:lnTo>
                <a:lnTo>
                  <a:pt x="3595211" y="31913"/>
                </a:lnTo>
                <a:lnTo>
                  <a:pt x="3560575" y="8562"/>
                </a:lnTo>
                <a:lnTo>
                  <a:pt x="3518154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9412" y="5658611"/>
            <a:ext cx="3627120" cy="654050"/>
          </a:xfrm>
          <a:custGeom>
            <a:avLst/>
            <a:gdLst/>
            <a:ahLst/>
            <a:cxnLst/>
            <a:rect l="l" t="t" r="r" b="b"/>
            <a:pathLst>
              <a:path w="3627120" h="654050">
                <a:moveTo>
                  <a:pt x="0" y="108965"/>
                </a:moveTo>
                <a:lnTo>
                  <a:pt x="8562" y="66549"/>
                </a:lnTo>
                <a:lnTo>
                  <a:pt x="31913" y="31913"/>
                </a:lnTo>
                <a:lnTo>
                  <a:pt x="66549" y="8562"/>
                </a:lnTo>
                <a:lnTo>
                  <a:pt x="108965" y="0"/>
                </a:lnTo>
                <a:lnTo>
                  <a:pt x="3518154" y="0"/>
                </a:lnTo>
                <a:lnTo>
                  <a:pt x="3560575" y="8562"/>
                </a:lnTo>
                <a:lnTo>
                  <a:pt x="3595211" y="31913"/>
                </a:lnTo>
                <a:lnTo>
                  <a:pt x="3618559" y="66549"/>
                </a:lnTo>
                <a:lnTo>
                  <a:pt x="3627120" y="108965"/>
                </a:lnTo>
                <a:lnTo>
                  <a:pt x="3627120" y="544830"/>
                </a:lnTo>
                <a:lnTo>
                  <a:pt x="3618559" y="587241"/>
                </a:lnTo>
                <a:lnTo>
                  <a:pt x="3595211" y="621877"/>
                </a:lnTo>
                <a:lnTo>
                  <a:pt x="3560575" y="645231"/>
                </a:lnTo>
                <a:lnTo>
                  <a:pt x="3518154" y="653796"/>
                </a:lnTo>
                <a:lnTo>
                  <a:pt x="108965" y="653796"/>
                </a:lnTo>
                <a:lnTo>
                  <a:pt x="66549" y="645231"/>
                </a:lnTo>
                <a:lnTo>
                  <a:pt x="31913" y="621877"/>
                </a:lnTo>
                <a:lnTo>
                  <a:pt x="8562" y="587241"/>
                </a:lnTo>
                <a:lnTo>
                  <a:pt x="0" y="544830"/>
                </a:lnTo>
                <a:lnTo>
                  <a:pt x="0" y="108965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7542" y="1780308"/>
            <a:ext cx="2624455" cy="43827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primer: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red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(R)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green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(G)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blue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(B)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</a:t>
            </a:r>
            <a:r>
              <a:rPr sz="2400" spc="-10" dirty="0">
                <a:latin typeface="Calibri"/>
                <a:cs typeface="Calibri"/>
              </a:rPr>
              <a:t> sekunder: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magenta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(R+B)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cyan</a:t>
            </a:r>
            <a:r>
              <a:rPr sz="2200" spc="-5" dirty="0">
                <a:latin typeface="Calibri"/>
                <a:cs typeface="Calibri"/>
              </a:rPr>
              <a:t> (G+B)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yellow(R+G)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R+G+B: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putih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000">
              <a:latin typeface="Calibri"/>
              <a:cs typeface="Calibri"/>
            </a:endParaRPr>
          </a:p>
          <a:p>
            <a:pPr marL="85725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Additive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Color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57717" y="2158356"/>
            <a:ext cx="4047767" cy="35143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036668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Three </a:t>
            </a:r>
            <a:r>
              <a:rPr sz="3600" spc="-5" dirty="0"/>
              <a:t>Sensitive</a:t>
            </a:r>
            <a:r>
              <a:rPr sz="3600" spc="-15" dirty="0"/>
              <a:t> </a:t>
            </a:r>
            <a:r>
              <a:rPr sz="3600" dirty="0"/>
              <a:t>Channels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7324090" cy="3693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Three sensitive </a:t>
            </a:r>
            <a:r>
              <a:rPr sz="2400" dirty="0">
                <a:latin typeface="Calibri"/>
                <a:cs typeface="Calibri"/>
              </a:rPr>
              <a:t>channels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b="1" spc="-5" dirty="0">
                <a:latin typeface="Calibri"/>
                <a:cs typeface="Calibri"/>
              </a:rPr>
              <a:t>simply </a:t>
            </a:r>
            <a:r>
              <a:rPr sz="2400" b="1" spc="-10" dirty="0">
                <a:latin typeface="Calibri"/>
                <a:cs typeface="Calibri"/>
              </a:rPr>
              <a:t>additive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ts val="2740"/>
              </a:lnSpc>
            </a:pPr>
            <a:r>
              <a:rPr sz="2400" spc="-5" dirty="0">
                <a:latin typeface="Calibri"/>
                <a:cs typeface="Calibri"/>
              </a:rPr>
              <a:t>response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light.</a:t>
            </a:r>
            <a:endParaRPr sz="2400">
              <a:latin typeface="Calibri"/>
              <a:cs typeface="Calibri"/>
            </a:endParaRPr>
          </a:p>
          <a:p>
            <a:pPr marL="527685" marR="64135" lvl="1" indent="-172720">
              <a:lnSpc>
                <a:spcPts val="2380"/>
              </a:lnSpc>
              <a:spcBef>
                <a:spcPts val="4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20" dirty="0">
                <a:latin typeface="Calibri"/>
                <a:cs typeface="Calibri"/>
              </a:rPr>
              <a:t>Red </a:t>
            </a:r>
            <a:r>
              <a:rPr sz="2200" spc="-10" dirty="0">
                <a:latin typeface="Calibri"/>
                <a:cs typeface="Calibri"/>
              </a:rPr>
              <a:t>dan Green dapat </a:t>
            </a:r>
            <a:r>
              <a:rPr sz="2200" spc="-5" dirty="0">
                <a:latin typeface="Calibri"/>
                <a:cs typeface="Calibri"/>
              </a:rPr>
              <a:t>menjadi </a:t>
            </a:r>
            <a:r>
              <a:rPr sz="2200" spc="-10" dirty="0">
                <a:latin typeface="Calibri"/>
                <a:cs typeface="Calibri"/>
              </a:rPr>
              <a:t>warna kuning, </a:t>
            </a:r>
            <a:r>
              <a:rPr sz="2200" spc="-15" dirty="0">
                <a:latin typeface="Calibri"/>
                <a:cs typeface="Calibri"/>
              </a:rPr>
              <a:t>yang </a:t>
            </a:r>
            <a:r>
              <a:rPr sz="2200" spc="-5" dirty="0">
                <a:latin typeface="Calibri"/>
                <a:cs typeface="Calibri"/>
              </a:rPr>
              <a:t>tidak  </a:t>
            </a:r>
            <a:r>
              <a:rPr sz="2200" spc="-10" dirty="0">
                <a:latin typeface="Calibri"/>
                <a:cs typeface="Calibri"/>
              </a:rPr>
              <a:t>menampilkan unsur </a:t>
            </a:r>
            <a:r>
              <a:rPr sz="2200" spc="-20" dirty="0">
                <a:latin typeface="Calibri"/>
                <a:cs typeface="Calibri"/>
              </a:rPr>
              <a:t>Red </a:t>
            </a:r>
            <a:r>
              <a:rPr sz="2200" spc="-10" dirty="0">
                <a:latin typeface="Calibri"/>
                <a:cs typeface="Calibri"/>
              </a:rPr>
              <a:t>dan Green </a:t>
            </a:r>
            <a:r>
              <a:rPr sz="2200" spc="-5" dirty="0">
                <a:latin typeface="Calibri"/>
                <a:cs typeface="Calibri"/>
              </a:rPr>
              <a:t>(tidak ada </a:t>
            </a:r>
            <a:r>
              <a:rPr sz="2200" spc="-25" dirty="0">
                <a:latin typeface="Calibri"/>
                <a:cs typeface="Calibri"/>
              </a:rPr>
              <a:t>efek </a:t>
            </a:r>
            <a:r>
              <a:rPr sz="2200" spc="-10" dirty="0">
                <a:latin typeface="Calibri"/>
                <a:cs typeface="Calibri"/>
              </a:rPr>
              <a:t>reddish-  green)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2550">
              <a:latin typeface="Calibri"/>
              <a:cs typeface="Calibri"/>
            </a:endParaRPr>
          </a:p>
          <a:p>
            <a:pPr marL="527685" marR="5080" lvl="1" indent="-172720">
              <a:lnSpc>
                <a:spcPts val="2380"/>
              </a:lnSpc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Campuran warna </a:t>
            </a:r>
            <a:r>
              <a:rPr sz="2200" spc="-35" dirty="0">
                <a:latin typeface="Calibri"/>
                <a:cs typeface="Calibri"/>
              </a:rPr>
              <a:t>Yellow </a:t>
            </a:r>
            <a:r>
              <a:rPr sz="2200" spc="-10" dirty="0">
                <a:latin typeface="Calibri"/>
                <a:cs typeface="Calibri"/>
              </a:rPr>
              <a:t>dan </a:t>
            </a:r>
            <a:r>
              <a:rPr sz="2200" spc="-5" dirty="0">
                <a:latin typeface="Calibri"/>
                <a:cs typeface="Calibri"/>
              </a:rPr>
              <a:t>Blue </a:t>
            </a:r>
            <a:r>
              <a:rPr sz="2200" spc="-10" dirty="0">
                <a:latin typeface="Calibri"/>
                <a:cs typeface="Calibri"/>
              </a:rPr>
              <a:t>dapat menghasilkan putih  </a:t>
            </a:r>
            <a:r>
              <a:rPr sz="2200" spc="-15" dirty="0">
                <a:latin typeface="Calibri"/>
                <a:cs typeface="Calibri"/>
              </a:rPr>
              <a:t>yang </a:t>
            </a:r>
            <a:r>
              <a:rPr sz="2200" spc="-5" dirty="0">
                <a:latin typeface="Calibri"/>
                <a:cs typeface="Calibri"/>
              </a:rPr>
              <a:t>tidak </a:t>
            </a:r>
            <a:r>
              <a:rPr sz="2200" spc="-10" dirty="0">
                <a:latin typeface="Calibri"/>
                <a:cs typeface="Calibri"/>
              </a:rPr>
              <a:t>menampilkan unsur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Yellow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550">
              <a:latin typeface="Calibri"/>
              <a:cs typeface="Calibri"/>
            </a:endParaRPr>
          </a:p>
          <a:p>
            <a:pPr marL="527685" marR="340995" lvl="1" indent="-172720">
              <a:lnSpc>
                <a:spcPts val="2380"/>
              </a:lnSpc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Blue dan </a:t>
            </a:r>
            <a:r>
              <a:rPr sz="2200" spc="-35" dirty="0">
                <a:latin typeface="Calibri"/>
                <a:cs typeface="Calibri"/>
              </a:rPr>
              <a:t>Yellow </a:t>
            </a:r>
            <a:r>
              <a:rPr sz="2200" spc="-10" dirty="0">
                <a:latin typeface="Calibri"/>
                <a:cs typeface="Calibri"/>
              </a:rPr>
              <a:t>dapat </a:t>
            </a:r>
            <a:r>
              <a:rPr sz="2200" spc="-15" dirty="0">
                <a:latin typeface="Calibri"/>
                <a:cs typeface="Calibri"/>
              </a:rPr>
              <a:t>bercampur dengan </a:t>
            </a:r>
            <a:r>
              <a:rPr sz="2200" spc="-20" dirty="0">
                <a:latin typeface="Calibri"/>
                <a:cs typeface="Calibri"/>
              </a:rPr>
              <a:t>Red </a:t>
            </a:r>
            <a:r>
              <a:rPr sz="2200" spc="-10" dirty="0">
                <a:latin typeface="Calibri"/>
                <a:cs typeface="Calibri"/>
              </a:rPr>
              <a:t>dan Green  </a:t>
            </a:r>
            <a:r>
              <a:rPr sz="2200" spc="-15" dirty="0">
                <a:latin typeface="Calibri"/>
                <a:cs typeface="Calibri"/>
              </a:rPr>
              <a:t>dengan </a:t>
            </a:r>
            <a:r>
              <a:rPr sz="2200" spc="-20" dirty="0">
                <a:latin typeface="Calibri"/>
                <a:cs typeface="Calibri"/>
              </a:rPr>
              <a:t>tetap </a:t>
            </a:r>
            <a:r>
              <a:rPr sz="2200" spc="-10" dirty="0">
                <a:latin typeface="Calibri"/>
                <a:cs typeface="Calibri"/>
              </a:rPr>
              <a:t>menampilkan unsur warna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kandungannya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20128" y="3229355"/>
            <a:ext cx="829055" cy="419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20128" y="4364735"/>
            <a:ext cx="848868" cy="38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54423" y="5692140"/>
            <a:ext cx="3838955" cy="3627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291011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Color Theory: </a:t>
            </a:r>
            <a:r>
              <a:rPr sz="3600" spc="-10" dirty="0"/>
              <a:t>Opponent </a:t>
            </a:r>
            <a:r>
              <a:rPr sz="3600" spc="-5" dirty="0"/>
              <a:t>Color</a:t>
            </a:r>
            <a:r>
              <a:rPr sz="3600" spc="35" dirty="0"/>
              <a:t> </a:t>
            </a:r>
            <a:r>
              <a:rPr sz="3600" spc="-5" dirty="0"/>
              <a:t>Theory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pc="-15" dirty="0"/>
              <a:t>Ewald </a:t>
            </a:r>
            <a:r>
              <a:rPr dirty="0"/>
              <a:t>Hering </a:t>
            </a:r>
            <a:r>
              <a:rPr spc="-5" dirty="0"/>
              <a:t>(1892) </a:t>
            </a:r>
            <a:r>
              <a:rPr spc="-10" dirty="0"/>
              <a:t>pointed </a:t>
            </a:r>
            <a:r>
              <a:rPr spc="-5" dirty="0"/>
              <a:t>out </a:t>
            </a:r>
            <a:r>
              <a:rPr dirty="0"/>
              <a:t>a </a:t>
            </a:r>
            <a:r>
              <a:rPr spc="-5" dirty="0"/>
              <a:t>specific</a:t>
            </a:r>
            <a:r>
              <a:rPr spc="-70" dirty="0"/>
              <a:t> </a:t>
            </a:r>
            <a:r>
              <a:rPr spc="-10" dirty="0"/>
              <a:t>antagonism</a:t>
            </a:r>
          </a:p>
          <a:p>
            <a:pPr marL="184785">
              <a:lnSpc>
                <a:spcPts val="2740"/>
              </a:lnSpc>
            </a:pPr>
            <a:r>
              <a:rPr spc="-5" dirty="0"/>
              <a:t>between certain</a:t>
            </a:r>
            <a:r>
              <a:rPr spc="-20" dirty="0"/>
              <a:t> </a:t>
            </a:r>
            <a:r>
              <a:rPr spc="-5" dirty="0"/>
              <a:t>hues.</a:t>
            </a:r>
          </a:p>
          <a:p>
            <a:pPr marL="184785" marR="626110" indent="-172720">
              <a:lnSpc>
                <a:spcPts val="2590"/>
              </a:lnSpc>
              <a:spcBef>
                <a:spcPts val="844"/>
              </a:spcBef>
              <a:buFont typeface="Arial"/>
              <a:buChar char="•"/>
              <a:tabLst>
                <a:tab pos="185420" algn="l"/>
              </a:tabLst>
            </a:pPr>
            <a:r>
              <a:rPr dirty="0"/>
              <a:t>Hering </a:t>
            </a:r>
            <a:r>
              <a:rPr spc="-10" dirty="0"/>
              <a:t>proposed </a:t>
            </a:r>
            <a:r>
              <a:rPr spc="-5" dirty="0"/>
              <a:t>that </a:t>
            </a:r>
            <a:r>
              <a:rPr spc="-10" dirty="0"/>
              <a:t>there </a:t>
            </a:r>
            <a:r>
              <a:rPr spc="-15" dirty="0"/>
              <a:t>were </a:t>
            </a:r>
            <a:r>
              <a:rPr spc="-10" dirty="0"/>
              <a:t>three </a:t>
            </a:r>
            <a:r>
              <a:rPr spc="-15" dirty="0"/>
              <a:t>separated  </a:t>
            </a:r>
            <a:r>
              <a:rPr spc="-10" dirty="0"/>
              <a:t>antagonistic (opponent) </a:t>
            </a:r>
            <a:r>
              <a:rPr spc="-5" dirty="0"/>
              <a:t>channels </a:t>
            </a:r>
            <a:r>
              <a:rPr dirty="0"/>
              <a:t>in the</a:t>
            </a:r>
            <a:r>
              <a:rPr spc="-20" dirty="0"/>
              <a:t> </a:t>
            </a:r>
            <a:r>
              <a:rPr spc="-10" dirty="0"/>
              <a:t>retina: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0600" y="1832178"/>
            <a:ext cx="1642110" cy="10826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10" dirty="0">
                <a:latin typeface="Calibri"/>
                <a:cs typeface="Calibri"/>
              </a:rPr>
              <a:t>R-G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channel</a:t>
            </a:r>
            <a:endParaRPr sz="2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10" dirty="0">
                <a:latin typeface="Calibri"/>
                <a:cs typeface="Calibri"/>
              </a:rPr>
              <a:t>Y-B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channel</a:t>
            </a:r>
            <a:endParaRPr sz="2200" dirty="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5" dirty="0">
                <a:latin typeface="Calibri"/>
                <a:cs typeface="Calibri"/>
              </a:rPr>
              <a:t>B-W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channel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59084" y="2105227"/>
            <a:ext cx="158750" cy="536575"/>
          </a:xfrm>
          <a:custGeom>
            <a:avLst/>
            <a:gdLst/>
            <a:ahLst/>
            <a:cxnLst/>
            <a:rect l="l" t="t" r="r" b="b"/>
            <a:pathLst>
              <a:path w="158750" h="536575">
                <a:moveTo>
                  <a:pt x="0" y="0"/>
                </a:moveTo>
                <a:lnTo>
                  <a:pt x="30866" y="1045"/>
                </a:lnTo>
                <a:lnTo>
                  <a:pt x="56054" y="3889"/>
                </a:lnTo>
                <a:lnTo>
                  <a:pt x="73026" y="8090"/>
                </a:lnTo>
                <a:lnTo>
                  <a:pt x="79248" y="13207"/>
                </a:lnTo>
                <a:lnTo>
                  <a:pt x="79248" y="255015"/>
                </a:lnTo>
                <a:lnTo>
                  <a:pt x="85469" y="260133"/>
                </a:lnTo>
                <a:lnTo>
                  <a:pt x="102441" y="264334"/>
                </a:lnTo>
                <a:lnTo>
                  <a:pt x="127629" y="267178"/>
                </a:lnTo>
                <a:lnTo>
                  <a:pt x="158496" y="268223"/>
                </a:lnTo>
                <a:lnTo>
                  <a:pt x="127629" y="269269"/>
                </a:lnTo>
                <a:lnTo>
                  <a:pt x="102441" y="272113"/>
                </a:lnTo>
                <a:lnTo>
                  <a:pt x="85469" y="276314"/>
                </a:lnTo>
                <a:lnTo>
                  <a:pt x="79248" y="281431"/>
                </a:lnTo>
                <a:lnTo>
                  <a:pt x="79248" y="523239"/>
                </a:lnTo>
                <a:lnTo>
                  <a:pt x="73026" y="528357"/>
                </a:lnTo>
                <a:lnTo>
                  <a:pt x="56054" y="532558"/>
                </a:lnTo>
                <a:lnTo>
                  <a:pt x="30866" y="535402"/>
                </a:lnTo>
                <a:lnTo>
                  <a:pt x="0" y="536447"/>
                </a:lnTo>
              </a:path>
            </a:pathLst>
          </a:custGeom>
          <a:ln w="609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66657" y="1858313"/>
            <a:ext cx="1085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/>
                <a:cs typeface="Calibri"/>
              </a:rPr>
              <a:t>Ch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5" dirty="0">
                <a:latin typeface="Calibri"/>
                <a:cs typeface="Calibri"/>
              </a:rPr>
              <a:t>om</a:t>
            </a:r>
            <a:r>
              <a:rPr sz="2000" spc="-3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66657" y="2208096"/>
            <a:ext cx="11506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Luminance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75444" y="2335413"/>
            <a:ext cx="421005" cy="76200"/>
          </a:xfrm>
          <a:custGeom>
            <a:avLst/>
            <a:gdLst/>
            <a:ahLst/>
            <a:cxnLst/>
            <a:rect l="l" t="t" r="r" b="b"/>
            <a:pathLst>
              <a:path w="421005" h="76200">
                <a:moveTo>
                  <a:pt x="344677" y="0"/>
                </a:moveTo>
                <a:lnTo>
                  <a:pt x="344677" y="76199"/>
                </a:lnTo>
                <a:lnTo>
                  <a:pt x="408177" y="44449"/>
                </a:lnTo>
                <a:lnTo>
                  <a:pt x="357377" y="44449"/>
                </a:lnTo>
                <a:lnTo>
                  <a:pt x="357377" y="31749"/>
                </a:lnTo>
                <a:lnTo>
                  <a:pt x="408177" y="31749"/>
                </a:lnTo>
                <a:lnTo>
                  <a:pt x="344677" y="0"/>
                </a:lnTo>
                <a:close/>
              </a:path>
              <a:path w="421005" h="76200">
                <a:moveTo>
                  <a:pt x="344677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44677" y="44449"/>
                </a:lnTo>
                <a:lnTo>
                  <a:pt x="344677" y="31749"/>
                </a:lnTo>
                <a:close/>
              </a:path>
              <a:path w="421005" h="76200">
                <a:moveTo>
                  <a:pt x="408177" y="31749"/>
                </a:moveTo>
                <a:lnTo>
                  <a:pt x="357377" y="31749"/>
                </a:lnTo>
                <a:lnTo>
                  <a:pt x="357377" y="44449"/>
                </a:lnTo>
                <a:lnTo>
                  <a:pt x="408177" y="44449"/>
                </a:lnTo>
                <a:lnTo>
                  <a:pt x="420877" y="38099"/>
                </a:lnTo>
                <a:lnTo>
                  <a:pt x="408177" y="31749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46047" y="5658611"/>
            <a:ext cx="6852284" cy="654050"/>
          </a:xfrm>
          <a:custGeom>
            <a:avLst/>
            <a:gdLst/>
            <a:ahLst/>
            <a:cxnLst/>
            <a:rect l="l" t="t" r="r" b="b"/>
            <a:pathLst>
              <a:path w="6852284" h="654050">
                <a:moveTo>
                  <a:pt x="6742937" y="0"/>
                </a:moveTo>
                <a:lnTo>
                  <a:pt x="108965" y="0"/>
                </a:lnTo>
                <a:lnTo>
                  <a:pt x="66549" y="8562"/>
                </a:lnTo>
                <a:lnTo>
                  <a:pt x="31913" y="31913"/>
                </a:lnTo>
                <a:lnTo>
                  <a:pt x="8562" y="66549"/>
                </a:lnTo>
                <a:lnTo>
                  <a:pt x="0" y="108965"/>
                </a:lnTo>
                <a:lnTo>
                  <a:pt x="0" y="544830"/>
                </a:lnTo>
                <a:lnTo>
                  <a:pt x="8562" y="587241"/>
                </a:lnTo>
                <a:lnTo>
                  <a:pt x="31913" y="621877"/>
                </a:lnTo>
                <a:lnTo>
                  <a:pt x="66549" y="645231"/>
                </a:lnTo>
                <a:lnTo>
                  <a:pt x="108965" y="653796"/>
                </a:lnTo>
                <a:lnTo>
                  <a:pt x="6742937" y="653796"/>
                </a:lnTo>
                <a:lnTo>
                  <a:pt x="6785359" y="645231"/>
                </a:lnTo>
                <a:lnTo>
                  <a:pt x="6819995" y="621877"/>
                </a:lnTo>
                <a:lnTo>
                  <a:pt x="6843343" y="587241"/>
                </a:lnTo>
                <a:lnTo>
                  <a:pt x="6851904" y="544830"/>
                </a:lnTo>
                <a:lnTo>
                  <a:pt x="6851904" y="108965"/>
                </a:lnTo>
                <a:lnTo>
                  <a:pt x="6843343" y="66549"/>
                </a:lnTo>
                <a:lnTo>
                  <a:pt x="6819995" y="31913"/>
                </a:lnTo>
                <a:lnTo>
                  <a:pt x="6785359" y="8562"/>
                </a:lnTo>
                <a:lnTo>
                  <a:pt x="6742937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46047" y="5658611"/>
            <a:ext cx="6852284" cy="654050"/>
          </a:xfrm>
          <a:custGeom>
            <a:avLst/>
            <a:gdLst/>
            <a:ahLst/>
            <a:cxnLst/>
            <a:rect l="l" t="t" r="r" b="b"/>
            <a:pathLst>
              <a:path w="6852284" h="654050">
                <a:moveTo>
                  <a:pt x="0" y="108965"/>
                </a:moveTo>
                <a:lnTo>
                  <a:pt x="8562" y="66549"/>
                </a:lnTo>
                <a:lnTo>
                  <a:pt x="31913" y="31913"/>
                </a:lnTo>
                <a:lnTo>
                  <a:pt x="66549" y="8562"/>
                </a:lnTo>
                <a:lnTo>
                  <a:pt x="108965" y="0"/>
                </a:lnTo>
                <a:lnTo>
                  <a:pt x="6742937" y="0"/>
                </a:lnTo>
                <a:lnTo>
                  <a:pt x="6785359" y="8562"/>
                </a:lnTo>
                <a:lnTo>
                  <a:pt x="6819995" y="31913"/>
                </a:lnTo>
                <a:lnTo>
                  <a:pt x="6843343" y="66549"/>
                </a:lnTo>
                <a:lnTo>
                  <a:pt x="6851904" y="108965"/>
                </a:lnTo>
                <a:lnTo>
                  <a:pt x="6851904" y="544830"/>
                </a:lnTo>
                <a:lnTo>
                  <a:pt x="6843343" y="587241"/>
                </a:lnTo>
                <a:lnTo>
                  <a:pt x="6819995" y="621877"/>
                </a:lnTo>
                <a:lnTo>
                  <a:pt x="6785359" y="645231"/>
                </a:lnTo>
                <a:lnTo>
                  <a:pt x="6742937" y="653796"/>
                </a:lnTo>
                <a:lnTo>
                  <a:pt x="108965" y="653796"/>
                </a:lnTo>
                <a:lnTo>
                  <a:pt x="66549" y="645231"/>
                </a:lnTo>
                <a:lnTo>
                  <a:pt x="31913" y="621877"/>
                </a:lnTo>
                <a:lnTo>
                  <a:pt x="8562" y="587241"/>
                </a:lnTo>
                <a:lnTo>
                  <a:pt x="0" y="544830"/>
                </a:lnTo>
                <a:lnTo>
                  <a:pt x="0" y="108965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0509" y="4588588"/>
            <a:ext cx="7305040" cy="17811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785" marR="5080" indent="-172720">
              <a:lnSpc>
                <a:spcPct val="90100"/>
              </a:lnSpc>
              <a:spcBef>
                <a:spcPts val="38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Boynton </a:t>
            </a:r>
            <a:r>
              <a:rPr sz="2400" dirty="0">
                <a:latin typeface="Calibri"/>
                <a:cs typeface="Calibri"/>
              </a:rPr>
              <a:t>&amp; </a:t>
            </a:r>
            <a:r>
              <a:rPr sz="2400" spc="-10" dirty="0">
                <a:latin typeface="Calibri"/>
                <a:cs typeface="Calibri"/>
              </a:rPr>
              <a:t>Gordon </a:t>
            </a:r>
            <a:r>
              <a:rPr sz="2400" spc="-5" dirty="0">
                <a:latin typeface="Calibri"/>
                <a:cs typeface="Calibri"/>
              </a:rPr>
              <a:t>(1965) </a:t>
            </a:r>
            <a:r>
              <a:rPr sz="2400" spc="-10" dirty="0">
                <a:latin typeface="Calibri"/>
                <a:cs typeface="Calibri"/>
              </a:rPr>
              <a:t>proposed that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5" dirty="0">
                <a:latin typeface="Calibri"/>
                <a:cs typeface="Calibri"/>
              </a:rPr>
              <a:t>only </a:t>
            </a:r>
            <a:r>
              <a:rPr sz="2400" spc="-20" dirty="0">
                <a:latin typeface="Calibri"/>
                <a:cs typeface="Calibri"/>
              </a:rPr>
              <a:t>four  </a:t>
            </a:r>
            <a:r>
              <a:rPr sz="2400" spc="-5" dirty="0">
                <a:latin typeface="Calibri"/>
                <a:cs typeface="Calibri"/>
              </a:rPr>
              <a:t>unique hues </a:t>
            </a:r>
            <a:r>
              <a:rPr sz="2400" spc="-10" dirty="0">
                <a:latin typeface="Calibri"/>
                <a:cs typeface="Calibri"/>
              </a:rPr>
              <a:t>(red, green, yellow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blue),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hues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be  </a:t>
            </a:r>
            <a:r>
              <a:rPr sz="2400" spc="-10" dirty="0">
                <a:latin typeface="Calibri"/>
                <a:cs typeface="Calibri"/>
              </a:rPr>
              <a:t>produced.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Calibri"/>
              <a:cs typeface="Calibri"/>
            </a:endParaRPr>
          </a:p>
          <a:p>
            <a:pPr marL="422909" algn="ctr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Opponent </a:t>
            </a:r>
            <a:r>
              <a:rPr sz="2400" spc="-5" dirty="0">
                <a:latin typeface="Calibri"/>
                <a:cs typeface="Calibri"/>
              </a:rPr>
              <a:t>Theory of Color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Vision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74931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The </a:t>
            </a:r>
            <a:r>
              <a:rPr sz="3600" spc="-10" dirty="0"/>
              <a:t>Opponent </a:t>
            </a:r>
            <a:r>
              <a:rPr sz="3600" spc="-5" dirty="0"/>
              <a:t>Theory of Color Vision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7726045" cy="23609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84785" marR="5080" indent="-172720">
              <a:lnSpc>
                <a:spcPct val="90100"/>
              </a:lnSpc>
              <a:spcBef>
                <a:spcPts val="38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four </a:t>
            </a:r>
            <a:r>
              <a:rPr sz="2400" spc="-5" dirty="0">
                <a:latin typeface="Calibri"/>
                <a:cs typeface="Calibri"/>
              </a:rPr>
              <a:t>unique hues of </a:t>
            </a:r>
            <a:r>
              <a:rPr sz="2400" spc="-10" dirty="0">
                <a:latin typeface="Calibri"/>
                <a:cs typeface="Calibri"/>
              </a:rPr>
              <a:t>red, green, yellow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blue </a:t>
            </a:r>
            <a:r>
              <a:rPr sz="2400" dirty="0">
                <a:latin typeface="Calibri"/>
                <a:cs typeface="Calibri"/>
              </a:rPr>
              <a:t>when  </a:t>
            </a:r>
            <a:r>
              <a:rPr sz="2400" spc="-20" dirty="0">
                <a:latin typeface="Calibri"/>
                <a:cs typeface="Calibri"/>
              </a:rPr>
              <a:t>taken </a:t>
            </a:r>
            <a:r>
              <a:rPr sz="2400" spc="-10" dirty="0">
                <a:latin typeface="Calibri"/>
                <a:cs typeface="Calibri"/>
              </a:rPr>
              <a:t>together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5" dirty="0">
                <a:latin typeface="Calibri"/>
                <a:cs typeface="Calibri"/>
              </a:rPr>
              <a:t>white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black </a:t>
            </a:r>
            <a:r>
              <a:rPr sz="2400" spc="-15" dirty="0">
                <a:latin typeface="Calibri"/>
                <a:cs typeface="Calibri"/>
              </a:rPr>
              <a:t>form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group </a:t>
            </a:r>
            <a:r>
              <a:rPr sz="2400" spc="-5" dirty="0">
                <a:latin typeface="Calibri"/>
                <a:cs typeface="Calibri"/>
              </a:rPr>
              <a:t>of six </a:t>
            </a:r>
            <a:r>
              <a:rPr sz="2400" spc="-10" dirty="0">
                <a:latin typeface="Calibri"/>
                <a:cs typeface="Calibri"/>
              </a:rPr>
              <a:t>basic  color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properties.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ts val="251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20" dirty="0">
                <a:latin typeface="Calibri"/>
                <a:cs typeface="Calibri"/>
              </a:rPr>
              <a:t>Red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green are not </a:t>
            </a:r>
            <a:r>
              <a:rPr sz="2200" spc="-5" dirty="0">
                <a:latin typeface="Calibri"/>
                <a:cs typeface="Calibri"/>
              </a:rPr>
              <a:t>only unique </a:t>
            </a:r>
            <a:r>
              <a:rPr sz="2200" spc="-10" dirty="0">
                <a:latin typeface="Calibri"/>
                <a:cs typeface="Calibri"/>
              </a:rPr>
              <a:t>hues but are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also</a:t>
            </a:r>
            <a:endParaRPr sz="2200">
              <a:latin typeface="Calibri"/>
              <a:cs typeface="Calibri"/>
            </a:endParaRPr>
          </a:p>
          <a:p>
            <a:pPr marL="527685">
              <a:lnSpc>
                <a:spcPts val="2510"/>
              </a:lnSpc>
            </a:pPr>
            <a:r>
              <a:rPr sz="2200" spc="-10" dirty="0">
                <a:latin typeface="Calibri"/>
                <a:cs typeface="Calibri"/>
              </a:rPr>
              <a:t>psychologically opponent color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sensations.</a:t>
            </a:r>
            <a:endParaRPr sz="2200">
              <a:latin typeface="Calibri"/>
              <a:cs typeface="Calibri"/>
            </a:endParaRPr>
          </a:p>
          <a:p>
            <a:pPr marL="527685" marR="69850" lvl="1" indent="-172720">
              <a:lnSpc>
                <a:spcPts val="2380"/>
              </a:lnSpc>
              <a:spcBef>
                <a:spcPts val="4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same </a:t>
            </a:r>
            <a:r>
              <a:rPr sz="2200" spc="-60" dirty="0">
                <a:latin typeface="Calibri"/>
                <a:cs typeface="Calibri"/>
              </a:rPr>
              <a:t>way, </a:t>
            </a:r>
            <a:r>
              <a:rPr sz="2200" spc="-10" dirty="0">
                <a:latin typeface="Calibri"/>
                <a:cs typeface="Calibri"/>
              </a:rPr>
              <a:t>yellow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blue are </a:t>
            </a:r>
            <a:r>
              <a:rPr sz="2200" spc="-5" dirty="0">
                <a:latin typeface="Calibri"/>
                <a:cs typeface="Calibri"/>
              </a:rPr>
              <a:t>an </a:t>
            </a:r>
            <a:r>
              <a:rPr sz="2200" spc="-10" dirty="0">
                <a:latin typeface="Calibri"/>
                <a:cs typeface="Calibri"/>
              </a:rPr>
              <a:t>opponent </a:t>
            </a:r>
            <a:r>
              <a:rPr sz="2200" spc="-5" dirty="0">
                <a:latin typeface="Calibri"/>
                <a:cs typeface="Calibri"/>
              </a:rPr>
              <a:t>pair of </a:t>
            </a:r>
            <a:r>
              <a:rPr sz="2200" spc="-10" dirty="0">
                <a:latin typeface="Calibri"/>
                <a:cs typeface="Calibri"/>
              </a:rPr>
              <a:t>color  perceptions </a:t>
            </a:r>
            <a:r>
              <a:rPr sz="2200" spc="-5" dirty="0">
                <a:latin typeface="Calibri"/>
                <a:cs typeface="Calibri"/>
              </a:rPr>
              <a:t>as </a:t>
            </a:r>
            <a:r>
              <a:rPr sz="2200" spc="-15" dirty="0">
                <a:latin typeface="Calibri"/>
                <a:cs typeface="Calibri"/>
              </a:rPr>
              <a:t>are </a:t>
            </a:r>
            <a:r>
              <a:rPr sz="2200" spc="-10" dirty="0">
                <a:latin typeface="Calibri"/>
                <a:cs typeface="Calibri"/>
              </a:rPr>
              <a:t>white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black.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90088" y="4483608"/>
            <a:ext cx="798830" cy="783590"/>
          </a:xfrm>
          <a:custGeom>
            <a:avLst/>
            <a:gdLst/>
            <a:ahLst/>
            <a:cxnLst/>
            <a:rect l="l" t="t" r="r" b="b"/>
            <a:pathLst>
              <a:path w="798829" h="783589">
                <a:moveTo>
                  <a:pt x="798576" y="0"/>
                </a:moveTo>
                <a:lnTo>
                  <a:pt x="0" y="0"/>
                </a:lnTo>
                <a:lnTo>
                  <a:pt x="0" y="783336"/>
                </a:lnTo>
                <a:lnTo>
                  <a:pt x="798576" y="783336"/>
                </a:lnTo>
                <a:lnTo>
                  <a:pt x="798576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90088" y="4483608"/>
            <a:ext cx="798830" cy="783590"/>
          </a:xfrm>
          <a:custGeom>
            <a:avLst/>
            <a:gdLst/>
            <a:ahLst/>
            <a:cxnLst/>
            <a:rect l="l" t="t" r="r" b="b"/>
            <a:pathLst>
              <a:path w="798829" h="783589">
                <a:moveTo>
                  <a:pt x="0" y="783336"/>
                </a:moveTo>
                <a:lnTo>
                  <a:pt x="798576" y="783336"/>
                </a:lnTo>
                <a:lnTo>
                  <a:pt x="798576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ln w="12192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990088" y="5527547"/>
            <a:ext cx="798830" cy="784860"/>
          </a:xfrm>
          <a:custGeom>
            <a:avLst/>
            <a:gdLst/>
            <a:ahLst/>
            <a:cxnLst/>
            <a:rect l="l" t="t" r="r" b="b"/>
            <a:pathLst>
              <a:path w="798829" h="784860">
                <a:moveTo>
                  <a:pt x="798576" y="0"/>
                </a:moveTo>
                <a:lnTo>
                  <a:pt x="0" y="0"/>
                </a:lnTo>
                <a:lnTo>
                  <a:pt x="0" y="784859"/>
                </a:lnTo>
                <a:lnTo>
                  <a:pt x="798576" y="784859"/>
                </a:lnTo>
                <a:lnTo>
                  <a:pt x="79857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90088" y="5527547"/>
            <a:ext cx="798830" cy="784860"/>
          </a:xfrm>
          <a:custGeom>
            <a:avLst/>
            <a:gdLst/>
            <a:ahLst/>
            <a:cxnLst/>
            <a:rect l="l" t="t" r="r" b="b"/>
            <a:pathLst>
              <a:path w="798829" h="784860">
                <a:moveTo>
                  <a:pt x="0" y="784859"/>
                </a:moveTo>
                <a:lnTo>
                  <a:pt x="798576" y="784859"/>
                </a:lnTo>
                <a:lnTo>
                  <a:pt x="798576" y="0"/>
                </a:lnTo>
                <a:lnTo>
                  <a:pt x="0" y="0"/>
                </a:lnTo>
                <a:lnTo>
                  <a:pt x="0" y="784859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72711" y="4483608"/>
            <a:ext cx="798830" cy="783590"/>
          </a:xfrm>
          <a:custGeom>
            <a:avLst/>
            <a:gdLst/>
            <a:ahLst/>
            <a:cxnLst/>
            <a:rect l="l" t="t" r="r" b="b"/>
            <a:pathLst>
              <a:path w="798829" h="783589">
                <a:moveTo>
                  <a:pt x="798576" y="0"/>
                </a:moveTo>
                <a:lnTo>
                  <a:pt x="0" y="0"/>
                </a:lnTo>
                <a:lnTo>
                  <a:pt x="0" y="783336"/>
                </a:lnTo>
                <a:lnTo>
                  <a:pt x="798576" y="783336"/>
                </a:lnTo>
                <a:lnTo>
                  <a:pt x="798576" y="0"/>
                </a:lnTo>
                <a:close/>
              </a:path>
            </a:pathLst>
          </a:custGeom>
          <a:solidFill>
            <a:srgbClr val="FBEF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72711" y="4483608"/>
            <a:ext cx="798830" cy="783590"/>
          </a:xfrm>
          <a:custGeom>
            <a:avLst/>
            <a:gdLst/>
            <a:ahLst/>
            <a:cxnLst/>
            <a:rect l="l" t="t" r="r" b="b"/>
            <a:pathLst>
              <a:path w="798829" h="783589">
                <a:moveTo>
                  <a:pt x="0" y="783336"/>
                </a:moveTo>
                <a:lnTo>
                  <a:pt x="798576" y="783336"/>
                </a:lnTo>
                <a:lnTo>
                  <a:pt x="798576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ln w="12192">
            <a:solidFill>
              <a:srgbClr val="FBEF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72711" y="5527547"/>
            <a:ext cx="798830" cy="784860"/>
          </a:xfrm>
          <a:custGeom>
            <a:avLst/>
            <a:gdLst/>
            <a:ahLst/>
            <a:cxnLst/>
            <a:rect l="l" t="t" r="r" b="b"/>
            <a:pathLst>
              <a:path w="798829" h="784860">
                <a:moveTo>
                  <a:pt x="798576" y="0"/>
                </a:moveTo>
                <a:lnTo>
                  <a:pt x="0" y="0"/>
                </a:lnTo>
                <a:lnTo>
                  <a:pt x="0" y="784859"/>
                </a:lnTo>
                <a:lnTo>
                  <a:pt x="798576" y="784859"/>
                </a:lnTo>
                <a:lnTo>
                  <a:pt x="79857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72711" y="5527547"/>
            <a:ext cx="798830" cy="784860"/>
          </a:xfrm>
          <a:custGeom>
            <a:avLst/>
            <a:gdLst/>
            <a:ahLst/>
            <a:cxnLst/>
            <a:rect l="l" t="t" r="r" b="b"/>
            <a:pathLst>
              <a:path w="798829" h="784860">
                <a:moveTo>
                  <a:pt x="0" y="784859"/>
                </a:moveTo>
                <a:lnTo>
                  <a:pt x="798576" y="784859"/>
                </a:lnTo>
                <a:lnTo>
                  <a:pt x="798576" y="0"/>
                </a:lnTo>
                <a:lnTo>
                  <a:pt x="0" y="0"/>
                </a:lnTo>
                <a:lnTo>
                  <a:pt x="0" y="784859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78196" y="4483608"/>
            <a:ext cx="797560" cy="783590"/>
          </a:xfrm>
          <a:custGeom>
            <a:avLst/>
            <a:gdLst/>
            <a:ahLst/>
            <a:cxnLst/>
            <a:rect l="l" t="t" r="r" b="b"/>
            <a:pathLst>
              <a:path w="797560" h="783589">
                <a:moveTo>
                  <a:pt x="0" y="783336"/>
                </a:moveTo>
                <a:lnTo>
                  <a:pt x="797051" y="783336"/>
                </a:lnTo>
                <a:lnTo>
                  <a:pt x="797051" y="0"/>
                </a:lnTo>
                <a:lnTo>
                  <a:pt x="0" y="0"/>
                </a:lnTo>
                <a:lnTo>
                  <a:pt x="0" y="78333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78196" y="5527547"/>
            <a:ext cx="797560" cy="784860"/>
          </a:xfrm>
          <a:custGeom>
            <a:avLst/>
            <a:gdLst/>
            <a:ahLst/>
            <a:cxnLst/>
            <a:rect l="l" t="t" r="r" b="b"/>
            <a:pathLst>
              <a:path w="797560" h="784860">
                <a:moveTo>
                  <a:pt x="797051" y="0"/>
                </a:moveTo>
                <a:lnTo>
                  <a:pt x="0" y="0"/>
                </a:lnTo>
                <a:lnTo>
                  <a:pt x="0" y="784859"/>
                </a:lnTo>
                <a:lnTo>
                  <a:pt x="797051" y="784859"/>
                </a:lnTo>
                <a:lnTo>
                  <a:pt x="79705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78196" y="5527547"/>
            <a:ext cx="797560" cy="784860"/>
          </a:xfrm>
          <a:custGeom>
            <a:avLst/>
            <a:gdLst/>
            <a:ahLst/>
            <a:cxnLst/>
            <a:rect l="l" t="t" r="r" b="b"/>
            <a:pathLst>
              <a:path w="797560" h="784860">
                <a:moveTo>
                  <a:pt x="0" y="784859"/>
                </a:moveTo>
                <a:lnTo>
                  <a:pt x="797051" y="784859"/>
                </a:lnTo>
                <a:lnTo>
                  <a:pt x="797051" y="0"/>
                </a:lnTo>
                <a:lnTo>
                  <a:pt x="0" y="0"/>
                </a:lnTo>
                <a:lnTo>
                  <a:pt x="0" y="78485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7414665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61188"/>
            <a:ext cx="4543425" cy="3192780"/>
          </a:xfrm>
          <a:custGeom>
            <a:avLst/>
            <a:gdLst/>
            <a:ahLst/>
            <a:cxnLst/>
            <a:rect l="l" t="t" r="r" b="b"/>
            <a:pathLst>
              <a:path w="4543425" h="3192779">
                <a:moveTo>
                  <a:pt x="4543044" y="0"/>
                </a:moveTo>
                <a:lnTo>
                  <a:pt x="0" y="0"/>
                </a:lnTo>
                <a:lnTo>
                  <a:pt x="0" y="3192780"/>
                </a:lnTo>
                <a:lnTo>
                  <a:pt x="4543044" y="3192780"/>
                </a:lnTo>
                <a:lnTo>
                  <a:pt x="454304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61188"/>
            <a:ext cx="4543425" cy="3192780"/>
          </a:xfrm>
          <a:custGeom>
            <a:avLst/>
            <a:gdLst/>
            <a:ahLst/>
            <a:cxnLst/>
            <a:rect l="l" t="t" r="r" b="b"/>
            <a:pathLst>
              <a:path w="4543425" h="3192779">
                <a:moveTo>
                  <a:pt x="0" y="3192780"/>
                </a:moveTo>
                <a:lnTo>
                  <a:pt x="4543044" y="3192780"/>
                </a:lnTo>
                <a:lnTo>
                  <a:pt x="4543044" y="0"/>
                </a:lnTo>
                <a:lnTo>
                  <a:pt x="0" y="0"/>
                </a:lnTo>
                <a:lnTo>
                  <a:pt x="0" y="3192780"/>
                </a:lnTo>
                <a:close/>
              </a:path>
            </a:pathLst>
          </a:custGeom>
          <a:ln w="12192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3044" y="361188"/>
            <a:ext cx="4601210" cy="3192780"/>
          </a:xfrm>
          <a:custGeom>
            <a:avLst/>
            <a:gdLst/>
            <a:ahLst/>
            <a:cxnLst/>
            <a:rect l="l" t="t" r="r" b="b"/>
            <a:pathLst>
              <a:path w="4601209" h="3192779">
                <a:moveTo>
                  <a:pt x="4600956" y="0"/>
                </a:moveTo>
                <a:lnTo>
                  <a:pt x="0" y="0"/>
                </a:lnTo>
                <a:lnTo>
                  <a:pt x="0" y="3192780"/>
                </a:lnTo>
                <a:lnTo>
                  <a:pt x="4600956" y="3192780"/>
                </a:lnTo>
                <a:lnTo>
                  <a:pt x="4600956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43044" y="361188"/>
            <a:ext cx="4601210" cy="3192780"/>
          </a:xfrm>
          <a:custGeom>
            <a:avLst/>
            <a:gdLst/>
            <a:ahLst/>
            <a:cxnLst/>
            <a:rect l="l" t="t" r="r" b="b"/>
            <a:pathLst>
              <a:path w="4601209" h="3192779">
                <a:moveTo>
                  <a:pt x="0" y="3192780"/>
                </a:moveTo>
                <a:lnTo>
                  <a:pt x="4600956" y="3192780"/>
                </a:lnTo>
                <a:lnTo>
                  <a:pt x="4600956" y="0"/>
                </a:lnTo>
                <a:lnTo>
                  <a:pt x="0" y="0"/>
                </a:lnTo>
                <a:lnTo>
                  <a:pt x="0" y="3192780"/>
                </a:lnTo>
                <a:close/>
              </a:path>
            </a:pathLst>
          </a:custGeom>
          <a:ln w="12192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3570732"/>
            <a:ext cx="4543425" cy="3185160"/>
          </a:xfrm>
          <a:custGeom>
            <a:avLst/>
            <a:gdLst/>
            <a:ahLst/>
            <a:cxnLst/>
            <a:rect l="l" t="t" r="r" b="b"/>
            <a:pathLst>
              <a:path w="4543425" h="3185159">
                <a:moveTo>
                  <a:pt x="4543044" y="0"/>
                </a:moveTo>
                <a:lnTo>
                  <a:pt x="0" y="0"/>
                </a:lnTo>
                <a:lnTo>
                  <a:pt x="0" y="3185160"/>
                </a:lnTo>
                <a:lnTo>
                  <a:pt x="4543044" y="3185160"/>
                </a:lnTo>
                <a:lnTo>
                  <a:pt x="4543044" y="0"/>
                </a:lnTo>
                <a:close/>
              </a:path>
            </a:pathLst>
          </a:custGeom>
          <a:solidFill>
            <a:srgbClr val="00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3570732"/>
            <a:ext cx="4543425" cy="3185160"/>
          </a:xfrm>
          <a:custGeom>
            <a:avLst/>
            <a:gdLst/>
            <a:ahLst/>
            <a:cxnLst/>
            <a:rect l="l" t="t" r="r" b="b"/>
            <a:pathLst>
              <a:path w="4543425" h="3185159">
                <a:moveTo>
                  <a:pt x="0" y="3185160"/>
                </a:moveTo>
                <a:lnTo>
                  <a:pt x="4543044" y="3185160"/>
                </a:lnTo>
                <a:lnTo>
                  <a:pt x="4543044" y="0"/>
                </a:lnTo>
                <a:lnTo>
                  <a:pt x="0" y="0"/>
                </a:lnTo>
                <a:lnTo>
                  <a:pt x="0" y="3185160"/>
                </a:lnTo>
                <a:close/>
              </a:path>
            </a:pathLst>
          </a:custGeom>
          <a:ln w="12192">
            <a:solidFill>
              <a:srgbClr val="00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43044" y="3570732"/>
            <a:ext cx="4601210" cy="3185160"/>
          </a:xfrm>
          <a:custGeom>
            <a:avLst/>
            <a:gdLst/>
            <a:ahLst/>
            <a:cxnLst/>
            <a:rect l="l" t="t" r="r" b="b"/>
            <a:pathLst>
              <a:path w="4601209" h="3185159">
                <a:moveTo>
                  <a:pt x="4600956" y="0"/>
                </a:moveTo>
                <a:lnTo>
                  <a:pt x="0" y="0"/>
                </a:lnTo>
                <a:lnTo>
                  <a:pt x="0" y="3185160"/>
                </a:lnTo>
                <a:lnTo>
                  <a:pt x="4600956" y="3185160"/>
                </a:lnTo>
                <a:lnTo>
                  <a:pt x="46009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43044" y="3570732"/>
            <a:ext cx="4601210" cy="3185160"/>
          </a:xfrm>
          <a:custGeom>
            <a:avLst/>
            <a:gdLst/>
            <a:ahLst/>
            <a:cxnLst/>
            <a:rect l="l" t="t" r="r" b="b"/>
            <a:pathLst>
              <a:path w="4601209" h="3185159">
                <a:moveTo>
                  <a:pt x="0" y="3185160"/>
                </a:moveTo>
                <a:lnTo>
                  <a:pt x="4600956" y="3185160"/>
                </a:lnTo>
                <a:lnTo>
                  <a:pt x="4600956" y="0"/>
                </a:lnTo>
                <a:lnTo>
                  <a:pt x="0" y="0"/>
                </a:lnTo>
                <a:lnTo>
                  <a:pt x="0" y="318516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567370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68807"/>
            <a:ext cx="9144000" cy="6489700"/>
          </a:xfrm>
          <a:custGeom>
            <a:avLst/>
            <a:gdLst/>
            <a:ahLst/>
            <a:cxnLst/>
            <a:rect l="l" t="t" r="r" b="b"/>
            <a:pathLst>
              <a:path w="9144000" h="6489700">
                <a:moveTo>
                  <a:pt x="9144000" y="0"/>
                </a:moveTo>
                <a:lnTo>
                  <a:pt x="0" y="0"/>
                </a:lnTo>
                <a:lnTo>
                  <a:pt x="0" y="6489192"/>
                </a:lnTo>
                <a:lnTo>
                  <a:pt x="9144000" y="6489192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68807"/>
            <a:ext cx="9144000" cy="6489700"/>
          </a:xfrm>
          <a:custGeom>
            <a:avLst/>
            <a:gdLst/>
            <a:ahLst/>
            <a:cxnLst/>
            <a:rect l="l" t="t" r="r" b="b"/>
            <a:pathLst>
              <a:path w="9144000" h="6489700">
                <a:moveTo>
                  <a:pt x="0" y="6489192"/>
                </a:moveTo>
                <a:lnTo>
                  <a:pt x="9144000" y="6489192"/>
                </a:lnTo>
                <a:lnTo>
                  <a:pt x="9144000" y="0"/>
                </a:lnTo>
                <a:lnTo>
                  <a:pt x="0" y="0"/>
                </a:lnTo>
                <a:lnTo>
                  <a:pt x="0" y="6489192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54172" y="11938"/>
            <a:ext cx="2655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Calibri"/>
                <a:cs typeface="Calibri"/>
              </a:rPr>
              <a:t>Complementary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Afterimage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3300307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Serba-Serbi</a:t>
            </a:r>
            <a:r>
              <a:rPr sz="3600" spc="-10" dirty="0"/>
              <a:t> </a:t>
            </a:r>
            <a:r>
              <a:rPr sz="3600" spc="-30" dirty="0"/>
              <a:t>Warna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7591425" cy="188150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Ada </a:t>
            </a:r>
            <a:r>
              <a:rPr sz="2400" spc="-10" dirty="0">
                <a:latin typeface="Calibri"/>
                <a:cs typeface="Calibri"/>
              </a:rPr>
              <a:t>berapa </a:t>
            </a:r>
            <a:r>
              <a:rPr sz="2400" spc="-5" dirty="0">
                <a:latin typeface="Calibri"/>
                <a:cs typeface="Calibri"/>
              </a:rPr>
              <a:t>warna </a:t>
            </a:r>
            <a:r>
              <a:rPr sz="2400" spc="-10" dirty="0">
                <a:latin typeface="Calibri"/>
                <a:cs typeface="Calibri"/>
              </a:rPr>
              <a:t>yang </a:t>
            </a:r>
            <a:r>
              <a:rPr sz="2400" spc="-5" dirty="0">
                <a:latin typeface="Calibri"/>
                <a:cs typeface="Calibri"/>
              </a:rPr>
              <a:t>bisa </a:t>
            </a:r>
            <a:r>
              <a:rPr sz="2400" spc="-10" dirty="0">
                <a:latin typeface="Calibri"/>
                <a:cs typeface="Calibri"/>
              </a:rPr>
              <a:t>dibedakan </a:t>
            </a:r>
            <a:r>
              <a:rPr sz="2400" spc="-5" dirty="0">
                <a:latin typeface="Calibri"/>
                <a:cs typeface="Calibri"/>
              </a:rPr>
              <a:t>oleh </a:t>
            </a:r>
            <a:r>
              <a:rPr sz="2400" spc="-15" dirty="0">
                <a:latin typeface="Calibri"/>
                <a:cs typeface="Calibri"/>
              </a:rPr>
              <a:t>mata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manusia?</a:t>
            </a: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Estimasinya </a:t>
            </a:r>
            <a:r>
              <a:rPr sz="2200" spc="-5" dirty="0">
                <a:latin typeface="Calibri"/>
                <a:cs typeface="Calibri"/>
              </a:rPr>
              <a:t>lebih </a:t>
            </a:r>
            <a:r>
              <a:rPr sz="2200" spc="-10" dirty="0">
                <a:latin typeface="Calibri"/>
                <a:cs typeface="Calibri"/>
              </a:rPr>
              <a:t>dari </a:t>
            </a:r>
            <a:r>
              <a:rPr sz="2200" spc="-5" dirty="0">
                <a:latin typeface="Calibri"/>
                <a:cs typeface="Calibri"/>
              </a:rPr>
              <a:t>1 </a:t>
            </a:r>
            <a:r>
              <a:rPr sz="2200" spc="-15" dirty="0">
                <a:latin typeface="Calibri"/>
                <a:cs typeface="Calibri"/>
              </a:rPr>
              <a:t>juta </a:t>
            </a:r>
            <a:r>
              <a:rPr sz="2200" spc="-10" dirty="0">
                <a:latin typeface="Calibri"/>
                <a:cs typeface="Calibri"/>
              </a:rPr>
              <a:t>warna </a:t>
            </a:r>
            <a:r>
              <a:rPr sz="2200" spc="-15" dirty="0">
                <a:latin typeface="Calibri"/>
                <a:cs typeface="Calibri"/>
              </a:rPr>
              <a:t>yang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unik</a:t>
            </a:r>
            <a:endParaRPr sz="2200" dirty="0">
              <a:latin typeface="Calibri"/>
              <a:cs typeface="Calibri"/>
            </a:endParaRPr>
          </a:p>
          <a:p>
            <a:pPr marL="184785" marR="559435" indent="-172720">
              <a:lnSpc>
                <a:spcPts val="2590"/>
              </a:lnSpc>
              <a:spcBef>
                <a:spcPts val="82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Bagaimana </a:t>
            </a:r>
            <a:r>
              <a:rPr sz="2400" spc="-25" dirty="0">
                <a:latin typeface="Calibri"/>
                <a:cs typeface="Calibri"/>
              </a:rPr>
              <a:t>caranya </a:t>
            </a:r>
            <a:r>
              <a:rPr sz="2400" spc="-10" dirty="0">
                <a:latin typeface="Calibri"/>
                <a:cs typeface="Calibri"/>
              </a:rPr>
              <a:t>kita </a:t>
            </a:r>
            <a:r>
              <a:rPr sz="2400" spc="-5" dirty="0">
                <a:latin typeface="Calibri"/>
                <a:cs typeface="Calibri"/>
              </a:rPr>
              <a:t>bisa saling </a:t>
            </a:r>
            <a:r>
              <a:rPr sz="2400" spc="-15" dirty="0">
                <a:latin typeface="Calibri"/>
                <a:cs typeface="Calibri"/>
              </a:rPr>
              <a:t>mengkomunikasikan  secara </a:t>
            </a:r>
            <a:r>
              <a:rPr sz="2400" spc="-20" dirty="0">
                <a:latin typeface="Calibri"/>
                <a:cs typeface="Calibri"/>
              </a:rPr>
              <a:t>akurat </a:t>
            </a:r>
            <a:r>
              <a:rPr sz="2400" spc="-10" dirty="0">
                <a:latin typeface="Calibri"/>
                <a:cs typeface="Calibri"/>
              </a:rPr>
              <a:t>suatu persepsi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warna?</a:t>
            </a:r>
            <a:endParaRPr sz="2400" dirty="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Sampel. </a:t>
            </a:r>
            <a:r>
              <a:rPr sz="2200" spc="-10" dirty="0">
                <a:latin typeface="Calibri"/>
                <a:cs typeface="Calibri"/>
              </a:rPr>
              <a:t>Selain </a:t>
            </a:r>
            <a:r>
              <a:rPr sz="2200" spc="-5" dirty="0">
                <a:latin typeface="Calibri"/>
                <a:cs typeface="Calibri"/>
              </a:rPr>
              <a:t>itu </a:t>
            </a:r>
            <a:r>
              <a:rPr sz="2200" spc="-25" dirty="0">
                <a:latin typeface="Calibri"/>
                <a:cs typeface="Calibri"/>
              </a:rPr>
              <a:t>kosa kata </a:t>
            </a:r>
            <a:r>
              <a:rPr sz="2200" spc="-5" dirty="0">
                <a:latin typeface="Calibri"/>
                <a:cs typeface="Calibri"/>
              </a:rPr>
              <a:t>manusia </a:t>
            </a:r>
            <a:r>
              <a:rPr sz="2200" spc="-15" dirty="0">
                <a:latin typeface="Calibri"/>
                <a:cs typeface="Calibri"/>
              </a:rPr>
              <a:t>sangat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terbatas.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68067" y="5850635"/>
            <a:ext cx="5008245" cy="652780"/>
          </a:xfrm>
          <a:custGeom>
            <a:avLst/>
            <a:gdLst/>
            <a:ahLst/>
            <a:cxnLst/>
            <a:rect l="l" t="t" r="r" b="b"/>
            <a:pathLst>
              <a:path w="5008245" h="652779">
                <a:moveTo>
                  <a:pt x="4899152" y="0"/>
                </a:moveTo>
                <a:lnTo>
                  <a:pt x="108712" y="0"/>
                </a:lnTo>
                <a:lnTo>
                  <a:pt x="66383" y="8542"/>
                </a:lnTo>
                <a:lnTo>
                  <a:pt x="31829" y="31838"/>
                </a:lnTo>
                <a:lnTo>
                  <a:pt x="8538" y="66394"/>
                </a:lnTo>
                <a:lnTo>
                  <a:pt x="0" y="108711"/>
                </a:lnTo>
                <a:lnTo>
                  <a:pt x="0" y="543559"/>
                </a:lnTo>
                <a:lnTo>
                  <a:pt x="8538" y="585877"/>
                </a:lnTo>
                <a:lnTo>
                  <a:pt x="31829" y="620433"/>
                </a:lnTo>
                <a:lnTo>
                  <a:pt x="66383" y="643729"/>
                </a:lnTo>
                <a:lnTo>
                  <a:pt x="108712" y="652271"/>
                </a:lnTo>
                <a:lnTo>
                  <a:pt x="4899152" y="652271"/>
                </a:lnTo>
                <a:lnTo>
                  <a:pt x="4941480" y="643729"/>
                </a:lnTo>
                <a:lnTo>
                  <a:pt x="4976034" y="620433"/>
                </a:lnTo>
                <a:lnTo>
                  <a:pt x="4999325" y="585877"/>
                </a:lnTo>
                <a:lnTo>
                  <a:pt x="5007863" y="543559"/>
                </a:lnTo>
                <a:lnTo>
                  <a:pt x="5007863" y="108711"/>
                </a:lnTo>
                <a:lnTo>
                  <a:pt x="4999325" y="66394"/>
                </a:lnTo>
                <a:lnTo>
                  <a:pt x="4976034" y="31838"/>
                </a:lnTo>
                <a:lnTo>
                  <a:pt x="4941480" y="8542"/>
                </a:lnTo>
                <a:lnTo>
                  <a:pt x="4899152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68067" y="5850635"/>
            <a:ext cx="5008245" cy="652780"/>
          </a:xfrm>
          <a:custGeom>
            <a:avLst/>
            <a:gdLst/>
            <a:ahLst/>
            <a:cxnLst/>
            <a:rect l="l" t="t" r="r" b="b"/>
            <a:pathLst>
              <a:path w="5008245" h="652779">
                <a:moveTo>
                  <a:pt x="0" y="108711"/>
                </a:moveTo>
                <a:lnTo>
                  <a:pt x="8538" y="66394"/>
                </a:lnTo>
                <a:lnTo>
                  <a:pt x="31829" y="31838"/>
                </a:lnTo>
                <a:lnTo>
                  <a:pt x="66383" y="8542"/>
                </a:lnTo>
                <a:lnTo>
                  <a:pt x="108712" y="0"/>
                </a:lnTo>
                <a:lnTo>
                  <a:pt x="4899152" y="0"/>
                </a:lnTo>
                <a:lnTo>
                  <a:pt x="4941480" y="8542"/>
                </a:lnTo>
                <a:lnTo>
                  <a:pt x="4976034" y="31838"/>
                </a:lnTo>
                <a:lnTo>
                  <a:pt x="4999325" y="66394"/>
                </a:lnTo>
                <a:lnTo>
                  <a:pt x="5007863" y="108711"/>
                </a:lnTo>
                <a:lnTo>
                  <a:pt x="5007863" y="543559"/>
                </a:lnTo>
                <a:lnTo>
                  <a:pt x="4999325" y="585877"/>
                </a:lnTo>
                <a:lnTo>
                  <a:pt x="4976034" y="620433"/>
                </a:lnTo>
                <a:lnTo>
                  <a:pt x="4941480" y="643729"/>
                </a:lnTo>
                <a:lnTo>
                  <a:pt x="4899152" y="652271"/>
                </a:lnTo>
                <a:lnTo>
                  <a:pt x="108712" y="652271"/>
                </a:lnTo>
                <a:lnTo>
                  <a:pt x="66383" y="643729"/>
                </a:lnTo>
                <a:lnTo>
                  <a:pt x="31829" y="620433"/>
                </a:lnTo>
                <a:lnTo>
                  <a:pt x="8538" y="585877"/>
                </a:lnTo>
                <a:lnTo>
                  <a:pt x="0" y="543559"/>
                </a:lnTo>
                <a:lnTo>
                  <a:pt x="0" y="108711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7542" y="4562094"/>
            <a:ext cx="7706359" cy="1792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84785" marR="5080" indent="-17272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Kita </a:t>
            </a:r>
            <a:r>
              <a:rPr sz="2400" spc="-5" dirty="0">
                <a:latin typeface="Calibri"/>
                <a:cs typeface="Calibri"/>
              </a:rPr>
              <a:t>butuh </a:t>
            </a:r>
            <a:r>
              <a:rPr sz="2400" spc="-10" dirty="0">
                <a:latin typeface="Calibri"/>
                <a:cs typeface="Calibri"/>
              </a:rPr>
              <a:t>suatu </a:t>
            </a:r>
            <a:r>
              <a:rPr sz="2400" spc="-15" dirty="0">
                <a:latin typeface="Calibri"/>
                <a:cs typeface="Calibri"/>
              </a:rPr>
              <a:t>sistem </a:t>
            </a:r>
            <a:r>
              <a:rPr sz="2400" spc="-10" dirty="0">
                <a:latin typeface="Calibri"/>
                <a:cs typeface="Calibri"/>
              </a:rPr>
              <a:t>untuk </a:t>
            </a:r>
            <a:r>
              <a:rPr sz="2400" spc="-5" dirty="0">
                <a:latin typeface="Calibri"/>
                <a:cs typeface="Calibri"/>
              </a:rPr>
              <a:t>mengurutkan warna-warna  dan </a:t>
            </a:r>
            <a:r>
              <a:rPr sz="2400" spc="-10" dirty="0">
                <a:latin typeface="Calibri"/>
                <a:cs typeface="Calibri"/>
              </a:rPr>
              <a:t>menfasilitasi spesifikasi </a:t>
            </a:r>
            <a:r>
              <a:rPr sz="2400" spc="-5" dirty="0">
                <a:latin typeface="Calibri"/>
                <a:cs typeface="Calibri"/>
              </a:rPr>
              <a:t>warna </a:t>
            </a:r>
            <a:r>
              <a:rPr sz="2400" spc="-10" dirty="0">
                <a:latin typeface="Calibri"/>
                <a:cs typeface="Calibri"/>
              </a:rPr>
              <a:t>berdasarkan attribut yang  disepakati.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Calibri"/>
              <a:cs typeface="Calibri"/>
            </a:endParaRPr>
          </a:p>
          <a:p>
            <a:pPr marL="22225" algn="ctr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Color </a:t>
            </a:r>
            <a:r>
              <a:rPr sz="2400" spc="-15" dirty="0">
                <a:latin typeface="Calibri"/>
                <a:cs typeface="Calibri"/>
              </a:rPr>
              <a:t>Order Systems </a:t>
            </a:r>
            <a:r>
              <a:rPr sz="2400" dirty="0">
                <a:latin typeface="Calibri"/>
                <a:cs typeface="Calibri"/>
              </a:rPr>
              <a:t>/ </a:t>
            </a:r>
            <a:r>
              <a:rPr sz="2400" spc="-10" dirty="0">
                <a:latin typeface="Calibri"/>
                <a:cs typeface="Calibri"/>
              </a:rPr>
              <a:t>Color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8169320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0" dirty="0"/>
              <a:t>XYZ </a:t>
            </a:r>
            <a:r>
              <a:rPr sz="3600" spc="-30" dirty="0"/>
              <a:t>Tristimulus</a:t>
            </a:r>
            <a:r>
              <a:rPr sz="3600" spc="5" dirty="0"/>
              <a:t> </a:t>
            </a:r>
            <a:r>
              <a:rPr sz="3600" spc="-40" dirty="0"/>
              <a:t>Values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7466965" cy="2242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396240" indent="-185420">
              <a:lnSpc>
                <a:spcPts val="274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3 </a:t>
            </a:r>
            <a:r>
              <a:rPr sz="2400" spc="-5" dirty="0">
                <a:latin typeface="Calibri"/>
                <a:cs typeface="Calibri"/>
              </a:rPr>
              <a:t>buah warna (R,G, </a:t>
            </a:r>
            <a:r>
              <a:rPr sz="2400" dirty="0">
                <a:latin typeface="Calibri"/>
                <a:cs typeface="Calibri"/>
              </a:rPr>
              <a:t>and B) </a:t>
            </a:r>
            <a:r>
              <a:rPr sz="2400" spc="-10" dirty="0">
                <a:latin typeface="Calibri"/>
                <a:cs typeface="Calibri"/>
              </a:rPr>
              <a:t>yang </a:t>
            </a:r>
            <a:r>
              <a:rPr sz="2400" spc="-5" dirty="0">
                <a:latin typeface="Calibri"/>
                <a:cs typeface="Calibri"/>
              </a:rPr>
              <a:t>diterima di </a:t>
            </a:r>
            <a:r>
              <a:rPr sz="2400" spc="-10" dirty="0">
                <a:latin typeface="Calibri"/>
                <a:cs typeface="Calibri"/>
              </a:rPr>
              <a:t>retina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dapat</a:t>
            </a:r>
            <a:endParaRPr sz="2400">
              <a:latin typeface="Calibri"/>
              <a:cs typeface="Calibri"/>
            </a:endParaRPr>
          </a:p>
          <a:p>
            <a:pPr marR="22860" algn="ctr">
              <a:lnSpc>
                <a:spcPts val="2740"/>
              </a:lnSpc>
            </a:pPr>
            <a:r>
              <a:rPr sz="2400" spc="-15" dirty="0">
                <a:latin typeface="Calibri"/>
                <a:cs typeface="Calibri"/>
              </a:rPr>
              <a:t>dikombinasikan </a:t>
            </a:r>
            <a:r>
              <a:rPr sz="2400" dirty="0">
                <a:latin typeface="Calibri"/>
                <a:cs typeface="Calibri"/>
              </a:rPr>
              <a:t>menjadi </a:t>
            </a:r>
            <a:r>
              <a:rPr sz="2400" spc="-5" dirty="0">
                <a:latin typeface="Calibri"/>
                <a:cs typeface="Calibri"/>
              </a:rPr>
              <a:t>warna </a:t>
            </a:r>
            <a:r>
              <a:rPr sz="2400" dirty="0">
                <a:latin typeface="Calibri"/>
                <a:cs typeface="Calibri"/>
              </a:rPr>
              <a:t>apa </a:t>
            </a:r>
            <a:r>
              <a:rPr sz="2400" spc="-5" dirty="0">
                <a:latin typeface="Calibri"/>
                <a:cs typeface="Calibri"/>
              </a:rPr>
              <a:t>saja dalam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spectrum.</a:t>
            </a:r>
            <a:endParaRPr sz="2400">
              <a:latin typeface="Calibri"/>
              <a:cs typeface="Calibri"/>
            </a:endParaRPr>
          </a:p>
          <a:p>
            <a:pPr marL="184785" marR="5080" indent="-185420">
              <a:lnSpc>
                <a:spcPts val="2735"/>
              </a:lnSpc>
              <a:spcBef>
                <a:spcPts val="515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Jumlah </a:t>
            </a:r>
            <a:r>
              <a:rPr sz="2400" spc="-10" dirty="0">
                <a:latin typeface="Calibri"/>
                <a:cs typeface="Calibri"/>
              </a:rPr>
              <a:t>warna </a:t>
            </a:r>
            <a:r>
              <a:rPr sz="2400" dirty="0">
                <a:latin typeface="Calibri"/>
                <a:cs typeface="Calibri"/>
              </a:rPr>
              <a:t>R, G, </a:t>
            </a:r>
            <a:r>
              <a:rPr sz="2400" spc="-5" dirty="0">
                <a:latin typeface="Calibri"/>
                <a:cs typeface="Calibri"/>
              </a:rPr>
              <a:t>dan </a:t>
            </a:r>
            <a:r>
              <a:rPr sz="2400" dirty="0">
                <a:latin typeface="Calibri"/>
                <a:cs typeface="Calibri"/>
              </a:rPr>
              <a:t>B </a:t>
            </a:r>
            <a:r>
              <a:rPr sz="2400" spc="-10" dirty="0">
                <a:latin typeface="Calibri"/>
                <a:cs typeface="Calibri"/>
              </a:rPr>
              <a:t>yang dibutuhkan </a:t>
            </a:r>
            <a:r>
              <a:rPr sz="2400" spc="-5" dirty="0">
                <a:latin typeface="Calibri"/>
                <a:cs typeface="Calibri"/>
              </a:rPr>
              <a:t>disebut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sebagai</a:t>
            </a:r>
            <a:endParaRPr sz="2400">
              <a:latin typeface="Calibri"/>
              <a:cs typeface="Calibri"/>
            </a:endParaRPr>
          </a:p>
          <a:p>
            <a:pPr marR="4157345" algn="ctr">
              <a:lnSpc>
                <a:spcPts val="2735"/>
              </a:lnSpc>
            </a:pPr>
            <a:r>
              <a:rPr sz="2400" i="1" spc="-5" dirty="0">
                <a:latin typeface="Calibri"/>
                <a:cs typeface="Calibri"/>
              </a:rPr>
              <a:t>tristimulus </a:t>
            </a:r>
            <a:r>
              <a:rPr sz="2400" i="1" dirty="0">
                <a:latin typeface="Calibri"/>
                <a:cs typeface="Calibri"/>
              </a:rPr>
              <a:t>values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X,Y,Z.</a:t>
            </a:r>
            <a:endParaRPr sz="2400">
              <a:latin typeface="Calibri"/>
              <a:cs typeface="Calibri"/>
            </a:endParaRPr>
          </a:p>
          <a:p>
            <a:pPr marL="184785" marR="5080" indent="-172720">
              <a:lnSpc>
                <a:spcPts val="2590"/>
              </a:lnSpc>
              <a:spcBef>
                <a:spcPts val="85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 </a:t>
            </a:r>
            <a:r>
              <a:rPr sz="2400" dirty="0">
                <a:latin typeface="Calibri"/>
                <a:cs typeface="Calibri"/>
              </a:rPr>
              <a:t>tsb lalu </a:t>
            </a:r>
            <a:r>
              <a:rPr sz="2400" spc="-5" dirty="0">
                <a:latin typeface="Calibri"/>
                <a:cs typeface="Calibri"/>
              </a:rPr>
              <a:t>bisa </a:t>
            </a:r>
            <a:r>
              <a:rPr sz="2400" spc="-20" dirty="0">
                <a:latin typeface="Calibri"/>
                <a:cs typeface="Calibri"/>
              </a:rPr>
              <a:t>dinyatakan </a:t>
            </a:r>
            <a:r>
              <a:rPr sz="2400" spc="-15" dirty="0">
                <a:latin typeface="Calibri"/>
                <a:cs typeface="Calibri"/>
              </a:rPr>
              <a:t>dengan </a:t>
            </a:r>
            <a:r>
              <a:rPr sz="2400" i="1" spc="-5" dirty="0">
                <a:latin typeface="Calibri"/>
                <a:cs typeface="Calibri"/>
              </a:rPr>
              <a:t>trichromatic </a:t>
            </a:r>
            <a:r>
              <a:rPr sz="2400" i="1" dirty="0">
                <a:latin typeface="Calibri"/>
                <a:cs typeface="Calibri"/>
              </a:rPr>
              <a:t>values:  </a:t>
            </a:r>
            <a:r>
              <a:rPr sz="2400" i="1" spc="-30" dirty="0">
                <a:latin typeface="Calibri"/>
                <a:cs typeface="Calibri"/>
              </a:rPr>
              <a:t>z,y,z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442" y="5235466"/>
            <a:ext cx="4435475" cy="72961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29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10" dirty="0">
                <a:latin typeface="Calibri"/>
                <a:cs typeface="Calibri"/>
              </a:rPr>
              <a:t>Note that </a:t>
            </a:r>
            <a:r>
              <a:rPr sz="2200" spc="-5" dirty="0">
                <a:latin typeface="Cambria Math"/>
                <a:cs typeface="Cambria Math"/>
              </a:rPr>
              <a:t>𝑥 + 𝑦 + 𝑧 =</a:t>
            </a:r>
            <a:r>
              <a:rPr sz="2200" spc="450" dirty="0">
                <a:latin typeface="Cambria Math"/>
                <a:cs typeface="Cambria Math"/>
              </a:rPr>
              <a:t> </a:t>
            </a:r>
            <a:r>
              <a:rPr sz="2200" spc="-5" dirty="0">
                <a:latin typeface="Cambria Math"/>
                <a:cs typeface="Cambria Math"/>
              </a:rPr>
              <a:t>1</a:t>
            </a:r>
            <a:endParaRPr sz="2200">
              <a:latin typeface="Cambria Math"/>
              <a:cs typeface="Cambria Math"/>
            </a:endParaRPr>
          </a:p>
          <a:p>
            <a:pPr marL="184785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185420" algn="l"/>
              </a:tabLst>
            </a:pPr>
            <a:r>
              <a:rPr sz="2200" spc="-10" dirty="0">
                <a:latin typeface="Calibri"/>
                <a:cs typeface="Calibri"/>
              </a:rPr>
              <a:t>Using </a:t>
            </a:r>
            <a:r>
              <a:rPr sz="2200" spc="-5" dirty="0">
                <a:latin typeface="Calibri"/>
                <a:cs typeface="Calibri"/>
              </a:rPr>
              <a:t>x and </a:t>
            </a:r>
            <a:r>
              <a:rPr sz="2200" spc="-85" dirty="0">
                <a:latin typeface="Calibri"/>
                <a:cs typeface="Calibri"/>
              </a:rPr>
              <a:t>y, </a:t>
            </a:r>
            <a:r>
              <a:rPr sz="2200" spc="-15" dirty="0">
                <a:latin typeface="Calibri"/>
                <a:cs typeface="Calibri"/>
              </a:rPr>
              <a:t>we can </a:t>
            </a:r>
            <a:r>
              <a:rPr sz="2200" spc="-10" dirty="0">
                <a:latin typeface="Calibri"/>
                <a:cs typeface="Calibri"/>
              </a:rPr>
              <a:t>plot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colors..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36497" y="4595876"/>
            <a:ext cx="1309370" cy="20320"/>
          </a:xfrm>
          <a:custGeom>
            <a:avLst/>
            <a:gdLst/>
            <a:ahLst/>
            <a:cxnLst/>
            <a:rect l="l" t="t" r="r" b="b"/>
            <a:pathLst>
              <a:path w="1309370" h="20320">
                <a:moveTo>
                  <a:pt x="1309116" y="0"/>
                </a:moveTo>
                <a:lnTo>
                  <a:pt x="0" y="0"/>
                </a:lnTo>
                <a:lnTo>
                  <a:pt x="0" y="19812"/>
                </a:lnTo>
                <a:lnTo>
                  <a:pt x="1309116" y="19812"/>
                </a:lnTo>
                <a:lnTo>
                  <a:pt x="1309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6894" y="4145407"/>
            <a:ext cx="189357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1570">
              <a:lnSpc>
                <a:spcPts val="234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1710"/>
              </a:lnSpc>
            </a:pPr>
            <a:r>
              <a:rPr sz="2400" dirty="0">
                <a:latin typeface="Cambria Math"/>
                <a:cs typeface="Cambria Math"/>
              </a:rPr>
              <a:t>𝑥</a:t>
            </a:r>
            <a:r>
              <a:rPr sz="2400" spc="18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579755">
              <a:lnSpc>
                <a:spcPts val="2245"/>
              </a:lnSpc>
            </a:pPr>
            <a:r>
              <a:rPr sz="2400" dirty="0">
                <a:latin typeface="Cambria Math"/>
                <a:cs typeface="Cambria Math"/>
              </a:rPr>
              <a:t>𝑋 + 𝑌 +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𝑍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98569" y="4595876"/>
            <a:ext cx="1309370" cy="20320"/>
          </a:xfrm>
          <a:custGeom>
            <a:avLst/>
            <a:gdLst/>
            <a:ahLst/>
            <a:cxnLst/>
            <a:rect l="l" t="t" r="r" b="b"/>
            <a:pathLst>
              <a:path w="1309370" h="20320">
                <a:moveTo>
                  <a:pt x="1309115" y="0"/>
                </a:moveTo>
                <a:lnTo>
                  <a:pt x="0" y="0"/>
                </a:lnTo>
                <a:lnTo>
                  <a:pt x="0" y="19812"/>
                </a:lnTo>
                <a:lnTo>
                  <a:pt x="1309115" y="19812"/>
                </a:lnTo>
                <a:lnTo>
                  <a:pt x="130911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15003" y="4145407"/>
            <a:ext cx="189992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1730">
              <a:lnSpc>
                <a:spcPts val="234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1710"/>
              </a:lnSpc>
            </a:pP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17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584200">
              <a:lnSpc>
                <a:spcPts val="2245"/>
              </a:lnSpc>
            </a:pPr>
            <a:r>
              <a:rPr sz="2400" dirty="0">
                <a:latin typeface="Cambria Math"/>
                <a:cs typeface="Cambria Math"/>
              </a:rPr>
              <a:t>𝑋 + 𝑌 +</a:t>
            </a:r>
            <a:r>
              <a:rPr sz="2400" spc="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𝑍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50861" y="4582033"/>
            <a:ext cx="1309370" cy="20320"/>
          </a:xfrm>
          <a:custGeom>
            <a:avLst/>
            <a:gdLst/>
            <a:ahLst/>
            <a:cxnLst/>
            <a:rect l="l" t="t" r="r" b="b"/>
            <a:pathLst>
              <a:path w="1309370" h="20320">
                <a:moveTo>
                  <a:pt x="1309116" y="0"/>
                </a:moveTo>
                <a:lnTo>
                  <a:pt x="0" y="0"/>
                </a:lnTo>
                <a:lnTo>
                  <a:pt x="0" y="19812"/>
                </a:lnTo>
                <a:lnTo>
                  <a:pt x="1309116" y="19812"/>
                </a:lnTo>
                <a:lnTo>
                  <a:pt x="1309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90538" y="4131691"/>
            <a:ext cx="187515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0775">
              <a:lnSpc>
                <a:spcPts val="234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𝑍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1710"/>
              </a:lnSpc>
            </a:pPr>
            <a:r>
              <a:rPr sz="2400" dirty="0">
                <a:latin typeface="Cambria Math"/>
                <a:cs typeface="Cambria Math"/>
              </a:rPr>
              <a:t>𝑧</a:t>
            </a:r>
            <a:r>
              <a:rPr sz="2400" spc="16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  <a:p>
            <a:pPr marL="561340">
              <a:lnSpc>
                <a:spcPts val="2245"/>
              </a:lnSpc>
            </a:pPr>
            <a:r>
              <a:rPr sz="2400" dirty="0">
                <a:latin typeface="Cambria Math"/>
                <a:cs typeface="Cambria Math"/>
              </a:rPr>
              <a:t>𝑋 + 𝑌 +</a:t>
            </a:r>
            <a:r>
              <a:rPr sz="2400" spc="1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𝑍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664610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CIE </a:t>
            </a:r>
            <a:r>
              <a:rPr sz="3600" spc="-15" dirty="0"/>
              <a:t>Chromaticity</a:t>
            </a:r>
            <a:r>
              <a:rPr sz="3600" spc="15" dirty="0"/>
              <a:t> </a:t>
            </a:r>
            <a:r>
              <a:rPr sz="3600" spc="-15" dirty="0"/>
              <a:t>Diagram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215" y="6276543"/>
            <a:ext cx="8561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212121"/>
                </a:solidFill>
                <a:latin typeface="Arial"/>
                <a:cs typeface="Arial"/>
              </a:rPr>
              <a:t>CIE</a:t>
            </a: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: Commission internationale de l'éclairage (International Commission on Illumination) is</a:t>
            </a:r>
            <a:r>
              <a:rPr sz="1600" spc="16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86939" y="1937714"/>
            <a:ext cx="4544202" cy="4342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3215" y="6533487"/>
            <a:ext cx="6282690" cy="252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64"/>
              </a:lnSpc>
            </a:pP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international authority on </a:t>
            </a:r>
            <a:r>
              <a:rPr sz="1600" u="heavy" spc="-5" dirty="0">
                <a:solidFill>
                  <a:srgbClr val="8E57B6"/>
                </a:solidFill>
                <a:uFill>
                  <a:solidFill>
                    <a:srgbClr val="8E57B6"/>
                  </a:solidFill>
                </a:uFill>
                <a:latin typeface="Arial"/>
                <a:cs typeface="Arial"/>
                <a:hlinkClick r:id="rId3"/>
              </a:rPr>
              <a:t>light</a:t>
            </a: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1600" u="heavy" spc="-5" dirty="0">
                <a:solidFill>
                  <a:srgbClr val="8E57B6"/>
                </a:solidFill>
                <a:uFill>
                  <a:solidFill>
                    <a:srgbClr val="8E57B6"/>
                  </a:solidFill>
                </a:uFill>
                <a:latin typeface="Arial"/>
                <a:cs typeface="Arial"/>
                <a:hlinkClick r:id="rId4"/>
              </a:rPr>
              <a:t>illumination</a:t>
            </a: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1600" u="heavy" spc="-15" dirty="0">
                <a:solidFill>
                  <a:srgbClr val="8E57B6"/>
                </a:solidFill>
                <a:uFill>
                  <a:solidFill>
                    <a:srgbClr val="8E57B6"/>
                  </a:solidFill>
                </a:uFill>
                <a:latin typeface="Arial"/>
                <a:cs typeface="Arial"/>
                <a:hlinkClick r:id="rId5"/>
              </a:rPr>
              <a:t>colour</a:t>
            </a:r>
            <a:r>
              <a:rPr sz="1600" spc="-15" dirty="0">
                <a:solidFill>
                  <a:srgbClr val="212121"/>
                </a:solidFill>
                <a:latin typeface="Arial"/>
                <a:cs typeface="Arial"/>
              </a:rPr>
              <a:t>, </a:t>
            </a: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and </a:t>
            </a:r>
            <a:r>
              <a:rPr sz="1600" u="heavy" spc="-5" dirty="0">
                <a:solidFill>
                  <a:srgbClr val="8E57B6"/>
                </a:solidFill>
                <a:uFill>
                  <a:solidFill>
                    <a:srgbClr val="8E57B6"/>
                  </a:solidFill>
                </a:uFill>
                <a:latin typeface="Arial"/>
                <a:cs typeface="Arial"/>
                <a:hlinkClick r:id="rId6"/>
              </a:rPr>
              <a:t>colour</a:t>
            </a:r>
            <a:r>
              <a:rPr sz="1600" u="heavy" spc="145" dirty="0">
                <a:solidFill>
                  <a:srgbClr val="8E57B6"/>
                </a:solidFill>
                <a:uFill>
                  <a:solidFill>
                    <a:srgbClr val="8E57B6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sz="1600" u="heavy" spc="-5" dirty="0">
                <a:solidFill>
                  <a:srgbClr val="8E57B6"/>
                </a:solidFill>
                <a:uFill>
                  <a:solidFill>
                    <a:srgbClr val="8E57B6"/>
                  </a:solidFill>
                </a:uFill>
                <a:latin typeface="Arial"/>
                <a:cs typeface="Arial"/>
                <a:hlinkClick r:id="rId6"/>
              </a:rPr>
              <a:t>spaces</a:t>
            </a:r>
            <a:r>
              <a:rPr sz="1600" spc="-5" dirty="0">
                <a:solidFill>
                  <a:srgbClr val="212121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5197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6939" y="1937714"/>
            <a:ext cx="4544202" cy="4342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186939" y="1865376"/>
            <a:ext cx="4530852" cy="45598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What </a:t>
            </a:r>
            <a:r>
              <a:rPr sz="3600" spc="-5" dirty="0"/>
              <a:t>about </a:t>
            </a:r>
            <a:r>
              <a:rPr sz="3600" spc="-10" dirty="0"/>
              <a:t>digital</a:t>
            </a:r>
            <a:r>
              <a:rPr sz="3600" spc="60" dirty="0"/>
              <a:t> </a:t>
            </a:r>
            <a:r>
              <a:rPr sz="3600" spc="-20" dirty="0"/>
              <a:t>monitors?</a:t>
            </a:r>
            <a:endParaRPr sz="3600"/>
          </a:p>
        </p:txBody>
      </p:sp>
      <p:sp>
        <p:nvSpPr>
          <p:cNvPr id="5" name="object 5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2142" y="6365240"/>
            <a:ext cx="6579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350" spc="-569" baseline="49382" dirty="0">
                <a:solidFill>
                  <a:srgbClr val="888888"/>
                </a:solidFill>
                <a:latin typeface="Calibri"/>
                <a:cs typeface="Calibri"/>
              </a:rPr>
              <a:t>L</a:t>
            </a:r>
            <a:r>
              <a:rPr sz="2400" spc="-459" dirty="0">
                <a:latin typeface="Arial"/>
                <a:cs typeface="Arial"/>
              </a:rPr>
              <a:t>•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k</a:t>
            </a:r>
            <a:r>
              <a:rPr sz="1350" spc="-337" baseline="49382" dirty="0">
                <a:solidFill>
                  <a:srgbClr val="888888"/>
                </a:solidFill>
                <a:latin typeface="Calibri"/>
                <a:cs typeface="Calibri"/>
              </a:rPr>
              <a:t>s</a:t>
            </a:r>
            <a:r>
              <a:rPr sz="2400" spc="-1065" dirty="0">
                <a:latin typeface="Calibri"/>
                <a:cs typeface="Calibri"/>
              </a:rPr>
              <a:t>C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m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350" spc="-247" baseline="49382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2400" spc="-1105" dirty="0">
                <a:latin typeface="Calibri"/>
                <a:cs typeface="Calibri"/>
              </a:rPr>
              <a:t>o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22" baseline="4938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350" spc="-15" baseline="49382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2400" spc="-545" dirty="0">
                <a:latin typeface="Calibri"/>
                <a:cs typeface="Calibri"/>
              </a:rPr>
              <a:t>l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555" baseline="49382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2400" spc="-905" dirty="0">
                <a:latin typeface="Calibri"/>
                <a:cs typeface="Calibri"/>
              </a:rPr>
              <a:t>o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15" baseline="49382" dirty="0">
                <a:solidFill>
                  <a:srgbClr val="888888"/>
                </a:solidFill>
                <a:latin typeface="Calibri"/>
                <a:cs typeface="Calibri"/>
              </a:rPr>
              <a:t>d</a:t>
            </a:r>
            <a:r>
              <a:rPr sz="1350" spc="-307" baseline="49382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2400" spc="-640" dirty="0">
                <a:latin typeface="Calibri"/>
                <a:cs typeface="Calibri"/>
              </a:rPr>
              <a:t>r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465" baseline="49382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2400" spc="-640" dirty="0">
                <a:latin typeface="Calibri"/>
                <a:cs typeface="Calibri"/>
              </a:rPr>
              <a:t>s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ti  </a:t>
            </a:r>
            <a:r>
              <a:rPr sz="1350" spc="60" baseline="4938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</a:t>
            </a:r>
            <a:r>
              <a:rPr sz="2400" spc="-25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xi</a:t>
            </a:r>
            <a:r>
              <a:rPr sz="2400" spc="-2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 Math"/>
                <a:cs typeface="Cambria Math"/>
              </a:rPr>
              <a:t>≠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585" dirty="0">
                <a:latin typeface="Calibri"/>
                <a:cs typeface="Calibri"/>
              </a:rPr>
              <a:t>s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P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sz="1350" spc="-419" baseline="49382" dirty="0">
                <a:solidFill>
                  <a:srgbClr val="888888"/>
                </a:solidFill>
                <a:latin typeface="Calibri"/>
                <a:cs typeface="Calibri"/>
              </a:rPr>
              <a:t>n</a:t>
            </a:r>
            <a:r>
              <a:rPr sz="2400" spc="-1445" dirty="0">
                <a:latin typeface="Calibri"/>
                <a:cs typeface="Calibri"/>
              </a:rPr>
              <a:t>w</a:t>
            </a:r>
            <a:r>
              <a:rPr sz="1350" spc="-15" baseline="49382" dirty="0">
                <a:solidFill>
                  <a:srgbClr val="888888"/>
                </a:solidFill>
                <a:latin typeface="Calibri"/>
                <a:cs typeface="Calibri"/>
              </a:rPr>
              <a:t>g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l</a:t>
            </a:r>
            <a:r>
              <a:rPr sz="1350" spc="-179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2400" spc="-1080" dirty="0">
                <a:latin typeface="Calibri"/>
                <a:cs typeface="Calibri"/>
              </a:rPr>
              <a:t>e</a:t>
            </a:r>
            <a:r>
              <a:rPr sz="1350" spc="-15" baseline="49382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an</a:t>
            </a:r>
            <a:r>
              <a:rPr sz="1350" spc="7" baseline="4938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350" spc="-667" baseline="49382" dirty="0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2400" spc="-575" dirty="0">
                <a:latin typeface="Calibri"/>
                <a:cs typeface="Calibri"/>
              </a:rPr>
              <a:t>c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i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1350" spc="-397" baseline="49382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2400" spc="-894" dirty="0">
                <a:latin typeface="Calibri"/>
                <a:cs typeface="Calibri"/>
              </a:rPr>
              <a:t>a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a</a:t>
            </a:r>
            <a:r>
              <a:rPr sz="1350" spc="-15" baseline="4938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350" spc="-22" baseline="49382" dirty="0">
                <a:solidFill>
                  <a:srgbClr val="888888"/>
                </a:solidFill>
                <a:latin typeface="Calibri"/>
                <a:cs typeface="Calibri"/>
              </a:rPr>
              <a:t>-</a:t>
            </a:r>
            <a:r>
              <a:rPr sz="2400" spc="-1050" dirty="0">
                <a:latin typeface="Calibri"/>
                <a:cs typeface="Calibri"/>
              </a:rPr>
              <a:t>n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C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l</a:t>
            </a:r>
            <a:r>
              <a:rPr sz="1350" spc="-97" baseline="49382" dirty="0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2400" spc="-775" dirty="0">
                <a:latin typeface="Calibri"/>
                <a:cs typeface="Calibri"/>
              </a:rPr>
              <a:t>r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350" spc="-22" baseline="4938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350" spc="-315" baseline="49382" dirty="0">
                <a:solidFill>
                  <a:srgbClr val="888888"/>
                </a:solidFill>
                <a:latin typeface="Calibri"/>
                <a:cs typeface="Calibri"/>
              </a:rPr>
              <a:t>T</a:t>
            </a:r>
            <a:r>
              <a:rPr sz="2400" spc="-985" dirty="0">
                <a:latin typeface="Calibri"/>
                <a:cs typeface="Calibri"/>
              </a:rPr>
              <a:t>e</a:t>
            </a:r>
            <a:r>
              <a:rPr sz="1350" spc="-15" baseline="49382" dirty="0">
                <a:solidFill>
                  <a:srgbClr val="888888"/>
                </a:solidFill>
                <a:latin typeface="Calibri"/>
                <a:cs typeface="Calibri"/>
              </a:rPr>
              <a:t>h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e</a:t>
            </a:r>
            <a:r>
              <a:rPr sz="1350" spc="-607" baseline="49382" dirty="0">
                <a:solidFill>
                  <a:srgbClr val="888888"/>
                </a:solidFill>
                <a:latin typeface="Calibri"/>
                <a:cs typeface="Calibri"/>
              </a:rPr>
              <a:t>o</a:t>
            </a:r>
            <a:r>
              <a:rPr sz="2400" spc="-860" dirty="0">
                <a:latin typeface="Calibri"/>
                <a:cs typeface="Calibri"/>
              </a:rPr>
              <a:t>p</a:t>
            </a:r>
            <a:r>
              <a:rPr sz="1350" spc="-7" baseline="49382" dirty="0">
                <a:solidFill>
                  <a:srgbClr val="888888"/>
                </a:solidFill>
                <a:latin typeface="Calibri"/>
                <a:cs typeface="Calibri"/>
              </a:rPr>
              <a:t>r</a:t>
            </a:r>
            <a:r>
              <a:rPr sz="1350" baseline="49382" dirty="0">
                <a:solidFill>
                  <a:srgbClr val="888888"/>
                </a:solidFill>
                <a:latin typeface="Calibri"/>
                <a:cs typeface="Calibri"/>
              </a:rPr>
              <a:t>y</a:t>
            </a:r>
            <a:r>
              <a:rPr sz="1350" spc="-104" baseline="49382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oduc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digi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ally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7669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Color Models </a:t>
            </a:r>
            <a:r>
              <a:rPr sz="3600" spc="-30" dirty="0"/>
              <a:t>for</a:t>
            </a:r>
            <a:r>
              <a:rPr sz="3600" spc="-25" dirty="0"/>
              <a:t> Hardware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32771"/>
            <a:ext cx="6624320" cy="99885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spc="-15" dirty="0">
                <a:latin typeface="Calibri"/>
                <a:cs typeface="Calibri"/>
              </a:rPr>
              <a:t>RGB </a:t>
            </a:r>
            <a:r>
              <a:rPr sz="2800" spc="-10" dirty="0">
                <a:latin typeface="Calibri"/>
                <a:cs typeface="Calibri"/>
              </a:rPr>
              <a:t>untuk monitor warna </a:t>
            </a:r>
            <a:r>
              <a:rPr sz="2800" spc="-5" dirty="0">
                <a:latin typeface="Calibri"/>
                <a:cs typeface="Calibri"/>
              </a:rPr>
              <a:t>dan </a:t>
            </a:r>
            <a:r>
              <a:rPr sz="2800" spc="-25" dirty="0">
                <a:latin typeface="Calibri"/>
                <a:cs typeface="Calibri"/>
              </a:rPr>
              <a:t>kamera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video</a:t>
            </a:r>
            <a:endParaRPr sz="28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5" dirty="0">
                <a:latin typeface="Calibri"/>
                <a:cs typeface="Calibri"/>
              </a:rPr>
              <a:t>Model </a:t>
            </a:r>
            <a:r>
              <a:rPr sz="2800" b="1" spc="-10" dirty="0">
                <a:latin typeface="Calibri"/>
                <a:cs typeface="Calibri"/>
              </a:rPr>
              <a:t>CMYK </a:t>
            </a:r>
            <a:r>
              <a:rPr sz="2800" spc="-10" dirty="0">
                <a:latin typeface="Calibri"/>
                <a:cs typeface="Calibri"/>
              </a:rPr>
              <a:t>untuk </a:t>
            </a:r>
            <a:r>
              <a:rPr sz="2800" spc="-15" dirty="0">
                <a:latin typeface="Calibri"/>
                <a:cs typeface="Calibri"/>
              </a:rPr>
              <a:t>printer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warna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21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6180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3190" y="2695948"/>
            <a:ext cx="4333549" cy="3733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RGB </a:t>
            </a:r>
            <a:r>
              <a:rPr sz="3600" spc="-5" dirty="0"/>
              <a:t>Color</a:t>
            </a:r>
            <a:r>
              <a:rPr sz="3600" dirty="0"/>
              <a:t> </a:t>
            </a:r>
            <a:r>
              <a:rPr sz="3600" spc="-5" dirty="0"/>
              <a:t>Model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707542" y="1736415"/>
            <a:ext cx="5565775" cy="8896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Standard </a:t>
            </a:r>
            <a:r>
              <a:rPr sz="2400" dirty="0">
                <a:latin typeface="Calibri"/>
                <a:cs typeface="Calibri"/>
              </a:rPr>
              <a:t>model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color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monitor</a:t>
            </a:r>
            <a:endParaRPr sz="24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85420" algn="l"/>
                <a:tab pos="4834890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</a:t>
            </a:r>
            <a:r>
              <a:rPr sz="2400" spc="5" dirty="0">
                <a:latin typeface="Calibri"/>
                <a:cs typeface="Calibri"/>
              </a:rPr>
              <a:t>i</a:t>
            </a:r>
            <a:r>
              <a:rPr sz="2400" spc="-5" dirty="0">
                <a:latin typeface="Calibri"/>
                <a:cs typeface="Calibri"/>
              </a:rPr>
              <a:t>-</a:t>
            </a:r>
            <a:r>
              <a:rPr sz="2400" spc="-3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timulus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</a:t>
            </a:r>
            <a:r>
              <a:rPr sz="2400" spc="1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ol</a:t>
            </a:r>
            <a:r>
              <a:rPr sz="2400" spc="-1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r	vi</a:t>
            </a:r>
            <a:r>
              <a:rPr sz="2400" spc="-10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29647" y="3133344"/>
            <a:ext cx="3067407" cy="28205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721910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RGB</a:t>
            </a:r>
            <a:r>
              <a:rPr sz="3600" spc="-10" dirty="0"/>
              <a:t> Channels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348464" y="2196098"/>
            <a:ext cx="4351843" cy="35055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432886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RGB</a:t>
            </a:r>
            <a:r>
              <a:rPr sz="3600" spc="-10" dirty="0"/>
              <a:t> </a:t>
            </a:r>
            <a:r>
              <a:rPr sz="3600" spc="-20" dirty="0"/>
              <a:t>Colors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36415"/>
            <a:ext cx="7651750" cy="328993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libri"/>
                <a:cs typeface="Calibri"/>
              </a:rPr>
              <a:t>Mayoritas sistem </a:t>
            </a:r>
            <a:r>
              <a:rPr sz="2400" spc="-10" dirty="0">
                <a:latin typeface="Calibri"/>
                <a:cs typeface="Calibri"/>
              </a:rPr>
              <a:t>dapat mereproduksi 256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warna.</a:t>
            </a:r>
            <a:endParaRPr sz="2400">
              <a:latin typeface="Calibri"/>
              <a:cs typeface="Calibri"/>
            </a:endParaRPr>
          </a:p>
          <a:p>
            <a:pPr marL="184785" marR="5080" indent="-172720">
              <a:lnSpc>
                <a:spcPts val="2590"/>
              </a:lnSpc>
              <a:spcBef>
                <a:spcPts val="844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Antar </a:t>
            </a:r>
            <a:r>
              <a:rPr sz="2400" spc="-15" dirty="0">
                <a:latin typeface="Calibri"/>
                <a:cs typeface="Calibri"/>
              </a:rPr>
              <a:t>sistem/hardward </a:t>
            </a:r>
            <a:r>
              <a:rPr sz="2400" dirty="0">
                <a:latin typeface="Calibri"/>
                <a:cs typeface="Calibri"/>
              </a:rPr>
              <a:t>ada </a:t>
            </a:r>
            <a:r>
              <a:rPr sz="2400" spc="-20" dirty="0">
                <a:latin typeface="Calibri"/>
                <a:cs typeface="Calibri"/>
              </a:rPr>
              <a:t>banyak </a:t>
            </a:r>
            <a:r>
              <a:rPr sz="2400" spc="-5" dirty="0">
                <a:latin typeface="Calibri"/>
                <a:cs typeface="Calibri"/>
              </a:rPr>
              <a:t>variabel, jadi </a:t>
            </a:r>
            <a:r>
              <a:rPr sz="2400" spc="-10" dirty="0">
                <a:latin typeface="Calibri"/>
                <a:cs typeface="Calibri"/>
              </a:rPr>
              <a:t>dibutuhkan  </a:t>
            </a:r>
            <a:r>
              <a:rPr sz="2400" dirty="0">
                <a:latin typeface="Calibri"/>
                <a:cs typeface="Calibri"/>
              </a:rPr>
              <a:t>ada </a:t>
            </a:r>
            <a:r>
              <a:rPr sz="2400" spc="-10" dirty="0">
                <a:latin typeface="Calibri"/>
                <a:cs typeface="Calibri"/>
              </a:rPr>
              <a:t>subset </a:t>
            </a:r>
            <a:r>
              <a:rPr sz="2400" spc="-5" dirty="0">
                <a:latin typeface="Calibri"/>
                <a:cs typeface="Calibri"/>
              </a:rPr>
              <a:t>warna </a:t>
            </a:r>
            <a:r>
              <a:rPr sz="2400" spc="-10" dirty="0">
                <a:latin typeface="Calibri"/>
                <a:cs typeface="Calibri"/>
              </a:rPr>
              <a:t>yang </a:t>
            </a:r>
            <a:r>
              <a:rPr sz="2400" spc="-5" dirty="0">
                <a:latin typeface="Calibri"/>
                <a:cs typeface="Calibri"/>
              </a:rPr>
              <a:t>selalu </a:t>
            </a:r>
            <a:r>
              <a:rPr sz="2400" spc="-10" dirty="0">
                <a:latin typeface="Calibri"/>
                <a:cs typeface="Calibri"/>
              </a:rPr>
              <a:t>dapat </a:t>
            </a:r>
            <a:r>
              <a:rPr sz="2400" spc="-15" dirty="0">
                <a:latin typeface="Calibri"/>
                <a:cs typeface="Calibri"/>
              </a:rPr>
              <a:t>direproduksi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reliably</a:t>
            </a:r>
            <a:endParaRPr sz="2400">
              <a:latin typeface="Calibri"/>
              <a:cs typeface="Calibri"/>
            </a:endParaRPr>
          </a:p>
          <a:p>
            <a:pPr marL="591185" lvl="1" indent="-236220">
              <a:lnSpc>
                <a:spcPts val="2510"/>
              </a:lnSpc>
              <a:spcBef>
                <a:spcPts val="120"/>
              </a:spcBef>
              <a:buFont typeface="Arial"/>
              <a:buChar char="•"/>
              <a:tabLst>
                <a:tab pos="591185" algn="l"/>
                <a:tab pos="591820" algn="l"/>
              </a:tabLst>
            </a:pPr>
            <a:r>
              <a:rPr sz="2200" spc="-25" dirty="0">
                <a:latin typeface="Calibri"/>
                <a:cs typeface="Calibri"/>
              </a:rPr>
              <a:t>Safe </a:t>
            </a:r>
            <a:r>
              <a:rPr sz="2200" spc="-15" dirty="0">
                <a:latin typeface="Calibri"/>
                <a:cs typeface="Calibri"/>
              </a:rPr>
              <a:t>RGB colors </a:t>
            </a:r>
            <a:r>
              <a:rPr sz="2200" spc="-5" dirty="0">
                <a:latin typeface="Calibri"/>
                <a:cs typeface="Calibri"/>
              </a:rPr>
              <a:t>/ </a:t>
            </a:r>
            <a:r>
              <a:rPr sz="2200" spc="-15" dirty="0">
                <a:latin typeface="Calibri"/>
                <a:cs typeface="Calibri"/>
              </a:rPr>
              <a:t>all-systems </a:t>
            </a:r>
            <a:r>
              <a:rPr sz="2200" spc="-20" dirty="0">
                <a:latin typeface="Calibri"/>
                <a:cs typeface="Calibri"/>
              </a:rPr>
              <a:t>safe </a:t>
            </a:r>
            <a:r>
              <a:rPr sz="2200" spc="-15" dirty="0">
                <a:latin typeface="Calibri"/>
                <a:cs typeface="Calibri"/>
              </a:rPr>
              <a:t>colors </a:t>
            </a:r>
            <a:r>
              <a:rPr sz="2200" spc="-5" dirty="0">
                <a:latin typeface="Calibri"/>
                <a:cs typeface="Calibri"/>
              </a:rPr>
              <a:t>/ </a:t>
            </a:r>
            <a:r>
              <a:rPr sz="2200" spc="-20" dirty="0">
                <a:latin typeface="Calibri"/>
                <a:cs typeface="Calibri"/>
              </a:rPr>
              <a:t>safe </a:t>
            </a:r>
            <a:r>
              <a:rPr sz="2200" spc="-30" dirty="0">
                <a:latin typeface="Calibri"/>
                <a:cs typeface="Calibri"/>
              </a:rPr>
              <a:t>Web</a:t>
            </a:r>
            <a:r>
              <a:rPr sz="2200" spc="2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colors/</a:t>
            </a:r>
            <a:endParaRPr sz="2200">
              <a:latin typeface="Calibri"/>
              <a:cs typeface="Calibri"/>
            </a:endParaRPr>
          </a:p>
          <a:p>
            <a:pPr marL="527685">
              <a:lnSpc>
                <a:spcPts val="2510"/>
              </a:lnSpc>
            </a:pPr>
            <a:r>
              <a:rPr sz="2200" spc="-20" dirty="0">
                <a:latin typeface="Calibri"/>
                <a:cs typeface="Calibri"/>
              </a:rPr>
              <a:t>safe </a:t>
            </a:r>
            <a:r>
              <a:rPr sz="2200" spc="-15" dirty="0">
                <a:latin typeface="Calibri"/>
                <a:cs typeface="Calibri"/>
              </a:rPr>
              <a:t>browser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colors.</a:t>
            </a:r>
            <a:endParaRPr sz="2200">
              <a:latin typeface="Calibri"/>
              <a:cs typeface="Calibri"/>
            </a:endParaRPr>
          </a:p>
          <a:p>
            <a:pPr marL="184785" marR="567055" indent="-172720">
              <a:lnSpc>
                <a:spcPts val="2590"/>
              </a:lnSpc>
              <a:spcBef>
                <a:spcPts val="82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libri"/>
                <a:cs typeface="Calibri"/>
              </a:rPr>
              <a:t>Dengan </a:t>
            </a:r>
            <a:r>
              <a:rPr sz="2400" spc="-10" dirty="0">
                <a:latin typeface="Calibri"/>
                <a:cs typeface="Calibri"/>
              </a:rPr>
              <a:t>variasi antar </a:t>
            </a:r>
            <a:r>
              <a:rPr sz="2400" spc="-15" dirty="0">
                <a:latin typeface="Calibri"/>
                <a:cs typeface="Calibri"/>
              </a:rPr>
              <a:t>sistem </a:t>
            </a:r>
            <a:r>
              <a:rPr sz="2400" spc="-5" dirty="0">
                <a:latin typeface="Calibri"/>
                <a:cs typeface="Calibri"/>
              </a:rPr>
              <a:t>warna bisa </a:t>
            </a:r>
            <a:r>
              <a:rPr sz="2400" spc="-10" dirty="0">
                <a:latin typeface="Calibri"/>
                <a:cs typeface="Calibri"/>
              </a:rPr>
              <a:t>diproses </a:t>
            </a:r>
            <a:r>
              <a:rPr sz="2400" spc="-15" dirty="0">
                <a:latin typeface="Calibri"/>
                <a:cs typeface="Calibri"/>
              </a:rPr>
              <a:t>dengan  </a:t>
            </a:r>
            <a:r>
              <a:rPr sz="2400" spc="-5" dirty="0">
                <a:latin typeface="Calibri"/>
                <a:cs typeface="Calibri"/>
              </a:rPr>
              <a:t>berbeda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ts val="2510"/>
              </a:lnSpc>
              <a:spcBef>
                <a:spcPts val="114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Kita </a:t>
            </a:r>
            <a:r>
              <a:rPr sz="2200" spc="-20" dirty="0">
                <a:latin typeface="Calibri"/>
                <a:cs typeface="Calibri"/>
              </a:rPr>
              <a:t>punya </a:t>
            </a:r>
            <a:r>
              <a:rPr sz="2200" spc="-5" dirty="0">
                <a:latin typeface="Calibri"/>
                <a:cs typeface="Calibri"/>
              </a:rPr>
              <a:t>216 </a:t>
            </a:r>
            <a:r>
              <a:rPr sz="2200" spc="-10" dirty="0">
                <a:latin typeface="Calibri"/>
                <a:cs typeface="Calibri"/>
              </a:rPr>
              <a:t>warna yang </a:t>
            </a:r>
            <a:r>
              <a:rPr sz="2200" spc="-5" dirty="0">
                <a:latin typeface="Calibri"/>
                <a:cs typeface="Calibri"/>
              </a:rPr>
              <a:t>bisa </a:t>
            </a:r>
            <a:r>
              <a:rPr sz="2200" spc="-15" dirty="0">
                <a:latin typeface="Calibri"/>
                <a:cs typeface="Calibri"/>
              </a:rPr>
              <a:t>direproduksi </a:t>
            </a:r>
            <a:r>
              <a:rPr sz="2200" spc="-5" dirty="0">
                <a:latin typeface="Calibri"/>
                <a:cs typeface="Calibri"/>
              </a:rPr>
              <a:t>semua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sistem</a:t>
            </a:r>
            <a:endParaRPr sz="2200">
              <a:latin typeface="Calibri"/>
              <a:cs typeface="Calibri"/>
            </a:endParaRPr>
          </a:p>
          <a:p>
            <a:pPr marL="527685">
              <a:lnSpc>
                <a:spcPts val="2510"/>
              </a:lnSpc>
            </a:pPr>
            <a:r>
              <a:rPr sz="2200" spc="-20" dirty="0">
                <a:latin typeface="Calibri"/>
                <a:cs typeface="Calibri"/>
              </a:rPr>
              <a:t>secara </a:t>
            </a:r>
            <a:r>
              <a:rPr sz="2200" i="1" spc="-5" dirty="0">
                <a:latin typeface="Calibri"/>
                <a:cs typeface="Calibri"/>
              </a:rPr>
              <a:t>de</a:t>
            </a:r>
            <a:r>
              <a:rPr sz="2200" i="1" spc="10" dirty="0">
                <a:latin typeface="Calibri"/>
                <a:cs typeface="Calibri"/>
              </a:rPr>
              <a:t> </a:t>
            </a:r>
            <a:r>
              <a:rPr sz="2200" i="1" spc="-20" dirty="0">
                <a:latin typeface="Calibri"/>
                <a:cs typeface="Calibri"/>
              </a:rPr>
              <a:t>facto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24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5035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30" dirty="0"/>
              <a:t>Warna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5083810" cy="304101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 </a:t>
            </a:r>
            <a:r>
              <a:rPr sz="2400" dirty="0">
                <a:latin typeface="Calibri"/>
                <a:cs typeface="Calibri"/>
              </a:rPr>
              <a:t>Primer </a:t>
            </a:r>
            <a:r>
              <a:rPr sz="2400" spc="-5" dirty="0">
                <a:latin typeface="Calibri"/>
                <a:cs typeface="Calibri"/>
              </a:rPr>
              <a:t>pada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cahaya: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R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G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B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libri"/>
                <a:cs typeface="Calibri"/>
              </a:rPr>
              <a:t>Reproduksi </a:t>
            </a:r>
            <a:r>
              <a:rPr sz="2400" spc="-5" dirty="0">
                <a:latin typeface="Calibri"/>
                <a:cs typeface="Calibri"/>
              </a:rPr>
              <a:t>warna pada alat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elektronik?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Cahaya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libri"/>
                <a:cs typeface="Calibri"/>
              </a:rPr>
              <a:t>Reproduksi </a:t>
            </a:r>
            <a:r>
              <a:rPr sz="2400" spc="-5" dirty="0">
                <a:latin typeface="Calibri"/>
                <a:cs typeface="Calibri"/>
              </a:rPr>
              <a:t>warna pada </a:t>
            </a:r>
            <a:r>
              <a:rPr sz="2400" dirty="0">
                <a:latin typeface="Calibri"/>
                <a:cs typeface="Calibri"/>
              </a:rPr>
              <a:t>media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cetak?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b="1" spc="-10" dirty="0">
                <a:latin typeface="Calibri"/>
                <a:cs typeface="Calibri"/>
              </a:rPr>
              <a:t>Pigmen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25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2333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500">
              <a:latin typeface="Times New Roman"/>
              <a:cs typeface="Times New Roman"/>
            </a:endParaRPr>
          </a:p>
          <a:p>
            <a:pPr marL="720090">
              <a:lnSpc>
                <a:spcPct val="100000"/>
              </a:lnSpc>
            </a:pPr>
            <a:r>
              <a:rPr sz="3200" spc="-20" dirty="0"/>
              <a:t>Warna </a:t>
            </a:r>
            <a:r>
              <a:rPr sz="3200" spc="-5" dirty="0"/>
              <a:t>Primer </a:t>
            </a:r>
            <a:r>
              <a:rPr sz="3200" dirty="0"/>
              <a:t>vs </a:t>
            </a:r>
            <a:r>
              <a:rPr sz="3200" spc="-5" dirty="0"/>
              <a:t>Sekunder </a:t>
            </a:r>
            <a:r>
              <a:rPr sz="3200" spc="-35" dirty="0"/>
              <a:t>Pada</a:t>
            </a:r>
            <a:r>
              <a:rPr sz="3200" spc="-114" dirty="0"/>
              <a:t> </a:t>
            </a:r>
            <a:r>
              <a:rPr sz="3200" spc="-20" dirty="0"/>
              <a:t>Pigmen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629412" y="5658611"/>
            <a:ext cx="3627120" cy="654050"/>
          </a:xfrm>
          <a:custGeom>
            <a:avLst/>
            <a:gdLst/>
            <a:ahLst/>
            <a:cxnLst/>
            <a:rect l="l" t="t" r="r" b="b"/>
            <a:pathLst>
              <a:path w="3627120" h="654050">
                <a:moveTo>
                  <a:pt x="3518154" y="0"/>
                </a:moveTo>
                <a:lnTo>
                  <a:pt x="108965" y="0"/>
                </a:lnTo>
                <a:lnTo>
                  <a:pt x="66549" y="8562"/>
                </a:lnTo>
                <a:lnTo>
                  <a:pt x="31913" y="31913"/>
                </a:lnTo>
                <a:lnTo>
                  <a:pt x="8562" y="66549"/>
                </a:lnTo>
                <a:lnTo>
                  <a:pt x="0" y="108965"/>
                </a:lnTo>
                <a:lnTo>
                  <a:pt x="0" y="544830"/>
                </a:lnTo>
                <a:lnTo>
                  <a:pt x="8562" y="587241"/>
                </a:lnTo>
                <a:lnTo>
                  <a:pt x="31913" y="621877"/>
                </a:lnTo>
                <a:lnTo>
                  <a:pt x="66549" y="645231"/>
                </a:lnTo>
                <a:lnTo>
                  <a:pt x="108965" y="653796"/>
                </a:lnTo>
                <a:lnTo>
                  <a:pt x="3518154" y="653796"/>
                </a:lnTo>
                <a:lnTo>
                  <a:pt x="3560575" y="645231"/>
                </a:lnTo>
                <a:lnTo>
                  <a:pt x="3595211" y="621877"/>
                </a:lnTo>
                <a:lnTo>
                  <a:pt x="3618559" y="587241"/>
                </a:lnTo>
                <a:lnTo>
                  <a:pt x="3627120" y="544830"/>
                </a:lnTo>
                <a:lnTo>
                  <a:pt x="3627120" y="108965"/>
                </a:lnTo>
                <a:lnTo>
                  <a:pt x="3618559" y="66549"/>
                </a:lnTo>
                <a:lnTo>
                  <a:pt x="3595211" y="31913"/>
                </a:lnTo>
                <a:lnTo>
                  <a:pt x="3560575" y="8562"/>
                </a:lnTo>
                <a:lnTo>
                  <a:pt x="3518154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9412" y="5658611"/>
            <a:ext cx="3627120" cy="654050"/>
          </a:xfrm>
          <a:custGeom>
            <a:avLst/>
            <a:gdLst/>
            <a:ahLst/>
            <a:cxnLst/>
            <a:rect l="l" t="t" r="r" b="b"/>
            <a:pathLst>
              <a:path w="3627120" h="654050">
                <a:moveTo>
                  <a:pt x="0" y="108965"/>
                </a:moveTo>
                <a:lnTo>
                  <a:pt x="8562" y="66549"/>
                </a:lnTo>
                <a:lnTo>
                  <a:pt x="31913" y="31913"/>
                </a:lnTo>
                <a:lnTo>
                  <a:pt x="66549" y="8562"/>
                </a:lnTo>
                <a:lnTo>
                  <a:pt x="108965" y="0"/>
                </a:lnTo>
                <a:lnTo>
                  <a:pt x="3518154" y="0"/>
                </a:lnTo>
                <a:lnTo>
                  <a:pt x="3560575" y="8562"/>
                </a:lnTo>
                <a:lnTo>
                  <a:pt x="3595211" y="31913"/>
                </a:lnTo>
                <a:lnTo>
                  <a:pt x="3618559" y="66549"/>
                </a:lnTo>
                <a:lnTo>
                  <a:pt x="3627120" y="108965"/>
                </a:lnTo>
                <a:lnTo>
                  <a:pt x="3627120" y="544830"/>
                </a:lnTo>
                <a:lnTo>
                  <a:pt x="3618559" y="587241"/>
                </a:lnTo>
                <a:lnTo>
                  <a:pt x="3595211" y="621877"/>
                </a:lnTo>
                <a:lnTo>
                  <a:pt x="3560575" y="645231"/>
                </a:lnTo>
                <a:lnTo>
                  <a:pt x="3518154" y="653796"/>
                </a:lnTo>
                <a:lnTo>
                  <a:pt x="108965" y="653796"/>
                </a:lnTo>
                <a:lnTo>
                  <a:pt x="66549" y="645231"/>
                </a:lnTo>
                <a:lnTo>
                  <a:pt x="31913" y="621877"/>
                </a:lnTo>
                <a:lnTo>
                  <a:pt x="8562" y="587241"/>
                </a:lnTo>
                <a:lnTo>
                  <a:pt x="0" y="544830"/>
                </a:lnTo>
                <a:lnTo>
                  <a:pt x="0" y="108965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7542" y="1780308"/>
            <a:ext cx="2808605" cy="438277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</a:t>
            </a:r>
            <a:r>
              <a:rPr sz="2400" spc="-5" dirty="0">
                <a:latin typeface="Calibri"/>
                <a:cs typeface="Calibri"/>
              </a:rPr>
              <a:t> primer: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magenta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cyan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yellow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20" dirty="0">
                <a:latin typeface="Calibri"/>
                <a:cs typeface="Calibri"/>
              </a:rPr>
              <a:t>Warna</a:t>
            </a:r>
            <a:r>
              <a:rPr sz="2400" spc="-10" dirty="0">
                <a:latin typeface="Calibri"/>
                <a:cs typeface="Calibri"/>
              </a:rPr>
              <a:t> sekunder: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red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green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blue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6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R+G+B: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black</a:t>
            </a:r>
            <a:endParaRPr sz="2400">
              <a:latin typeface="Calibri"/>
              <a:cs typeface="Calibri"/>
            </a:endParaRPr>
          </a:p>
          <a:p>
            <a:pPr marL="673100">
              <a:lnSpc>
                <a:spcPct val="100000"/>
              </a:lnSpc>
              <a:spcBef>
                <a:spcPts val="2145"/>
              </a:spcBef>
            </a:pPr>
            <a:r>
              <a:rPr sz="2400" spc="-10" dirty="0">
                <a:latin typeface="Calibri"/>
                <a:cs typeface="Calibri"/>
              </a:rPr>
              <a:t>Subtractive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Color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0729" y="2309989"/>
            <a:ext cx="3781065" cy="35143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231019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Model CMY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59661"/>
            <a:ext cx="7098030" cy="36855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84785" marR="5080" indent="-172720">
              <a:lnSpc>
                <a:spcPts val="2690"/>
              </a:lnSpc>
              <a:spcBef>
                <a:spcPts val="745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20" dirty="0">
                <a:latin typeface="Calibri"/>
                <a:cs typeface="Calibri"/>
              </a:rPr>
              <a:t>Cyan </a:t>
            </a:r>
            <a:r>
              <a:rPr sz="2800" spc="-15" dirty="0">
                <a:latin typeface="Calibri"/>
                <a:cs typeface="Calibri"/>
              </a:rPr>
              <a:t>Magenta </a:t>
            </a:r>
            <a:r>
              <a:rPr sz="2800" spc="-40" dirty="0">
                <a:latin typeface="Calibri"/>
                <a:cs typeface="Calibri"/>
              </a:rPr>
              <a:t>Yellow </a:t>
            </a:r>
            <a:r>
              <a:rPr sz="2800" spc="-5" dirty="0">
                <a:latin typeface="Calibri"/>
                <a:cs typeface="Calibri"/>
              </a:rPr>
              <a:t>(CMY) adalah </a:t>
            </a:r>
            <a:r>
              <a:rPr sz="2800" i="1" spc="-10" dirty="0">
                <a:latin typeface="Calibri"/>
                <a:cs typeface="Calibri"/>
              </a:rPr>
              <a:t>substractive  primaries</a:t>
            </a:r>
            <a:r>
              <a:rPr sz="2800" spc="-10" dirty="0">
                <a:latin typeface="Calibri"/>
                <a:cs typeface="Calibri"/>
              </a:rPr>
              <a:t>, untuk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pigmen.</a:t>
            </a:r>
            <a:endParaRPr sz="2800">
              <a:latin typeface="Calibri"/>
              <a:cs typeface="Calibri"/>
            </a:endParaRPr>
          </a:p>
          <a:p>
            <a:pPr marL="184785" marR="23495" indent="-172720">
              <a:lnSpc>
                <a:spcPts val="2690"/>
              </a:lnSpc>
              <a:spcBef>
                <a:spcPts val="2005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5" dirty="0">
                <a:latin typeface="Calibri"/>
                <a:cs typeface="Calibri"/>
              </a:rPr>
              <a:t>Model </a:t>
            </a:r>
            <a:r>
              <a:rPr sz="2800" spc="-10" dirty="0">
                <a:latin typeface="Calibri"/>
                <a:cs typeface="Calibri"/>
              </a:rPr>
              <a:t>CMY digunakan </a:t>
            </a:r>
            <a:r>
              <a:rPr sz="2800" spc="-15" dirty="0">
                <a:latin typeface="Calibri"/>
                <a:cs typeface="Calibri"/>
              </a:rPr>
              <a:t>sebagai </a:t>
            </a:r>
            <a:r>
              <a:rPr sz="2800" i="1" spc="-10" dirty="0">
                <a:latin typeface="Calibri"/>
                <a:cs typeface="Calibri"/>
              </a:rPr>
              <a:t>color </a:t>
            </a:r>
            <a:r>
              <a:rPr sz="2800" i="1" spc="-5" dirty="0">
                <a:latin typeface="Calibri"/>
                <a:cs typeface="Calibri"/>
              </a:rPr>
              <a:t>model </a:t>
            </a:r>
            <a:r>
              <a:rPr sz="2800" spc="-10" dirty="0">
                <a:latin typeface="Calibri"/>
                <a:cs typeface="Calibri"/>
              </a:rPr>
              <a:t>bagi  </a:t>
            </a:r>
            <a:r>
              <a:rPr sz="2800" spc="-15" dirty="0">
                <a:latin typeface="Calibri"/>
                <a:cs typeface="Calibri"/>
              </a:rPr>
              <a:t>printer </a:t>
            </a:r>
            <a:r>
              <a:rPr sz="2800" spc="-5" dirty="0">
                <a:latin typeface="Calibri"/>
                <a:cs typeface="Calibri"/>
              </a:rPr>
              <a:t>dan </a:t>
            </a:r>
            <a:r>
              <a:rPr sz="2800" spc="-10" dirty="0">
                <a:latin typeface="Calibri"/>
                <a:cs typeface="Calibri"/>
              </a:rPr>
              <a:t>alat </a:t>
            </a:r>
            <a:r>
              <a:rPr sz="2800" spc="-15" dirty="0">
                <a:latin typeface="Calibri"/>
                <a:cs typeface="Calibri"/>
              </a:rPr>
              <a:t>cetak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lainnya.</a:t>
            </a:r>
            <a:endParaRPr sz="28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340"/>
              </a:spcBef>
              <a:buFont typeface="Arial"/>
              <a:buChar char="•"/>
              <a:tabLst>
                <a:tab pos="185420" algn="l"/>
              </a:tabLst>
            </a:pPr>
            <a:r>
              <a:rPr sz="2800" spc="-10" dirty="0">
                <a:latin typeface="Calibri"/>
                <a:cs typeface="Calibri"/>
              </a:rPr>
              <a:t>CMYK</a:t>
            </a:r>
            <a:endParaRPr sz="28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K </a:t>
            </a:r>
            <a:r>
              <a:rPr sz="2600" spc="-5" dirty="0">
                <a:latin typeface="Calibri"/>
                <a:cs typeface="Calibri"/>
              </a:rPr>
              <a:t>adalah warna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HITAM</a:t>
            </a:r>
            <a:endParaRPr sz="2600">
              <a:latin typeface="Calibri"/>
              <a:cs typeface="Calibri"/>
            </a:endParaRPr>
          </a:p>
          <a:p>
            <a:pPr marL="527685" marR="173355" lvl="1" indent="-172720">
              <a:lnSpc>
                <a:spcPts val="2500"/>
              </a:lnSpc>
              <a:spcBef>
                <a:spcPts val="1575"/>
              </a:spcBef>
              <a:buFont typeface="Arial"/>
              <a:buChar char="•"/>
              <a:tabLst>
                <a:tab pos="528320" algn="l"/>
              </a:tabLst>
            </a:pPr>
            <a:r>
              <a:rPr sz="2600" dirty="0">
                <a:latin typeface="Calibri"/>
                <a:cs typeface="Calibri"/>
              </a:rPr>
              <a:t>CMY </a:t>
            </a:r>
            <a:r>
              <a:rPr sz="2600" spc="-5" dirty="0">
                <a:latin typeface="Calibri"/>
                <a:cs typeface="Calibri"/>
              </a:rPr>
              <a:t>dicampur </a:t>
            </a:r>
            <a:r>
              <a:rPr sz="2600" dirty="0">
                <a:latin typeface="Calibri"/>
                <a:cs typeface="Calibri"/>
              </a:rPr>
              <a:t>tidak </a:t>
            </a:r>
            <a:r>
              <a:rPr sz="2600" spc="-10" dirty="0">
                <a:latin typeface="Calibri"/>
                <a:cs typeface="Calibri"/>
              </a:rPr>
              <a:t>dapat </a:t>
            </a:r>
            <a:r>
              <a:rPr sz="2600" spc="-5" dirty="0">
                <a:latin typeface="Calibri"/>
                <a:cs typeface="Calibri"/>
              </a:rPr>
              <a:t>menghasilkan warna  </a:t>
            </a:r>
            <a:r>
              <a:rPr sz="2600" spc="-10" dirty="0">
                <a:latin typeface="Calibri"/>
                <a:cs typeface="Calibri"/>
              </a:rPr>
              <a:t>hitam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pekat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27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0880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274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20"/>
              </a:spcBef>
            </a:pPr>
            <a:r>
              <a:rPr sz="3600" spc="-15" dirty="0"/>
              <a:t>RGB </a:t>
            </a:r>
            <a:r>
              <a:rPr sz="3600" b="0" dirty="0">
                <a:latin typeface="Cambria Math"/>
                <a:cs typeface="Cambria Math"/>
              </a:rPr>
              <a:t>↔</a:t>
            </a:r>
            <a:r>
              <a:rPr sz="3600" b="0" spc="20" dirty="0">
                <a:latin typeface="Cambria Math"/>
                <a:cs typeface="Cambria Math"/>
              </a:rPr>
              <a:t> </a:t>
            </a:r>
            <a:r>
              <a:rPr sz="3600" spc="-5" dirty="0"/>
              <a:t>CMY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6005195" cy="119761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Range nilai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RGB: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8-bit: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0-255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Jika </a:t>
            </a:r>
            <a:r>
              <a:rPr sz="2400" spc="-5" dirty="0">
                <a:latin typeface="Calibri"/>
                <a:cs typeface="Calibri"/>
              </a:rPr>
              <a:t>nilai </a:t>
            </a:r>
            <a:r>
              <a:rPr sz="2400" spc="-10" dirty="0">
                <a:latin typeface="Calibri"/>
                <a:cs typeface="Calibri"/>
              </a:rPr>
              <a:t>RGB </a:t>
            </a:r>
            <a:r>
              <a:rPr sz="2400" spc="-5" dirty="0">
                <a:latin typeface="Calibri"/>
                <a:cs typeface="Calibri"/>
              </a:rPr>
              <a:t>dinormalisasi </a:t>
            </a:r>
            <a:r>
              <a:rPr sz="2400" dirty="0">
                <a:latin typeface="Calibri"/>
                <a:cs typeface="Calibri"/>
              </a:rPr>
              <a:t>menjadi </a:t>
            </a:r>
            <a:r>
              <a:rPr sz="2400" spc="-15" dirty="0">
                <a:latin typeface="Calibri"/>
                <a:cs typeface="Calibri"/>
              </a:rPr>
              <a:t>range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[0,1]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4721939"/>
            <a:ext cx="4765675" cy="7645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0" dirty="0">
                <a:latin typeface="Calibri"/>
                <a:cs typeface="Calibri"/>
              </a:rPr>
              <a:t>Var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K?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1, di mana </a:t>
            </a:r>
            <a:r>
              <a:rPr sz="2200" spc="-40" dirty="0">
                <a:latin typeface="Calibri"/>
                <a:cs typeface="Calibri"/>
              </a:rPr>
              <a:t>C,M,Y </a:t>
            </a:r>
            <a:r>
              <a:rPr sz="2200" spc="-15" dirty="0">
                <a:latin typeface="Calibri"/>
                <a:cs typeface="Calibri"/>
              </a:rPr>
              <a:t>semuanya </a:t>
            </a:r>
            <a:r>
              <a:rPr sz="2200" spc="-10" dirty="0">
                <a:latin typeface="Calibri"/>
                <a:cs typeface="Calibri"/>
              </a:rPr>
              <a:t>bernilai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0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01059" y="418592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39">
                <a:moveTo>
                  <a:pt x="0" y="15239"/>
                </a:moveTo>
                <a:lnTo>
                  <a:pt x="81025" y="15239"/>
                </a:lnTo>
                <a:lnTo>
                  <a:pt x="81025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51351" y="3310890"/>
            <a:ext cx="31115" cy="875030"/>
          </a:xfrm>
          <a:custGeom>
            <a:avLst/>
            <a:gdLst/>
            <a:ahLst/>
            <a:cxnLst/>
            <a:rect l="l" t="t" r="r" b="b"/>
            <a:pathLst>
              <a:path w="31114" h="875029">
                <a:moveTo>
                  <a:pt x="0" y="875030"/>
                </a:moveTo>
                <a:lnTo>
                  <a:pt x="30734" y="875030"/>
                </a:lnTo>
                <a:lnTo>
                  <a:pt x="30734" y="0"/>
                </a:lnTo>
                <a:lnTo>
                  <a:pt x="0" y="0"/>
                </a:lnTo>
                <a:lnTo>
                  <a:pt x="0" y="87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01059" y="329692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70"/>
                </a:moveTo>
                <a:lnTo>
                  <a:pt x="81025" y="13970"/>
                </a:lnTo>
                <a:lnTo>
                  <a:pt x="81025" y="0"/>
                </a:lnTo>
                <a:lnTo>
                  <a:pt x="0" y="0"/>
                </a:lnTo>
                <a:lnTo>
                  <a:pt x="0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39744" y="418592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39">
                <a:moveTo>
                  <a:pt x="0" y="15239"/>
                </a:moveTo>
                <a:lnTo>
                  <a:pt x="80898" y="15239"/>
                </a:lnTo>
                <a:lnTo>
                  <a:pt x="80898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39744" y="3310890"/>
            <a:ext cx="31115" cy="875030"/>
          </a:xfrm>
          <a:custGeom>
            <a:avLst/>
            <a:gdLst/>
            <a:ahLst/>
            <a:cxnLst/>
            <a:rect l="l" t="t" r="r" b="b"/>
            <a:pathLst>
              <a:path w="31114" h="875029">
                <a:moveTo>
                  <a:pt x="0" y="875030"/>
                </a:moveTo>
                <a:lnTo>
                  <a:pt x="30606" y="875030"/>
                </a:lnTo>
                <a:lnTo>
                  <a:pt x="30606" y="0"/>
                </a:lnTo>
                <a:lnTo>
                  <a:pt x="0" y="0"/>
                </a:lnTo>
                <a:lnTo>
                  <a:pt x="0" y="87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539744" y="329692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70"/>
                </a:moveTo>
                <a:lnTo>
                  <a:pt x="80898" y="13970"/>
                </a:lnTo>
                <a:lnTo>
                  <a:pt x="80898" y="0"/>
                </a:lnTo>
                <a:lnTo>
                  <a:pt x="0" y="0"/>
                </a:lnTo>
                <a:lnTo>
                  <a:pt x="0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615690" y="3176396"/>
            <a:ext cx="285115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>
              <a:lnSpc>
                <a:spcPts val="284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𝐶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5"/>
              </a:lnSpc>
            </a:pPr>
            <a:r>
              <a:rPr sz="2400" dirty="0">
                <a:latin typeface="Cambria Math"/>
                <a:cs typeface="Cambria Math"/>
              </a:rPr>
              <a:t>𝑀</a:t>
            </a:r>
            <a:endParaRPr sz="2400">
              <a:latin typeface="Cambria Math"/>
              <a:cs typeface="Cambria Math"/>
            </a:endParaRPr>
          </a:p>
          <a:p>
            <a:pPr marL="33655">
              <a:lnSpc>
                <a:spcPts val="2850"/>
              </a:lnSpc>
            </a:pPr>
            <a:r>
              <a:rPr sz="2400" dirty="0">
                <a:latin typeface="Cambria Math"/>
                <a:cs typeface="Cambria Math"/>
              </a:rPr>
              <a:t>𝐾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88129" y="3517772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08778" y="418592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39">
                <a:moveTo>
                  <a:pt x="0" y="15239"/>
                </a:moveTo>
                <a:lnTo>
                  <a:pt x="81025" y="15239"/>
                </a:lnTo>
                <a:lnTo>
                  <a:pt x="81025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59071" y="3310890"/>
            <a:ext cx="31115" cy="875030"/>
          </a:xfrm>
          <a:custGeom>
            <a:avLst/>
            <a:gdLst/>
            <a:ahLst/>
            <a:cxnLst/>
            <a:rect l="l" t="t" r="r" b="b"/>
            <a:pathLst>
              <a:path w="31114" h="875029">
                <a:moveTo>
                  <a:pt x="0" y="875030"/>
                </a:moveTo>
                <a:lnTo>
                  <a:pt x="30733" y="875030"/>
                </a:lnTo>
                <a:lnTo>
                  <a:pt x="30733" y="0"/>
                </a:lnTo>
                <a:lnTo>
                  <a:pt x="0" y="0"/>
                </a:lnTo>
                <a:lnTo>
                  <a:pt x="0" y="87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08778" y="329692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70"/>
                </a:moveTo>
                <a:lnTo>
                  <a:pt x="81025" y="13970"/>
                </a:lnTo>
                <a:lnTo>
                  <a:pt x="81025" y="0"/>
                </a:lnTo>
                <a:lnTo>
                  <a:pt x="0" y="0"/>
                </a:lnTo>
                <a:lnTo>
                  <a:pt x="0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45000" y="418592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39">
                <a:moveTo>
                  <a:pt x="0" y="15239"/>
                </a:moveTo>
                <a:lnTo>
                  <a:pt x="80899" y="15239"/>
                </a:lnTo>
                <a:lnTo>
                  <a:pt x="80899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45000" y="3310890"/>
            <a:ext cx="31115" cy="875030"/>
          </a:xfrm>
          <a:custGeom>
            <a:avLst/>
            <a:gdLst/>
            <a:ahLst/>
            <a:cxnLst/>
            <a:rect l="l" t="t" r="r" b="b"/>
            <a:pathLst>
              <a:path w="31114" h="875029">
                <a:moveTo>
                  <a:pt x="0" y="875030"/>
                </a:moveTo>
                <a:lnTo>
                  <a:pt x="30607" y="875030"/>
                </a:lnTo>
                <a:lnTo>
                  <a:pt x="30607" y="0"/>
                </a:lnTo>
                <a:lnTo>
                  <a:pt x="0" y="0"/>
                </a:lnTo>
                <a:lnTo>
                  <a:pt x="0" y="87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45000" y="329692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70"/>
                </a:moveTo>
                <a:lnTo>
                  <a:pt x="80899" y="13970"/>
                </a:lnTo>
                <a:lnTo>
                  <a:pt x="80899" y="0"/>
                </a:lnTo>
                <a:lnTo>
                  <a:pt x="0" y="0"/>
                </a:lnTo>
                <a:lnTo>
                  <a:pt x="0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520946" y="3176396"/>
            <a:ext cx="194945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15"/>
              </a:lnSpc>
            </a:pPr>
            <a:r>
              <a:rPr sz="240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50"/>
              </a:lnSpc>
            </a:pPr>
            <a:r>
              <a:rPr sz="240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79085" y="3517772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−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22595" y="418592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39">
                <a:moveTo>
                  <a:pt x="0" y="15239"/>
                </a:moveTo>
                <a:lnTo>
                  <a:pt x="81025" y="15239"/>
                </a:lnTo>
                <a:lnTo>
                  <a:pt x="81025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572886" y="3310890"/>
            <a:ext cx="31115" cy="875030"/>
          </a:xfrm>
          <a:custGeom>
            <a:avLst/>
            <a:gdLst/>
            <a:ahLst/>
            <a:cxnLst/>
            <a:rect l="l" t="t" r="r" b="b"/>
            <a:pathLst>
              <a:path w="31114" h="875029">
                <a:moveTo>
                  <a:pt x="0" y="875030"/>
                </a:moveTo>
                <a:lnTo>
                  <a:pt x="30734" y="875030"/>
                </a:lnTo>
                <a:lnTo>
                  <a:pt x="30734" y="0"/>
                </a:lnTo>
                <a:lnTo>
                  <a:pt x="0" y="0"/>
                </a:lnTo>
                <a:lnTo>
                  <a:pt x="0" y="87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22595" y="329692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70"/>
                </a:moveTo>
                <a:lnTo>
                  <a:pt x="81025" y="13970"/>
                </a:lnTo>
                <a:lnTo>
                  <a:pt x="81025" y="0"/>
                </a:lnTo>
                <a:lnTo>
                  <a:pt x="0" y="0"/>
                </a:lnTo>
                <a:lnTo>
                  <a:pt x="0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19191" y="4185920"/>
            <a:ext cx="81280" cy="15240"/>
          </a:xfrm>
          <a:custGeom>
            <a:avLst/>
            <a:gdLst/>
            <a:ahLst/>
            <a:cxnLst/>
            <a:rect l="l" t="t" r="r" b="b"/>
            <a:pathLst>
              <a:path w="81279" h="15239">
                <a:moveTo>
                  <a:pt x="0" y="15239"/>
                </a:moveTo>
                <a:lnTo>
                  <a:pt x="80899" y="15239"/>
                </a:lnTo>
                <a:lnTo>
                  <a:pt x="80899" y="0"/>
                </a:lnTo>
                <a:lnTo>
                  <a:pt x="0" y="0"/>
                </a:lnTo>
                <a:lnTo>
                  <a:pt x="0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19191" y="3310890"/>
            <a:ext cx="31115" cy="875030"/>
          </a:xfrm>
          <a:custGeom>
            <a:avLst/>
            <a:gdLst/>
            <a:ahLst/>
            <a:cxnLst/>
            <a:rect l="l" t="t" r="r" b="b"/>
            <a:pathLst>
              <a:path w="31114" h="875029">
                <a:moveTo>
                  <a:pt x="0" y="875030"/>
                </a:moveTo>
                <a:lnTo>
                  <a:pt x="30607" y="875030"/>
                </a:lnTo>
                <a:lnTo>
                  <a:pt x="30607" y="0"/>
                </a:lnTo>
                <a:lnTo>
                  <a:pt x="0" y="0"/>
                </a:lnTo>
                <a:lnTo>
                  <a:pt x="0" y="875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19191" y="3296920"/>
            <a:ext cx="81280" cy="13970"/>
          </a:xfrm>
          <a:custGeom>
            <a:avLst/>
            <a:gdLst/>
            <a:ahLst/>
            <a:cxnLst/>
            <a:rect l="l" t="t" r="r" b="b"/>
            <a:pathLst>
              <a:path w="81279" h="13970">
                <a:moveTo>
                  <a:pt x="0" y="13970"/>
                </a:moveTo>
                <a:lnTo>
                  <a:pt x="80899" y="13970"/>
                </a:lnTo>
                <a:lnTo>
                  <a:pt x="80899" y="0"/>
                </a:lnTo>
                <a:lnTo>
                  <a:pt x="0" y="0"/>
                </a:lnTo>
                <a:lnTo>
                  <a:pt x="0" y="139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295391" y="3174872"/>
            <a:ext cx="226060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ts val="285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𝑅</a:t>
            </a:r>
            <a:endParaRPr sz="2400">
              <a:latin typeface="Cambria Math"/>
              <a:cs typeface="Cambria Math"/>
            </a:endParaRPr>
          </a:p>
          <a:p>
            <a:pPr marL="13970">
              <a:lnSpc>
                <a:spcPts val="2815"/>
              </a:lnSpc>
            </a:pPr>
            <a:r>
              <a:rPr sz="2400" dirty="0">
                <a:latin typeface="Cambria Math"/>
                <a:cs typeface="Cambria Math"/>
              </a:rPr>
              <a:t>𝐺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ts val="2845"/>
              </a:lnSpc>
            </a:pPr>
            <a:r>
              <a:rPr sz="2400" dirty="0">
                <a:latin typeface="Cambria Math"/>
                <a:cs typeface="Cambria Math"/>
              </a:rPr>
              <a:t>𝐵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550333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RGB </a:t>
            </a:r>
            <a:r>
              <a:rPr sz="3600" spc="-5" dirty="0"/>
              <a:t>and CMY </a:t>
            </a:r>
            <a:r>
              <a:rPr sz="3600" dirty="0"/>
              <a:t>in a</a:t>
            </a:r>
            <a:r>
              <a:rPr sz="3600" spc="5" dirty="0"/>
              <a:t> </a:t>
            </a:r>
            <a:r>
              <a:rPr sz="3600" spc="-5" dirty="0"/>
              <a:t>Glance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7591425" cy="393001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Creating </a:t>
            </a:r>
            <a:r>
              <a:rPr sz="2400" spc="-15" dirty="0">
                <a:latin typeface="Calibri"/>
                <a:cs typeface="Calibri"/>
              </a:rPr>
              <a:t>colors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RGB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CMY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straightforward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Additive </a:t>
            </a:r>
            <a:r>
              <a:rPr sz="2200" dirty="0">
                <a:latin typeface="Calibri"/>
                <a:cs typeface="Calibri"/>
              </a:rPr>
              <a:t>or </a:t>
            </a:r>
            <a:r>
              <a:rPr sz="2200" spc="-15" dirty="0">
                <a:latin typeface="Calibri"/>
                <a:cs typeface="Calibri"/>
              </a:rPr>
              <a:t>subtractive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colors.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It is </a:t>
            </a:r>
            <a:r>
              <a:rPr sz="2400" spc="-15" dirty="0">
                <a:latin typeface="Calibri"/>
                <a:cs typeface="Calibri"/>
              </a:rPr>
              <a:t>easy to convert colors from </a:t>
            </a:r>
            <a:r>
              <a:rPr sz="2400" spc="-10" dirty="0">
                <a:latin typeface="Calibri"/>
                <a:cs typeface="Calibri"/>
              </a:rPr>
              <a:t>RGB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CMY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vice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versa.</a:t>
            </a:r>
            <a:endParaRPr sz="24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RGB: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easy to understand </a:t>
            </a:r>
            <a:r>
              <a:rPr sz="2400" spc="-5" dirty="0">
                <a:latin typeface="Calibri"/>
                <a:cs typeface="Calibri"/>
              </a:rPr>
              <a:t>based on human </a:t>
            </a:r>
            <a:r>
              <a:rPr sz="2400" spc="-10" dirty="0">
                <a:latin typeface="Calibri"/>
                <a:cs typeface="Calibri"/>
              </a:rPr>
              <a:t>photopic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vision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vision </a:t>
            </a:r>
            <a:r>
              <a:rPr sz="2200" spc="-15" dirty="0">
                <a:latin typeface="Calibri"/>
                <a:cs typeface="Calibri"/>
              </a:rPr>
              <a:t>captured </a:t>
            </a:r>
            <a:r>
              <a:rPr sz="2200" spc="-10" dirty="0">
                <a:latin typeface="Calibri"/>
                <a:cs typeface="Calibri"/>
              </a:rPr>
              <a:t>by </a:t>
            </a:r>
            <a:r>
              <a:rPr sz="2200" spc="-5" dirty="0">
                <a:latin typeface="Calibri"/>
                <a:cs typeface="Calibri"/>
              </a:rPr>
              <a:t>the R,G,B </a:t>
            </a:r>
            <a:r>
              <a:rPr sz="2200" spc="-15" dirty="0">
                <a:latin typeface="Calibri"/>
                <a:cs typeface="Calibri"/>
              </a:rPr>
              <a:t>cone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cells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RGB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CMY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both </a:t>
            </a:r>
            <a:r>
              <a:rPr sz="2400" dirty="0">
                <a:latin typeface="Calibri"/>
                <a:cs typeface="Calibri"/>
              </a:rPr>
              <a:t>ideal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5" dirty="0">
                <a:latin typeface="Calibri"/>
                <a:cs typeface="Calibri"/>
              </a:rPr>
              <a:t>hardware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315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But,</a:t>
            </a:r>
            <a:endParaRPr sz="2400">
              <a:latin typeface="Calibri"/>
              <a:cs typeface="Calibri"/>
            </a:endParaRPr>
          </a:p>
          <a:p>
            <a:pPr marL="527685" marR="5080" lvl="1" indent="-172720">
              <a:lnSpc>
                <a:spcPts val="2380"/>
              </a:lnSpc>
              <a:spcBef>
                <a:spcPts val="44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RGB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CMY are not </a:t>
            </a:r>
            <a:r>
              <a:rPr sz="2200" spc="-5" dirty="0">
                <a:latin typeface="Calibri"/>
                <a:cs typeface="Calibri"/>
              </a:rPr>
              <a:t>ideal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describe how </a:t>
            </a:r>
            <a:r>
              <a:rPr sz="2200" i="1" spc="-10" dirty="0">
                <a:latin typeface="Calibri"/>
                <a:cs typeface="Calibri"/>
              </a:rPr>
              <a:t>humans </a:t>
            </a:r>
            <a:r>
              <a:rPr sz="2200" spc="-15" dirty="0">
                <a:latin typeface="Calibri"/>
                <a:cs typeface="Calibri"/>
              </a:rPr>
              <a:t>perceieve  colors.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29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14449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HSI (also known </a:t>
            </a:r>
            <a:r>
              <a:rPr sz="3600" dirty="0"/>
              <a:t>as </a:t>
            </a:r>
            <a:r>
              <a:rPr sz="3600" spc="-10" dirty="0"/>
              <a:t>HSV </a:t>
            </a:r>
            <a:r>
              <a:rPr sz="3600" dirty="0"/>
              <a:t>/</a:t>
            </a:r>
            <a:r>
              <a:rPr sz="3600" spc="-45" dirty="0"/>
              <a:t> </a:t>
            </a:r>
            <a:r>
              <a:rPr sz="3600" spc="-5" dirty="0"/>
              <a:t>HSL)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6997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Hue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3095066"/>
            <a:ext cx="14801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libri"/>
                <a:cs typeface="Calibri"/>
              </a:rPr>
              <a:t>Saturation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4387672"/>
            <a:ext cx="1273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Intensity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30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33144" y="2385060"/>
            <a:ext cx="6077711" cy="30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33144" y="3736847"/>
            <a:ext cx="6077711" cy="3672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3144" y="5151120"/>
            <a:ext cx="6077711" cy="2956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37017710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HSV </a:t>
            </a:r>
            <a:r>
              <a:rPr sz="3600" dirty="0"/>
              <a:t>/ </a:t>
            </a:r>
            <a:r>
              <a:rPr sz="3600" spc="-5" dirty="0"/>
              <a:t>HSL </a:t>
            </a:r>
            <a:r>
              <a:rPr sz="3600" dirty="0"/>
              <a:t>/</a:t>
            </a:r>
            <a:r>
              <a:rPr sz="3600" spc="-60" dirty="0"/>
              <a:t> </a:t>
            </a:r>
            <a:r>
              <a:rPr sz="3600" spc="-5" dirty="0"/>
              <a:t>HSI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31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61082" y="1865609"/>
            <a:ext cx="6390126" cy="42022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9799690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4645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35"/>
              </a:spcBef>
            </a:pPr>
            <a:r>
              <a:rPr sz="3600" spc="-10" dirty="0"/>
              <a:t>RGB</a:t>
            </a:r>
            <a:r>
              <a:rPr sz="3600" b="0" spc="-10" dirty="0">
                <a:latin typeface="Cambria Math"/>
                <a:cs typeface="Cambria Math"/>
              </a:rPr>
              <a:t>→</a:t>
            </a:r>
            <a:r>
              <a:rPr sz="3600" spc="-10" dirty="0"/>
              <a:t>HSI</a:t>
            </a:r>
            <a:endParaRPr sz="36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1273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Intensity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542" y="2665603"/>
            <a:ext cx="14801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5" dirty="0">
                <a:latin typeface="Calibri"/>
                <a:cs typeface="Calibri"/>
              </a:rPr>
              <a:t>Saturation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7542" y="3526917"/>
            <a:ext cx="699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Hue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32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32122" y="2145664"/>
            <a:ext cx="142240" cy="17145"/>
          </a:xfrm>
          <a:custGeom>
            <a:avLst/>
            <a:gdLst/>
            <a:ahLst/>
            <a:cxnLst/>
            <a:rect l="l" t="t" r="r" b="b"/>
            <a:pathLst>
              <a:path w="142239" h="17144">
                <a:moveTo>
                  <a:pt x="141732" y="0"/>
                </a:moveTo>
                <a:lnTo>
                  <a:pt x="0" y="0"/>
                </a:lnTo>
                <a:lnTo>
                  <a:pt x="0" y="16763"/>
                </a:lnTo>
                <a:lnTo>
                  <a:pt x="141732" y="16763"/>
                </a:lnTo>
                <a:lnTo>
                  <a:pt x="1417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20058" y="1767586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0058" y="2130679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4194" y="1959305"/>
            <a:ext cx="197738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2460" algn="l"/>
              </a:tabLst>
            </a:pPr>
            <a:r>
              <a:rPr sz="2000" dirty="0">
                <a:latin typeface="Cambria Math"/>
                <a:cs typeface="Cambria Math"/>
              </a:rPr>
              <a:t>𝐼</a:t>
            </a:r>
            <a:r>
              <a:rPr sz="2000" spc="1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=	(𝑅 + 𝐺 +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𝐵)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6700" y="2954527"/>
            <a:ext cx="8851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𝑆 = 1</a:t>
            </a:r>
            <a:r>
              <a:rPr sz="2000" spc="18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−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34942" y="3140201"/>
            <a:ext cx="1332230" cy="17145"/>
          </a:xfrm>
          <a:custGeom>
            <a:avLst/>
            <a:gdLst/>
            <a:ahLst/>
            <a:cxnLst/>
            <a:rect l="l" t="t" r="r" b="b"/>
            <a:pathLst>
              <a:path w="1332229" h="17144">
                <a:moveTo>
                  <a:pt x="1331976" y="0"/>
                </a:moveTo>
                <a:lnTo>
                  <a:pt x="0" y="0"/>
                </a:lnTo>
                <a:lnTo>
                  <a:pt x="0" y="16763"/>
                </a:lnTo>
                <a:lnTo>
                  <a:pt x="1331976" y="16763"/>
                </a:lnTo>
                <a:lnTo>
                  <a:pt x="13319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317238" y="2762504"/>
            <a:ext cx="166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3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57295" y="3201416"/>
            <a:ext cx="1287780" cy="236220"/>
          </a:xfrm>
          <a:custGeom>
            <a:avLst/>
            <a:gdLst/>
            <a:ahLst/>
            <a:cxnLst/>
            <a:rect l="l" t="t" r="r" b="b"/>
            <a:pathLst>
              <a:path w="1287779" h="236220">
                <a:moveTo>
                  <a:pt x="1212595" y="0"/>
                </a:moveTo>
                <a:lnTo>
                  <a:pt x="1209166" y="9525"/>
                </a:lnTo>
                <a:lnTo>
                  <a:pt x="1222807" y="15430"/>
                </a:lnTo>
                <a:lnTo>
                  <a:pt x="1234566" y="23622"/>
                </a:lnTo>
                <a:lnTo>
                  <a:pt x="1258421" y="61652"/>
                </a:lnTo>
                <a:lnTo>
                  <a:pt x="1266189" y="116712"/>
                </a:lnTo>
                <a:lnTo>
                  <a:pt x="1265328" y="137477"/>
                </a:lnTo>
                <a:lnTo>
                  <a:pt x="1252219" y="188341"/>
                </a:lnTo>
                <a:lnTo>
                  <a:pt x="1223002" y="220184"/>
                </a:lnTo>
                <a:lnTo>
                  <a:pt x="1209547" y="226187"/>
                </a:lnTo>
                <a:lnTo>
                  <a:pt x="1212595" y="235712"/>
                </a:lnTo>
                <a:lnTo>
                  <a:pt x="1257583" y="208994"/>
                </a:lnTo>
                <a:lnTo>
                  <a:pt x="1282922" y="159591"/>
                </a:lnTo>
                <a:lnTo>
                  <a:pt x="1287779" y="117856"/>
                </a:lnTo>
                <a:lnTo>
                  <a:pt x="1286563" y="96281"/>
                </a:lnTo>
                <a:lnTo>
                  <a:pt x="1276796" y="57991"/>
                </a:lnTo>
                <a:lnTo>
                  <a:pt x="1244600" y="15065"/>
                </a:lnTo>
                <a:lnTo>
                  <a:pt x="1229645" y="6145"/>
                </a:lnTo>
                <a:lnTo>
                  <a:pt x="1212595" y="0"/>
                </a:lnTo>
                <a:close/>
              </a:path>
              <a:path w="1287779" h="236220">
                <a:moveTo>
                  <a:pt x="75183" y="0"/>
                </a:moveTo>
                <a:lnTo>
                  <a:pt x="30214" y="26771"/>
                </a:lnTo>
                <a:lnTo>
                  <a:pt x="4857" y="76326"/>
                </a:lnTo>
                <a:lnTo>
                  <a:pt x="0" y="117856"/>
                </a:lnTo>
                <a:lnTo>
                  <a:pt x="1214" y="139574"/>
                </a:lnTo>
                <a:lnTo>
                  <a:pt x="10929" y="177917"/>
                </a:lnTo>
                <a:lnTo>
                  <a:pt x="43068" y="220662"/>
                </a:lnTo>
                <a:lnTo>
                  <a:pt x="75183" y="235712"/>
                </a:lnTo>
                <a:lnTo>
                  <a:pt x="78231" y="226187"/>
                </a:lnTo>
                <a:lnTo>
                  <a:pt x="64775" y="220184"/>
                </a:lnTo>
                <a:lnTo>
                  <a:pt x="53165" y="211883"/>
                </a:lnTo>
                <a:lnTo>
                  <a:pt x="29338" y="173291"/>
                </a:lnTo>
                <a:lnTo>
                  <a:pt x="21462" y="116712"/>
                </a:lnTo>
                <a:lnTo>
                  <a:pt x="22342" y="96565"/>
                </a:lnTo>
                <a:lnTo>
                  <a:pt x="35432" y="46862"/>
                </a:lnTo>
                <a:lnTo>
                  <a:pt x="64990" y="15430"/>
                </a:lnTo>
                <a:lnTo>
                  <a:pt x="78612" y="9525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28034" y="3125216"/>
            <a:ext cx="11404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𝑅 + 𝐺 +</a:t>
            </a:r>
            <a:r>
              <a:rPr sz="2000" spc="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𝐵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7526" y="2954527"/>
            <a:ext cx="15398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[min(𝑅, </a:t>
            </a:r>
            <a:r>
              <a:rPr sz="2000" spc="45" dirty="0">
                <a:latin typeface="Cambria Math"/>
                <a:cs typeface="Cambria Math"/>
              </a:rPr>
              <a:t>𝐺,</a:t>
            </a:r>
            <a:r>
              <a:rPr sz="2000" spc="-280" dirty="0">
                <a:latin typeface="Cambria Math"/>
                <a:cs typeface="Cambria Math"/>
              </a:rPr>
              <a:t> </a:t>
            </a:r>
            <a:r>
              <a:rPr sz="2000" spc="15" dirty="0">
                <a:latin typeface="Cambria Math"/>
                <a:cs typeface="Cambria Math"/>
              </a:rPr>
              <a:t>𝐵)]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9455" y="4166361"/>
            <a:ext cx="3873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𝐻</a:t>
            </a:r>
            <a:r>
              <a:rPr sz="2000" spc="-55" dirty="0">
                <a:latin typeface="Cambria Math"/>
                <a:cs typeface="Cambria Math"/>
              </a:rPr>
              <a:t> </a:t>
            </a:r>
            <a:r>
              <a:rPr sz="2000" spc="555" dirty="0">
                <a:latin typeface="Cambria Math"/>
                <a:cs typeface="Cambria Math"/>
              </a:rPr>
              <a:t> 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83609" y="3997197"/>
            <a:ext cx="13792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5925" algn="l"/>
              </a:tabLst>
            </a:pPr>
            <a:r>
              <a:rPr sz="2000" dirty="0">
                <a:latin typeface="Cambria Math"/>
                <a:cs typeface="Cambria Math"/>
              </a:rPr>
              <a:t>𝜃	𝑖𝑓 𝐵 ≤</a:t>
            </a:r>
            <a:r>
              <a:rPr sz="2000" spc="2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𝐺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0644" y="4312361"/>
            <a:ext cx="21069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43635" algn="l"/>
              </a:tabLst>
            </a:pPr>
            <a:r>
              <a:rPr sz="2000" spc="-5" dirty="0">
                <a:latin typeface="Cambria Math"/>
                <a:cs typeface="Cambria Math"/>
              </a:rPr>
              <a:t>360</a:t>
            </a:r>
            <a:r>
              <a:rPr sz="2000" spc="2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𝜃	𝑖𝑓 𝐵 &gt;</a:t>
            </a:r>
            <a:r>
              <a:rPr sz="2000" spc="254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𝐺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76727" y="5155819"/>
            <a:ext cx="11671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𝜃 =</a:t>
            </a:r>
            <a:r>
              <a:rPr sz="2000" spc="204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cos</a:t>
            </a:r>
            <a:r>
              <a:rPr sz="2175" spc="30" baseline="28735" dirty="0">
                <a:latin typeface="Cambria Math"/>
                <a:cs typeface="Cambria Math"/>
              </a:rPr>
              <a:t>−1</a:t>
            </a:r>
            <a:endParaRPr sz="2175" baseline="28735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977004" y="4875910"/>
            <a:ext cx="3665854" cy="946150"/>
          </a:xfrm>
          <a:custGeom>
            <a:avLst/>
            <a:gdLst/>
            <a:ahLst/>
            <a:cxnLst/>
            <a:rect l="l" t="t" r="r" b="b"/>
            <a:pathLst>
              <a:path w="3665854" h="946150">
                <a:moveTo>
                  <a:pt x="3528060" y="0"/>
                </a:moveTo>
                <a:lnTo>
                  <a:pt x="3519678" y="8508"/>
                </a:lnTo>
                <a:lnTo>
                  <a:pt x="3546992" y="49016"/>
                </a:lnTo>
                <a:lnTo>
                  <a:pt x="3570843" y="95678"/>
                </a:lnTo>
                <a:lnTo>
                  <a:pt x="3591240" y="148508"/>
                </a:lnTo>
                <a:lnTo>
                  <a:pt x="3608197" y="207518"/>
                </a:lnTo>
                <a:lnTo>
                  <a:pt x="3619169" y="257903"/>
                </a:lnTo>
                <a:lnTo>
                  <a:pt x="3627704" y="309550"/>
                </a:lnTo>
                <a:lnTo>
                  <a:pt x="3633800" y="362472"/>
                </a:lnTo>
                <a:lnTo>
                  <a:pt x="3637457" y="416679"/>
                </a:lnTo>
                <a:lnTo>
                  <a:pt x="3638674" y="472313"/>
                </a:lnTo>
                <a:lnTo>
                  <a:pt x="3637457" y="526501"/>
                </a:lnTo>
                <a:lnTo>
                  <a:pt x="3633800" y="580025"/>
                </a:lnTo>
                <a:lnTo>
                  <a:pt x="3627704" y="632760"/>
                </a:lnTo>
                <a:lnTo>
                  <a:pt x="3619169" y="684705"/>
                </a:lnTo>
                <a:lnTo>
                  <a:pt x="3608197" y="735863"/>
                </a:lnTo>
                <a:lnTo>
                  <a:pt x="3591240" y="796028"/>
                </a:lnTo>
                <a:lnTo>
                  <a:pt x="3570843" y="849707"/>
                </a:lnTo>
                <a:lnTo>
                  <a:pt x="3546992" y="896903"/>
                </a:lnTo>
                <a:lnTo>
                  <a:pt x="3519678" y="937615"/>
                </a:lnTo>
                <a:lnTo>
                  <a:pt x="3528060" y="945934"/>
                </a:lnTo>
                <a:lnTo>
                  <a:pt x="3558041" y="906002"/>
                </a:lnTo>
                <a:lnTo>
                  <a:pt x="3584749" y="859150"/>
                </a:lnTo>
                <a:lnTo>
                  <a:pt x="3608195" y="805375"/>
                </a:lnTo>
                <a:lnTo>
                  <a:pt x="3628390" y="744677"/>
                </a:lnTo>
                <a:lnTo>
                  <a:pt x="3641818" y="692718"/>
                </a:lnTo>
                <a:lnTo>
                  <a:pt x="3652241" y="639500"/>
                </a:lnTo>
                <a:lnTo>
                  <a:pt x="3659671" y="585024"/>
                </a:lnTo>
                <a:lnTo>
                  <a:pt x="3664120" y="529294"/>
                </a:lnTo>
                <a:lnTo>
                  <a:pt x="3665597" y="472185"/>
                </a:lnTo>
                <a:lnTo>
                  <a:pt x="3664120" y="414263"/>
                </a:lnTo>
                <a:lnTo>
                  <a:pt x="3659671" y="357921"/>
                </a:lnTo>
                <a:lnTo>
                  <a:pt x="3652241" y="303286"/>
                </a:lnTo>
                <a:lnTo>
                  <a:pt x="3641818" y="250357"/>
                </a:lnTo>
                <a:lnTo>
                  <a:pt x="3628390" y="199136"/>
                </a:lnTo>
                <a:lnTo>
                  <a:pt x="3608195" y="139463"/>
                </a:lnTo>
                <a:lnTo>
                  <a:pt x="3584749" y="86375"/>
                </a:lnTo>
                <a:lnTo>
                  <a:pt x="3558041" y="39883"/>
                </a:lnTo>
                <a:lnTo>
                  <a:pt x="3528060" y="0"/>
                </a:lnTo>
                <a:close/>
              </a:path>
              <a:path w="3665854" h="946150">
                <a:moveTo>
                  <a:pt x="137541" y="0"/>
                </a:moveTo>
                <a:lnTo>
                  <a:pt x="107539" y="39883"/>
                </a:lnTo>
                <a:lnTo>
                  <a:pt x="80787" y="86375"/>
                </a:lnTo>
                <a:lnTo>
                  <a:pt x="57298" y="139463"/>
                </a:lnTo>
                <a:lnTo>
                  <a:pt x="37084" y="199136"/>
                </a:lnTo>
                <a:lnTo>
                  <a:pt x="23717" y="250357"/>
                </a:lnTo>
                <a:lnTo>
                  <a:pt x="13331" y="303286"/>
                </a:lnTo>
                <a:lnTo>
                  <a:pt x="5921" y="357921"/>
                </a:lnTo>
                <a:lnTo>
                  <a:pt x="1479" y="414263"/>
                </a:lnTo>
                <a:lnTo>
                  <a:pt x="0" y="472313"/>
                </a:lnTo>
                <a:lnTo>
                  <a:pt x="1479" y="529294"/>
                </a:lnTo>
                <a:lnTo>
                  <a:pt x="5921" y="585024"/>
                </a:lnTo>
                <a:lnTo>
                  <a:pt x="13331" y="639500"/>
                </a:lnTo>
                <a:lnTo>
                  <a:pt x="23717" y="692718"/>
                </a:lnTo>
                <a:lnTo>
                  <a:pt x="37084" y="744677"/>
                </a:lnTo>
                <a:lnTo>
                  <a:pt x="57298" y="805375"/>
                </a:lnTo>
                <a:lnTo>
                  <a:pt x="80787" y="859150"/>
                </a:lnTo>
                <a:lnTo>
                  <a:pt x="107539" y="906002"/>
                </a:lnTo>
                <a:lnTo>
                  <a:pt x="137541" y="945934"/>
                </a:lnTo>
                <a:lnTo>
                  <a:pt x="145796" y="937615"/>
                </a:lnTo>
                <a:lnTo>
                  <a:pt x="118481" y="896903"/>
                </a:lnTo>
                <a:lnTo>
                  <a:pt x="94630" y="849707"/>
                </a:lnTo>
                <a:lnTo>
                  <a:pt x="74233" y="796028"/>
                </a:lnTo>
                <a:lnTo>
                  <a:pt x="57277" y="735863"/>
                </a:lnTo>
                <a:lnTo>
                  <a:pt x="46366" y="684705"/>
                </a:lnTo>
                <a:lnTo>
                  <a:pt x="37869" y="632760"/>
                </a:lnTo>
                <a:lnTo>
                  <a:pt x="31792" y="580025"/>
                </a:lnTo>
                <a:lnTo>
                  <a:pt x="28142" y="526501"/>
                </a:lnTo>
                <a:lnTo>
                  <a:pt x="26924" y="472185"/>
                </a:lnTo>
                <a:lnTo>
                  <a:pt x="28143" y="416679"/>
                </a:lnTo>
                <a:lnTo>
                  <a:pt x="31800" y="362472"/>
                </a:lnTo>
                <a:lnTo>
                  <a:pt x="37896" y="309550"/>
                </a:lnTo>
                <a:lnTo>
                  <a:pt x="46431" y="257903"/>
                </a:lnTo>
                <a:lnTo>
                  <a:pt x="57404" y="207518"/>
                </a:lnTo>
                <a:lnTo>
                  <a:pt x="74358" y="148508"/>
                </a:lnTo>
                <a:lnTo>
                  <a:pt x="94742" y="95678"/>
                </a:lnTo>
                <a:lnTo>
                  <a:pt x="118554" y="49016"/>
                </a:lnTo>
                <a:lnTo>
                  <a:pt x="145796" y="8508"/>
                </a:lnTo>
                <a:lnTo>
                  <a:pt x="137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31183" y="5340984"/>
            <a:ext cx="3357879" cy="17145"/>
          </a:xfrm>
          <a:custGeom>
            <a:avLst/>
            <a:gdLst/>
            <a:ahLst/>
            <a:cxnLst/>
            <a:rect l="l" t="t" r="r" b="b"/>
            <a:pathLst>
              <a:path w="3357879" h="17145">
                <a:moveTo>
                  <a:pt x="3357371" y="0"/>
                </a:moveTo>
                <a:lnTo>
                  <a:pt x="0" y="0"/>
                </a:lnTo>
                <a:lnTo>
                  <a:pt x="0" y="16763"/>
                </a:lnTo>
                <a:lnTo>
                  <a:pt x="3357371" y="16763"/>
                </a:lnTo>
                <a:lnTo>
                  <a:pt x="33573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21910" y="5100192"/>
            <a:ext cx="142240" cy="17145"/>
          </a:xfrm>
          <a:custGeom>
            <a:avLst/>
            <a:gdLst/>
            <a:ahLst/>
            <a:cxnLst/>
            <a:rect l="l" t="t" r="r" b="b"/>
            <a:pathLst>
              <a:path w="142239" h="17145">
                <a:moveTo>
                  <a:pt x="141732" y="0"/>
                </a:moveTo>
                <a:lnTo>
                  <a:pt x="0" y="0"/>
                </a:lnTo>
                <a:lnTo>
                  <a:pt x="0" y="16763"/>
                </a:lnTo>
                <a:lnTo>
                  <a:pt x="141732" y="16763"/>
                </a:lnTo>
                <a:lnTo>
                  <a:pt x="1417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09846" y="5043042"/>
            <a:ext cx="1663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2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917059" y="4990719"/>
            <a:ext cx="809625" cy="236220"/>
          </a:xfrm>
          <a:custGeom>
            <a:avLst/>
            <a:gdLst/>
            <a:ahLst/>
            <a:cxnLst/>
            <a:rect l="l" t="t" r="r" b="b"/>
            <a:pathLst>
              <a:path w="809625" h="236220">
                <a:moveTo>
                  <a:pt x="734060" y="0"/>
                </a:moveTo>
                <a:lnTo>
                  <a:pt x="730630" y="9524"/>
                </a:lnTo>
                <a:lnTo>
                  <a:pt x="744271" y="15430"/>
                </a:lnTo>
                <a:lnTo>
                  <a:pt x="756030" y="23621"/>
                </a:lnTo>
                <a:lnTo>
                  <a:pt x="779885" y="61650"/>
                </a:lnTo>
                <a:lnTo>
                  <a:pt x="787653" y="116585"/>
                </a:lnTo>
                <a:lnTo>
                  <a:pt x="786792" y="137423"/>
                </a:lnTo>
                <a:lnTo>
                  <a:pt x="773683" y="188340"/>
                </a:lnTo>
                <a:lnTo>
                  <a:pt x="744466" y="220130"/>
                </a:lnTo>
                <a:lnTo>
                  <a:pt x="731012" y="226059"/>
                </a:lnTo>
                <a:lnTo>
                  <a:pt x="734060" y="235711"/>
                </a:lnTo>
                <a:lnTo>
                  <a:pt x="779047" y="208887"/>
                </a:lnTo>
                <a:lnTo>
                  <a:pt x="804386" y="159480"/>
                </a:lnTo>
                <a:lnTo>
                  <a:pt x="809243" y="117855"/>
                </a:lnTo>
                <a:lnTo>
                  <a:pt x="808027" y="96281"/>
                </a:lnTo>
                <a:lnTo>
                  <a:pt x="798260" y="57991"/>
                </a:lnTo>
                <a:lnTo>
                  <a:pt x="766063" y="15065"/>
                </a:lnTo>
                <a:lnTo>
                  <a:pt x="751109" y="6145"/>
                </a:lnTo>
                <a:lnTo>
                  <a:pt x="734060" y="0"/>
                </a:lnTo>
                <a:close/>
              </a:path>
              <a:path w="809625" h="236220">
                <a:moveTo>
                  <a:pt x="75183" y="0"/>
                </a:moveTo>
                <a:lnTo>
                  <a:pt x="30214" y="26771"/>
                </a:lnTo>
                <a:lnTo>
                  <a:pt x="4857" y="76326"/>
                </a:lnTo>
                <a:lnTo>
                  <a:pt x="0" y="117855"/>
                </a:lnTo>
                <a:lnTo>
                  <a:pt x="1214" y="139501"/>
                </a:lnTo>
                <a:lnTo>
                  <a:pt x="10929" y="177792"/>
                </a:lnTo>
                <a:lnTo>
                  <a:pt x="43068" y="220598"/>
                </a:lnTo>
                <a:lnTo>
                  <a:pt x="75183" y="235711"/>
                </a:lnTo>
                <a:lnTo>
                  <a:pt x="78231" y="226059"/>
                </a:lnTo>
                <a:lnTo>
                  <a:pt x="64775" y="220130"/>
                </a:lnTo>
                <a:lnTo>
                  <a:pt x="53165" y="211867"/>
                </a:lnTo>
                <a:lnTo>
                  <a:pt x="29338" y="173289"/>
                </a:lnTo>
                <a:lnTo>
                  <a:pt x="21462" y="116585"/>
                </a:lnTo>
                <a:lnTo>
                  <a:pt x="22342" y="96512"/>
                </a:lnTo>
                <a:lnTo>
                  <a:pt x="35432" y="46862"/>
                </a:lnTo>
                <a:lnTo>
                  <a:pt x="64990" y="15430"/>
                </a:lnTo>
                <a:lnTo>
                  <a:pt x="78612" y="9524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571746" y="4915027"/>
            <a:ext cx="2464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1235075" algn="l"/>
              </a:tabLst>
            </a:pPr>
            <a:r>
              <a:rPr sz="3000" baseline="33333" dirty="0">
                <a:latin typeface="Cambria Math"/>
                <a:cs typeface="Cambria Math"/>
              </a:rPr>
              <a:t>1 </a:t>
            </a:r>
            <a:r>
              <a:rPr sz="2000" dirty="0">
                <a:latin typeface="Cambria Math"/>
                <a:cs typeface="Cambria Math"/>
              </a:rPr>
              <a:t>[  𝑅</a:t>
            </a:r>
            <a:r>
              <a:rPr sz="2000" spc="-10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𝐺	+ </a:t>
            </a:r>
            <a:r>
              <a:rPr sz="2000" spc="-5" dirty="0">
                <a:latin typeface="Cambria Math"/>
                <a:cs typeface="Cambria Math"/>
              </a:rPr>
              <a:t>(𝑅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10" dirty="0">
                <a:latin typeface="Cambria Math"/>
                <a:cs typeface="Cambria Math"/>
              </a:rPr>
              <a:t> 𝐵)]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135501" y="5406516"/>
            <a:ext cx="3353435" cy="316230"/>
          </a:xfrm>
          <a:custGeom>
            <a:avLst/>
            <a:gdLst/>
            <a:ahLst/>
            <a:cxnLst/>
            <a:rect l="l" t="t" r="r" b="b"/>
            <a:pathLst>
              <a:path w="3353434" h="316229">
                <a:moveTo>
                  <a:pt x="159258" y="127"/>
                </a:moveTo>
                <a:lnTo>
                  <a:pt x="83820" y="282829"/>
                </a:lnTo>
                <a:lnTo>
                  <a:pt x="40766" y="186893"/>
                </a:lnTo>
                <a:lnTo>
                  <a:pt x="0" y="205536"/>
                </a:lnTo>
                <a:lnTo>
                  <a:pt x="3937" y="214858"/>
                </a:lnTo>
                <a:lnTo>
                  <a:pt x="24891" y="205536"/>
                </a:lnTo>
                <a:lnTo>
                  <a:pt x="76326" y="316141"/>
                </a:lnTo>
                <a:lnTo>
                  <a:pt x="88391" y="316141"/>
                </a:lnTo>
                <a:lnTo>
                  <a:pt x="169163" y="16637"/>
                </a:lnTo>
                <a:lnTo>
                  <a:pt x="184658" y="16764"/>
                </a:lnTo>
                <a:lnTo>
                  <a:pt x="3353054" y="16764"/>
                </a:lnTo>
                <a:lnTo>
                  <a:pt x="33530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430903" y="5458586"/>
            <a:ext cx="809625" cy="236220"/>
          </a:xfrm>
          <a:custGeom>
            <a:avLst/>
            <a:gdLst/>
            <a:ahLst/>
            <a:cxnLst/>
            <a:rect l="l" t="t" r="r" b="b"/>
            <a:pathLst>
              <a:path w="809625" h="236220">
                <a:moveTo>
                  <a:pt x="734060" y="0"/>
                </a:moveTo>
                <a:lnTo>
                  <a:pt x="730631" y="9525"/>
                </a:lnTo>
                <a:lnTo>
                  <a:pt x="744271" y="15430"/>
                </a:lnTo>
                <a:lnTo>
                  <a:pt x="756031" y="23621"/>
                </a:lnTo>
                <a:lnTo>
                  <a:pt x="779885" y="61650"/>
                </a:lnTo>
                <a:lnTo>
                  <a:pt x="787654" y="116585"/>
                </a:lnTo>
                <a:lnTo>
                  <a:pt x="786792" y="137406"/>
                </a:lnTo>
                <a:lnTo>
                  <a:pt x="773684" y="188340"/>
                </a:lnTo>
                <a:lnTo>
                  <a:pt x="744466" y="220169"/>
                </a:lnTo>
                <a:lnTo>
                  <a:pt x="731012" y="226123"/>
                </a:lnTo>
                <a:lnTo>
                  <a:pt x="734060" y="235686"/>
                </a:lnTo>
                <a:lnTo>
                  <a:pt x="779047" y="208927"/>
                </a:lnTo>
                <a:lnTo>
                  <a:pt x="804386" y="159519"/>
                </a:lnTo>
                <a:lnTo>
                  <a:pt x="809244" y="117856"/>
                </a:lnTo>
                <a:lnTo>
                  <a:pt x="808027" y="96281"/>
                </a:lnTo>
                <a:lnTo>
                  <a:pt x="798260" y="57991"/>
                </a:lnTo>
                <a:lnTo>
                  <a:pt x="766063" y="15065"/>
                </a:lnTo>
                <a:lnTo>
                  <a:pt x="751109" y="6145"/>
                </a:lnTo>
                <a:lnTo>
                  <a:pt x="734060" y="0"/>
                </a:lnTo>
                <a:close/>
              </a:path>
              <a:path w="809625" h="236220">
                <a:moveTo>
                  <a:pt x="75184" y="0"/>
                </a:moveTo>
                <a:lnTo>
                  <a:pt x="30214" y="26771"/>
                </a:lnTo>
                <a:lnTo>
                  <a:pt x="4857" y="76326"/>
                </a:lnTo>
                <a:lnTo>
                  <a:pt x="0" y="117856"/>
                </a:lnTo>
                <a:lnTo>
                  <a:pt x="1214" y="139525"/>
                </a:lnTo>
                <a:lnTo>
                  <a:pt x="10929" y="177840"/>
                </a:lnTo>
                <a:lnTo>
                  <a:pt x="43068" y="220606"/>
                </a:lnTo>
                <a:lnTo>
                  <a:pt x="75184" y="235686"/>
                </a:lnTo>
                <a:lnTo>
                  <a:pt x="78232" y="226123"/>
                </a:lnTo>
                <a:lnTo>
                  <a:pt x="64775" y="220169"/>
                </a:lnTo>
                <a:lnTo>
                  <a:pt x="53165" y="211889"/>
                </a:lnTo>
                <a:lnTo>
                  <a:pt x="29338" y="173278"/>
                </a:lnTo>
                <a:lnTo>
                  <a:pt x="21462" y="116585"/>
                </a:lnTo>
                <a:lnTo>
                  <a:pt x="22342" y="96512"/>
                </a:lnTo>
                <a:lnTo>
                  <a:pt x="35433" y="46862"/>
                </a:lnTo>
                <a:lnTo>
                  <a:pt x="64990" y="15430"/>
                </a:lnTo>
                <a:lnTo>
                  <a:pt x="78612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282694" y="5382869"/>
            <a:ext cx="32448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[ 𝑅 − 𝐺 </a:t>
            </a:r>
            <a:r>
              <a:rPr sz="2175" spc="60" baseline="22988" dirty="0">
                <a:latin typeface="Cambria Math"/>
                <a:cs typeface="Cambria Math"/>
              </a:rPr>
              <a:t>2 </a:t>
            </a:r>
            <a:r>
              <a:rPr sz="2000" dirty="0">
                <a:latin typeface="Cambria Math"/>
                <a:cs typeface="Cambria Math"/>
              </a:rPr>
              <a:t>+ </a:t>
            </a:r>
            <a:r>
              <a:rPr sz="2000" spc="-5" dirty="0">
                <a:latin typeface="Cambria Math"/>
                <a:cs typeface="Cambria Math"/>
              </a:rPr>
              <a:t>(𝑅 </a:t>
            </a:r>
            <a:r>
              <a:rPr sz="2000" dirty="0">
                <a:latin typeface="Cambria Math"/>
                <a:cs typeface="Cambria Math"/>
              </a:rPr>
              <a:t>− </a:t>
            </a:r>
            <a:r>
              <a:rPr sz="2000" spc="10" dirty="0">
                <a:latin typeface="Cambria Math"/>
                <a:cs typeface="Cambria Math"/>
              </a:rPr>
              <a:t>𝐵)(𝐺 </a:t>
            </a:r>
            <a:r>
              <a:rPr sz="2000" dirty="0">
                <a:latin typeface="Cambria Math"/>
                <a:cs typeface="Cambria Math"/>
              </a:rPr>
              <a:t>−</a:t>
            </a:r>
            <a:r>
              <a:rPr sz="2000" spc="-45" dirty="0">
                <a:latin typeface="Cambria Math"/>
                <a:cs typeface="Cambria Math"/>
              </a:rPr>
              <a:t> </a:t>
            </a:r>
            <a:r>
              <a:rPr sz="2000" spc="10" dirty="0">
                <a:latin typeface="Cambria Math"/>
                <a:cs typeface="Cambria Math"/>
              </a:rPr>
              <a:t>𝐵)]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9416105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69557"/>
            <a:ext cx="1163955" cy="133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Color</a:t>
            </a:r>
            <a:r>
              <a:rPr spc="-40" dirty="0"/>
              <a:t> </a:t>
            </a:r>
            <a:r>
              <a:rPr spc="-5" dirty="0"/>
              <a:t>Theory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dirty="0"/>
              <a:t>Look it up</a:t>
            </a:r>
            <a:r>
              <a:rPr sz="3600" spc="-5" dirty="0"/>
              <a:t> </a:t>
            </a:r>
            <a:r>
              <a:rPr sz="3600" spc="-20" dirty="0"/>
              <a:t>yourselves..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70781"/>
            <a:ext cx="4785995" cy="161861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800" b="1" spc="-10" dirty="0">
                <a:latin typeface="Calibri"/>
                <a:cs typeface="Calibri"/>
              </a:rPr>
              <a:t>Color</a:t>
            </a:r>
            <a:r>
              <a:rPr sz="2800" b="1" spc="1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systems:</a:t>
            </a:r>
            <a:endParaRPr sz="28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400" spc="-10" dirty="0">
                <a:latin typeface="Calibri"/>
                <a:cs typeface="Calibri"/>
              </a:rPr>
              <a:t>CIEXYZ, </a:t>
            </a:r>
            <a:r>
              <a:rPr sz="2400" spc="-5" dirty="0">
                <a:latin typeface="Calibri"/>
                <a:cs typeface="Calibri"/>
              </a:rPr>
              <a:t>CIELAB,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CIELUV,…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528320" algn="l"/>
              </a:tabLst>
            </a:pPr>
            <a:r>
              <a:rPr sz="2400" spc="-10" dirty="0">
                <a:latin typeface="Calibri"/>
                <a:cs typeface="Calibri"/>
              </a:rPr>
              <a:t>RGB variants: </a:t>
            </a:r>
            <a:r>
              <a:rPr sz="2400" spc="-15" dirty="0">
                <a:latin typeface="Calibri"/>
                <a:cs typeface="Calibri"/>
              </a:rPr>
              <a:t>sRGB, </a:t>
            </a:r>
            <a:r>
              <a:rPr sz="2400" dirty="0">
                <a:latin typeface="Calibri"/>
                <a:cs typeface="Calibri"/>
              </a:rPr>
              <a:t>Adobe </a:t>
            </a:r>
            <a:r>
              <a:rPr sz="2400" spc="-15" dirty="0">
                <a:latin typeface="Calibri"/>
                <a:cs typeface="Calibri"/>
              </a:rPr>
              <a:t>RGB,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528320" algn="l"/>
              </a:tabLst>
            </a:pPr>
            <a:r>
              <a:rPr sz="2400" spc="25" dirty="0">
                <a:latin typeface="Calibri"/>
                <a:cs typeface="Calibri"/>
              </a:rPr>
              <a:t>YIQ, </a:t>
            </a:r>
            <a:r>
              <a:rPr sz="2400" spc="-55" dirty="0">
                <a:latin typeface="Calibri"/>
                <a:cs typeface="Calibri"/>
              </a:rPr>
              <a:t>YUV,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45" dirty="0">
                <a:latin typeface="Calibri"/>
                <a:cs typeface="Calibri"/>
              </a:rPr>
              <a:t>YCbCr,…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33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8335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5484" y="2194034"/>
            <a:ext cx="5068316" cy="2388218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525"/>
              </a:spcBef>
            </a:pPr>
            <a:r>
              <a:rPr spc="-10" dirty="0"/>
              <a:t>Image</a:t>
            </a:r>
            <a:r>
              <a:rPr spc="-45" dirty="0"/>
              <a:t> </a:t>
            </a:r>
            <a:r>
              <a:rPr spc="-35" dirty="0"/>
              <a:t>Restoration</a:t>
            </a:r>
          </a:p>
          <a:p>
            <a:pPr marL="706120" marR="697230" algn="ctr">
              <a:lnSpc>
                <a:spcPct val="123400"/>
              </a:lnSpc>
              <a:spcBef>
                <a:spcPts val="80"/>
              </a:spcBef>
            </a:pPr>
            <a:r>
              <a:rPr lang="en-US" sz="2000" b="1" spc="-10" dirty="0">
                <a:latin typeface="Calibri"/>
                <a:cs typeface="Calibri"/>
              </a:rPr>
              <a:t>Muhammad </a:t>
            </a:r>
            <a:r>
              <a:rPr lang="en-US" sz="2000" b="1" spc="-10" dirty="0" err="1">
                <a:latin typeface="Calibri"/>
                <a:cs typeface="Calibri"/>
              </a:rPr>
              <a:t>Naufal</a:t>
            </a:r>
            <a:br>
              <a:rPr lang="en-US" sz="2000" b="0" spc="-10" dirty="0">
                <a:latin typeface="Calibri"/>
                <a:cs typeface="Calibri"/>
              </a:rPr>
            </a:br>
            <a:r>
              <a:rPr sz="2000" b="0" spc="-10" dirty="0">
                <a:latin typeface="Calibri"/>
                <a:cs typeface="Calibri"/>
              </a:rPr>
              <a:t>Semester </a:t>
            </a:r>
            <a:r>
              <a:rPr sz="2000" b="0" spc="-5" dirty="0" err="1">
                <a:latin typeface="Calibri"/>
                <a:cs typeface="Calibri"/>
              </a:rPr>
              <a:t>Gasal</a:t>
            </a:r>
            <a:r>
              <a:rPr sz="2000" b="0" spc="-5" dirty="0">
                <a:latin typeface="Calibri"/>
                <a:cs typeface="Calibri"/>
              </a:rPr>
              <a:t> </a:t>
            </a:r>
            <a:r>
              <a:rPr sz="2000" b="0" dirty="0">
                <a:latin typeface="Calibri"/>
                <a:cs typeface="Calibri"/>
              </a:rPr>
              <a:t>201</a:t>
            </a:r>
            <a:r>
              <a:rPr lang="en-US" sz="2000" b="0" dirty="0">
                <a:latin typeface="Calibri"/>
                <a:cs typeface="Calibri"/>
              </a:rPr>
              <a:t>9</a:t>
            </a:r>
            <a:r>
              <a:rPr sz="2000" b="0" dirty="0">
                <a:latin typeface="Calibri"/>
                <a:cs typeface="Calibri"/>
              </a:rPr>
              <a:t>/20</a:t>
            </a:r>
            <a:r>
              <a:rPr lang="en-US" sz="2000" b="0" dirty="0">
                <a:latin typeface="Calibri"/>
                <a:cs typeface="Calibri"/>
              </a:rPr>
              <a:t>20</a:t>
            </a:r>
            <a:r>
              <a:rPr sz="2000" b="0" dirty="0">
                <a:latin typeface="Calibri"/>
                <a:cs typeface="Calibri"/>
              </a:rPr>
              <a:t> </a:t>
            </a:r>
            <a:br>
              <a:rPr lang="en-US" sz="2000" b="0" dirty="0">
                <a:latin typeface="Calibri"/>
                <a:cs typeface="Calibri"/>
              </a:rPr>
            </a:br>
            <a:r>
              <a:rPr lang="en-US" sz="2000" b="0" spc="-15" dirty="0">
                <a:latin typeface="Calibri"/>
                <a:cs typeface="Calibri"/>
              </a:rPr>
              <a:t>Teknik </a:t>
            </a:r>
            <a:r>
              <a:rPr lang="en-US" sz="2000" b="0" spc="-15" dirty="0" err="1">
                <a:latin typeface="Calibri"/>
                <a:cs typeface="Calibri"/>
              </a:rPr>
              <a:t>Komputer</a:t>
            </a:r>
            <a:br>
              <a:rPr lang="en-US" sz="2000" b="0" spc="-15" dirty="0">
                <a:latin typeface="Calibri"/>
                <a:cs typeface="Calibri"/>
              </a:rPr>
            </a:br>
            <a:r>
              <a:rPr lang="en-US" sz="2000" b="0" spc="-10" dirty="0" err="1">
                <a:latin typeface="Calibri"/>
                <a:cs typeface="Calibri"/>
              </a:rPr>
              <a:t>Politeknik</a:t>
            </a:r>
            <a:r>
              <a:rPr lang="en-US" sz="2000" b="0" spc="-10" dirty="0">
                <a:latin typeface="Calibri"/>
                <a:cs typeface="Calibri"/>
              </a:rPr>
              <a:t> </a:t>
            </a:r>
            <a:r>
              <a:rPr lang="en-US" sz="2000" b="0" spc="-10" dirty="0" err="1">
                <a:latin typeface="Calibri"/>
                <a:cs typeface="Calibri"/>
              </a:rPr>
              <a:t>Harapan</a:t>
            </a:r>
            <a:r>
              <a:rPr lang="en-US" sz="2000" b="0" spc="-10" dirty="0">
                <a:latin typeface="Calibri"/>
                <a:cs typeface="Calibri"/>
              </a:rPr>
              <a:t> Bersama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729ECC1-7C7E-FF40-91CD-C3915647FC64}"/>
              </a:ext>
            </a:extLst>
          </p:cNvPr>
          <p:cNvSpPr txBox="1">
            <a:spLocks/>
          </p:cNvSpPr>
          <p:nvPr/>
        </p:nvSpPr>
        <p:spPr>
          <a:xfrm>
            <a:off x="0" y="-69086"/>
            <a:ext cx="9144000" cy="888705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720090">
              <a:spcBef>
                <a:spcPts val="2610"/>
              </a:spcBef>
            </a:pPr>
            <a:endParaRPr lang="en-ID" kern="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0CE9041-C120-E54C-8BBE-4F12D397884E}"/>
              </a:ext>
            </a:extLst>
          </p:cNvPr>
          <p:cNvSpPr txBox="1">
            <a:spLocks/>
          </p:cNvSpPr>
          <p:nvPr/>
        </p:nvSpPr>
        <p:spPr>
          <a:xfrm>
            <a:off x="-36443" y="5969295"/>
            <a:ext cx="9144000" cy="888705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720090">
              <a:spcBef>
                <a:spcPts val="2610"/>
              </a:spcBef>
            </a:pPr>
            <a:endParaRPr lang="en-ID" kern="0" dirty="0"/>
          </a:p>
        </p:txBody>
      </p:sp>
    </p:spTree>
    <p:extLst>
      <p:ext uri="{BB962C8B-B14F-4D97-AF65-F5344CB8AC3E}">
        <p14:creationId xmlns:p14="http://schemas.microsoft.com/office/powerpoint/2010/main" val="2748451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20" dirty="0"/>
              <a:t>Review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707542" y="1752941"/>
            <a:ext cx="7704455" cy="160428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5420" algn="l"/>
              </a:tabLst>
            </a:pPr>
            <a:r>
              <a:rPr lang="en-ID" sz="2400" dirty="0" err="1"/>
              <a:t>Peningkatan</a:t>
            </a:r>
            <a:r>
              <a:rPr lang="en-ID" sz="2400" dirty="0"/>
              <a:t> </a:t>
            </a:r>
            <a:r>
              <a:rPr lang="en-ID" sz="2400" dirty="0" err="1"/>
              <a:t>citra</a:t>
            </a:r>
            <a:r>
              <a:rPr lang="en-ID" sz="2400" dirty="0"/>
              <a:t> </a:t>
            </a:r>
            <a:r>
              <a:rPr lang="en-ID" sz="2400" dirty="0" err="1"/>
              <a:t>bertujuan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meningkatkan</a:t>
            </a:r>
            <a:r>
              <a:rPr lang="en-ID" sz="2400" dirty="0"/>
              <a:t> </a:t>
            </a:r>
            <a:r>
              <a:rPr lang="en-ID" sz="2400" dirty="0" err="1"/>
              <a:t>citra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heuristik</a:t>
            </a:r>
            <a:r>
              <a:rPr lang="en-ID" sz="2400" dirty="0"/>
              <a:t> </a:t>
            </a:r>
            <a:r>
              <a:rPr lang="en-ID" sz="2400" dirty="0" err="1"/>
              <a:t>hingga</a:t>
            </a:r>
            <a:r>
              <a:rPr lang="en-ID" sz="2400" dirty="0"/>
              <a:t> </a:t>
            </a:r>
            <a:r>
              <a:rPr lang="en-ID" sz="2400" dirty="0" err="1"/>
              <a:t>mencapai</a:t>
            </a:r>
            <a:r>
              <a:rPr lang="en-ID" sz="2400" dirty="0"/>
              <a:t> </a:t>
            </a:r>
            <a:r>
              <a:rPr lang="en-ID" sz="2400" dirty="0" err="1"/>
              <a:t>hasil</a:t>
            </a:r>
            <a:r>
              <a:rPr lang="en-ID" sz="2400" dirty="0"/>
              <a:t> yang </a:t>
            </a:r>
            <a:r>
              <a:rPr lang="en-ID" sz="2400" dirty="0" err="1"/>
              <a:t>baik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visual. </a:t>
            </a:r>
          </a:p>
          <a:p>
            <a:pPr marL="184785" indent="-172720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185420" algn="l"/>
              </a:tabLst>
            </a:pPr>
            <a:r>
              <a:rPr lang="en-ID" sz="2400" dirty="0" err="1"/>
              <a:t>Restorasi</a:t>
            </a:r>
            <a:r>
              <a:rPr lang="en-ID" sz="2400" dirty="0"/>
              <a:t> </a:t>
            </a:r>
            <a:r>
              <a:rPr lang="en-ID" sz="2400" dirty="0" err="1"/>
              <a:t>gambar</a:t>
            </a:r>
            <a:r>
              <a:rPr lang="en-ID" sz="2400" dirty="0"/>
              <a:t> </a:t>
            </a:r>
            <a:r>
              <a:rPr lang="en-ID" sz="2400" dirty="0" err="1"/>
              <a:t>berupaya</a:t>
            </a:r>
            <a:r>
              <a:rPr lang="en-ID" sz="2400" dirty="0"/>
              <a:t> </a:t>
            </a:r>
            <a:r>
              <a:rPr lang="en-ID" sz="2400" dirty="0" err="1"/>
              <a:t>memulihkan</a:t>
            </a:r>
            <a:r>
              <a:rPr lang="en-ID" sz="2400" dirty="0"/>
              <a:t> </a:t>
            </a:r>
            <a:r>
              <a:rPr lang="en-ID" sz="2400" dirty="0" err="1"/>
              <a:t>gambar</a:t>
            </a:r>
            <a:r>
              <a:rPr lang="en-ID" sz="2400" dirty="0"/>
              <a:t> yang </a:t>
            </a:r>
            <a:r>
              <a:rPr lang="en-ID" sz="2400" dirty="0" err="1"/>
              <a:t>terdegradasi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berpacu</a:t>
            </a:r>
            <a:r>
              <a:rPr lang="en-ID" sz="2400" dirty="0"/>
              <a:t> </a:t>
            </a:r>
            <a:r>
              <a:rPr lang="en-ID" sz="2400" dirty="0" err="1"/>
              <a:t>pada</a:t>
            </a:r>
            <a:r>
              <a:rPr lang="en-ID" sz="2400" dirty="0"/>
              <a:t> </a:t>
            </a:r>
            <a:r>
              <a:rPr lang="en-ID" sz="2400" dirty="0" err="1"/>
              <a:t>distorsi</a:t>
            </a:r>
            <a:r>
              <a:rPr lang="en-ID" sz="2400" dirty="0"/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98785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Correlation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56105"/>
            <a:ext cx="7018020" cy="11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of moving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filter </a:t>
            </a:r>
            <a:r>
              <a:rPr sz="2400" dirty="0">
                <a:latin typeface="Calibri"/>
                <a:cs typeface="Calibri"/>
              </a:rPr>
              <a:t>mask </a:t>
            </a:r>
            <a:r>
              <a:rPr sz="2400" spc="-15" dirty="0">
                <a:latin typeface="Calibri"/>
                <a:cs typeface="Calibri"/>
              </a:rPr>
              <a:t>over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image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184785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computing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sum of </a:t>
            </a:r>
            <a:r>
              <a:rPr sz="2400" spc="-10" dirty="0">
                <a:latin typeface="Calibri"/>
                <a:cs typeface="Calibri"/>
              </a:rPr>
              <a:t>products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location.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528320" algn="l"/>
              </a:tabLst>
            </a:pPr>
            <a:r>
              <a:rPr sz="2400" spc="-5" dirty="0">
                <a:latin typeface="Calibri"/>
                <a:cs typeface="Calibri"/>
              </a:rPr>
              <a:t>Slide </a:t>
            </a:r>
            <a:r>
              <a:rPr sz="2400" spc="-10" dirty="0">
                <a:latin typeface="Calibri"/>
                <a:cs typeface="Calibri"/>
              </a:rPr>
              <a:t>filter </a:t>
            </a:r>
            <a:r>
              <a:rPr sz="2400" i="1" dirty="0">
                <a:latin typeface="Calibri"/>
                <a:cs typeface="Calibri"/>
              </a:rPr>
              <a:t>g(x) </a:t>
            </a:r>
            <a:r>
              <a:rPr sz="2400" i="1" spc="-5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image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f(x)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87568" y="3584447"/>
            <a:ext cx="2187023" cy="2089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8695" y="3579876"/>
            <a:ext cx="2220595" cy="2098675"/>
          </a:xfrm>
          <a:custGeom>
            <a:avLst/>
            <a:gdLst/>
            <a:ahLst/>
            <a:cxnLst/>
            <a:rect l="l" t="t" r="r" b="b"/>
            <a:pathLst>
              <a:path w="2220595" h="2098675">
                <a:moveTo>
                  <a:pt x="0" y="2098548"/>
                </a:moveTo>
                <a:lnTo>
                  <a:pt x="2220468" y="2098548"/>
                </a:lnTo>
                <a:lnTo>
                  <a:pt x="2220468" y="0"/>
                </a:lnTo>
                <a:lnTo>
                  <a:pt x="0" y="0"/>
                </a:lnTo>
                <a:lnTo>
                  <a:pt x="0" y="20985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39208" y="3584447"/>
            <a:ext cx="2235683" cy="21259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22420" y="3579876"/>
            <a:ext cx="2257425" cy="2135505"/>
          </a:xfrm>
          <a:custGeom>
            <a:avLst/>
            <a:gdLst/>
            <a:ahLst/>
            <a:cxnLst/>
            <a:rect l="l" t="t" r="r" b="b"/>
            <a:pathLst>
              <a:path w="2257425" h="2135504">
                <a:moveTo>
                  <a:pt x="0" y="2135124"/>
                </a:moveTo>
                <a:lnTo>
                  <a:pt x="2257044" y="2135124"/>
                </a:lnTo>
                <a:lnTo>
                  <a:pt x="2257044" y="0"/>
                </a:lnTo>
                <a:lnTo>
                  <a:pt x="0" y="0"/>
                </a:lnTo>
                <a:lnTo>
                  <a:pt x="0" y="2135124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60029" y="3617976"/>
            <a:ext cx="2273075" cy="21244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30340" y="3613403"/>
            <a:ext cx="2307590" cy="2133600"/>
          </a:xfrm>
          <a:custGeom>
            <a:avLst/>
            <a:gdLst/>
            <a:ahLst/>
            <a:cxnLst/>
            <a:rect l="l" t="t" r="r" b="b"/>
            <a:pathLst>
              <a:path w="2307590" h="2133600">
                <a:moveTo>
                  <a:pt x="0" y="2133600"/>
                </a:moveTo>
                <a:lnTo>
                  <a:pt x="2307336" y="2133600"/>
                </a:lnTo>
                <a:lnTo>
                  <a:pt x="2307336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93165" y="4990338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fi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6594" y="4181855"/>
            <a:ext cx="750265" cy="83362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08659" y="4177284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80" h="843279">
                <a:moveTo>
                  <a:pt x="0" y="842771"/>
                </a:moveTo>
                <a:lnTo>
                  <a:pt x="842772" y="842771"/>
                </a:lnTo>
                <a:lnTo>
                  <a:pt x="842772" y="0"/>
                </a:lnTo>
                <a:lnTo>
                  <a:pt x="0" y="0"/>
                </a:lnTo>
                <a:lnTo>
                  <a:pt x="0" y="84277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52445" y="5750305"/>
            <a:ext cx="5911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95827" y="5786577"/>
            <a:ext cx="2428875" cy="83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9920" algn="ctr">
              <a:lnSpc>
                <a:spcPts val="1810"/>
              </a:lnSpc>
            </a:pPr>
            <a:r>
              <a:rPr sz="1800" spc="-5" dirty="0">
                <a:latin typeface="Calibri"/>
                <a:cs typeface="Calibri"/>
              </a:rPr>
              <a:t>Original position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68072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900" spc="-5" dirty="0">
                <a:solidFill>
                  <a:srgbClr val="888888"/>
                </a:solidFill>
                <a:latin typeface="Calibri"/>
                <a:cs typeface="Calibri"/>
              </a:rPr>
              <a:t>Pengolahan Citra </a:t>
            </a: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- </a:t>
            </a:r>
            <a:r>
              <a:rPr sz="900" spc="-5" dirty="0">
                <a:solidFill>
                  <a:srgbClr val="888888"/>
                </a:solidFill>
                <a:latin typeface="Calibri"/>
                <a:cs typeface="Calibri"/>
              </a:rPr>
              <a:t>Image Restoration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75729" y="5794197"/>
            <a:ext cx="13646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Filtering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832933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5" dirty="0"/>
              <a:t>Convolution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2142" y="1756105"/>
            <a:ext cx="7555865" cy="1481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indent="-17272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10820" algn="l"/>
              </a:tabLst>
            </a:pPr>
            <a:r>
              <a:rPr sz="2400" spc="-15" dirty="0">
                <a:latin typeface="Calibri"/>
                <a:cs typeface="Calibri"/>
              </a:rPr>
              <a:t>Rotating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filter </a:t>
            </a:r>
            <a:r>
              <a:rPr sz="2400" dirty="0">
                <a:latin typeface="Calibri"/>
                <a:cs typeface="Calibri"/>
              </a:rPr>
              <a:t>mask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spc="-5" dirty="0">
                <a:latin typeface="Calibri"/>
                <a:cs typeface="Calibri"/>
              </a:rPr>
              <a:t>180</a:t>
            </a:r>
            <a:r>
              <a:rPr sz="2400" spc="-7" baseline="24305" dirty="0">
                <a:latin typeface="Calibri"/>
                <a:cs typeface="Calibri"/>
              </a:rPr>
              <a:t>o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moving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5" dirty="0">
                <a:latin typeface="Calibri"/>
                <a:cs typeface="Calibri"/>
              </a:rPr>
              <a:t>over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image</a:t>
            </a:r>
            <a:endParaRPr sz="2400">
              <a:latin typeface="Calibri"/>
              <a:cs typeface="Calibri"/>
            </a:endParaRPr>
          </a:p>
          <a:p>
            <a:pPr marL="210185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computing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sum of </a:t>
            </a:r>
            <a:r>
              <a:rPr sz="2400" spc="-10" dirty="0">
                <a:latin typeface="Calibri"/>
                <a:cs typeface="Calibri"/>
              </a:rPr>
              <a:t>products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location.</a:t>
            </a:r>
            <a:endParaRPr sz="2400">
              <a:latin typeface="Calibri"/>
              <a:cs typeface="Calibri"/>
            </a:endParaRPr>
          </a:p>
          <a:p>
            <a:pPr marL="553085" lvl="1" indent="-17272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553720" algn="l"/>
              </a:tabLst>
            </a:pPr>
            <a:r>
              <a:rPr sz="2400" spc="-5" dirty="0">
                <a:latin typeface="Calibri"/>
                <a:cs typeface="Calibri"/>
              </a:rPr>
              <a:t>Flip </a:t>
            </a:r>
            <a:r>
              <a:rPr sz="2400" spc="-10" dirty="0">
                <a:latin typeface="Calibri"/>
                <a:cs typeface="Calibri"/>
              </a:rPr>
              <a:t>filter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g(x)</a:t>
            </a:r>
            <a:endParaRPr sz="2400">
              <a:latin typeface="Calibri"/>
              <a:cs typeface="Calibri"/>
            </a:endParaRPr>
          </a:p>
          <a:p>
            <a:pPr marL="553085" lvl="1" indent="-17272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553720" algn="l"/>
              </a:tabLst>
            </a:pPr>
            <a:r>
              <a:rPr sz="2400" spc="-5" dirty="0">
                <a:latin typeface="Calibri"/>
                <a:cs typeface="Calibri"/>
              </a:rPr>
              <a:t>Slide </a:t>
            </a:r>
            <a:r>
              <a:rPr sz="2400" spc="-10" dirty="0">
                <a:latin typeface="Calibri"/>
                <a:cs typeface="Calibri"/>
              </a:rPr>
              <a:t>filter </a:t>
            </a:r>
            <a:r>
              <a:rPr sz="2400" i="1" spc="-5" dirty="0">
                <a:latin typeface="Calibri"/>
                <a:cs typeface="Calibri"/>
              </a:rPr>
              <a:t>g(x) by </a:t>
            </a:r>
            <a:r>
              <a:rPr sz="2400" spc="-5" dirty="0">
                <a:latin typeface="Calibri"/>
                <a:cs typeface="Calibri"/>
              </a:rPr>
              <a:t>image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f(x)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87568" y="3584447"/>
            <a:ext cx="2187023" cy="20894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58695" y="3579876"/>
            <a:ext cx="2220595" cy="2098675"/>
          </a:xfrm>
          <a:custGeom>
            <a:avLst/>
            <a:gdLst/>
            <a:ahLst/>
            <a:cxnLst/>
            <a:rect l="l" t="t" r="r" b="b"/>
            <a:pathLst>
              <a:path w="2220595" h="2098675">
                <a:moveTo>
                  <a:pt x="0" y="2098548"/>
                </a:moveTo>
                <a:lnTo>
                  <a:pt x="2220468" y="2098548"/>
                </a:lnTo>
                <a:lnTo>
                  <a:pt x="2220468" y="0"/>
                </a:lnTo>
                <a:lnTo>
                  <a:pt x="0" y="0"/>
                </a:lnTo>
                <a:lnTo>
                  <a:pt x="0" y="20985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93165" y="4990338"/>
            <a:ext cx="466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fi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6594" y="4181855"/>
            <a:ext cx="750265" cy="8336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8659" y="4177284"/>
            <a:ext cx="843280" cy="843280"/>
          </a:xfrm>
          <a:custGeom>
            <a:avLst/>
            <a:gdLst/>
            <a:ahLst/>
            <a:cxnLst/>
            <a:rect l="l" t="t" r="r" b="b"/>
            <a:pathLst>
              <a:path w="843280" h="843279">
                <a:moveTo>
                  <a:pt x="0" y="842771"/>
                </a:moveTo>
                <a:lnTo>
                  <a:pt x="842772" y="842771"/>
                </a:lnTo>
                <a:lnTo>
                  <a:pt x="842772" y="0"/>
                </a:lnTo>
                <a:lnTo>
                  <a:pt x="0" y="0"/>
                </a:lnTo>
                <a:lnTo>
                  <a:pt x="0" y="84277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63355" y="3584447"/>
            <a:ext cx="2228299" cy="20375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46803" y="3579876"/>
            <a:ext cx="2249805" cy="2047239"/>
          </a:xfrm>
          <a:custGeom>
            <a:avLst/>
            <a:gdLst/>
            <a:ahLst/>
            <a:cxnLst/>
            <a:rect l="l" t="t" r="r" b="b"/>
            <a:pathLst>
              <a:path w="2249804" h="2047239">
                <a:moveTo>
                  <a:pt x="0" y="2046732"/>
                </a:moveTo>
                <a:lnTo>
                  <a:pt x="2249424" y="2046732"/>
                </a:lnTo>
                <a:lnTo>
                  <a:pt x="2249424" y="0"/>
                </a:lnTo>
                <a:lnTo>
                  <a:pt x="0" y="0"/>
                </a:lnTo>
                <a:lnTo>
                  <a:pt x="0" y="204673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13489" y="3581400"/>
            <a:ext cx="2166274" cy="2048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73011" y="3576828"/>
            <a:ext cx="2211705" cy="2057400"/>
          </a:xfrm>
          <a:custGeom>
            <a:avLst/>
            <a:gdLst/>
            <a:ahLst/>
            <a:cxnLst/>
            <a:rect l="l" t="t" r="r" b="b"/>
            <a:pathLst>
              <a:path w="2211704" h="2057400">
                <a:moveTo>
                  <a:pt x="0" y="2057400"/>
                </a:moveTo>
                <a:lnTo>
                  <a:pt x="2211324" y="2057400"/>
                </a:lnTo>
                <a:lnTo>
                  <a:pt x="2211324" y="0"/>
                </a:lnTo>
                <a:lnTo>
                  <a:pt x="0" y="0"/>
                </a:lnTo>
                <a:lnTo>
                  <a:pt x="0" y="2057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52445" y="5750305"/>
            <a:ext cx="59118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" dirty="0">
                <a:latin typeface="Calibri"/>
                <a:cs typeface="Calibri"/>
              </a:rPr>
              <a:t>i</a:t>
            </a:r>
            <a:r>
              <a:rPr sz="1800" dirty="0">
                <a:latin typeface="Calibri"/>
                <a:cs typeface="Calibri"/>
              </a:rPr>
              <a:t>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95827" y="5786577"/>
            <a:ext cx="2428875" cy="833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9920" algn="ctr">
              <a:lnSpc>
                <a:spcPts val="1810"/>
              </a:lnSpc>
            </a:pPr>
            <a:r>
              <a:rPr sz="1800" spc="-5" dirty="0">
                <a:latin typeface="Calibri"/>
                <a:cs typeface="Calibri"/>
              </a:rPr>
              <a:t>Original position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  <a:p>
            <a:pPr marL="680720" algn="ctr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filter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900" spc="-5" dirty="0">
                <a:solidFill>
                  <a:srgbClr val="888888"/>
                </a:solidFill>
                <a:latin typeface="Calibri"/>
                <a:cs typeface="Calibri"/>
              </a:rPr>
              <a:t>Pengolahan Citra </a:t>
            </a:r>
            <a:r>
              <a:rPr sz="900" dirty="0">
                <a:solidFill>
                  <a:srgbClr val="888888"/>
                </a:solidFill>
                <a:latin typeface="Calibri"/>
                <a:cs typeface="Calibri"/>
              </a:rPr>
              <a:t>- </a:t>
            </a:r>
            <a:r>
              <a:rPr sz="900" spc="-5" dirty="0">
                <a:solidFill>
                  <a:srgbClr val="888888"/>
                </a:solidFill>
                <a:latin typeface="Calibri"/>
                <a:cs typeface="Calibri"/>
              </a:rPr>
              <a:t>Image Restoration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75729" y="5794197"/>
            <a:ext cx="136461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Filtering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result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28936229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Noise 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7121525" cy="22580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Noise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digital </a:t>
            </a:r>
            <a:r>
              <a:rPr sz="2400" spc="-5" dirty="0">
                <a:latin typeface="Calibri"/>
                <a:cs typeface="Calibri"/>
              </a:rPr>
              <a:t>images occur during acquisition, such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Sensor </a:t>
            </a:r>
            <a:r>
              <a:rPr sz="2200" spc="-15" dirty="0">
                <a:latin typeface="Calibri"/>
                <a:cs typeface="Calibri"/>
              </a:rPr>
              <a:t>errors: </a:t>
            </a:r>
            <a:r>
              <a:rPr sz="2200" spc="-10" dirty="0">
                <a:latin typeface="Calibri"/>
                <a:cs typeface="Calibri"/>
              </a:rPr>
              <a:t>quality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electronics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Light</a:t>
            </a:r>
            <a:r>
              <a:rPr sz="2200" spc="-10" dirty="0">
                <a:latin typeface="Calibri"/>
                <a:cs typeface="Calibri"/>
              </a:rPr>
              <a:t> levels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Sensor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temperature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Or during </a:t>
            </a:r>
            <a:r>
              <a:rPr sz="2400" spc="-10" dirty="0">
                <a:latin typeface="Calibri"/>
                <a:cs typeface="Calibri"/>
              </a:rPr>
              <a:t>transmission,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5" dirty="0">
                <a:latin typeface="Calibri"/>
                <a:cs typeface="Calibri"/>
              </a:rPr>
              <a:t>Interference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spc="-10" dirty="0">
                <a:latin typeface="Calibri"/>
                <a:cs typeface="Calibri"/>
              </a:rPr>
              <a:t>the transmission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channel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0263" y="4506993"/>
            <a:ext cx="1743456" cy="1162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928" y="4954523"/>
            <a:ext cx="1472565" cy="585470"/>
          </a:xfrm>
          <a:custGeom>
            <a:avLst/>
            <a:gdLst/>
            <a:ahLst/>
            <a:cxnLst/>
            <a:rect l="l" t="t" r="r" b="b"/>
            <a:pathLst>
              <a:path w="1472564" h="585470">
                <a:moveTo>
                  <a:pt x="0" y="0"/>
                </a:moveTo>
                <a:lnTo>
                  <a:pt x="0" y="585216"/>
                </a:lnTo>
                <a:lnTo>
                  <a:pt x="1472184" y="438912"/>
                </a:lnTo>
                <a:lnTo>
                  <a:pt x="1472184" y="146303"/>
                </a:lnTo>
                <a:lnTo>
                  <a:pt x="0" y="0"/>
                </a:lnTo>
                <a:close/>
              </a:path>
            </a:pathLst>
          </a:custGeom>
          <a:solidFill>
            <a:srgbClr val="FBEF58">
              <a:alpha val="4784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20677" y="4023767"/>
            <a:ext cx="1961094" cy="21530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4189" y="5177847"/>
            <a:ext cx="3299460" cy="556260"/>
          </a:xfrm>
          <a:custGeom>
            <a:avLst/>
            <a:gdLst/>
            <a:ahLst/>
            <a:cxnLst/>
            <a:rect l="l" t="t" r="r" b="b"/>
            <a:pathLst>
              <a:path w="3299460" h="556260">
                <a:moveTo>
                  <a:pt x="0" y="8958"/>
                </a:moveTo>
                <a:lnTo>
                  <a:pt x="45824" y="26432"/>
                </a:lnTo>
                <a:lnTo>
                  <a:pt x="91295" y="44604"/>
                </a:lnTo>
                <a:lnTo>
                  <a:pt x="136060" y="64186"/>
                </a:lnTo>
                <a:lnTo>
                  <a:pt x="179765" y="85892"/>
                </a:lnTo>
                <a:lnTo>
                  <a:pt x="222057" y="110434"/>
                </a:lnTo>
                <a:lnTo>
                  <a:pt x="262583" y="138527"/>
                </a:lnTo>
                <a:lnTo>
                  <a:pt x="300989" y="170883"/>
                </a:lnTo>
                <a:lnTo>
                  <a:pt x="328234" y="202891"/>
                </a:lnTo>
                <a:lnTo>
                  <a:pt x="352661" y="242897"/>
                </a:lnTo>
                <a:lnTo>
                  <a:pt x="375176" y="287902"/>
                </a:lnTo>
                <a:lnTo>
                  <a:pt x="396689" y="334906"/>
                </a:lnTo>
                <a:lnTo>
                  <a:pt x="418105" y="380908"/>
                </a:lnTo>
                <a:lnTo>
                  <a:pt x="440332" y="422910"/>
                </a:lnTo>
                <a:lnTo>
                  <a:pt x="464278" y="457911"/>
                </a:lnTo>
                <a:lnTo>
                  <a:pt x="490849" y="482911"/>
                </a:lnTo>
                <a:lnTo>
                  <a:pt x="520954" y="494911"/>
                </a:lnTo>
                <a:lnTo>
                  <a:pt x="555254" y="492609"/>
                </a:lnTo>
                <a:lnTo>
                  <a:pt x="593173" y="478352"/>
                </a:lnTo>
                <a:lnTo>
                  <a:pt x="633758" y="454618"/>
                </a:lnTo>
                <a:lnTo>
                  <a:pt x="676054" y="423885"/>
                </a:lnTo>
                <a:lnTo>
                  <a:pt x="719110" y="388628"/>
                </a:lnTo>
                <a:lnTo>
                  <a:pt x="761971" y="351325"/>
                </a:lnTo>
                <a:lnTo>
                  <a:pt x="803685" y="314453"/>
                </a:lnTo>
                <a:lnTo>
                  <a:pt x="843297" y="280489"/>
                </a:lnTo>
                <a:lnTo>
                  <a:pt x="879856" y="251909"/>
                </a:lnTo>
                <a:lnTo>
                  <a:pt x="916448" y="219790"/>
                </a:lnTo>
                <a:lnTo>
                  <a:pt x="949114" y="182218"/>
                </a:lnTo>
                <a:lnTo>
                  <a:pt x="979346" y="142789"/>
                </a:lnTo>
                <a:lnTo>
                  <a:pt x="1008634" y="105097"/>
                </a:lnTo>
                <a:lnTo>
                  <a:pt x="1038469" y="72740"/>
                </a:lnTo>
                <a:lnTo>
                  <a:pt x="1070344" y="49313"/>
                </a:lnTo>
                <a:lnTo>
                  <a:pt x="1105748" y="38411"/>
                </a:lnTo>
                <a:lnTo>
                  <a:pt x="1146175" y="43629"/>
                </a:lnTo>
                <a:lnTo>
                  <a:pt x="1204279" y="80468"/>
                </a:lnTo>
                <a:lnTo>
                  <a:pt x="1236291" y="110829"/>
                </a:lnTo>
                <a:lnTo>
                  <a:pt x="1269770" y="147088"/>
                </a:lnTo>
                <a:lnTo>
                  <a:pt x="1304335" y="187695"/>
                </a:lnTo>
                <a:lnTo>
                  <a:pt x="1339608" y="231104"/>
                </a:lnTo>
                <a:lnTo>
                  <a:pt x="1375209" y="275765"/>
                </a:lnTo>
                <a:lnTo>
                  <a:pt x="1410757" y="320131"/>
                </a:lnTo>
                <a:lnTo>
                  <a:pt x="1445873" y="362653"/>
                </a:lnTo>
                <a:lnTo>
                  <a:pt x="1480176" y="401783"/>
                </a:lnTo>
                <a:lnTo>
                  <a:pt x="1513289" y="435974"/>
                </a:lnTo>
                <a:lnTo>
                  <a:pt x="1544829" y="463676"/>
                </a:lnTo>
                <a:lnTo>
                  <a:pt x="1627202" y="505371"/>
                </a:lnTo>
                <a:lnTo>
                  <a:pt x="1678961" y="515998"/>
                </a:lnTo>
                <a:lnTo>
                  <a:pt x="1728687" y="516336"/>
                </a:lnTo>
                <a:lnTo>
                  <a:pt x="1775372" y="507498"/>
                </a:lnTo>
                <a:lnTo>
                  <a:pt x="1818007" y="490598"/>
                </a:lnTo>
                <a:lnTo>
                  <a:pt x="1855583" y="466748"/>
                </a:lnTo>
                <a:lnTo>
                  <a:pt x="1887093" y="437063"/>
                </a:lnTo>
                <a:lnTo>
                  <a:pt x="1907574" y="403631"/>
                </a:lnTo>
                <a:lnTo>
                  <a:pt x="1925298" y="356530"/>
                </a:lnTo>
                <a:lnTo>
                  <a:pt x="1940216" y="300377"/>
                </a:lnTo>
                <a:lnTo>
                  <a:pt x="1952281" y="239794"/>
                </a:lnTo>
                <a:lnTo>
                  <a:pt x="1961444" y="179398"/>
                </a:lnTo>
                <a:lnTo>
                  <a:pt x="1967658" y="123808"/>
                </a:lnTo>
                <a:lnTo>
                  <a:pt x="1970873" y="77645"/>
                </a:lnTo>
                <a:lnTo>
                  <a:pt x="1968119" y="32072"/>
                </a:lnTo>
                <a:lnTo>
                  <a:pt x="1956936" y="41701"/>
                </a:lnTo>
                <a:lnTo>
                  <a:pt x="1908830" y="119275"/>
                </a:lnTo>
                <a:lnTo>
                  <a:pt x="1879092" y="175963"/>
                </a:lnTo>
                <a:lnTo>
                  <a:pt x="1850353" y="237081"/>
                </a:lnTo>
                <a:lnTo>
                  <a:pt x="1826208" y="296998"/>
                </a:lnTo>
                <a:lnTo>
                  <a:pt x="1810248" y="350088"/>
                </a:lnTo>
                <a:lnTo>
                  <a:pt x="1806067" y="390720"/>
                </a:lnTo>
                <a:lnTo>
                  <a:pt x="1813525" y="428255"/>
                </a:lnTo>
                <a:lnTo>
                  <a:pt x="1829097" y="464873"/>
                </a:lnTo>
                <a:lnTo>
                  <a:pt x="1852373" y="498246"/>
                </a:lnTo>
                <a:lnTo>
                  <a:pt x="1882945" y="526050"/>
                </a:lnTo>
                <a:lnTo>
                  <a:pt x="1920404" y="545956"/>
                </a:lnTo>
                <a:lnTo>
                  <a:pt x="1964340" y="555639"/>
                </a:lnTo>
                <a:lnTo>
                  <a:pt x="2014347" y="552772"/>
                </a:lnTo>
                <a:lnTo>
                  <a:pt x="2088400" y="528617"/>
                </a:lnTo>
                <a:lnTo>
                  <a:pt x="2132879" y="508484"/>
                </a:lnTo>
                <a:lnTo>
                  <a:pt x="2180773" y="484214"/>
                </a:lnTo>
                <a:lnTo>
                  <a:pt x="2230916" y="456729"/>
                </a:lnTo>
                <a:lnTo>
                  <a:pt x="2282142" y="426954"/>
                </a:lnTo>
                <a:lnTo>
                  <a:pt x="2333286" y="395810"/>
                </a:lnTo>
                <a:lnTo>
                  <a:pt x="2383183" y="364224"/>
                </a:lnTo>
                <a:lnTo>
                  <a:pt x="2430666" y="333116"/>
                </a:lnTo>
                <a:lnTo>
                  <a:pt x="2474572" y="303413"/>
                </a:lnTo>
                <a:lnTo>
                  <a:pt x="2513733" y="276036"/>
                </a:lnTo>
                <a:lnTo>
                  <a:pt x="2546985" y="251909"/>
                </a:lnTo>
                <a:lnTo>
                  <a:pt x="2589952" y="213206"/>
                </a:lnTo>
                <a:lnTo>
                  <a:pt x="2619483" y="174023"/>
                </a:lnTo>
                <a:lnTo>
                  <a:pt x="2640337" y="135777"/>
                </a:lnTo>
                <a:lnTo>
                  <a:pt x="2657272" y="99886"/>
                </a:lnTo>
                <a:lnTo>
                  <a:pt x="2675047" y="67767"/>
                </a:lnTo>
                <a:lnTo>
                  <a:pt x="2732151" y="20515"/>
                </a:lnTo>
                <a:lnTo>
                  <a:pt x="2771855" y="8879"/>
                </a:lnTo>
                <a:lnTo>
                  <a:pt x="2818469" y="2335"/>
                </a:lnTo>
                <a:lnTo>
                  <a:pt x="2869688" y="0"/>
                </a:lnTo>
                <a:lnTo>
                  <a:pt x="2923206" y="989"/>
                </a:lnTo>
                <a:lnTo>
                  <a:pt x="2976719" y="4420"/>
                </a:lnTo>
                <a:lnTo>
                  <a:pt x="3027920" y="9407"/>
                </a:lnTo>
                <a:lnTo>
                  <a:pt x="3074504" y="15067"/>
                </a:lnTo>
                <a:lnTo>
                  <a:pt x="3114167" y="20515"/>
                </a:lnTo>
                <a:lnTo>
                  <a:pt x="3176658" y="34104"/>
                </a:lnTo>
                <a:lnTo>
                  <a:pt x="3225291" y="53408"/>
                </a:lnTo>
                <a:lnTo>
                  <a:pt x="3264685" y="76522"/>
                </a:lnTo>
                <a:lnTo>
                  <a:pt x="3299460" y="101541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83828" y="54356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9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</p:spTree>
    <p:extLst>
      <p:ext uri="{BB962C8B-B14F-4D97-AF65-F5344CB8AC3E}">
        <p14:creationId xmlns:p14="http://schemas.microsoft.com/office/powerpoint/2010/main" val="28894558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Gaussian</a:t>
            </a:r>
            <a:r>
              <a:rPr sz="3600" spc="20" dirty="0"/>
              <a:t> </a:t>
            </a:r>
            <a:r>
              <a:rPr sz="3600" spc="-5" dirty="0"/>
              <a:t>Noise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4526660"/>
            <a:ext cx="5774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30" dirty="0">
                <a:latin typeface="Calibri"/>
                <a:cs typeface="Calibri"/>
              </a:rPr>
              <a:t>Very </a:t>
            </a:r>
            <a:r>
              <a:rPr sz="2400" spc="-10" dirty="0">
                <a:latin typeface="Calibri"/>
                <a:cs typeface="Calibri"/>
              </a:rPr>
              <a:t>commonly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describe image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noise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4296" y="2039111"/>
            <a:ext cx="2218950" cy="22197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73196" y="2052827"/>
            <a:ext cx="2197607" cy="22387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50998" y="5235702"/>
            <a:ext cx="352425" cy="282575"/>
          </a:xfrm>
          <a:custGeom>
            <a:avLst/>
            <a:gdLst/>
            <a:ahLst/>
            <a:cxnLst/>
            <a:rect l="l" t="t" r="r" b="b"/>
            <a:pathLst>
              <a:path w="352425" h="282575">
                <a:moveTo>
                  <a:pt x="261874" y="0"/>
                </a:moveTo>
                <a:lnTo>
                  <a:pt x="257809" y="11557"/>
                </a:lnTo>
                <a:lnTo>
                  <a:pt x="274173" y="18631"/>
                </a:lnTo>
                <a:lnTo>
                  <a:pt x="288226" y="28432"/>
                </a:lnTo>
                <a:lnTo>
                  <a:pt x="316759" y="73925"/>
                </a:lnTo>
                <a:lnTo>
                  <a:pt x="325090" y="115732"/>
                </a:lnTo>
                <a:lnTo>
                  <a:pt x="326136" y="139827"/>
                </a:lnTo>
                <a:lnTo>
                  <a:pt x="325088" y="164707"/>
                </a:lnTo>
                <a:lnTo>
                  <a:pt x="316706" y="207656"/>
                </a:lnTo>
                <a:lnTo>
                  <a:pt x="288226" y="253857"/>
                </a:lnTo>
                <a:lnTo>
                  <a:pt x="258318" y="270891"/>
                </a:lnTo>
                <a:lnTo>
                  <a:pt x="261874" y="282321"/>
                </a:lnTo>
                <a:lnTo>
                  <a:pt x="300370" y="264302"/>
                </a:lnTo>
                <a:lnTo>
                  <a:pt x="328675" y="233045"/>
                </a:lnTo>
                <a:lnTo>
                  <a:pt x="346106" y="191150"/>
                </a:lnTo>
                <a:lnTo>
                  <a:pt x="351917" y="141351"/>
                </a:lnTo>
                <a:lnTo>
                  <a:pt x="350462" y="115466"/>
                </a:lnTo>
                <a:lnTo>
                  <a:pt x="338790" y="69556"/>
                </a:lnTo>
                <a:lnTo>
                  <a:pt x="315666" y="32164"/>
                </a:lnTo>
                <a:lnTo>
                  <a:pt x="282328" y="7435"/>
                </a:lnTo>
                <a:lnTo>
                  <a:pt x="261874" y="0"/>
                </a:lnTo>
                <a:close/>
              </a:path>
              <a:path w="352425" h="282575">
                <a:moveTo>
                  <a:pt x="90043" y="0"/>
                </a:moveTo>
                <a:lnTo>
                  <a:pt x="51657" y="18145"/>
                </a:lnTo>
                <a:lnTo>
                  <a:pt x="23368" y="49530"/>
                </a:lnTo>
                <a:lnTo>
                  <a:pt x="5873" y="91535"/>
                </a:lnTo>
                <a:lnTo>
                  <a:pt x="0" y="141351"/>
                </a:lnTo>
                <a:lnTo>
                  <a:pt x="1452" y="167233"/>
                </a:lnTo>
                <a:lnTo>
                  <a:pt x="13073" y="213092"/>
                </a:lnTo>
                <a:lnTo>
                  <a:pt x="36143" y="250334"/>
                </a:lnTo>
                <a:lnTo>
                  <a:pt x="69568" y="274960"/>
                </a:lnTo>
                <a:lnTo>
                  <a:pt x="90043" y="282321"/>
                </a:lnTo>
                <a:lnTo>
                  <a:pt x="93725" y="270891"/>
                </a:lnTo>
                <a:lnTo>
                  <a:pt x="77602" y="263773"/>
                </a:lnTo>
                <a:lnTo>
                  <a:pt x="63706" y="253857"/>
                </a:lnTo>
                <a:lnTo>
                  <a:pt x="35210" y="207656"/>
                </a:lnTo>
                <a:lnTo>
                  <a:pt x="26828" y="164707"/>
                </a:lnTo>
                <a:lnTo>
                  <a:pt x="25781" y="139827"/>
                </a:lnTo>
                <a:lnTo>
                  <a:pt x="26828" y="115732"/>
                </a:lnTo>
                <a:lnTo>
                  <a:pt x="35210" y="73925"/>
                </a:lnTo>
                <a:lnTo>
                  <a:pt x="63801" y="28432"/>
                </a:lnTo>
                <a:lnTo>
                  <a:pt x="94106" y="11557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38020" y="5146928"/>
            <a:ext cx="918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3055" algn="l"/>
                <a:tab pos="676910" algn="l"/>
              </a:tabLst>
            </a:pPr>
            <a:r>
              <a:rPr sz="2400" dirty="0">
                <a:latin typeface="Cambria Math"/>
                <a:cs typeface="Cambria Math"/>
              </a:rPr>
              <a:t>𝑝	𝑧	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27350" y="5376926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5">
                <a:moveTo>
                  <a:pt x="0" y="0"/>
                </a:moveTo>
                <a:lnTo>
                  <a:pt x="734568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198622" y="4916804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1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2683" y="5446014"/>
            <a:ext cx="729615" cy="293370"/>
          </a:xfrm>
          <a:custGeom>
            <a:avLst/>
            <a:gdLst/>
            <a:ahLst/>
            <a:cxnLst/>
            <a:rect l="l" t="t" r="r" b="b"/>
            <a:pathLst>
              <a:path w="729614" h="293370">
                <a:moveTo>
                  <a:pt x="58913" y="160832"/>
                </a:moveTo>
                <a:lnTo>
                  <a:pt x="29718" y="160832"/>
                </a:lnTo>
                <a:lnTo>
                  <a:pt x="91313" y="293293"/>
                </a:lnTo>
                <a:lnTo>
                  <a:pt x="105791" y="293293"/>
                </a:lnTo>
                <a:lnTo>
                  <a:pt x="117286" y="254000"/>
                </a:lnTo>
                <a:lnTo>
                  <a:pt x="101346" y="254000"/>
                </a:lnTo>
                <a:lnTo>
                  <a:pt x="58913" y="160832"/>
                </a:lnTo>
                <a:close/>
              </a:path>
              <a:path w="729614" h="293370">
                <a:moveTo>
                  <a:pt x="212725" y="0"/>
                </a:moveTo>
                <a:lnTo>
                  <a:pt x="174752" y="0"/>
                </a:lnTo>
                <a:lnTo>
                  <a:pt x="101346" y="254000"/>
                </a:lnTo>
                <a:lnTo>
                  <a:pt x="117286" y="254000"/>
                </a:lnTo>
                <a:lnTo>
                  <a:pt x="185801" y="19812"/>
                </a:lnTo>
                <a:lnTo>
                  <a:pt x="729233" y="19812"/>
                </a:lnTo>
                <a:lnTo>
                  <a:pt x="729233" y="254"/>
                </a:lnTo>
                <a:lnTo>
                  <a:pt x="212725" y="254"/>
                </a:lnTo>
                <a:lnTo>
                  <a:pt x="212725" y="0"/>
                </a:lnTo>
                <a:close/>
              </a:path>
              <a:path w="729614" h="293370">
                <a:moveTo>
                  <a:pt x="48768" y="138557"/>
                </a:moveTo>
                <a:lnTo>
                  <a:pt x="0" y="160832"/>
                </a:lnTo>
                <a:lnTo>
                  <a:pt x="4572" y="171996"/>
                </a:lnTo>
                <a:lnTo>
                  <a:pt x="29718" y="160832"/>
                </a:lnTo>
                <a:lnTo>
                  <a:pt x="58913" y="160832"/>
                </a:lnTo>
                <a:lnTo>
                  <a:pt x="48768" y="138557"/>
                </a:lnTo>
                <a:close/>
              </a:path>
              <a:path w="729614" h="293370">
                <a:moveTo>
                  <a:pt x="729233" y="19812"/>
                </a:moveTo>
                <a:lnTo>
                  <a:pt x="194310" y="19812"/>
                </a:lnTo>
                <a:lnTo>
                  <a:pt x="194310" y="20066"/>
                </a:lnTo>
                <a:lnTo>
                  <a:pt x="729233" y="20066"/>
                </a:lnTo>
                <a:lnTo>
                  <a:pt x="729233" y="198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14801" y="5396890"/>
            <a:ext cx="554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2𝜋𝜎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060952" y="5185664"/>
            <a:ext cx="551815" cy="206375"/>
          </a:xfrm>
          <a:custGeom>
            <a:avLst/>
            <a:gdLst/>
            <a:ahLst/>
            <a:cxnLst/>
            <a:rect l="l" t="t" r="r" b="b"/>
            <a:pathLst>
              <a:path w="551814" h="206375">
                <a:moveTo>
                  <a:pt x="485901" y="0"/>
                </a:moveTo>
                <a:lnTo>
                  <a:pt x="482981" y="8381"/>
                </a:lnTo>
                <a:lnTo>
                  <a:pt x="494911" y="13499"/>
                </a:lnTo>
                <a:lnTo>
                  <a:pt x="505174" y="20653"/>
                </a:lnTo>
                <a:lnTo>
                  <a:pt x="526034" y="53903"/>
                </a:lnTo>
                <a:lnTo>
                  <a:pt x="532892" y="101981"/>
                </a:lnTo>
                <a:lnTo>
                  <a:pt x="532128" y="120177"/>
                </a:lnTo>
                <a:lnTo>
                  <a:pt x="520573" y="164719"/>
                </a:lnTo>
                <a:lnTo>
                  <a:pt x="483362" y="197739"/>
                </a:lnTo>
                <a:lnTo>
                  <a:pt x="485901" y="205994"/>
                </a:lnTo>
                <a:lnTo>
                  <a:pt x="525264" y="182669"/>
                </a:lnTo>
                <a:lnTo>
                  <a:pt x="547417" y="139477"/>
                </a:lnTo>
                <a:lnTo>
                  <a:pt x="551688" y="102997"/>
                </a:lnTo>
                <a:lnTo>
                  <a:pt x="550618" y="84163"/>
                </a:lnTo>
                <a:lnTo>
                  <a:pt x="534670" y="36068"/>
                </a:lnTo>
                <a:lnTo>
                  <a:pt x="500880" y="5385"/>
                </a:lnTo>
                <a:lnTo>
                  <a:pt x="485901" y="0"/>
                </a:lnTo>
                <a:close/>
              </a:path>
              <a:path w="551814" h="206375">
                <a:moveTo>
                  <a:pt x="65786" y="0"/>
                </a:moveTo>
                <a:lnTo>
                  <a:pt x="26495" y="23395"/>
                </a:lnTo>
                <a:lnTo>
                  <a:pt x="4270" y="66722"/>
                </a:lnTo>
                <a:lnTo>
                  <a:pt x="0" y="102997"/>
                </a:lnTo>
                <a:lnTo>
                  <a:pt x="1069" y="121975"/>
                </a:lnTo>
                <a:lnTo>
                  <a:pt x="17018" y="170053"/>
                </a:lnTo>
                <a:lnTo>
                  <a:pt x="50807" y="200663"/>
                </a:lnTo>
                <a:lnTo>
                  <a:pt x="65786" y="205994"/>
                </a:lnTo>
                <a:lnTo>
                  <a:pt x="68452" y="197739"/>
                </a:lnTo>
                <a:lnTo>
                  <a:pt x="56689" y="192526"/>
                </a:lnTo>
                <a:lnTo>
                  <a:pt x="46545" y="185277"/>
                </a:lnTo>
                <a:lnTo>
                  <a:pt x="25761" y="151522"/>
                </a:lnTo>
                <a:lnTo>
                  <a:pt x="18796" y="101981"/>
                </a:lnTo>
                <a:lnTo>
                  <a:pt x="19577" y="84383"/>
                </a:lnTo>
                <a:lnTo>
                  <a:pt x="31114" y="41021"/>
                </a:lnTo>
                <a:lnTo>
                  <a:pt x="68707" y="8381"/>
                </a:lnTo>
                <a:lnTo>
                  <a:pt x="657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74617" y="5035677"/>
            <a:ext cx="1615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67" baseline="-20833" dirty="0">
                <a:latin typeface="Cambria Math"/>
                <a:cs typeface="Cambria Math"/>
              </a:rPr>
              <a:t>𝑒</a:t>
            </a:r>
            <a:r>
              <a:rPr sz="1750" spc="45" dirty="0">
                <a:latin typeface="Cambria Math"/>
                <a:cs typeface="Cambria Math"/>
              </a:rPr>
              <a:t>− </a:t>
            </a:r>
            <a:r>
              <a:rPr sz="1750" spc="35" dirty="0">
                <a:latin typeface="Cambria Math"/>
                <a:cs typeface="Cambria Math"/>
              </a:rPr>
              <a:t>𝑧−𝑧</a:t>
            </a:r>
            <a:r>
              <a:rPr sz="1750" spc="190" dirty="0">
                <a:latin typeface="Cambria Math"/>
                <a:cs typeface="Cambria Math"/>
              </a:rPr>
              <a:t> </a:t>
            </a:r>
            <a:r>
              <a:rPr sz="2175" spc="82" baseline="24904" dirty="0">
                <a:latin typeface="Cambria Math"/>
                <a:cs typeface="Cambria Math"/>
              </a:rPr>
              <a:t>2</a:t>
            </a:r>
            <a:r>
              <a:rPr sz="1750" spc="55" dirty="0">
                <a:latin typeface="Cambria Math"/>
                <a:cs typeface="Cambria Math"/>
              </a:rPr>
              <a:t>/2𝜎</a:t>
            </a:r>
            <a:r>
              <a:rPr sz="2175" spc="82" baseline="24904" dirty="0">
                <a:latin typeface="Cambria Math"/>
                <a:cs typeface="Cambria Math"/>
              </a:rPr>
              <a:t>2</a:t>
            </a:r>
            <a:endParaRPr sz="2175" baseline="24904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040628" y="5002148"/>
            <a:ext cx="20116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𝑧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intensity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15" dirty="0">
                <a:latin typeface="Cambria Math"/>
                <a:cs typeface="Cambria Math"/>
              </a:rPr>
              <a:t>𝑧 </a:t>
            </a:r>
            <a:r>
              <a:rPr sz="1800" dirty="0">
                <a:latin typeface="Calibri"/>
                <a:cs typeface="Calibri"/>
              </a:rPr>
              <a:t>: mean</a:t>
            </a:r>
            <a:r>
              <a:rPr sz="1800" spc="-10" dirty="0">
                <a:latin typeface="Calibri"/>
                <a:cs typeface="Calibri"/>
              </a:rPr>
              <a:t> intensity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15" dirty="0">
                <a:latin typeface="Cambria Math"/>
                <a:cs typeface="Cambria Math"/>
              </a:rPr>
              <a:t>𝜎</a:t>
            </a:r>
            <a:r>
              <a:rPr sz="1800" spc="15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standard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deviation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15811" y="2052827"/>
            <a:ext cx="2235708" cy="2225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305813" y="1688719"/>
            <a:ext cx="40341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95550" algn="l"/>
              </a:tabLst>
            </a:pPr>
            <a:r>
              <a:rPr sz="1800" spc="-5" dirty="0">
                <a:latin typeface="Calibri"/>
                <a:cs typeface="Calibri"/>
              </a:rPr>
              <a:t>Clear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	</a:t>
            </a:r>
            <a:r>
              <a:rPr sz="1800" spc="-10" dirty="0">
                <a:latin typeface="Calibri"/>
                <a:cs typeface="Calibri"/>
              </a:rPr>
              <a:t>Degraded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833998" y="1707007"/>
            <a:ext cx="27705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Histogram </a:t>
            </a:r>
            <a:r>
              <a:rPr sz="1800" spc="-5" dirty="0">
                <a:latin typeface="Calibri"/>
                <a:cs typeface="Calibri"/>
              </a:rPr>
              <a:t>of degraded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image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12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4001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10" dirty="0"/>
              <a:t>Additive</a:t>
            </a:r>
            <a:r>
              <a:rPr sz="3600" spc="10" dirty="0"/>
              <a:t> </a:t>
            </a:r>
            <a:r>
              <a:rPr sz="3600" spc="-5" dirty="0"/>
              <a:t>Noise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1168908" y="3576828"/>
            <a:ext cx="6806565" cy="637540"/>
          </a:xfrm>
          <a:custGeom>
            <a:avLst/>
            <a:gdLst/>
            <a:ahLst/>
            <a:cxnLst/>
            <a:rect l="l" t="t" r="r" b="b"/>
            <a:pathLst>
              <a:path w="6806565" h="637539">
                <a:moveTo>
                  <a:pt x="6700012" y="0"/>
                </a:moveTo>
                <a:lnTo>
                  <a:pt x="106172" y="0"/>
                </a:lnTo>
                <a:lnTo>
                  <a:pt x="64845" y="8338"/>
                </a:lnTo>
                <a:lnTo>
                  <a:pt x="31097" y="31083"/>
                </a:lnTo>
                <a:lnTo>
                  <a:pt x="8343" y="64829"/>
                </a:lnTo>
                <a:lnTo>
                  <a:pt x="0" y="106172"/>
                </a:lnTo>
                <a:lnTo>
                  <a:pt x="0" y="530860"/>
                </a:lnTo>
                <a:lnTo>
                  <a:pt x="8343" y="572202"/>
                </a:lnTo>
                <a:lnTo>
                  <a:pt x="31097" y="605948"/>
                </a:lnTo>
                <a:lnTo>
                  <a:pt x="64845" y="628693"/>
                </a:lnTo>
                <a:lnTo>
                  <a:pt x="106172" y="637032"/>
                </a:lnTo>
                <a:lnTo>
                  <a:pt x="6700012" y="637032"/>
                </a:lnTo>
                <a:lnTo>
                  <a:pt x="6741354" y="628693"/>
                </a:lnTo>
                <a:lnTo>
                  <a:pt x="6775100" y="605948"/>
                </a:lnTo>
                <a:lnTo>
                  <a:pt x="6797845" y="572202"/>
                </a:lnTo>
                <a:lnTo>
                  <a:pt x="6806184" y="530860"/>
                </a:lnTo>
                <a:lnTo>
                  <a:pt x="6806184" y="106172"/>
                </a:lnTo>
                <a:lnTo>
                  <a:pt x="6797845" y="64829"/>
                </a:lnTo>
                <a:lnTo>
                  <a:pt x="6775100" y="31083"/>
                </a:lnTo>
                <a:lnTo>
                  <a:pt x="6741354" y="8338"/>
                </a:lnTo>
                <a:lnTo>
                  <a:pt x="6700012" y="0"/>
                </a:lnTo>
                <a:close/>
              </a:path>
            </a:pathLst>
          </a:custGeom>
          <a:solidFill>
            <a:srgbClr val="9C85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68908" y="3576828"/>
            <a:ext cx="6806565" cy="637540"/>
          </a:xfrm>
          <a:custGeom>
            <a:avLst/>
            <a:gdLst/>
            <a:ahLst/>
            <a:cxnLst/>
            <a:rect l="l" t="t" r="r" b="b"/>
            <a:pathLst>
              <a:path w="6806565" h="637539">
                <a:moveTo>
                  <a:pt x="0" y="106172"/>
                </a:moveTo>
                <a:lnTo>
                  <a:pt x="8343" y="64829"/>
                </a:lnTo>
                <a:lnTo>
                  <a:pt x="31097" y="31083"/>
                </a:lnTo>
                <a:lnTo>
                  <a:pt x="64845" y="8338"/>
                </a:lnTo>
                <a:lnTo>
                  <a:pt x="106172" y="0"/>
                </a:lnTo>
                <a:lnTo>
                  <a:pt x="6700012" y="0"/>
                </a:lnTo>
                <a:lnTo>
                  <a:pt x="6741354" y="8338"/>
                </a:lnTo>
                <a:lnTo>
                  <a:pt x="6775100" y="31083"/>
                </a:lnTo>
                <a:lnTo>
                  <a:pt x="6797845" y="64829"/>
                </a:lnTo>
                <a:lnTo>
                  <a:pt x="6806184" y="106172"/>
                </a:lnTo>
                <a:lnTo>
                  <a:pt x="6806184" y="530860"/>
                </a:lnTo>
                <a:lnTo>
                  <a:pt x="6797845" y="572202"/>
                </a:lnTo>
                <a:lnTo>
                  <a:pt x="6775100" y="605948"/>
                </a:lnTo>
                <a:lnTo>
                  <a:pt x="6741354" y="628693"/>
                </a:lnTo>
                <a:lnTo>
                  <a:pt x="6700012" y="637032"/>
                </a:lnTo>
                <a:lnTo>
                  <a:pt x="106172" y="637032"/>
                </a:lnTo>
                <a:lnTo>
                  <a:pt x="64845" y="628693"/>
                </a:lnTo>
                <a:lnTo>
                  <a:pt x="31097" y="605948"/>
                </a:lnTo>
                <a:lnTo>
                  <a:pt x="8343" y="572202"/>
                </a:lnTo>
                <a:lnTo>
                  <a:pt x="0" y="530860"/>
                </a:lnTo>
                <a:lnTo>
                  <a:pt x="0" y="106172"/>
                </a:lnTo>
                <a:close/>
              </a:path>
            </a:pathLst>
          </a:custGeom>
          <a:ln w="12192">
            <a:solidFill>
              <a:srgbClr val="705F8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07542" y="1807528"/>
            <a:ext cx="5081905" cy="226441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2400" spc="-45" dirty="0">
                <a:latin typeface="Calibri"/>
                <a:cs typeface="Calibri"/>
              </a:rPr>
              <a:t>We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assumed:</a:t>
            </a:r>
            <a:endParaRPr sz="2400">
              <a:latin typeface="Calibri"/>
              <a:cs typeface="Calibri"/>
            </a:endParaRPr>
          </a:p>
          <a:p>
            <a:pPr marL="527685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Degradation </a:t>
            </a:r>
            <a:r>
              <a:rPr sz="2200" spc="-5" dirty="0">
                <a:latin typeface="Calibri"/>
                <a:cs typeface="Calibri"/>
              </a:rPr>
              <a:t>function </a:t>
            </a:r>
            <a:r>
              <a:rPr sz="2200" spc="-15" dirty="0">
                <a:latin typeface="Calibri"/>
                <a:cs typeface="Calibri"/>
              </a:rPr>
              <a:t>can </a:t>
            </a:r>
            <a:r>
              <a:rPr sz="2200" spc="-5" dirty="0">
                <a:latin typeface="Calibri"/>
                <a:cs typeface="Calibri"/>
              </a:rPr>
              <a:t>be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ignored</a:t>
            </a:r>
            <a:endParaRPr sz="2200">
              <a:latin typeface="Calibri"/>
              <a:cs typeface="Calibri"/>
            </a:endParaRPr>
          </a:p>
          <a:p>
            <a:pPr marL="527685" indent="-17272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Focus </a:t>
            </a:r>
            <a:r>
              <a:rPr sz="2200" spc="-5" dirty="0">
                <a:latin typeface="Calibri"/>
                <a:cs typeface="Calibri"/>
              </a:rPr>
              <a:t>on the additive </a:t>
            </a:r>
            <a:r>
              <a:rPr sz="2000" spc="-5" dirty="0">
                <a:latin typeface="Calibri"/>
                <a:cs typeface="Calibri"/>
              </a:rPr>
              <a:t>noise </a:t>
            </a:r>
            <a:r>
              <a:rPr sz="2000" dirty="0">
                <a:latin typeface="Calibri"/>
                <a:cs typeface="Calibri"/>
              </a:rPr>
              <a:t>model </a:t>
            </a:r>
            <a:r>
              <a:rPr sz="2000" spc="25" dirty="0">
                <a:latin typeface="Cambria Math"/>
                <a:cs typeface="Cambria Math"/>
              </a:rPr>
              <a:t>𝜂(𝑥,</a:t>
            </a:r>
            <a:r>
              <a:rPr sz="2000" spc="-14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𝑦)</a:t>
            </a:r>
            <a:endParaRPr sz="20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</a:pP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Times New Roman"/>
              <a:cs typeface="Times New Roman"/>
            </a:endParaRPr>
          </a:p>
          <a:p>
            <a:pPr marL="2908935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Calibri"/>
                <a:cs typeface="Calibri"/>
              </a:rPr>
              <a:t>Spatial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Filtering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24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43004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Mean </a:t>
            </a:r>
            <a:r>
              <a:rPr sz="3600" spc="-20" dirty="0"/>
              <a:t>Filters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4084954" cy="11207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dirty="0">
                <a:latin typeface="Calibri"/>
                <a:cs typeface="Calibri"/>
              </a:rPr>
              <a:t>Arithmetic mean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filter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Smoothing and noise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reduction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Loss 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detail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34538" y="3152775"/>
            <a:ext cx="550545" cy="236220"/>
          </a:xfrm>
          <a:custGeom>
            <a:avLst/>
            <a:gdLst/>
            <a:ahLst/>
            <a:cxnLst/>
            <a:rect l="l" t="t" r="r" b="b"/>
            <a:pathLst>
              <a:path w="550545" h="236220">
                <a:moveTo>
                  <a:pt x="474979" y="0"/>
                </a:moveTo>
                <a:lnTo>
                  <a:pt x="471550" y="9525"/>
                </a:lnTo>
                <a:lnTo>
                  <a:pt x="485191" y="15430"/>
                </a:lnTo>
                <a:lnTo>
                  <a:pt x="496950" y="23622"/>
                </a:lnTo>
                <a:lnTo>
                  <a:pt x="520805" y="61650"/>
                </a:lnTo>
                <a:lnTo>
                  <a:pt x="528574" y="116586"/>
                </a:lnTo>
                <a:lnTo>
                  <a:pt x="527712" y="137423"/>
                </a:lnTo>
                <a:lnTo>
                  <a:pt x="514603" y="188340"/>
                </a:lnTo>
                <a:lnTo>
                  <a:pt x="485386" y="220184"/>
                </a:lnTo>
                <a:lnTo>
                  <a:pt x="471932" y="226187"/>
                </a:lnTo>
                <a:lnTo>
                  <a:pt x="474979" y="235712"/>
                </a:lnTo>
                <a:lnTo>
                  <a:pt x="519967" y="208994"/>
                </a:lnTo>
                <a:lnTo>
                  <a:pt x="545306" y="159543"/>
                </a:lnTo>
                <a:lnTo>
                  <a:pt x="550163" y="117855"/>
                </a:lnTo>
                <a:lnTo>
                  <a:pt x="548947" y="96281"/>
                </a:lnTo>
                <a:lnTo>
                  <a:pt x="539180" y="57991"/>
                </a:lnTo>
                <a:lnTo>
                  <a:pt x="506984" y="15065"/>
                </a:lnTo>
                <a:lnTo>
                  <a:pt x="492029" y="6145"/>
                </a:lnTo>
                <a:lnTo>
                  <a:pt x="474979" y="0"/>
                </a:lnTo>
                <a:close/>
              </a:path>
              <a:path w="550545" h="236220">
                <a:moveTo>
                  <a:pt x="75184" y="0"/>
                </a:moveTo>
                <a:lnTo>
                  <a:pt x="30214" y="26771"/>
                </a:lnTo>
                <a:lnTo>
                  <a:pt x="4857" y="76327"/>
                </a:lnTo>
                <a:lnTo>
                  <a:pt x="0" y="117855"/>
                </a:lnTo>
                <a:lnTo>
                  <a:pt x="1214" y="139521"/>
                </a:lnTo>
                <a:lnTo>
                  <a:pt x="10929" y="177899"/>
                </a:lnTo>
                <a:lnTo>
                  <a:pt x="43068" y="220662"/>
                </a:lnTo>
                <a:lnTo>
                  <a:pt x="75184" y="235712"/>
                </a:lnTo>
                <a:lnTo>
                  <a:pt x="78231" y="226187"/>
                </a:lnTo>
                <a:lnTo>
                  <a:pt x="64775" y="220184"/>
                </a:lnTo>
                <a:lnTo>
                  <a:pt x="53165" y="211883"/>
                </a:lnTo>
                <a:lnTo>
                  <a:pt x="29338" y="173289"/>
                </a:lnTo>
                <a:lnTo>
                  <a:pt x="21462" y="116586"/>
                </a:lnTo>
                <a:lnTo>
                  <a:pt x="22342" y="96512"/>
                </a:lnTo>
                <a:lnTo>
                  <a:pt x="35432" y="46862"/>
                </a:lnTo>
                <a:lnTo>
                  <a:pt x="64990" y="15430"/>
                </a:lnTo>
                <a:lnTo>
                  <a:pt x="78612" y="9525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14066" y="3076143"/>
            <a:ext cx="10934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864235" algn="l"/>
              </a:tabLst>
            </a:pPr>
            <a:r>
              <a:rPr sz="2000" spc="-580" dirty="0">
                <a:latin typeface="Cambria Math"/>
                <a:cs typeface="Cambria Math"/>
              </a:rPr>
              <a:t>𝑓</a:t>
            </a:r>
            <a:r>
              <a:rPr sz="3000" spc="1537" baseline="12500" dirty="0">
                <a:latin typeface="Cambria Math"/>
                <a:cs typeface="Cambria Math"/>
              </a:rPr>
              <a:t> </a:t>
            </a:r>
            <a:r>
              <a:rPr sz="2000" spc="30" dirty="0">
                <a:latin typeface="Cambria Math"/>
                <a:cs typeface="Cambria Math"/>
              </a:rPr>
              <a:t>𝑥,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𝑦	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38778" y="3270630"/>
            <a:ext cx="363220" cy="0"/>
          </a:xfrm>
          <a:custGeom>
            <a:avLst/>
            <a:gdLst/>
            <a:ahLst/>
            <a:cxnLst/>
            <a:rect l="l" t="t" r="r" b="b"/>
            <a:pathLst>
              <a:path w="363220">
                <a:moveTo>
                  <a:pt x="0" y="0"/>
                </a:moveTo>
                <a:lnTo>
                  <a:pt x="362712" y="0"/>
                </a:lnTo>
              </a:path>
            </a:pathLst>
          </a:custGeom>
          <a:ln w="167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036567" y="2884119"/>
            <a:ext cx="167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26840" y="3247389"/>
            <a:ext cx="3848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mbria Math"/>
                <a:cs typeface="Cambria Math"/>
              </a:rPr>
              <a:t>𝑚𝑛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4123" y="2955573"/>
            <a:ext cx="1649095" cy="76327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055"/>
              </a:spcBef>
              <a:tabLst>
                <a:tab pos="916305" algn="l"/>
              </a:tabLst>
            </a:pPr>
            <a:r>
              <a:rPr sz="2000" spc="2200" dirty="0">
                <a:latin typeface="Cambria Math"/>
                <a:cs typeface="Cambria Math"/>
              </a:rPr>
              <a:t> 	</a:t>
            </a:r>
            <a:r>
              <a:rPr sz="2000" spc="15" dirty="0">
                <a:latin typeface="Cambria Math"/>
                <a:cs typeface="Cambria Math"/>
              </a:rPr>
              <a:t>𝑔(𝑠,</a:t>
            </a:r>
            <a:r>
              <a:rPr sz="2000" spc="-160" dirty="0">
                <a:latin typeface="Cambria Math"/>
                <a:cs typeface="Cambria Math"/>
              </a:rPr>
              <a:t> </a:t>
            </a:r>
            <a:r>
              <a:rPr sz="2000" spc="25" dirty="0">
                <a:latin typeface="Cambria Math"/>
                <a:cs typeface="Cambria Math"/>
              </a:rPr>
              <a:t>𝑡)</a:t>
            </a:r>
            <a:endParaRPr sz="2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sz="1450" spc="40" dirty="0">
                <a:latin typeface="Cambria Math"/>
                <a:cs typeface="Cambria Math"/>
              </a:rPr>
              <a:t>(𝑠,𝑡)∈𝑆</a:t>
            </a:r>
            <a:r>
              <a:rPr sz="1800" spc="60" baseline="-13888" dirty="0">
                <a:latin typeface="Cambria Math"/>
                <a:cs typeface="Cambria Math"/>
              </a:rPr>
              <a:t>𝑥,𝑦</a:t>
            </a:r>
            <a:endParaRPr sz="1800" baseline="-13888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2019" y="3828288"/>
            <a:ext cx="2063495" cy="1967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41191" y="3808476"/>
            <a:ext cx="2028443" cy="2004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46647" y="3828288"/>
            <a:ext cx="2081783" cy="19933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64691" y="5813247"/>
            <a:ext cx="10013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Clear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660775" y="5793435"/>
            <a:ext cx="15868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Image w/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Gaussian</a:t>
            </a:r>
            <a:endParaRPr sz="16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6723" y="5800750"/>
            <a:ext cx="189166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Restored </a:t>
            </a:r>
            <a:r>
              <a:rPr sz="1600" spc="-5" dirty="0">
                <a:latin typeface="Calibri"/>
                <a:cs typeface="Calibri"/>
              </a:rPr>
              <a:t>Image with  </a:t>
            </a:r>
            <a:r>
              <a:rPr sz="1600" spc="-10" dirty="0">
                <a:latin typeface="Calibri"/>
                <a:cs typeface="Calibri"/>
              </a:rPr>
              <a:t>Arithmetic </a:t>
            </a:r>
            <a:r>
              <a:rPr sz="1600" spc="-5" dirty="0">
                <a:latin typeface="Calibri"/>
                <a:cs typeface="Calibri"/>
              </a:rPr>
              <a:t>Mean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Filter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25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73332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Mean </a:t>
            </a:r>
            <a:r>
              <a:rPr sz="3600" spc="-20" dirty="0"/>
              <a:t>Filters</a:t>
            </a:r>
            <a:r>
              <a:rPr sz="3600" dirty="0"/>
              <a:t> (2)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6556375" cy="11207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Geometric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Filter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5" dirty="0">
                <a:latin typeface="Calibri"/>
                <a:cs typeface="Calibri"/>
              </a:rPr>
              <a:t>Smoothing and noise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reduction</a:t>
            </a:r>
            <a:endParaRPr sz="22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10" dirty="0">
                <a:latin typeface="Calibri"/>
                <a:cs typeface="Calibri"/>
              </a:rPr>
              <a:t>Less </a:t>
            </a:r>
            <a:r>
              <a:rPr sz="2200" spc="-5" dirty="0">
                <a:latin typeface="Calibri"/>
                <a:cs typeface="Calibri"/>
              </a:rPr>
              <a:t>loss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5" dirty="0">
                <a:latin typeface="Calibri"/>
                <a:cs typeface="Calibri"/>
              </a:rPr>
              <a:t>detail </a:t>
            </a:r>
            <a:r>
              <a:rPr sz="2200" spc="-10" dirty="0">
                <a:latin typeface="Calibri"/>
                <a:cs typeface="Calibri"/>
              </a:rPr>
              <a:t>compared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arithmetic mean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filter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89148" y="3188589"/>
            <a:ext cx="548640" cy="236220"/>
          </a:xfrm>
          <a:custGeom>
            <a:avLst/>
            <a:gdLst/>
            <a:ahLst/>
            <a:cxnLst/>
            <a:rect l="l" t="t" r="r" b="b"/>
            <a:pathLst>
              <a:path w="548639" h="236220">
                <a:moveTo>
                  <a:pt x="473328" y="0"/>
                </a:moveTo>
                <a:lnTo>
                  <a:pt x="470026" y="9651"/>
                </a:lnTo>
                <a:lnTo>
                  <a:pt x="483647" y="15557"/>
                </a:lnTo>
                <a:lnTo>
                  <a:pt x="495363" y="23749"/>
                </a:lnTo>
                <a:lnTo>
                  <a:pt x="519227" y="61706"/>
                </a:lnTo>
                <a:lnTo>
                  <a:pt x="527050" y="116712"/>
                </a:lnTo>
                <a:lnTo>
                  <a:pt x="526170" y="137497"/>
                </a:lnTo>
                <a:lnTo>
                  <a:pt x="513079" y="188468"/>
                </a:lnTo>
                <a:lnTo>
                  <a:pt x="483862" y="220257"/>
                </a:lnTo>
                <a:lnTo>
                  <a:pt x="470407" y="226187"/>
                </a:lnTo>
                <a:lnTo>
                  <a:pt x="473328" y="235712"/>
                </a:lnTo>
                <a:lnTo>
                  <a:pt x="518423" y="208994"/>
                </a:lnTo>
                <a:lnTo>
                  <a:pt x="543671" y="159607"/>
                </a:lnTo>
                <a:lnTo>
                  <a:pt x="548513" y="117983"/>
                </a:lnTo>
                <a:lnTo>
                  <a:pt x="547298" y="96337"/>
                </a:lnTo>
                <a:lnTo>
                  <a:pt x="537583" y="58046"/>
                </a:lnTo>
                <a:lnTo>
                  <a:pt x="505444" y="15128"/>
                </a:lnTo>
                <a:lnTo>
                  <a:pt x="490452" y="6165"/>
                </a:lnTo>
                <a:lnTo>
                  <a:pt x="473328" y="0"/>
                </a:lnTo>
                <a:close/>
              </a:path>
              <a:path w="548639" h="236220">
                <a:moveTo>
                  <a:pt x="75183" y="0"/>
                </a:moveTo>
                <a:lnTo>
                  <a:pt x="30196" y="26878"/>
                </a:lnTo>
                <a:lnTo>
                  <a:pt x="4857" y="76358"/>
                </a:lnTo>
                <a:lnTo>
                  <a:pt x="0" y="117983"/>
                </a:lnTo>
                <a:lnTo>
                  <a:pt x="1212" y="139628"/>
                </a:lnTo>
                <a:lnTo>
                  <a:pt x="10876" y="177919"/>
                </a:lnTo>
                <a:lnTo>
                  <a:pt x="43005" y="220662"/>
                </a:lnTo>
                <a:lnTo>
                  <a:pt x="75183" y="235712"/>
                </a:lnTo>
                <a:lnTo>
                  <a:pt x="78104" y="226187"/>
                </a:lnTo>
                <a:lnTo>
                  <a:pt x="64722" y="220257"/>
                </a:lnTo>
                <a:lnTo>
                  <a:pt x="53149" y="211994"/>
                </a:lnTo>
                <a:lnTo>
                  <a:pt x="29338" y="173398"/>
                </a:lnTo>
                <a:lnTo>
                  <a:pt x="21462" y="116712"/>
                </a:lnTo>
                <a:lnTo>
                  <a:pt x="22342" y="96567"/>
                </a:lnTo>
                <a:lnTo>
                  <a:pt x="35432" y="46989"/>
                </a:lnTo>
                <a:lnTo>
                  <a:pt x="64936" y="15557"/>
                </a:lnTo>
                <a:lnTo>
                  <a:pt x="78485" y="9651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8548" y="3112388"/>
            <a:ext cx="10915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862965" algn="l"/>
              </a:tabLst>
            </a:pPr>
            <a:r>
              <a:rPr sz="2000" spc="-575" dirty="0">
                <a:latin typeface="Cambria Math"/>
                <a:cs typeface="Cambria Math"/>
              </a:rPr>
              <a:t>𝑓</a:t>
            </a:r>
            <a:r>
              <a:rPr sz="3000" spc="1537" baseline="1250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𝑥,</a:t>
            </a:r>
            <a:r>
              <a:rPr sz="2000" spc="-11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𝑦	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58611" y="3750309"/>
            <a:ext cx="67945" cy="12700"/>
          </a:xfrm>
          <a:custGeom>
            <a:avLst/>
            <a:gdLst/>
            <a:ahLst/>
            <a:cxnLst/>
            <a:rect l="l" t="t" r="r" b="b"/>
            <a:pathLst>
              <a:path w="67945" h="12700">
                <a:moveTo>
                  <a:pt x="0" y="12700"/>
                </a:moveTo>
                <a:lnTo>
                  <a:pt x="67563" y="12700"/>
                </a:lnTo>
                <a:lnTo>
                  <a:pt x="67563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3348" y="3020060"/>
            <a:ext cx="0" cy="730250"/>
          </a:xfrm>
          <a:custGeom>
            <a:avLst/>
            <a:gdLst/>
            <a:ahLst/>
            <a:cxnLst/>
            <a:rect l="l" t="t" r="r" b="b"/>
            <a:pathLst>
              <a:path h="730250">
                <a:moveTo>
                  <a:pt x="0" y="0"/>
                </a:moveTo>
                <a:lnTo>
                  <a:pt x="0" y="730249"/>
                </a:lnTo>
              </a:path>
            </a:pathLst>
          </a:custGeom>
          <a:ln w="256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58611" y="3008629"/>
            <a:ext cx="67945" cy="11430"/>
          </a:xfrm>
          <a:custGeom>
            <a:avLst/>
            <a:gdLst/>
            <a:ahLst/>
            <a:cxnLst/>
            <a:rect l="l" t="t" r="r" b="b"/>
            <a:pathLst>
              <a:path w="67945" h="11430">
                <a:moveTo>
                  <a:pt x="0" y="11430"/>
                </a:moveTo>
                <a:lnTo>
                  <a:pt x="67563" y="11430"/>
                </a:lnTo>
                <a:lnTo>
                  <a:pt x="67563" y="0"/>
                </a:lnTo>
                <a:lnTo>
                  <a:pt x="0" y="0"/>
                </a:lnTo>
                <a:lnTo>
                  <a:pt x="0" y="11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21709" y="3750309"/>
            <a:ext cx="67945" cy="12700"/>
          </a:xfrm>
          <a:custGeom>
            <a:avLst/>
            <a:gdLst/>
            <a:ahLst/>
            <a:cxnLst/>
            <a:rect l="l" t="t" r="r" b="b"/>
            <a:pathLst>
              <a:path w="67945" h="12700">
                <a:moveTo>
                  <a:pt x="0" y="12700"/>
                </a:moveTo>
                <a:lnTo>
                  <a:pt x="67563" y="12700"/>
                </a:lnTo>
                <a:lnTo>
                  <a:pt x="67563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034472" y="3020060"/>
            <a:ext cx="0" cy="730250"/>
          </a:xfrm>
          <a:custGeom>
            <a:avLst/>
            <a:gdLst/>
            <a:ahLst/>
            <a:cxnLst/>
            <a:rect l="l" t="t" r="r" b="b"/>
            <a:pathLst>
              <a:path h="730250">
                <a:moveTo>
                  <a:pt x="0" y="0"/>
                </a:moveTo>
                <a:lnTo>
                  <a:pt x="0" y="730249"/>
                </a:lnTo>
              </a:path>
            </a:pathLst>
          </a:custGeom>
          <a:ln w="255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21709" y="3008629"/>
            <a:ext cx="67945" cy="11430"/>
          </a:xfrm>
          <a:custGeom>
            <a:avLst/>
            <a:gdLst/>
            <a:ahLst/>
            <a:cxnLst/>
            <a:rect l="l" t="t" r="r" b="b"/>
            <a:pathLst>
              <a:path w="67945" h="11430">
                <a:moveTo>
                  <a:pt x="0" y="11430"/>
                </a:moveTo>
                <a:lnTo>
                  <a:pt x="67563" y="11430"/>
                </a:lnTo>
                <a:lnTo>
                  <a:pt x="67563" y="0"/>
                </a:lnTo>
                <a:lnTo>
                  <a:pt x="0" y="0"/>
                </a:lnTo>
                <a:lnTo>
                  <a:pt x="0" y="11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045458" y="2992840"/>
            <a:ext cx="1647189" cy="76136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045"/>
              </a:spcBef>
              <a:tabLst>
                <a:tab pos="914400" algn="l"/>
              </a:tabLst>
            </a:pPr>
            <a:r>
              <a:rPr sz="2000" spc="2200" dirty="0">
                <a:latin typeface="Cambria Math"/>
                <a:cs typeface="Cambria Math"/>
              </a:rPr>
              <a:t> 	</a:t>
            </a:r>
            <a:r>
              <a:rPr sz="2000" spc="15" dirty="0">
                <a:latin typeface="Cambria Math"/>
                <a:cs typeface="Cambria Math"/>
              </a:rPr>
              <a:t>𝑔(𝑠,</a:t>
            </a:r>
            <a:r>
              <a:rPr sz="2000" spc="-160" dirty="0">
                <a:latin typeface="Cambria Math"/>
                <a:cs typeface="Cambria Math"/>
              </a:rPr>
              <a:t> </a:t>
            </a:r>
            <a:r>
              <a:rPr sz="2000" spc="20" dirty="0">
                <a:latin typeface="Cambria Math"/>
                <a:cs typeface="Cambria Math"/>
              </a:rPr>
              <a:t>𝑡)</a:t>
            </a:r>
            <a:endParaRPr sz="200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sz="1450" spc="40" dirty="0">
                <a:latin typeface="Cambria Math"/>
                <a:cs typeface="Cambria Math"/>
              </a:rPr>
              <a:t>(𝑠,𝑡)∈𝑆</a:t>
            </a:r>
            <a:r>
              <a:rPr sz="1800" spc="60" baseline="-13888" dirty="0">
                <a:latin typeface="Cambria Math"/>
                <a:cs typeface="Cambria Math"/>
              </a:rPr>
              <a:t>𝑥,𝑦</a:t>
            </a:r>
            <a:endParaRPr sz="1800" baseline="-13888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3447" y="2860929"/>
            <a:ext cx="133350" cy="248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50" spc="40" dirty="0">
                <a:latin typeface="Cambria Math"/>
                <a:cs typeface="Cambria Math"/>
              </a:rPr>
              <a:t>2</a:t>
            </a:r>
            <a:endParaRPr sz="1450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22019" y="3828288"/>
            <a:ext cx="2063495" cy="19674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41191" y="3808476"/>
            <a:ext cx="2028443" cy="2004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64691" y="5813247"/>
            <a:ext cx="10013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Clear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60775" y="5793435"/>
            <a:ext cx="15868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Image w/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Gaussian</a:t>
            </a:r>
            <a:endParaRPr sz="16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046723" y="5800750"/>
            <a:ext cx="189230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096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Restored </a:t>
            </a:r>
            <a:r>
              <a:rPr sz="1600" spc="-5" dirty="0">
                <a:latin typeface="Calibri"/>
                <a:cs typeface="Calibri"/>
              </a:rPr>
              <a:t>Image with  </a:t>
            </a:r>
            <a:r>
              <a:rPr sz="1600" spc="-10" dirty="0">
                <a:latin typeface="Calibri"/>
                <a:cs typeface="Calibri"/>
              </a:rPr>
              <a:t>Geometric </a:t>
            </a:r>
            <a:r>
              <a:rPr sz="1600" spc="-5" dirty="0">
                <a:latin typeface="Calibri"/>
                <a:cs typeface="Calibri"/>
              </a:rPr>
              <a:t>Mean Filter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58255" y="3828288"/>
            <a:ext cx="2071116" cy="1984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</p:spTree>
    <p:extLst>
      <p:ext uri="{BB962C8B-B14F-4D97-AF65-F5344CB8AC3E}">
        <p14:creationId xmlns:p14="http://schemas.microsoft.com/office/powerpoint/2010/main" val="3298129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Mean </a:t>
            </a:r>
            <a:r>
              <a:rPr sz="3600" spc="-20" dirty="0"/>
              <a:t>Filters</a:t>
            </a:r>
            <a:r>
              <a:rPr sz="3600" dirty="0"/>
              <a:t> (3)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780308"/>
            <a:ext cx="6730365" cy="155194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5" dirty="0">
                <a:latin typeface="Calibri"/>
                <a:cs typeface="Calibri"/>
              </a:rPr>
              <a:t>Harmonic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Filter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30" dirty="0">
                <a:latin typeface="Calibri"/>
                <a:cs typeface="Calibri"/>
              </a:rPr>
              <a:t>Works </a:t>
            </a:r>
            <a:r>
              <a:rPr sz="2200" spc="-5" dirty="0">
                <a:latin typeface="Calibri"/>
                <a:cs typeface="Calibri"/>
              </a:rPr>
              <a:t>especially </a:t>
            </a:r>
            <a:r>
              <a:rPr sz="2200" spc="-10" dirty="0">
                <a:latin typeface="Calibri"/>
                <a:cs typeface="Calibri"/>
              </a:rPr>
              <a:t>well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200" spc="-5" dirty="0">
                <a:latin typeface="Calibri"/>
                <a:cs typeface="Calibri"/>
              </a:rPr>
              <a:t>salt noise </a:t>
            </a:r>
            <a:r>
              <a:rPr sz="2200" spc="-10" dirty="0">
                <a:latin typeface="Calibri"/>
                <a:cs typeface="Calibri"/>
              </a:rPr>
              <a:t>(not pepper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noise!)</a:t>
            </a:r>
            <a:endParaRPr sz="22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Contraharmonic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Filter</a:t>
            </a:r>
            <a:endParaRPr sz="2400">
              <a:latin typeface="Calibri"/>
              <a:cs typeface="Calibri"/>
            </a:endParaRPr>
          </a:p>
          <a:p>
            <a:pPr marL="527685" lvl="1" indent="-172720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8320" algn="l"/>
              </a:tabLst>
            </a:pPr>
            <a:r>
              <a:rPr sz="2200" spc="-20" dirty="0">
                <a:latin typeface="Calibri"/>
                <a:cs typeface="Calibri"/>
              </a:rPr>
              <a:t>Perfect for </a:t>
            </a:r>
            <a:r>
              <a:rPr sz="2200" spc="-5" dirty="0">
                <a:latin typeface="Calibri"/>
                <a:cs typeface="Calibri"/>
              </a:rPr>
              <a:t>salt-and-pepper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noise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316" y="4365076"/>
            <a:ext cx="3387090" cy="10039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270"/>
              </a:spcBef>
              <a:buFont typeface="Arial"/>
              <a:buChar char="•"/>
              <a:tabLst>
                <a:tab pos="185420" algn="l"/>
              </a:tabLst>
            </a:pPr>
            <a:r>
              <a:rPr sz="2000" dirty="0">
                <a:latin typeface="Cambria Math"/>
                <a:cs typeface="Cambria Math"/>
              </a:rPr>
              <a:t>𝑄 </a:t>
            </a:r>
            <a:r>
              <a:rPr sz="2000" spc="-5" dirty="0">
                <a:latin typeface="Calibri"/>
                <a:cs typeface="Calibri"/>
              </a:rPr>
              <a:t>is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filter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order</a:t>
            </a:r>
            <a:endParaRPr sz="2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185420" algn="l"/>
              </a:tabLst>
            </a:pPr>
            <a:r>
              <a:rPr sz="2000" dirty="0">
                <a:latin typeface="Cambria Math"/>
                <a:cs typeface="Cambria Math"/>
              </a:rPr>
              <a:t>𝑄 &gt; 0 </a:t>
            </a:r>
            <a:r>
              <a:rPr sz="2000" spc="-10" dirty="0">
                <a:latin typeface="Calibri"/>
                <a:cs typeface="Calibri"/>
              </a:rPr>
              <a:t>eliminates </a:t>
            </a:r>
            <a:r>
              <a:rPr sz="2000" dirty="0">
                <a:latin typeface="Calibri"/>
                <a:cs typeface="Calibri"/>
              </a:rPr>
              <a:t>pepper</a:t>
            </a:r>
            <a:r>
              <a:rPr sz="2000" spc="-14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noise</a:t>
            </a:r>
            <a:endParaRPr sz="2000">
              <a:latin typeface="Calibri"/>
              <a:cs typeface="Calibri"/>
            </a:endParaRPr>
          </a:p>
          <a:p>
            <a:pPr marL="184785" indent="-17272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185420" algn="l"/>
              </a:tabLst>
            </a:pPr>
            <a:r>
              <a:rPr sz="2000" dirty="0">
                <a:latin typeface="Cambria Math"/>
                <a:cs typeface="Cambria Math"/>
              </a:rPr>
              <a:t>𝑄 &gt; 0 </a:t>
            </a:r>
            <a:r>
              <a:rPr sz="2000" spc="-10" dirty="0">
                <a:latin typeface="Calibri"/>
                <a:cs typeface="Calibri"/>
              </a:rPr>
              <a:t>eliminates </a:t>
            </a:r>
            <a:r>
              <a:rPr sz="2000" spc="-5" dirty="0">
                <a:latin typeface="Calibri"/>
                <a:cs typeface="Calibri"/>
              </a:rPr>
              <a:t>salt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noise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38677" y="3736975"/>
            <a:ext cx="496570" cy="212090"/>
          </a:xfrm>
          <a:custGeom>
            <a:avLst/>
            <a:gdLst/>
            <a:ahLst/>
            <a:cxnLst/>
            <a:rect l="l" t="t" r="r" b="b"/>
            <a:pathLst>
              <a:path w="496570" h="212089">
                <a:moveTo>
                  <a:pt x="429133" y="0"/>
                </a:moveTo>
                <a:lnTo>
                  <a:pt x="426085" y="8508"/>
                </a:lnTo>
                <a:lnTo>
                  <a:pt x="438352" y="13819"/>
                </a:lnTo>
                <a:lnTo>
                  <a:pt x="448881" y="21177"/>
                </a:lnTo>
                <a:lnTo>
                  <a:pt x="470300" y="55322"/>
                </a:lnTo>
                <a:lnTo>
                  <a:pt x="477266" y="104775"/>
                </a:lnTo>
                <a:lnTo>
                  <a:pt x="476482" y="123443"/>
                </a:lnTo>
                <a:lnTo>
                  <a:pt x="464820" y="169163"/>
                </a:lnTo>
                <a:lnTo>
                  <a:pt x="438513" y="197738"/>
                </a:lnTo>
                <a:lnTo>
                  <a:pt x="426466" y="203073"/>
                </a:lnTo>
                <a:lnTo>
                  <a:pt x="429133" y="211708"/>
                </a:lnTo>
                <a:lnTo>
                  <a:pt x="469530" y="187706"/>
                </a:lnTo>
                <a:lnTo>
                  <a:pt x="492252" y="143287"/>
                </a:lnTo>
                <a:lnTo>
                  <a:pt x="496570" y="105918"/>
                </a:lnTo>
                <a:lnTo>
                  <a:pt x="495494" y="86483"/>
                </a:lnTo>
                <a:lnTo>
                  <a:pt x="479171" y="37083"/>
                </a:lnTo>
                <a:lnTo>
                  <a:pt x="444470" y="5526"/>
                </a:lnTo>
                <a:lnTo>
                  <a:pt x="429133" y="0"/>
                </a:lnTo>
                <a:close/>
              </a:path>
              <a:path w="496570" h="212089">
                <a:moveTo>
                  <a:pt x="67564" y="0"/>
                </a:moveTo>
                <a:lnTo>
                  <a:pt x="27094" y="24056"/>
                </a:lnTo>
                <a:lnTo>
                  <a:pt x="4365" y="68548"/>
                </a:lnTo>
                <a:lnTo>
                  <a:pt x="0" y="105918"/>
                </a:lnTo>
                <a:lnTo>
                  <a:pt x="1075" y="125352"/>
                </a:lnTo>
                <a:lnTo>
                  <a:pt x="17399" y="174751"/>
                </a:lnTo>
                <a:lnTo>
                  <a:pt x="52135" y="206184"/>
                </a:lnTo>
                <a:lnTo>
                  <a:pt x="67564" y="211708"/>
                </a:lnTo>
                <a:lnTo>
                  <a:pt x="70231" y="203073"/>
                </a:lnTo>
                <a:lnTo>
                  <a:pt x="58130" y="197738"/>
                </a:lnTo>
                <a:lnTo>
                  <a:pt x="47720" y="190309"/>
                </a:lnTo>
                <a:lnTo>
                  <a:pt x="26376" y="155638"/>
                </a:lnTo>
                <a:lnTo>
                  <a:pt x="19304" y="104775"/>
                </a:lnTo>
                <a:lnTo>
                  <a:pt x="20089" y="86703"/>
                </a:lnTo>
                <a:lnTo>
                  <a:pt x="31877" y="42037"/>
                </a:lnTo>
                <a:lnTo>
                  <a:pt x="58291" y="13819"/>
                </a:lnTo>
                <a:lnTo>
                  <a:pt x="70485" y="8508"/>
                </a:lnTo>
                <a:lnTo>
                  <a:pt x="675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37129" y="3667125"/>
            <a:ext cx="991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781685" algn="l"/>
              </a:tabLst>
            </a:pPr>
            <a:r>
              <a:rPr sz="1800" spc="-509" dirty="0">
                <a:latin typeface="Cambria Math"/>
                <a:cs typeface="Cambria Math"/>
              </a:rPr>
              <a:t>𝑓</a:t>
            </a:r>
            <a:r>
              <a:rPr sz="2700" spc="1342" baseline="12345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Cambria Math"/>
                <a:cs typeface="Cambria Math"/>
              </a:rPr>
              <a:t>𝑥,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𝑦	=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55288" y="3841877"/>
            <a:ext cx="1915795" cy="0"/>
          </a:xfrm>
          <a:custGeom>
            <a:avLst/>
            <a:gdLst/>
            <a:ahLst/>
            <a:cxnLst/>
            <a:rect l="l" t="t" r="r" b="b"/>
            <a:pathLst>
              <a:path w="1915795">
                <a:moveTo>
                  <a:pt x="0" y="0"/>
                </a:moveTo>
                <a:lnTo>
                  <a:pt x="1915667" y="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917950" y="3501974"/>
            <a:ext cx="771525" cy="30035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2700" spc="1312" baseline="16975" dirty="0">
                <a:latin typeface="Cambria Math"/>
                <a:cs typeface="Cambria Math"/>
              </a:rPr>
              <a:t> </a:t>
            </a:r>
            <a:r>
              <a:rPr sz="1300" spc="30" dirty="0">
                <a:latin typeface="Cambria Math"/>
                <a:cs typeface="Cambria Math"/>
              </a:rPr>
              <a:t>(𝑠,𝑡)∈𝑆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630673" y="3627501"/>
            <a:ext cx="23431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9" dirty="0">
                <a:latin typeface="Cambria Math"/>
                <a:cs typeface="Cambria Math"/>
              </a:rPr>
              <a:t>𝑥</a:t>
            </a:r>
            <a:r>
              <a:rPr sz="1050" spc="-5" dirty="0">
                <a:latin typeface="Cambria Math"/>
                <a:cs typeface="Cambria Math"/>
              </a:rPr>
              <a:t>,</a:t>
            </a:r>
            <a:r>
              <a:rPr sz="1050" spc="275" dirty="0">
                <a:latin typeface="Cambria Math"/>
                <a:cs typeface="Cambria Math"/>
              </a:rPr>
              <a:t>𝑦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58258" y="3444062"/>
            <a:ext cx="1042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mbria Math"/>
                <a:cs typeface="Cambria Math"/>
              </a:rPr>
              <a:t>𝑔(𝑠,</a:t>
            </a:r>
            <a:r>
              <a:rPr sz="1800" spc="-135" dirty="0">
                <a:latin typeface="Cambria Math"/>
                <a:cs typeface="Cambria Math"/>
              </a:rPr>
              <a:t> </a:t>
            </a:r>
            <a:r>
              <a:rPr sz="1800" spc="25" dirty="0">
                <a:latin typeface="Cambria Math"/>
                <a:cs typeface="Cambria Math"/>
              </a:rPr>
              <a:t>𝑡)</a:t>
            </a:r>
            <a:r>
              <a:rPr sz="1950" spc="37" baseline="27777" dirty="0">
                <a:latin typeface="Cambria Math"/>
                <a:cs typeface="Cambria Math"/>
              </a:rPr>
              <a:t>𝑄+1</a:t>
            </a:r>
            <a:endParaRPr sz="1950" baseline="2777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6153" y="3885057"/>
            <a:ext cx="772795" cy="2997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2700" spc="1305" baseline="18518" dirty="0">
                <a:latin typeface="Cambria Math"/>
                <a:cs typeface="Cambria Math"/>
              </a:rPr>
              <a:t> </a:t>
            </a:r>
            <a:r>
              <a:rPr sz="1300" spc="30" dirty="0">
                <a:latin typeface="Cambria Math"/>
                <a:cs typeface="Cambria Math"/>
              </a:rPr>
              <a:t>(𝑠,𝑡)∈𝑆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38878" y="4010025"/>
            <a:ext cx="23431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229" dirty="0">
                <a:latin typeface="Cambria Math"/>
                <a:cs typeface="Cambria Math"/>
              </a:rPr>
              <a:t>𝑥</a:t>
            </a:r>
            <a:r>
              <a:rPr sz="1050" spc="-5" dirty="0">
                <a:latin typeface="Cambria Math"/>
                <a:cs typeface="Cambria Math"/>
              </a:rPr>
              <a:t>,</a:t>
            </a:r>
            <a:r>
              <a:rPr sz="1050" spc="275" dirty="0">
                <a:latin typeface="Cambria Math"/>
                <a:cs typeface="Cambria Math"/>
              </a:rPr>
              <a:t>𝑦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6461" y="3819525"/>
            <a:ext cx="821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15" dirty="0">
                <a:latin typeface="Cambria Math"/>
                <a:cs typeface="Cambria Math"/>
              </a:rPr>
              <a:t>𝑔(𝑠,</a:t>
            </a:r>
            <a:r>
              <a:rPr sz="1800" spc="-140" dirty="0">
                <a:latin typeface="Cambria Math"/>
                <a:cs typeface="Cambria Math"/>
              </a:rPr>
              <a:t> </a:t>
            </a:r>
            <a:r>
              <a:rPr sz="1800" spc="30" dirty="0">
                <a:latin typeface="Cambria Math"/>
                <a:cs typeface="Cambria Math"/>
              </a:rPr>
              <a:t>𝑡)</a:t>
            </a:r>
            <a:r>
              <a:rPr sz="1950" spc="44" baseline="23504" dirty="0">
                <a:latin typeface="Cambria Math"/>
                <a:cs typeface="Cambria Math"/>
              </a:rPr>
              <a:t>𝑄</a:t>
            </a:r>
            <a:endParaRPr sz="1950" baseline="23504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27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23444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65759"/>
            <a:ext cx="9144000" cy="1324610"/>
          </a:xfrm>
          <a:prstGeom prst="rect">
            <a:avLst/>
          </a:prstGeom>
          <a:solidFill>
            <a:srgbClr val="A4B592"/>
          </a:solidFill>
          <a:ln w="12192">
            <a:solidFill>
              <a:srgbClr val="78846A"/>
            </a:solidFill>
          </a:ln>
        </p:spPr>
        <p:txBody>
          <a:bodyPr vert="horz" wrap="square" lIns="0" tIns="331470" rIns="0" bIns="0" rtlCol="0">
            <a:spAutoFit/>
          </a:bodyPr>
          <a:lstStyle/>
          <a:p>
            <a:pPr marL="720090">
              <a:lnSpc>
                <a:spcPct val="100000"/>
              </a:lnSpc>
              <a:spcBef>
                <a:spcPts val="2610"/>
              </a:spcBef>
            </a:pPr>
            <a:r>
              <a:rPr sz="3600" spc="-5" dirty="0"/>
              <a:t>Mean </a:t>
            </a:r>
            <a:r>
              <a:rPr sz="3600" spc="-20" dirty="0"/>
              <a:t>Filters</a:t>
            </a:r>
            <a:r>
              <a:rPr sz="3600" dirty="0"/>
              <a:t> (3)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07542" y="1802333"/>
            <a:ext cx="3693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5420" algn="l"/>
              </a:tabLst>
            </a:pPr>
            <a:r>
              <a:rPr sz="2400" spc="-10" dirty="0">
                <a:latin typeface="Calibri"/>
                <a:cs typeface="Calibri"/>
              </a:rPr>
              <a:t>Contraharmonic </a:t>
            </a:r>
            <a:r>
              <a:rPr sz="2400" dirty="0">
                <a:latin typeface="Calibri"/>
                <a:cs typeface="Calibri"/>
              </a:rPr>
              <a:t>Mean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Filter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8283" y="3614928"/>
            <a:ext cx="1716024" cy="1636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48003" y="5273116"/>
            <a:ext cx="10007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Clear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Image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46222" y="3935984"/>
            <a:ext cx="1946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Image w/ </a:t>
            </a:r>
            <a:r>
              <a:rPr sz="1600" spc="-10" dirty="0">
                <a:latin typeface="Calibri"/>
                <a:cs typeface="Calibri"/>
              </a:rPr>
              <a:t>Pepper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40755" y="3908805"/>
            <a:ext cx="19735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Restored </a:t>
            </a:r>
            <a:r>
              <a:rPr sz="1600" spc="-5" dirty="0">
                <a:latin typeface="Calibri"/>
                <a:cs typeface="Calibri"/>
              </a:rPr>
              <a:t>Image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(Q=1.5)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31820" y="2226564"/>
            <a:ext cx="1773935" cy="1722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19627" y="4285488"/>
            <a:ext cx="1786127" cy="17602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52515" y="2231135"/>
            <a:ext cx="1755647" cy="1682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2515" y="4285488"/>
            <a:ext cx="1748028" cy="17023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187700" y="6009843"/>
            <a:ext cx="1661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Image w/ Salt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Noise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707542" y="6479844"/>
            <a:ext cx="956310" cy="128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lang="en-ID" spc="-5" dirty="0"/>
              <a:t> </a:t>
            </a:r>
            <a:r>
              <a:rPr spc="-40" dirty="0"/>
              <a:t> </a:t>
            </a:r>
            <a:r>
              <a:rPr lang="en-ID" spc="-5" dirty="0"/>
              <a:t> </a:t>
            </a:r>
            <a:endParaRPr spc="-5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pc="-5" dirty="0"/>
              <a:t>Pengolahan Citra </a:t>
            </a:r>
            <a:r>
              <a:rPr dirty="0"/>
              <a:t>- </a:t>
            </a:r>
            <a:r>
              <a:rPr spc="-5" dirty="0"/>
              <a:t>Image Restoration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508497" y="5949797"/>
            <a:ext cx="20364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Restored </a:t>
            </a:r>
            <a:r>
              <a:rPr sz="1600" spc="-5" dirty="0">
                <a:latin typeface="Calibri"/>
                <a:cs typeface="Calibri"/>
              </a:rPr>
              <a:t>Image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(Q=-1.5)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93911" y="54356"/>
            <a:ext cx="205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28</a:t>
            </a:r>
            <a:endParaRPr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450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2434</Words>
  <Application>Microsoft Macintosh PowerPoint</Application>
  <PresentationFormat>On-screen Show (4:3)</PresentationFormat>
  <Paragraphs>540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3" baseType="lpstr">
      <vt:lpstr>Arial</vt:lpstr>
      <vt:lpstr>Calibri</vt:lpstr>
      <vt:lpstr>Cambria Math</vt:lpstr>
      <vt:lpstr>Carlito</vt:lpstr>
      <vt:lpstr>Tahoma</vt:lpstr>
      <vt:lpstr>Times New Roman</vt:lpstr>
      <vt:lpstr>Trebuchet MS</vt:lpstr>
      <vt:lpstr>Wingdings</vt:lpstr>
      <vt:lpstr>Office Theme</vt:lpstr>
      <vt:lpstr>Pengolahan Citra Pengantar Mata Kuliah  Semester Genap 2019/2020   M.Naufal  Politeknik Harapan Bersama</vt:lpstr>
      <vt:lpstr>Citra Dijital</vt:lpstr>
      <vt:lpstr>Citra Dijital</vt:lpstr>
      <vt:lpstr>Informasi dari Citra Dijital</vt:lpstr>
      <vt:lpstr>Informasi dari Citra Dijital (2)</vt:lpstr>
      <vt:lpstr>Citra Dijital</vt:lpstr>
      <vt:lpstr>Citra Dijital</vt:lpstr>
      <vt:lpstr>Clustering Citra Dijital</vt:lpstr>
      <vt:lpstr>Clustering Citra Dijital (2)</vt:lpstr>
      <vt:lpstr>Klasifikasi Citra Dijital</vt:lpstr>
      <vt:lpstr>Real Research: Content-Based Image  Retrieval for Batik Patterns</vt:lpstr>
      <vt:lpstr>Real Research: Content-Based Image  Retrieval for Batik Patterns</vt:lpstr>
      <vt:lpstr>PowerPoint Presentation</vt:lpstr>
      <vt:lpstr>Computer Graphics</vt:lpstr>
      <vt:lpstr>Computer Graphics (2)</vt:lpstr>
      <vt:lpstr>Computer Vision</vt:lpstr>
      <vt:lpstr>Computer Vision (2)</vt:lpstr>
      <vt:lpstr>Pattern Recognition, Computer Vision,  and Artificial Intelligence</vt:lpstr>
      <vt:lpstr>Image Processing</vt:lpstr>
      <vt:lpstr>PowerPoint Presentation</vt:lpstr>
      <vt:lpstr>Image Acquisition</vt:lpstr>
      <vt:lpstr>Digital Images</vt:lpstr>
      <vt:lpstr>Citra Dijital</vt:lpstr>
      <vt:lpstr>Color Vision, Color Theory  and Color Models</vt:lpstr>
      <vt:lpstr>Color Vision</vt:lpstr>
      <vt:lpstr>Color Vision (2)</vt:lpstr>
      <vt:lpstr>Warna</vt:lpstr>
      <vt:lpstr>Relative Perceptual Attributes of Color</vt:lpstr>
      <vt:lpstr>Color Theory: Trichromatic Color Vision</vt:lpstr>
      <vt:lpstr>Young-Helmholtz Trichromatic Theory of  Color Vision</vt:lpstr>
      <vt:lpstr> Warna Primer vs Sekunder Pada Cahaya</vt:lpstr>
      <vt:lpstr>Three Sensitive Channels</vt:lpstr>
      <vt:lpstr>Color Theory: Opponent Color Theory</vt:lpstr>
      <vt:lpstr>The Opponent Theory of Color Vision</vt:lpstr>
      <vt:lpstr>PowerPoint Presentation</vt:lpstr>
      <vt:lpstr>PowerPoint Presentation</vt:lpstr>
      <vt:lpstr>Serba-Serbi Warna</vt:lpstr>
      <vt:lpstr>XYZ Tristimulus Values</vt:lpstr>
      <vt:lpstr>CIE Chromaticity Diagram</vt:lpstr>
      <vt:lpstr>What about digital monitors?</vt:lpstr>
      <vt:lpstr>Color Models for Hardware</vt:lpstr>
      <vt:lpstr>RGB Color Model</vt:lpstr>
      <vt:lpstr>RGB Channels</vt:lpstr>
      <vt:lpstr>RGB Colors</vt:lpstr>
      <vt:lpstr>Warna</vt:lpstr>
      <vt:lpstr> Warna Primer vs Sekunder Pada Pigmen</vt:lpstr>
      <vt:lpstr>Model CMY</vt:lpstr>
      <vt:lpstr>RGB ↔ CMY</vt:lpstr>
      <vt:lpstr>RGB and CMY in a Glance</vt:lpstr>
      <vt:lpstr>HSI (also known as HSV / HSL)</vt:lpstr>
      <vt:lpstr>HSV / HSL / HSI</vt:lpstr>
      <vt:lpstr>RGB→HSI</vt:lpstr>
      <vt:lpstr>Look it up yourselves..</vt:lpstr>
      <vt:lpstr>Image Restoration Muhammad Naufal Semester Gasal 2019/2020  Teknik Komputer Politeknik Harapan Bersama</vt:lpstr>
      <vt:lpstr>Review</vt:lpstr>
      <vt:lpstr>Correlation</vt:lpstr>
      <vt:lpstr>Convolution</vt:lpstr>
      <vt:lpstr>Noise Model</vt:lpstr>
      <vt:lpstr>Gaussian Noise</vt:lpstr>
      <vt:lpstr>Additive Noise</vt:lpstr>
      <vt:lpstr>Mean Filters</vt:lpstr>
      <vt:lpstr>Mean Filters (2)</vt:lpstr>
      <vt:lpstr>Mean Filters (3)</vt:lpstr>
      <vt:lpstr>Mean Filters (3)</vt:lpstr>
    </vt:vector>
  </TitlesOfParts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</dc:title>
  <dc:creator>Laksmitha</dc:creator>
  <cp:lastModifiedBy>Microsoft Office User</cp:lastModifiedBy>
  <cp:revision>8</cp:revision>
  <dcterms:created xsi:type="dcterms:W3CDTF">2020-03-07T06:43:12Z</dcterms:created>
  <dcterms:modified xsi:type="dcterms:W3CDTF">2020-04-06T11:47:20Z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2018-11-01T00:00:00Z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2020-03-07T00:00:00Z</vt:filetime>
  </property>
</Properties>
</file>